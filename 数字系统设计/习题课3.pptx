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dp" ContentType="image/vnd.ms-photo"/>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
  <p:sldMasterIdLst>
    <p:sldMasterId id="2147483648" r:id="rId1"/>
  </p:sldMasterIdLst>
  <p:notesMasterIdLst>
    <p:notesMasterId r:id="rId58"/>
  </p:notesMasterIdLst>
  <p:handoutMasterIdLst>
    <p:handoutMasterId r:id="rId59"/>
  </p:handoutMasterIdLst>
  <p:sldIdLst>
    <p:sldId id="1980" r:id="rId3"/>
    <p:sldId id="1984" r:id="rId4"/>
    <p:sldId id="1997" r:id="rId5"/>
    <p:sldId id="2010" r:id="rId6"/>
    <p:sldId id="1992" r:id="rId7"/>
    <p:sldId id="2011" r:id="rId8"/>
    <p:sldId id="2012" r:id="rId9"/>
    <p:sldId id="1998" r:id="rId10"/>
    <p:sldId id="2013" r:id="rId11"/>
    <p:sldId id="2002" r:id="rId12"/>
    <p:sldId id="2019" r:id="rId13"/>
    <p:sldId id="2020" r:id="rId14"/>
    <p:sldId id="2015" r:id="rId15"/>
    <p:sldId id="2016" r:id="rId16"/>
    <p:sldId id="2053" r:id="rId17"/>
    <p:sldId id="2017" r:id="rId18"/>
    <p:sldId id="2001" r:id="rId19"/>
    <p:sldId id="2026" r:id="rId20"/>
    <p:sldId id="1993" r:id="rId21"/>
    <p:sldId id="1994" r:id="rId22"/>
    <p:sldId id="2028" r:id="rId23"/>
    <p:sldId id="2029" r:id="rId24"/>
    <p:sldId id="2030" r:id="rId25"/>
    <p:sldId id="2031" r:id="rId26"/>
    <p:sldId id="2052" r:id="rId27"/>
    <p:sldId id="2032" r:id="rId28"/>
    <p:sldId id="2041" r:id="rId29"/>
    <p:sldId id="1999" r:id="rId30"/>
    <p:sldId id="2033" r:id="rId31"/>
    <p:sldId id="2035" r:id="rId32"/>
    <p:sldId id="2034" r:id="rId33"/>
    <p:sldId id="2036" r:id="rId34"/>
    <p:sldId id="2037" r:id="rId35"/>
    <p:sldId id="2003" r:id="rId36"/>
    <p:sldId id="2038" r:id="rId37"/>
    <p:sldId id="2040" r:id="rId38"/>
    <p:sldId id="2005" r:id="rId39"/>
    <p:sldId id="2025" r:id="rId40"/>
    <p:sldId id="2024" r:id="rId41"/>
    <p:sldId id="1991" r:id="rId42"/>
    <p:sldId id="2021" r:id="rId43"/>
    <p:sldId id="2022" r:id="rId44"/>
    <p:sldId id="2007" r:id="rId45"/>
    <p:sldId id="2050" r:id="rId46"/>
    <p:sldId id="2051" r:id="rId47"/>
    <p:sldId id="2008" r:id="rId48"/>
    <p:sldId id="2045" r:id="rId49"/>
    <p:sldId id="2046" r:id="rId50"/>
    <p:sldId id="2048" r:id="rId51"/>
    <p:sldId id="2047" r:id="rId52"/>
    <p:sldId id="2049" r:id="rId53"/>
    <p:sldId id="2009" r:id="rId54"/>
    <p:sldId id="2042" r:id="rId55"/>
    <p:sldId id="2043" r:id="rId56"/>
    <p:sldId id="2044" r:id="rId57"/>
  </p:sldIdLst>
  <p:sldSz cx="12192000" cy="6858000"/>
  <p:notesSz cx="6858000" cy="9144000"/>
  <p:custDataLst>
    <p:tags r:id="rId6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327C"/>
    <a:srgbClr val="003F88"/>
    <a:srgbClr val="006699"/>
    <a:srgbClr val="CCD8E1"/>
    <a:srgbClr val="C04D22"/>
    <a:srgbClr val="E7E9EE"/>
    <a:srgbClr val="9DC3E6"/>
    <a:srgbClr val="6CB6B8"/>
    <a:srgbClr val="E6E6E6"/>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18" autoAdjust="0"/>
    <p:restoredTop sz="86358" autoAdjust="0"/>
  </p:normalViewPr>
  <p:slideViewPr>
    <p:cSldViewPr snapToGrid="0">
      <p:cViewPr varScale="1">
        <p:scale>
          <a:sx n="82" d="100"/>
          <a:sy n="82" d="100"/>
        </p:scale>
        <p:origin x="972" y="64"/>
      </p:cViewPr>
      <p:guideLst/>
    </p:cSldViewPr>
  </p:slideViewPr>
  <p:notesTextViewPr>
    <p:cViewPr>
      <p:scale>
        <a:sx n="1" d="1"/>
        <a:sy n="1" d="1"/>
      </p:scale>
      <p:origin x="0" y="0"/>
    </p:cViewPr>
  </p:notesTextViewPr>
  <p:sorterViewPr>
    <p:cViewPr>
      <p:scale>
        <a:sx n="100" d="100"/>
        <a:sy n="100" d="100"/>
      </p:scale>
      <p:origin x="0" y="-4088"/>
    </p:cViewPr>
  </p:sorter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3" Type="http://schemas.openxmlformats.org/officeDocument/2006/relationships/tags" Target="tags/tag12.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handoutMaster" Target="handoutMasters/handoutMaster1.xml"/><Relationship Id="rId58" Type="http://schemas.openxmlformats.org/officeDocument/2006/relationships/notesMaster" Target="notesMasters/notesMaster1.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5.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09.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386F6B-E78B-4A29-A220-6390B65D1579}"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1732E4-C3A8-4660-A87E-0925C3311C77}"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4E59B1-D9DF-4DEA-B59D-DC1E57689F5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34C145-5416-498A-9F6A-CA9EED03C16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开始版式">
    <p:spTree>
      <p:nvGrpSpPr>
        <p:cNvPr id="1" name=""/>
        <p:cNvGrpSpPr/>
        <p:nvPr/>
      </p:nvGrpSpPr>
      <p:grpSpPr>
        <a:xfrm>
          <a:off x="0" y="0"/>
          <a:ext cx="0" cy="0"/>
          <a:chOff x="0" y="0"/>
          <a:chExt cx="0" cy="0"/>
        </a:xfrm>
      </p:grpSpPr>
      <p:sp>
        <p:nvSpPr>
          <p:cNvPr id="148" name="矩形 147"/>
          <p:cNvSpPr/>
          <p:nvPr userDrawn="1"/>
        </p:nvSpPr>
        <p:spPr>
          <a:xfrm>
            <a:off x="0" y="2482537"/>
            <a:ext cx="12192000" cy="175535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a:latin typeface="+mj-ea"/>
              <a:ea typeface="+mj-ea"/>
            </a:endParaRPr>
          </a:p>
        </p:txBody>
      </p:sp>
      <p:sp>
        <p:nvSpPr>
          <p:cNvPr id="33" name="文本占位符 23"/>
          <p:cNvSpPr>
            <a:spLocks noGrp="1"/>
          </p:cNvSpPr>
          <p:nvPr userDrawn="1">
            <p:ph type="body" sz="quarter" idx="14" hasCustomPrompt="1"/>
          </p:nvPr>
        </p:nvSpPr>
        <p:spPr>
          <a:xfrm>
            <a:off x="4394200" y="5015317"/>
            <a:ext cx="3390900" cy="341632"/>
          </a:xfrm>
          <a:prstGeom prst="rect">
            <a:avLst/>
          </a:prstGeom>
          <a:noFill/>
        </p:spPr>
        <p:txBody>
          <a:bodyPr wrap="square">
            <a:spAutoFit/>
          </a:bodyPr>
          <a:lstStyle>
            <a:lvl1pPr marL="0" indent="0" algn="ctr" defTabSz="457200">
              <a:buNone/>
              <a:defRPr lang="zh-CN" altLang="en-US" sz="1800" spc="40" smtClean="0">
                <a:solidFill>
                  <a:srgbClr val="003F88"/>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gn="ctr" defTabSz="457200"/>
            <a:r>
              <a:rPr lang="en-US" altLang="zh-CN" dirty="0"/>
              <a:t>Signature</a:t>
            </a:r>
            <a:endParaRPr lang="en-US" altLang="zh-CN" dirty="0"/>
          </a:p>
        </p:txBody>
      </p:sp>
      <p:sp>
        <p:nvSpPr>
          <p:cNvPr id="35" name="文本占位符 23"/>
          <p:cNvSpPr>
            <a:spLocks noGrp="1"/>
          </p:cNvSpPr>
          <p:nvPr userDrawn="1">
            <p:ph type="body" sz="quarter" idx="16" hasCustomPrompt="1"/>
          </p:nvPr>
        </p:nvSpPr>
        <p:spPr>
          <a:xfrm>
            <a:off x="4394200" y="5487452"/>
            <a:ext cx="3390900" cy="341632"/>
          </a:xfrm>
          <a:prstGeom prst="rect">
            <a:avLst/>
          </a:prstGeom>
          <a:noFill/>
        </p:spPr>
        <p:txBody>
          <a:bodyPr wrap="square">
            <a:spAutoFit/>
          </a:bodyPr>
          <a:lstStyle>
            <a:lvl1pPr marL="0" indent="0" algn="ctr" defTabSz="457200">
              <a:buNone/>
              <a:defRPr lang="zh-CN" altLang="en-US" sz="1800" spc="40" smtClean="0">
                <a:solidFill>
                  <a:srgbClr val="003F88"/>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gn="ctr" defTabSz="457200"/>
            <a:r>
              <a:rPr lang="en-US" altLang="zh-CN" dirty="0"/>
              <a:t>Date</a:t>
            </a:r>
            <a:endParaRPr lang="en-US" altLang="zh-CN" dirty="0"/>
          </a:p>
        </p:txBody>
      </p:sp>
      <p:grpSp>
        <p:nvGrpSpPr>
          <p:cNvPr id="3" name="Group 74"/>
          <p:cNvGrpSpPr>
            <a:grpSpLocks noChangeAspect="1"/>
          </p:cNvGrpSpPr>
          <p:nvPr userDrawn="1"/>
        </p:nvGrpSpPr>
        <p:grpSpPr bwMode="auto">
          <a:xfrm>
            <a:off x="3685746" y="834402"/>
            <a:ext cx="4808014" cy="1337452"/>
            <a:chOff x="954" y="660"/>
            <a:chExt cx="1269" cy="353"/>
          </a:xfrm>
          <a:solidFill>
            <a:srgbClr val="003F88"/>
          </a:solidFill>
          <a:effectLst>
            <a:outerShdw blurRad="50800" dist="38100" dir="2700000" algn="tl" rotWithShape="0">
              <a:schemeClr val="bg1">
                <a:lumMod val="50000"/>
                <a:alpha val="40000"/>
              </a:schemeClr>
            </a:outerShdw>
          </a:effectLst>
        </p:grpSpPr>
        <p:sp>
          <p:nvSpPr>
            <p:cNvPr id="4"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10"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7"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8"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2"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4"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6"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0"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1"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2"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3"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4"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5"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6"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7"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8"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9"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0"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1"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2"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3"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4"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5"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6"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7"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8"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9"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0"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1"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2"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3"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4"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5"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6"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7"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8"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9"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0"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1"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2"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3"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4"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5"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6"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7"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8"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9"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0"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1"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2"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3"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4"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5"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6"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137"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8"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9"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0"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1"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153" name="文本占位符 11"/>
          <p:cNvSpPr>
            <a:spLocks noGrp="1"/>
          </p:cNvSpPr>
          <p:nvPr>
            <p:ph type="body" sz="quarter" idx="12" hasCustomPrompt="1"/>
          </p:nvPr>
        </p:nvSpPr>
        <p:spPr>
          <a:xfrm>
            <a:off x="17369" y="2599990"/>
            <a:ext cx="12103511" cy="1565610"/>
          </a:xfrm>
          <a:prstGeom prst="rect">
            <a:avLst/>
          </a:prstGeom>
        </p:spPr>
        <p:txBody>
          <a:bodyPr/>
          <a:lstStyle>
            <a:lvl1pPr marL="0" indent="0" algn="ctr">
              <a:lnSpc>
                <a:spcPct val="150000"/>
              </a:lnSpc>
              <a:buFontTx/>
              <a:buNone/>
              <a:defRPr sz="5400" b="1" spc="300">
                <a:solidFill>
                  <a:schemeClr val="bg1"/>
                </a:solidFill>
                <a:latin typeface="+mj-ea"/>
                <a:ea typeface="+mj-ea"/>
              </a:defRPr>
            </a:lvl1pPr>
            <a:lvl2pPr marL="457200" indent="0">
              <a:buFontTx/>
              <a:buNone/>
              <a:defRPr sz="2800" b="1">
                <a:solidFill>
                  <a:schemeClr val="bg1"/>
                </a:solidFill>
                <a:latin typeface="+mj-ea"/>
                <a:ea typeface="+mj-ea"/>
              </a:defRPr>
            </a:lvl2pPr>
            <a:lvl3pPr marL="914400" indent="0">
              <a:buFontTx/>
              <a:buNone/>
              <a:defRPr sz="2800" b="1">
                <a:solidFill>
                  <a:schemeClr val="bg1"/>
                </a:solidFill>
                <a:latin typeface="+mj-ea"/>
                <a:ea typeface="+mj-ea"/>
              </a:defRPr>
            </a:lvl3pPr>
            <a:lvl4pPr marL="1371600" indent="0">
              <a:buFontTx/>
              <a:buNone/>
              <a:defRPr sz="2800" b="1">
                <a:solidFill>
                  <a:schemeClr val="bg1"/>
                </a:solidFill>
                <a:latin typeface="+mj-ea"/>
                <a:ea typeface="+mj-ea"/>
              </a:defRPr>
            </a:lvl4pPr>
            <a:lvl5pPr marL="1828800" indent="0">
              <a:buFontTx/>
              <a:buNone/>
              <a:defRPr sz="2800" b="1">
                <a:solidFill>
                  <a:schemeClr val="bg1"/>
                </a:solidFill>
                <a:latin typeface="+mj-ea"/>
                <a:ea typeface="+mj-ea"/>
              </a:defRPr>
            </a:lvl5pPr>
          </a:lstStyle>
          <a:p>
            <a:pPr lvl="0"/>
            <a:r>
              <a:rPr lang="en-US" altLang="zh-CN" dirty="0"/>
              <a:t>Click to edit Master title style</a:t>
            </a:r>
            <a:endParaRPr lang="en-US" altLang="zh-CN" dirty="0"/>
          </a:p>
        </p:txBody>
      </p:sp>
      <p:sp>
        <p:nvSpPr>
          <p:cNvPr id="15" name="灯片编号占位符 14"/>
          <p:cNvSpPr>
            <a:spLocks noGrp="1"/>
          </p:cNvSpPr>
          <p:nvPr>
            <p:ph type="sldNum" sz="quarter" idx="17"/>
          </p:nvPr>
        </p:nvSpPr>
        <p:spPr/>
        <p:txBody>
          <a:bodyPr/>
          <a:lstStyle/>
          <a:p>
            <a:fld id="{406D97C8-3D29-46CB-B3AA-3C2C5D4C915D}"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板式">
    <p:spTree>
      <p:nvGrpSpPr>
        <p:cNvPr id="1" name=""/>
        <p:cNvGrpSpPr/>
        <p:nvPr/>
      </p:nvGrpSpPr>
      <p:grpSpPr>
        <a:xfrm>
          <a:off x="0" y="0"/>
          <a:ext cx="0" cy="0"/>
          <a:chOff x="0" y="0"/>
          <a:chExt cx="0" cy="0"/>
        </a:xfrm>
      </p:grpSpPr>
      <p:sp>
        <p:nvSpPr>
          <p:cNvPr id="19" name="任意多边形: 形状 18"/>
          <p:cNvSpPr/>
          <p:nvPr userDrawn="1"/>
        </p:nvSpPr>
        <p:spPr>
          <a:xfrm>
            <a:off x="1" y="267172"/>
            <a:ext cx="9486459"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chemeClr val="tx2">
                <a:lumMod val="75000"/>
              </a:schemeClr>
            </a:fgClr>
            <a:bgClr>
              <a:srgbClr val="003F88"/>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400">
              <a:solidFill>
                <a:schemeClr val="accent1"/>
              </a:solidFill>
            </a:endParaRPr>
          </a:p>
        </p:txBody>
      </p:sp>
      <p:grpSp>
        <p:nvGrpSpPr>
          <p:cNvPr id="4" name="组合 3"/>
          <p:cNvGrpSpPr/>
          <p:nvPr userDrawn="1"/>
        </p:nvGrpSpPr>
        <p:grpSpPr>
          <a:xfrm>
            <a:off x="443029" y="435931"/>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文本占位符 11"/>
          <p:cNvSpPr>
            <a:spLocks noGrp="1"/>
          </p:cNvSpPr>
          <p:nvPr>
            <p:ph type="body" sz="quarter" idx="12" hasCustomPrompt="1"/>
          </p:nvPr>
        </p:nvSpPr>
        <p:spPr>
          <a:xfrm>
            <a:off x="668509" y="289048"/>
            <a:ext cx="8637424" cy="523220"/>
          </a:xfrm>
          <a:prstGeom prst="rect">
            <a:avLst/>
          </a:prstGeom>
        </p:spPr>
        <p:txBody>
          <a:bodyPr>
            <a:noAutofit/>
          </a:bodyPr>
          <a:lstStyle>
            <a:lvl1pPr marL="0" indent="0">
              <a:lnSpc>
                <a:spcPct val="100000"/>
              </a:lnSpc>
              <a:spcBef>
                <a:spcPts val="1000"/>
              </a:spcBef>
              <a:spcAft>
                <a:spcPts val="0"/>
              </a:spcAft>
              <a:buFontTx/>
              <a:buNone/>
              <a:defRPr sz="2800" b="1" spc="300">
                <a:solidFill>
                  <a:schemeClr val="bg1"/>
                </a:solidFill>
                <a:latin typeface="+mj-ea"/>
                <a:ea typeface="+mj-ea"/>
              </a:defRPr>
            </a:lvl1pPr>
            <a:lvl2pPr marL="457200" indent="0">
              <a:buFontTx/>
              <a:buNone/>
              <a:defRPr sz="2800" b="1">
                <a:solidFill>
                  <a:schemeClr val="bg1"/>
                </a:solidFill>
                <a:latin typeface="+mj-ea"/>
                <a:ea typeface="+mj-ea"/>
              </a:defRPr>
            </a:lvl2pPr>
            <a:lvl3pPr marL="914400" indent="0">
              <a:buFontTx/>
              <a:buNone/>
              <a:defRPr sz="2800" b="1">
                <a:solidFill>
                  <a:schemeClr val="bg1"/>
                </a:solidFill>
                <a:latin typeface="+mj-ea"/>
                <a:ea typeface="+mj-ea"/>
              </a:defRPr>
            </a:lvl3pPr>
            <a:lvl4pPr marL="1371600" indent="0">
              <a:buFontTx/>
              <a:buNone/>
              <a:defRPr sz="2800" b="1">
                <a:solidFill>
                  <a:schemeClr val="bg1"/>
                </a:solidFill>
                <a:latin typeface="+mj-ea"/>
                <a:ea typeface="+mj-ea"/>
              </a:defRPr>
            </a:lvl4pPr>
            <a:lvl5pPr marL="1828800" indent="0">
              <a:buFontTx/>
              <a:buNone/>
              <a:defRPr sz="2800" b="1">
                <a:solidFill>
                  <a:schemeClr val="bg1"/>
                </a:solidFill>
                <a:latin typeface="+mj-ea"/>
                <a:ea typeface="+mj-ea"/>
              </a:defRPr>
            </a:lvl5pPr>
          </a:lstStyle>
          <a:p>
            <a:pPr lvl="0"/>
            <a:r>
              <a:rPr lang="en-US" altLang="zh-CN" dirty="0"/>
              <a:t>Click to edit Master title style</a:t>
            </a:r>
            <a:endParaRPr lang="en-US" altLang="zh-CN" dirty="0"/>
          </a:p>
        </p:txBody>
      </p:sp>
      <p:grpSp>
        <p:nvGrpSpPr>
          <p:cNvPr id="78" name="Group 74"/>
          <p:cNvGrpSpPr>
            <a:grpSpLocks noChangeAspect="1"/>
          </p:cNvGrpSpPr>
          <p:nvPr userDrawn="1"/>
        </p:nvGrpSpPr>
        <p:grpSpPr bwMode="auto">
          <a:xfrm>
            <a:off x="9616522" y="267172"/>
            <a:ext cx="2209994" cy="614757"/>
            <a:chOff x="954" y="660"/>
            <a:chExt cx="1269" cy="353"/>
          </a:xfrm>
          <a:solidFill>
            <a:srgbClr val="003F88"/>
          </a:solidFill>
          <a:effectLst>
            <a:outerShdw blurRad="50800" dist="38100" dir="2700000" algn="tl" rotWithShape="0">
              <a:schemeClr val="bg1">
                <a:lumMod val="50000"/>
                <a:alpha val="40000"/>
              </a:schemeClr>
            </a:outerShdw>
          </a:effectLst>
        </p:grpSpPr>
        <p:sp>
          <p:nvSpPr>
            <p:cNvPr id="79"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0"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1"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2"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3"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4"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85"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6"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7"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8"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9"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0"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1"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2"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3"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4"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5"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6"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7"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8"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9"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0"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1"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2"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3"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4"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5"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6"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7"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8"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9"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0"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1"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2"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3"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4"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5"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6"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7"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8"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9"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0"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1"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2"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3"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4"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5"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6"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7"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8"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9"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0"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1"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2"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3"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4"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5"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6"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7"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8"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9"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0"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1"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2"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3"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4"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5"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grpSp>
        <p:nvGrpSpPr>
          <p:cNvPr id="2" name="组合 1"/>
          <p:cNvGrpSpPr/>
          <p:nvPr userDrawn="1"/>
        </p:nvGrpSpPr>
        <p:grpSpPr>
          <a:xfrm>
            <a:off x="3887825" y="1846532"/>
            <a:ext cx="600417" cy="572136"/>
            <a:chOff x="5527102" y="1409377"/>
            <a:chExt cx="600417" cy="572136"/>
          </a:xfrm>
          <a:effectLst>
            <a:outerShdw blurRad="63500" sx="102000" sy="102000" algn="ctr" rotWithShape="0">
              <a:prstClr val="black">
                <a:alpha val="40000"/>
              </a:prstClr>
            </a:outerShdw>
          </a:effectLst>
        </p:grpSpPr>
        <p:sp>
          <p:nvSpPr>
            <p:cNvPr id="3" name="矩形 2"/>
            <p:cNvSpPr/>
            <p:nvPr/>
          </p:nvSpPr>
          <p:spPr>
            <a:xfrm>
              <a:off x="5527102" y="1409377"/>
              <a:ext cx="448664" cy="448662"/>
            </a:xfrm>
            <a:prstGeom prst="rect">
              <a:avLst/>
            </a:prstGeom>
            <a:noFill/>
            <a:ln w="38100">
              <a:solidFill>
                <a:srgbClr val="003F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cs typeface="+mn-ea"/>
                <a:sym typeface="+mn-lt"/>
              </a:endParaRPr>
            </a:p>
          </p:txBody>
        </p:sp>
        <p:sp>
          <p:nvSpPr>
            <p:cNvPr id="8" name="矩形 7"/>
            <p:cNvSpPr/>
            <p:nvPr/>
          </p:nvSpPr>
          <p:spPr>
            <a:xfrm>
              <a:off x="5747115" y="1601109"/>
              <a:ext cx="380404" cy="380404"/>
            </a:xfrm>
            <a:prstGeom prst="rect">
              <a:avLst/>
            </a:prstGeom>
            <a:solidFill>
              <a:srgbClr val="003F88"/>
            </a:solidFill>
            <a:ln>
              <a:solidFill>
                <a:srgbClr val="003F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cs typeface="+mn-ea"/>
                <a:sym typeface="+mn-lt"/>
              </a:endParaRPr>
            </a:p>
          </p:txBody>
        </p:sp>
      </p:grpSp>
      <p:sp>
        <p:nvSpPr>
          <p:cNvPr id="11" name="内容占位符 2"/>
          <p:cNvSpPr>
            <a:spLocks noGrp="1"/>
          </p:cNvSpPr>
          <p:nvPr>
            <p:ph sz="quarter" idx="13"/>
          </p:nvPr>
        </p:nvSpPr>
        <p:spPr>
          <a:xfrm>
            <a:off x="4556502" y="1914790"/>
            <a:ext cx="4623435" cy="370501"/>
          </a:xfrm>
          <a:prstGeom prst="rect">
            <a:avLst/>
          </a:prstGeom>
        </p:spPr>
        <p:txBody>
          <a:bodyPr/>
          <a:lstStyle>
            <a:lvl1pPr marL="0" indent="0">
              <a:buFontTx/>
              <a:buNone/>
              <a:defRPr sz="2800" b="1">
                <a:solidFill>
                  <a:schemeClr val="tx2"/>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grpSp>
        <p:nvGrpSpPr>
          <p:cNvPr id="13" name="组合 12"/>
          <p:cNvGrpSpPr/>
          <p:nvPr userDrawn="1"/>
        </p:nvGrpSpPr>
        <p:grpSpPr>
          <a:xfrm>
            <a:off x="3887825" y="2856864"/>
            <a:ext cx="600417" cy="572136"/>
            <a:chOff x="5527102" y="1409377"/>
            <a:chExt cx="600417" cy="572136"/>
          </a:xfrm>
          <a:effectLst>
            <a:outerShdw blurRad="63500" sx="102000" sy="102000" algn="ctr" rotWithShape="0">
              <a:prstClr val="black">
                <a:alpha val="40000"/>
              </a:prstClr>
            </a:outerShdw>
          </a:effectLst>
        </p:grpSpPr>
        <p:sp>
          <p:nvSpPr>
            <p:cNvPr id="14" name="矩形 13"/>
            <p:cNvSpPr/>
            <p:nvPr/>
          </p:nvSpPr>
          <p:spPr>
            <a:xfrm>
              <a:off x="5527102" y="1409377"/>
              <a:ext cx="448664" cy="448662"/>
            </a:xfrm>
            <a:prstGeom prst="rect">
              <a:avLst/>
            </a:prstGeom>
            <a:noFill/>
            <a:ln w="38100">
              <a:solidFill>
                <a:srgbClr val="003F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cs typeface="+mn-ea"/>
                <a:sym typeface="+mn-lt"/>
              </a:endParaRPr>
            </a:p>
          </p:txBody>
        </p:sp>
        <p:sp>
          <p:nvSpPr>
            <p:cNvPr id="15" name="矩形 14"/>
            <p:cNvSpPr/>
            <p:nvPr/>
          </p:nvSpPr>
          <p:spPr>
            <a:xfrm>
              <a:off x="5747115" y="1601109"/>
              <a:ext cx="380404" cy="380404"/>
            </a:xfrm>
            <a:prstGeom prst="rect">
              <a:avLst/>
            </a:prstGeom>
            <a:solidFill>
              <a:srgbClr val="003F88"/>
            </a:solidFill>
            <a:ln>
              <a:solidFill>
                <a:srgbClr val="003F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cs typeface="+mn-ea"/>
                <a:sym typeface="+mn-lt"/>
              </a:endParaRPr>
            </a:p>
          </p:txBody>
        </p:sp>
      </p:grpSp>
      <p:sp>
        <p:nvSpPr>
          <p:cNvPr id="16" name="内容占位符 2"/>
          <p:cNvSpPr>
            <a:spLocks noGrp="1"/>
          </p:cNvSpPr>
          <p:nvPr>
            <p:ph sz="quarter" idx="14"/>
          </p:nvPr>
        </p:nvSpPr>
        <p:spPr>
          <a:xfrm>
            <a:off x="4556502" y="2925122"/>
            <a:ext cx="4623435" cy="370501"/>
          </a:xfrm>
          <a:prstGeom prst="rect">
            <a:avLst/>
          </a:prstGeom>
        </p:spPr>
        <p:txBody>
          <a:bodyPr/>
          <a:lstStyle>
            <a:lvl1pPr marL="0" indent="0">
              <a:buFontTx/>
              <a:buNone/>
              <a:defRPr sz="2800" b="1">
                <a:solidFill>
                  <a:schemeClr val="tx2"/>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grpSp>
        <p:nvGrpSpPr>
          <p:cNvPr id="26" name="组合 25"/>
          <p:cNvGrpSpPr/>
          <p:nvPr userDrawn="1"/>
        </p:nvGrpSpPr>
        <p:grpSpPr>
          <a:xfrm>
            <a:off x="3887825" y="3935454"/>
            <a:ext cx="600417" cy="572136"/>
            <a:chOff x="5527102" y="1409377"/>
            <a:chExt cx="600417" cy="572136"/>
          </a:xfrm>
          <a:effectLst>
            <a:outerShdw blurRad="63500" sx="102000" sy="102000" algn="ctr" rotWithShape="0">
              <a:prstClr val="black">
                <a:alpha val="40000"/>
              </a:prstClr>
            </a:outerShdw>
          </a:effectLst>
        </p:grpSpPr>
        <p:sp>
          <p:nvSpPr>
            <p:cNvPr id="27" name="矩形 26"/>
            <p:cNvSpPr/>
            <p:nvPr/>
          </p:nvSpPr>
          <p:spPr>
            <a:xfrm>
              <a:off x="5527102" y="1409377"/>
              <a:ext cx="448664" cy="448662"/>
            </a:xfrm>
            <a:prstGeom prst="rect">
              <a:avLst/>
            </a:prstGeom>
            <a:noFill/>
            <a:ln w="38100">
              <a:solidFill>
                <a:srgbClr val="003F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cs typeface="+mn-ea"/>
                <a:sym typeface="+mn-lt"/>
              </a:endParaRPr>
            </a:p>
          </p:txBody>
        </p:sp>
        <p:sp>
          <p:nvSpPr>
            <p:cNvPr id="28" name="矩形 27"/>
            <p:cNvSpPr/>
            <p:nvPr/>
          </p:nvSpPr>
          <p:spPr>
            <a:xfrm>
              <a:off x="5747115" y="1601109"/>
              <a:ext cx="380404" cy="380404"/>
            </a:xfrm>
            <a:prstGeom prst="rect">
              <a:avLst/>
            </a:prstGeom>
            <a:solidFill>
              <a:srgbClr val="003F88"/>
            </a:solidFill>
            <a:ln>
              <a:solidFill>
                <a:srgbClr val="003F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cs typeface="+mn-ea"/>
                <a:sym typeface="+mn-lt"/>
              </a:endParaRPr>
            </a:p>
          </p:txBody>
        </p:sp>
      </p:grpSp>
      <p:sp>
        <p:nvSpPr>
          <p:cNvPr id="29" name="内容占位符 2"/>
          <p:cNvSpPr>
            <a:spLocks noGrp="1"/>
          </p:cNvSpPr>
          <p:nvPr>
            <p:ph sz="quarter" idx="15"/>
          </p:nvPr>
        </p:nvSpPr>
        <p:spPr>
          <a:xfrm>
            <a:off x="4556502" y="4003712"/>
            <a:ext cx="4623435" cy="370501"/>
          </a:xfrm>
          <a:prstGeom prst="rect">
            <a:avLst/>
          </a:prstGeom>
        </p:spPr>
        <p:txBody>
          <a:bodyPr/>
          <a:lstStyle>
            <a:lvl1pPr marL="0" indent="0">
              <a:buFontTx/>
              <a:buNone/>
              <a:defRPr sz="2800" b="1">
                <a:solidFill>
                  <a:schemeClr val="tx2"/>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grpSp>
        <p:nvGrpSpPr>
          <p:cNvPr id="30" name="组合 29"/>
          <p:cNvGrpSpPr/>
          <p:nvPr userDrawn="1"/>
        </p:nvGrpSpPr>
        <p:grpSpPr>
          <a:xfrm>
            <a:off x="3939664" y="5014044"/>
            <a:ext cx="600417" cy="572136"/>
            <a:chOff x="5527102" y="1409377"/>
            <a:chExt cx="600417" cy="572136"/>
          </a:xfrm>
          <a:effectLst>
            <a:outerShdw blurRad="63500" sx="102000" sy="102000" algn="ctr" rotWithShape="0">
              <a:prstClr val="black">
                <a:alpha val="40000"/>
              </a:prstClr>
            </a:outerShdw>
          </a:effectLst>
        </p:grpSpPr>
        <p:sp>
          <p:nvSpPr>
            <p:cNvPr id="31" name="矩形 30"/>
            <p:cNvSpPr/>
            <p:nvPr/>
          </p:nvSpPr>
          <p:spPr>
            <a:xfrm>
              <a:off x="5527102" y="1409377"/>
              <a:ext cx="448664" cy="448662"/>
            </a:xfrm>
            <a:prstGeom prst="rect">
              <a:avLst/>
            </a:prstGeom>
            <a:noFill/>
            <a:ln w="38100">
              <a:solidFill>
                <a:srgbClr val="003F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cs typeface="+mn-ea"/>
                <a:sym typeface="+mn-lt"/>
              </a:endParaRPr>
            </a:p>
          </p:txBody>
        </p:sp>
        <p:sp>
          <p:nvSpPr>
            <p:cNvPr id="64" name="矩形 63"/>
            <p:cNvSpPr/>
            <p:nvPr/>
          </p:nvSpPr>
          <p:spPr>
            <a:xfrm>
              <a:off x="5747115" y="1601109"/>
              <a:ext cx="380404" cy="380404"/>
            </a:xfrm>
            <a:prstGeom prst="rect">
              <a:avLst/>
            </a:prstGeom>
            <a:solidFill>
              <a:srgbClr val="003F88"/>
            </a:solidFill>
            <a:ln>
              <a:solidFill>
                <a:srgbClr val="003F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cs typeface="+mn-ea"/>
                <a:sym typeface="+mn-lt"/>
              </a:endParaRPr>
            </a:p>
          </p:txBody>
        </p:sp>
      </p:grpSp>
      <p:sp>
        <p:nvSpPr>
          <p:cNvPr id="65" name="内容占位符 2"/>
          <p:cNvSpPr>
            <a:spLocks noGrp="1"/>
          </p:cNvSpPr>
          <p:nvPr>
            <p:ph sz="quarter" idx="16"/>
          </p:nvPr>
        </p:nvSpPr>
        <p:spPr>
          <a:xfrm>
            <a:off x="4608341" y="5082302"/>
            <a:ext cx="4623435" cy="370501"/>
          </a:xfrm>
          <a:prstGeom prst="rect">
            <a:avLst/>
          </a:prstGeom>
        </p:spPr>
        <p:txBody>
          <a:bodyPr/>
          <a:lstStyle>
            <a:lvl1pPr marL="0" indent="0">
              <a:buFontTx/>
              <a:buNone/>
              <a:defRPr sz="2800" b="1">
                <a:solidFill>
                  <a:schemeClr val="tx2"/>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10" name="灯片编号占位符 9"/>
          <p:cNvSpPr>
            <a:spLocks noGrp="1"/>
          </p:cNvSpPr>
          <p:nvPr>
            <p:ph type="sldNum" sz="quarter" idx="17"/>
          </p:nvPr>
        </p:nvSpPr>
        <p:spPr/>
        <p:txBody>
          <a:bodyPr/>
          <a:lstStyle/>
          <a:p>
            <a:fld id="{406D97C8-3D29-46CB-B3AA-3C2C5D4C915D}"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由内容版式1">
    <p:spTree>
      <p:nvGrpSpPr>
        <p:cNvPr id="1" name=""/>
        <p:cNvGrpSpPr/>
        <p:nvPr/>
      </p:nvGrpSpPr>
      <p:grpSpPr>
        <a:xfrm>
          <a:off x="0" y="0"/>
          <a:ext cx="0" cy="0"/>
          <a:chOff x="0" y="0"/>
          <a:chExt cx="0" cy="0"/>
        </a:xfrm>
      </p:grpSpPr>
      <p:sp>
        <p:nvSpPr>
          <p:cNvPr id="19" name="任意多边形: 形状 18"/>
          <p:cNvSpPr/>
          <p:nvPr userDrawn="1"/>
        </p:nvSpPr>
        <p:spPr>
          <a:xfrm>
            <a:off x="1" y="267172"/>
            <a:ext cx="9486459"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chemeClr val="tx2">
                <a:lumMod val="75000"/>
              </a:schemeClr>
            </a:fgClr>
            <a:bgClr>
              <a:srgbClr val="003F88"/>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400">
              <a:solidFill>
                <a:schemeClr val="accent1"/>
              </a:solidFill>
            </a:endParaRPr>
          </a:p>
        </p:txBody>
      </p:sp>
      <p:grpSp>
        <p:nvGrpSpPr>
          <p:cNvPr id="4" name="组合 3"/>
          <p:cNvGrpSpPr/>
          <p:nvPr userDrawn="1"/>
        </p:nvGrpSpPr>
        <p:grpSpPr>
          <a:xfrm>
            <a:off x="443029" y="435931"/>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文本占位符 11"/>
          <p:cNvSpPr>
            <a:spLocks noGrp="1"/>
          </p:cNvSpPr>
          <p:nvPr>
            <p:ph type="body" sz="quarter" idx="12" hasCustomPrompt="1"/>
          </p:nvPr>
        </p:nvSpPr>
        <p:spPr>
          <a:xfrm>
            <a:off x="660400" y="288873"/>
            <a:ext cx="8637424" cy="523220"/>
          </a:xfrm>
          <a:prstGeom prst="rect">
            <a:avLst/>
          </a:prstGeom>
        </p:spPr>
        <p:txBody>
          <a:bodyPr>
            <a:noAutofit/>
          </a:bodyPr>
          <a:lstStyle>
            <a:lvl1pPr marL="0" indent="0">
              <a:lnSpc>
                <a:spcPct val="100000"/>
              </a:lnSpc>
              <a:spcBef>
                <a:spcPts val="1000"/>
              </a:spcBef>
              <a:spcAft>
                <a:spcPts val="0"/>
              </a:spcAft>
              <a:buFontTx/>
              <a:buNone/>
              <a:defRPr sz="2800" b="1" spc="300">
                <a:solidFill>
                  <a:schemeClr val="bg1"/>
                </a:solidFill>
                <a:latin typeface="+mj-ea"/>
                <a:ea typeface="+mj-ea"/>
              </a:defRPr>
            </a:lvl1pPr>
            <a:lvl2pPr marL="457200" indent="0">
              <a:buFontTx/>
              <a:buNone/>
              <a:defRPr sz="2800" b="1">
                <a:solidFill>
                  <a:schemeClr val="bg1"/>
                </a:solidFill>
                <a:latin typeface="+mj-ea"/>
                <a:ea typeface="+mj-ea"/>
              </a:defRPr>
            </a:lvl2pPr>
            <a:lvl3pPr marL="914400" indent="0">
              <a:buFontTx/>
              <a:buNone/>
              <a:defRPr sz="2800" b="1">
                <a:solidFill>
                  <a:schemeClr val="bg1"/>
                </a:solidFill>
                <a:latin typeface="+mj-ea"/>
                <a:ea typeface="+mj-ea"/>
              </a:defRPr>
            </a:lvl3pPr>
            <a:lvl4pPr marL="1371600" indent="0">
              <a:buFontTx/>
              <a:buNone/>
              <a:defRPr sz="2800" b="1">
                <a:solidFill>
                  <a:schemeClr val="bg1"/>
                </a:solidFill>
                <a:latin typeface="+mj-ea"/>
                <a:ea typeface="+mj-ea"/>
              </a:defRPr>
            </a:lvl4pPr>
            <a:lvl5pPr marL="1828800" indent="0">
              <a:buFontTx/>
              <a:buNone/>
              <a:defRPr sz="2800" b="1">
                <a:solidFill>
                  <a:schemeClr val="bg1"/>
                </a:solidFill>
                <a:latin typeface="+mj-ea"/>
                <a:ea typeface="+mj-ea"/>
              </a:defRPr>
            </a:lvl5pPr>
          </a:lstStyle>
          <a:p>
            <a:pPr lvl="0"/>
            <a:r>
              <a:rPr lang="en-US" altLang="zh-CN" dirty="0"/>
              <a:t>Click to edit Master title style</a:t>
            </a:r>
            <a:endParaRPr lang="en-US" altLang="zh-CN" dirty="0"/>
          </a:p>
        </p:txBody>
      </p:sp>
      <p:grpSp>
        <p:nvGrpSpPr>
          <p:cNvPr id="78" name="Group 74"/>
          <p:cNvGrpSpPr>
            <a:grpSpLocks noChangeAspect="1"/>
          </p:cNvGrpSpPr>
          <p:nvPr userDrawn="1"/>
        </p:nvGrpSpPr>
        <p:grpSpPr bwMode="auto">
          <a:xfrm>
            <a:off x="9616522" y="267172"/>
            <a:ext cx="2209994" cy="614757"/>
            <a:chOff x="954" y="660"/>
            <a:chExt cx="1269" cy="353"/>
          </a:xfrm>
          <a:solidFill>
            <a:srgbClr val="003F88"/>
          </a:solidFill>
          <a:effectLst>
            <a:outerShdw blurRad="50800" dist="38100" dir="2700000" algn="tl" rotWithShape="0">
              <a:schemeClr val="bg1">
                <a:lumMod val="50000"/>
                <a:alpha val="40000"/>
              </a:schemeClr>
            </a:outerShdw>
          </a:effectLst>
        </p:grpSpPr>
        <p:sp>
          <p:nvSpPr>
            <p:cNvPr id="79"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0"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1"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2"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3"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4"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85"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6"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7"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8"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9"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0"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1"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2"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3"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4"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5"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6"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7"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8"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9"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0"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1"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2"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3"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4"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5"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6"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7"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8"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9"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0"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1"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2"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3"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4"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5"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6"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7"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8"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9"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0"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1"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2"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3"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4"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5"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6"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7"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8"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9"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0"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1"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2"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3"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4"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5"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6"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7"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8"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9"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0"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1"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2"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3"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4"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5"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段文字版式">
    <p:spTree>
      <p:nvGrpSpPr>
        <p:cNvPr id="1" name=""/>
        <p:cNvGrpSpPr/>
        <p:nvPr/>
      </p:nvGrpSpPr>
      <p:grpSpPr>
        <a:xfrm>
          <a:off x="0" y="0"/>
          <a:ext cx="0" cy="0"/>
          <a:chOff x="0" y="0"/>
          <a:chExt cx="0" cy="0"/>
        </a:xfrm>
      </p:grpSpPr>
      <p:sp>
        <p:nvSpPr>
          <p:cNvPr id="19" name="任意多边形: 形状 18"/>
          <p:cNvSpPr/>
          <p:nvPr userDrawn="1"/>
        </p:nvSpPr>
        <p:spPr>
          <a:xfrm>
            <a:off x="1" y="267172"/>
            <a:ext cx="9486459"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chemeClr val="tx2">
                <a:lumMod val="75000"/>
              </a:schemeClr>
            </a:fgClr>
            <a:bgClr>
              <a:srgbClr val="003F88"/>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400">
              <a:solidFill>
                <a:schemeClr val="accent1"/>
              </a:solidFill>
            </a:endParaRPr>
          </a:p>
        </p:txBody>
      </p:sp>
      <p:grpSp>
        <p:nvGrpSpPr>
          <p:cNvPr id="4" name="组合 3"/>
          <p:cNvGrpSpPr/>
          <p:nvPr userDrawn="1"/>
        </p:nvGrpSpPr>
        <p:grpSpPr>
          <a:xfrm>
            <a:off x="443029" y="435931"/>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文本占位符 11"/>
          <p:cNvSpPr>
            <a:spLocks noGrp="1"/>
          </p:cNvSpPr>
          <p:nvPr>
            <p:ph type="body" sz="quarter" idx="12" hasCustomPrompt="1"/>
          </p:nvPr>
        </p:nvSpPr>
        <p:spPr>
          <a:xfrm>
            <a:off x="679099" y="295311"/>
            <a:ext cx="7601971" cy="507831"/>
          </a:xfrm>
          <a:prstGeom prst="rect">
            <a:avLst/>
          </a:prstGeom>
        </p:spPr>
        <p:txBody>
          <a:bodyPr/>
          <a:lstStyle>
            <a:lvl1pPr marL="0" indent="0">
              <a:lnSpc>
                <a:spcPct val="100000"/>
              </a:lnSpc>
              <a:buFontTx/>
              <a:buNone/>
              <a:defRPr sz="2800" b="1" spc="300">
                <a:solidFill>
                  <a:schemeClr val="bg1"/>
                </a:solidFill>
                <a:latin typeface="+mj-ea"/>
                <a:ea typeface="+mj-ea"/>
              </a:defRPr>
            </a:lvl1pPr>
            <a:lvl2pPr marL="457200" indent="0">
              <a:buFontTx/>
              <a:buNone/>
              <a:defRPr sz="2800" b="1">
                <a:solidFill>
                  <a:schemeClr val="bg1"/>
                </a:solidFill>
                <a:latin typeface="+mj-ea"/>
                <a:ea typeface="+mj-ea"/>
              </a:defRPr>
            </a:lvl2pPr>
            <a:lvl3pPr marL="914400" indent="0">
              <a:buFontTx/>
              <a:buNone/>
              <a:defRPr sz="2800" b="1">
                <a:solidFill>
                  <a:schemeClr val="bg1"/>
                </a:solidFill>
                <a:latin typeface="+mj-ea"/>
                <a:ea typeface="+mj-ea"/>
              </a:defRPr>
            </a:lvl3pPr>
            <a:lvl4pPr marL="1371600" indent="0">
              <a:buFontTx/>
              <a:buNone/>
              <a:defRPr sz="2800" b="1">
                <a:solidFill>
                  <a:schemeClr val="bg1"/>
                </a:solidFill>
                <a:latin typeface="+mj-ea"/>
                <a:ea typeface="+mj-ea"/>
              </a:defRPr>
            </a:lvl4pPr>
            <a:lvl5pPr marL="1828800" indent="0">
              <a:buFontTx/>
              <a:buNone/>
              <a:defRPr sz="2800" b="1">
                <a:solidFill>
                  <a:schemeClr val="bg1"/>
                </a:solidFill>
                <a:latin typeface="+mj-ea"/>
                <a:ea typeface="+mj-ea"/>
              </a:defRPr>
            </a:lvl5pPr>
          </a:lstStyle>
          <a:p>
            <a:pPr lvl="0"/>
            <a:r>
              <a:rPr lang="en-US" altLang="zh-CN" dirty="0"/>
              <a:t>Click to edit Master title style</a:t>
            </a:r>
            <a:endParaRPr lang="en-US" altLang="zh-CN" dirty="0"/>
          </a:p>
        </p:txBody>
      </p:sp>
      <p:sp>
        <p:nvSpPr>
          <p:cNvPr id="10" name="矩形 9"/>
          <p:cNvSpPr/>
          <p:nvPr userDrawn="1"/>
        </p:nvSpPr>
        <p:spPr>
          <a:xfrm>
            <a:off x="673102" y="1499607"/>
            <a:ext cx="171448" cy="370486"/>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内容占位符 2"/>
          <p:cNvSpPr>
            <a:spLocks noGrp="1"/>
          </p:cNvSpPr>
          <p:nvPr>
            <p:ph sz="quarter" idx="13"/>
          </p:nvPr>
        </p:nvSpPr>
        <p:spPr>
          <a:xfrm>
            <a:off x="844551" y="1499607"/>
            <a:ext cx="10674350" cy="370501"/>
          </a:xfrm>
          <a:prstGeom prst="rect">
            <a:avLst/>
          </a:prstGeom>
        </p:spPr>
        <p:txBody>
          <a:bodyPr/>
          <a:lstStyle>
            <a:lvl1pPr marL="0" indent="0">
              <a:buFontTx/>
              <a:buNone/>
              <a:defRPr sz="2400" b="1">
                <a:solidFill>
                  <a:srgbClr val="003F88"/>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22" name="任意多边形: 形状 21"/>
          <p:cNvSpPr/>
          <p:nvPr userDrawn="1"/>
        </p:nvSpPr>
        <p:spPr>
          <a:xfrm flipH="1" flipV="1">
            <a:off x="10552848" y="5357278"/>
            <a:ext cx="966051" cy="776822"/>
          </a:xfrm>
          <a:custGeom>
            <a:avLst/>
            <a:gdLst>
              <a:gd name="connsiteX0" fmla="*/ 374228 w 386172"/>
              <a:gd name="connsiteY0" fmla="*/ 0 h 310529"/>
              <a:gd name="connsiteX1" fmla="*/ 374228 w 386172"/>
              <a:gd name="connsiteY1" fmla="*/ 63698 h 310529"/>
              <a:gd name="connsiteX2" fmla="*/ 342379 w 386172"/>
              <a:gd name="connsiteY2" fmla="*/ 87585 h 310529"/>
              <a:gd name="connsiteX3" fmla="*/ 334417 w 386172"/>
              <a:gd name="connsiteY3" fmla="*/ 95547 h 310529"/>
              <a:gd name="connsiteX4" fmla="*/ 322473 w 386172"/>
              <a:gd name="connsiteY4" fmla="*/ 123415 h 310529"/>
              <a:gd name="connsiteX5" fmla="*/ 322473 w 386172"/>
              <a:gd name="connsiteY5" fmla="*/ 151283 h 310529"/>
              <a:gd name="connsiteX6" fmla="*/ 386172 w 386172"/>
              <a:gd name="connsiteY6" fmla="*/ 151283 h 310529"/>
              <a:gd name="connsiteX7" fmla="*/ 386172 w 386172"/>
              <a:gd name="connsiteY7" fmla="*/ 310529 h 310529"/>
              <a:gd name="connsiteX8" fmla="*/ 234888 w 386172"/>
              <a:gd name="connsiteY8" fmla="*/ 310529 h 310529"/>
              <a:gd name="connsiteX9" fmla="*/ 234888 w 386172"/>
              <a:gd name="connsiteY9" fmla="*/ 163227 h 310529"/>
              <a:gd name="connsiteX10" fmla="*/ 374228 w 386172"/>
              <a:gd name="connsiteY10" fmla="*/ 0 h 310529"/>
              <a:gd name="connsiteX11" fmla="*/ 139340 w 386172"/>
              <a:gd name="connsiteY11" fmla="*/ 0 h 310529"/>
              <a:gd name="connsiteX12" fmla="*/ 139340 w 386172"/>
              <a:gd name="connsiteY12" fmla="*/ 63698 h 310529"/>
              <a:gd name="connsiteX13" fmla="*/ 87585 w 386172"/>
              <a:gd name="connsiteY13" fmla="*/ 123415 h 310529"/>
              <a:gd name="connsiteX14" fmla="*/ 87585 w 386172"/>
              <a:gd name="connsiteY14" fmla="*/ 151283 h 310529"/>
              <a:gd name="connsiteX15" fmla="*/ 151283 w 386172"/>
              <a:gd name="connsiteY15" fmla="*/ 151283 h 310529"/>
              <a:gd name="connsiteX16" fmla="*/ 151283 w 386172"/>
              <a:gd name="connsiteY16" fmla="*/ 310529 h 310529"/>
              <a:gd name="connsiteX17" fmla="*/ 0 w 386172"/>
              <a:gd name="connsiteY17" fmla="*/ 310529 h 310529"/>
              <a:gd name="connsiteX18" fmla="*/ 0 w 386172"/>
              <a:gd name="connsiteY18" fmla="*/ 163227 h 310529"/>
              <a:gd name="connsiteX19" fmla="*/ 139340 w 386172"/>
              <a:gd name="connsiteY19" fmla="*/ 0 h 310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6172" h="310529">
                <a:moveTo>
                  <a:pt x="374228" y="0"/>
                </a:moveTo>
                <a:lnTo>
                  <a:pt x="374228" y="63698"/>
                </a:lnTo>
                <a:cubicBezTo>
                  <a:pt x="360958" y="71660"/>
                  <a:pt x="350341" y="79623"/>
                  <a:pt x="342379" y="87585"/>
                </a:cubicBezTo>
                <a:cubicBezTo>
                  <a:pt x="342379" y="90239"/>
                  <a:pt x="339725" y="92893"/>
                  <a:pt x="334417" y="95547"/>
                </a:cubicBezTo>
                <a:cubicBezTo>
                  <a:pt x="326454" y="108818"/>
                  <a:pt x="322473" y="118107"/>
                  <a:pt x="322473" y="123415"/>
                </a:cubicBezTo>
                <a:lnTo>
                  <a:pt x="322473" y="151283"/>
                </a:lnTo>
                <a:lnTo>
                  <a:pt x="386172" y="151283"/>
                </a:lnTo>
                <a:lnTo>
                  <a:pt x="386172" y="310529"/>
                </a:lnTo>
                <a:lnTo>
                  <a:pt x="234888" y="310529"/>
                </a:lnTo>
                <a:lnTo>
                  <a:pt x="234888" y="163227"/>
                </a:lnTo>
                <a:cubicBezTo>
                  <a:pt x="242850" y="75641"/>
                  <a:pt x="289297" y="21232"/>
                  <a:pt x="374228" y="0"/>
                </a:cubicBezTo>
                <a:close/>
                <a:moveTo>
                  <a:pt x="139340" y="0"/>
                </a:moveTo>
                <a:lnTo>
                  <a:pt x="139340" y="63698"/>
                </a:lnTo>
                <a:cubicBezTo>
                  <a:pt x="110145" y="76968"/>
                  <a:pt x="92893" y="96874"/>
                  <a:pt x="87585" y="123415"/>
                </a:cubicBezTo>
                <a:lnTo>
                  <a:pt x="87585" y="151283"/>
                </a:lnTo>
                <a:lnTo>
                  <a:pt x="151283" y="151283"/>
                </a:lnTo>
                <a:lnTo>
                  <a:pt x="151283" y="310529"/>
                </a:lnTo>
                <a:lnTo>
                  <a:pt x="0" y="310529"/>
                </a:lnTo>
                <a:lnTo>
                  <a:pt x="0" y="163227"/>
                </a:lnTo>
                <a:cubicBezTo>
                  <a:pt x="15924" y="70333"/>
                  <a:pt x="62371" y="15924"/>
                  <a:pt x="139340" y="0"/>
                </a:cubicBezTo>
                <a:close/>
              </a:path>
            </a:pathLst>
          </a:custGeom>
          <a:solidFill>
            <a:srgbClr val="003F88">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18" name="Group 74"/>
          <p:cNvGrpSpPr>
            <a:grpSpLocks noChangeAspect="1"/>
          </p:cNvGrpSpPr>
          <p:nvPr userDrawn="1"/>
        </p:nvGrpSpPr>
        <p:grpSpPr bwMode="auto">
          <a:xfrm>
            <a:off x="9616522" y="267172"/>
            <a:ext cx="2209994" cy="614757"/>
            <a:chOff x="954" y="660"/>
            <a:chExt cx="1269" cy="353"/>
          </a:xfrm>
          <a:solidFill>
            <a:srgbClr val="003F88"/>
          </a:solidFill>
          <a:effectLst>
            <a:outerShdw blurRad="50800" dist="38100" dir="2700000" algn="tl" rotWithShape="0">
              <a:schemeClr val="bg1">
                <a:lumMod val="50000"/>
                <a:alpha val="40000"/>
              </a:schemeClr>
            </a:outerShdw>
          </a:effectLst>
        </p:grpSpPr>
        <p:sp>
          <p:nvSpPr>
            <p:cNvPr id="23"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4"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5"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6"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7"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8"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29"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0"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1"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2"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3"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4"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5"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6"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7"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8"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9"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0"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1"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2"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3"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4"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5"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6"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7"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8"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9"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0"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1"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2"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3"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4"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5"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6"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7"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8"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9"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0"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1"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2"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3"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4"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5"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6"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7"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8"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9"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0"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1"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2"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3"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4"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5"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6"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7"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8"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9"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0"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1"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2"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3"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4"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5"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6"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7"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8"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9"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2" name="灯片编号占位符 1"/>
          <p:cNvSpPr>
            <a:spLocks noGrp="1"/>
          </p:cNvSpPr>
          <p:nvPr>
            <p:ph type="sldNum" sz="quarter" idx="14"/>
          </p:nvPr>
        </p:nvSpPr>
        <p:spPr/>
        <p:txBody>
          <a:bodyPr/>
          <a:lstStyle/>
          <a:p>
            <a:fld id="{406D97C8-3D29-46CB-B3AA-3C2C5D4C915D}" type="slidenum">
              <a:rPr lang="zh-CN" altLang="en-US" smtClean="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段文字版式">
    <p:spTree>
      <p:nvGrpSpPr>
        <p:cNvPr id="1" name=""/>
        <p:cNvGrpSpPr/>
        <p:nvPr/>
      </p:nvGrpSpPr>
      <p:grpSpPr>
        <a:xfrm>
          <a:off x="0" y="0"/>
          <a:ext cx="0" cy="0"/>
          <a:chOff x="0" y="0"/>
          <a:chExt cx="0" cy="0"/>
        </a:xfrm>
      </p:grpSpPr>
      <p:sp>
        <p:nvSpPr>
          <p:cNvPr id="19" name="任意多边形: 形状 18"/>
          <p:cNvSpPr/>
          <p:nvPr userDrawn="1"/>
        </p:nvSpPr>
        <p:spPr>
          <a:xfrm>
            <a:off x="1" y="267172"/>
            <a:ext cx="9486459"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chemeClr val="tx2">
                <a:lumMod val="75000"/>
              </a:schemeClr>
            </a:fgClr>
            <a:bgClr>
              <a:srgbClr val="003F88"/>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400">
              <a:solidFill>
                <a:schemeClr val="accent1"/>
              </a:solidFill>
            </a:endParaRPr>
          </a:p>
        </p:txBody>
      </p:sp>
      <p:grpSp>
        <p:nvGrpSpPr>
          <p:cNvPr id="4" name="组合 3"/>
          <p:cNvGrpSpPr/>
          <p:nvPr userDrawn="1"/>
        </p:nvGrpSpPr>
        <p:grpSpPr>
          <a:xfrm>
            <a:off x="443029" y="435931"/>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文本占位符 11"/>
          <p:cNvSpPr>
            <a:spLocks noGrp="1"/>
          </p:cNvSpPr>
          <p:nvPr>
            <p:ph type="body" sz="quarter" idx="12" hasCustomPrompt="1"/>
          </p:nvPr>
        </p:nvSpPr>
        <p:spPr>
          <a:xfrm>
            <a:off x="697958" y="300607"/>
            <a:ext cx="7601971" cy="507831"/>
          </a:xfrm>
          <a:prstGeom prst="rect">
            <a:avLst/>
          </a:prstGeom>
        </p:spPr>
        <p:txBody>
          <a:bodyPr/>
          <a:lstStyle>
            <a:lvl1pPr marL="0" indent="0">
              <a:buFontTx/>
              <a:buNone/>
              <a:defRPr sz="2800" b="1" spc="300">
                <a:solidFill>
                  <a:schemeClr val="bg1"/>
                </a:solidFill>
                <a:latin typeface="+mj-ea"/>
                <a:ea typeface="+mj-ea"/>
              </a:defRPr>
            </a:lvl1pPr>
            <a:lvl2pPr marL="457200" indent="0">
              <a:buFontTx/>
              <a:buNone/>
              <a:defRPr sz="2800" b="1">
                <a:solidFill>
                  <a:schemeClr val="bg1"/>
                </a:solidFill>
                <a:latin typeface="+mj-ea"/>
                <a:ea typeface="+mj-ea"/>
              </a:defRPr>
            </a:lvl2pPr>
            <a:lvl3pPr marL="914400" indent="0">
              <a:buFontTx/>
              <a:buNone/>
              <a:defRPr sz="2800" b="1">
                <a:solidFill>
                  <a:schemeClr val="bg1"/>
                </a:solidFill>
                <a:latin typeface="+mj-ea"/>
                <a:ea typeface="+mj-ea"/>
              </a:defRPr>
            </a:lvl3pPr>
            <a:lvl4pPr marL="1371600" indent="0">
              <a:buFontTx/>
              <a:buNone/>
              <a:defRPr sz="2800" b="1">
                <a:solidFill>
                  <a:schemeClr val="bg1"/>
                </a:solidFill>
                <a:latin typeface="+mj-ea"/>
                <a:ea typeface="+mj-ea"/>
              </a:defRPr>
            </a:lvl4pPr>
            <a:lvl5pPr marL="1828800" indent="0">
              <a:buFontTx/>
              <a:buNone/>
              <a:defRPr sz="2800" b="1">
                <a:solidFill>
                  <a:schemeClr val="bg1"/>
                </a:solidFill>
                <a:latin typeface="+mj-ea"/>
                <a:ea typeface="+mj-ea"/>
              </a:defRPr>
            </a:lvl5pPr>
          </a:lstStyle>
          <a:p>
            <a:pPr lvl="0"/>
            <a:r>
              <a:rPr lang="en-US" altLang="zh-CN" dirty="0"/>
              <a:t>Click to edit Master title style</a:t>
            </a:r>
            <a:endParaRPr lang="en-US" altLang="zh-CN" dirty="0"/>
          </a:p>
        </p:txBody>
      </p:sp>
      <p:sp>
        <p:nvSpPr>
          <p:cNvPr id="3" name="内容占位符 2"/>
          <p:cNvSpPr>
            <a:spLocks noGrp="1"/>
          </p:cNvSpPr>
          <p:nvPr>
            <p:ph sz="quarter" idx="13"/>
          </p:nvPr>
        </p:nvSpPr>
        <p:spPr>
          <a:xfrm>
            <a:off x="1248743" y="1402253"/>
            <a:ext cx="4146549" cy="370501"/>
          </a:xfrm>
          <a:prstGeom prst="rect">
            <a:avLst/>
          </a:prstGeom>
        </p:spPr>
        <p:txBody>
          <a:bodyPr/>
          <a:lstStyle>
            <a:lvl1pPr marL="0" indent="0">
              <a:buFontTx/>
              <a:buNone/>
              <a:defRPr sz="2400" b="1">
                <a:solidFill>
                  <a:schemeClr val="tx2"/>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10" name="矩形 9"/>
          <p:cNvSpPr/>
          <p:nvPr userDrawn="1"/>
        </p:nvSpPr>
        <p:spPr>
          <a:xfrm>
            <a:off x="1077294" y="1402253"/>
            <a:ext cx="171448" cy="3704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内容占位符 2"/>
          <p:cNvSpPr>
            <a:spLocks noGrp="1"/>
          </p:cNvSpPr>
          <p:nvPr>
            <p:ph sz="quarter" idx="14"/>
          </p:nvPr>
        </p:nvSpPr>
        <p:spPr>
          <a:xfrm>
            <a:off x="927099" y="1859176"/>
            <a:ext cx="4737100" cy="3848096"/>
          </a:xfrm>
          <a:prstGeom prst="rect">
            <a:avLst/>
          </a:prstGeom>
        </p:spPr>
        <p:txBody>
          <a:bodyPr/>
          <a:lstStyle>
            <a:lvl1pPr marL="0" indent="0" algn="just">
              <a:lnSpc>
                <a:spcPct val="130000"/>
              </a:lnSpc>
              <a:spcBef>
                <a:spcPts val="1200"/>
              </a:spcBef>
              <a:buFontTx/>
              <a:buNone/>
              <a:defRPr sz="20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2" name="图文框 1"/>
          <p:cNvSpPr/>
          <p:nvPr userDrawn="1"/>
        </p:nvSpPr>
        <p:spPr>
          <a:xfrm>
            <a:off x="660399" y="1130302"/>
            <a:ext cx="5270501" cy="5003796"/>
          </a:xfrm>
          <a:prstGeom prst="frame">
            <a:avLst>
              <a:gd name="adj1" fmla="val 73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solidFill>
            </a:endParaRPr>
          </a:p>
        </p:txBody>
      </p:sp>
      <p:sp>
        <p:nvSpPr>
          <p:cNvPr id="25" name="内容占位符 2"/>
          <p:cNvSpPr>
            <a:spLocks noGrp="1"/>
          </p:cNvSpPr>
          <p:nvPr>
            <p:ph sz="quarter" idx="15"/>
          </p:nvPr>
        </p:nvSpPr>
        <p:spPr>
          <a:xfrm>
            <a:off x="6849444" y="1402253"/>
            <a:ext cx="4146549" cy="370501"/>
          </a:xfrm>
          <a:prstGeom prst="rect">
            <a:avLst/>
          </a:prstGeom>
        </p:spPr>
        <p:txBody>
          <a:bodyPr/>
          <a:lstStyle>
            <a:lvl1pPr marL="0" indent="0">
              <a:buFontTx/>
              <a:buNone/>
              <a:defRPr sz="2400" b="1">
                <a:solidFill>
                  <a:schemeClr val="tx2"/>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26" name="矩形 25"/>
          <p:cNvSpPr/>
          <p:nvPr userDrawn="1"/>
        </p:nvSpPr>
        <p:spPr>
          <a:xfrm>
            <a:off x="6677995" y="1402253"/>
            <a:ext cx="171448" cy="3704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内容占位符 2"/>
          <p:cNvSpPr>
            <a:spLocks noGrp="1"/>
          </p:cNvSpPr>
          <p:nvPr>
            <p:ph sz="quarter" idx="16"/>
          </p:nvPr>
        </p:nvSpPr>
        <p:spPr>
          <a:xfrm>
            <a:off x="6527800" y="1859176"/>
            <a:ext cx="4737100" cy="3848096"/>
          </a:xfrm>
          <a:prstGeom prst="rect">
            <a:avLst/>
          </a:prstGeom>
        </p:spPr>
        <p:txBody>
          <a:bodyPr/>
          <a:lstStyle>
            <a:lvl1pPr marL="0" indent="0" algn="just">
              <a:lnSpc>
                <a:spcPct val="130000"/>
              </a:lnSpc>
              <a:spcBef>
                <a:spcPts val="1200"/>
              </a:spcBef>
              <a:buFontTx/>
              <a:buNone/>
              <a:defRPr sz="20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28" name="图文框 27"/>
          <p:cNvSpPr/>
          <p:nvPr userDrawn="1"/>
        </p:nvSpPr>
        <p:spPr>
          <a:xfrm>
            <a:off x="6261100" y="1130302"/>
            <a:ext cx="5270501" cy="5003796"/>
          </a:xfrm>
          <a:prstGeom prst="frame">
            <a:avLst>
              <a:gd name="adj1" fmla="val 73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solidFill>
            </a:endParaRPr>
          </a:p>
        </p:txBody>
      </p:sp>
      <p:grpSp>
        <p:nvGrpSpPr>
          <p:cNvPr id="91" name="Group 74"/>
          <p:cNvGrpSpPr>
            <a:grpSpLocks noChangeAspect="1"/>
          </p:cNvGrpSpPr>
          <p:nvPr userDrawn="1"/>
        </p:nvGrpSpPr>
        <p:grpSpPr bwMode="auto">
          <a:xfrm>
            <a:off x="9616522" y="267172"/>
            <a:ext cx="2209994" cy="614757"/>
            <a:chOff x="954" y="660"/>
            <a:chExt cx="1269" cy="353"/>
          </a:xfrm>
          <a:solidFill>
            <a:srgbClr val="003F88"/>
          </a:solidFill>
          <a:effectLst>
            <a:outerShdw blurRad="50800" dist="38100" dir="2700000" algn="tl" rotWithShape="0">
              <a:schemeClr val="bg1">
                <a:lumMod val="50000"/>
                <a:alpha val="40000"/>
              </a:schemeClr>
            </a:outerShdw>
          </a:effectLst>
        </p:grpSpPr>
        <p:sp>
          <p:nvSpPr>
            <p:cNvPr id="92"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3"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4"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5"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6"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7"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98"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9"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0"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1"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2"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3"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4"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5"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6"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7"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8"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9"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0"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1"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2"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3"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4"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5"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6"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7"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8"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9"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0"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1"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2"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3"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4"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5"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6"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7"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8"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9"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0"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1"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2"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3"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4"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5"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6"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7"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8"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9"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0"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1"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2"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3"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4"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5"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6"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7"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8"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9"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0"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1"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2"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3"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4"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5"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6"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7"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8"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8" name="灯片编号占位符 7"/>
          <p:cNvSpPr>
            <a:spLocks noGrp="1"/>
          </p:cNvSpPr>
          <p:nvPr>
            <p:ph type="sldNum" sz="quarter" idx="17"/>
          </p:nvPr>
        </p:nvSpPr>
        <p:spPr/>
        <p:txBody>
          <a:bodyPr/>
          <a:lstStyle/>
          <a:p>
            <a:fld id="{406D97C8-3D29-46CB-B3AA-3C2C5D4C915D}"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段文字版式">
    <p:spTree>
      <p:nvGrpSpPr>
        <p:cNvPr id="1" name=""/>
        <p:cNvGrpSpPr/>
        <p:nvPr/>
      </p:nvGrpSpPr>
      <p:grpSpPr>
        <a:xfrm>
          <a:off x="0" y="0"/>
          <a:ext cx="0" cy="0"/>
          <a:chOff x="0" y="0"/>
          <a:chExt cx="0" cy="0"/>
        </a:xfrm>
      </p:grpSpPr>
      <p:sp>
        <p:nvSpPr>
          <p:cNvPr id="19" name="任意多边形: 形状 18"/>
          <p:cNvSpPr/>
          <p:nvPr userDrawn="1"/>
        </p:nvSpPr>
        <p:spPr>
          <a:xfrm>
            <a:off x="1" y="267172"/>
            <a:ext cx="9486459"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chemeClr val="tx2">
                <a:lumMod val="75000"/>
              </a:schemeClr>
            </a:fgClr>
            <a:bgClr>
              <a:srgbClr val="003F88"/>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400">
              <a:solidFill>
                <a:schemeClr val="accent1"/>
              </a:solidFill>
            </a:endParaRPr>
          </a:p>
        </p:txBody>
      </p:sp>
      <p:grpSp>
        <p:nvGrpSpPr>
          <p:cNvPr id="4" name="组合 3"/>
          <p:cNvGrpSpPr/>
          <p:nvPr userDrawn="1"/>
        </p:nvGrpSpPr>
        <p:grpSpPr>
          <a:xfrm>
            <a:off x="443029" y="435931"/>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文本占位符 11"/>
          <p:cNvSpPr>
            <a:spLocks noGrp="1"/>
          </p:cNvSpPr>
          <p:nvPr>
            <p:ph type="body" sz="quarter" idx="12" hasCustomPrompt="1"/>
          </p:nvPr>
        </p:nvSpPr>
        <p:spPr>
          <a:xfrm>
            <a:off x="660400" y="297665"/>
            <a:ext cx="7601971" cy="507831"/>
          </a:xfrm>
          <a:prstGeom prst="rect">
            <a:avLst/>
          </a:prstGeom>
        </p:spPr>
        <p:txBody>
          <a:bodyPr/>
          <a:lstStyle>
            <a:lvl1pPr marL="0" indent="0">
              <a:buFontTx/>
              <a:buNone/>
              <a:defRPr sz="2800" b="1" spc="300">
                <a:solidFill>
                  <a:schemeClr val="bg1"/>
                </a:solidFill>
                <a:latin typeface="+mj-ea"/>
                <a:ea typeface="+mj-ea"/>
              </a:defRPr>
            </a:lvl1pPr>
            <a:lvl2pPr marL="457200" indent="0">
              <a:buFontTx/>
              <a:buNone/>
              <a:defRPr sz="2800" b="1">
                <a:solidFill>
                  <a:schemeClr val="bg1"/>
                </a:solidFill>
                <a:latin typeface="+mj-ea"/>
                <a:ea typeface="+mj-ea"/>
              </a:defRPr>
            </a:lvl2pPr>
            <a:lvl3pPr marL="914400" indent="0">
              <a:buFontTx/>
              <a:buNone/>
              <a:defRPr sz="2800" b="1">
                <a:solidFill>
                  <a:schemeClr val="bg1"/>
                </a:solidFill>
                <a:latin typeface="+mj-ea"/>
                <a:ea typeface="+mj-ea"/>
              </a:defRPr>
            </a:lvl3pPr>
            <a:lvl4pPr marL="1371600" indent="0">
              <a:buFontTx/>
              <a:buNone/>
              <a:defRPr sz="2800" b="1">
                <a:solidFill>
                  <a:schemeClr val="bg1"/>
                </a:solidFill>
                <a:latin typeface="+mj-ea"/>
                <a:ea typeface="+mj-ea"/>
              </a:defRPr>
            </a:lvl4pPr>
            <a:lvl5pPr marL="1828800" indent="0">
              <a:buFontTx/>
              <a:buNone/>
              <a:defRPr sz="2800" b="1">
                <a:solidFill>
                  <a:schemeClr val="bg1"/>
                </a:solidFill>
                <a:latin typeface="+mj-ea"/>
                <a:ea typeface="+mj-ea"/>
              </a:defRPr>
            </a:lvl5pPr>
          </a:lstStyle>
          <a:p>
            <a:pPr lvl="0"/>
            <a:r>
              <a:rPr lang="en-US" altLang="zh-CN" dirty="0"/>
              <a:t>Click to edit Master title style</a:t>
            </a:r>
            <a:endParaRPr lang="en-US" altLang="zh-CN" dirty="0"/>
          </a:p>
        </p:txBody>
      </p:sp>
      <p:sp>
        <p:nvSpPr>
          <p:cNvPr id="3" name="内容占位符 2"/>
          <p:cNvSpPr>
            <a:spLocks noGrp="1"/>
          </p:cNvSpPr>
          <p:nvPr>
            <p:ph sz="quarter" idx="13"/>
          </p:nvPr>
        </p:nvSpPr>
        <p:spPr>
          <a:xfrm>
            <a:off x="1186422" y="1497503"/>
            <a:ext cx="4146549" cy="370501"/>
          </a:xfrm>
          <a:prstGeom prst="rect">
            <a:avLst/>
          </a:prstGeom>
        </p:spPr>
        <p:txBody>
          <a:bodyPr/>
          <a:lstStyle>
            <a:lvl1pPr marL="0" indent="0">
              <a:buFontTx/>
              <a:buNone/>
              <a:defRPr sz="2400" b="1">
                <a:solidFill>
                  <a:srgbClr val="003F88"/>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10" name="矩形 9"/>
          <p:cNvSpPr/>
          <p:nvPr userDrawn="1"/>
        </p:nvSpPr>
        <p:spPr>
          <a:xfrm>
            <a:off x="1014973" y="1497503"/>
            <a:ext cx="171448" cy="370486"/>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内容占位符 2"/>
          <p:cNvSpPr>
            <a:spLocks noGrp="1"/>
          </p:cNvSpPr>
          <p:nvPr>
            <p:ph sz="quarter" idx="14"/>
          </p:nvPr>
        </p:nvSpPr>
        <p:spPr>
          <a:xfrm>
            <a:off x="908957" y="2003568"/>
            <a:ext cx="3122386" cy="3761186"/>
          </a:xfrm>
          <a:prstGeom prst="rect">
            <a:avLst/>
          </a:prstGeom>
        </p:spPr>
        <p:txBody>
          <a:bodyPr/>
          <a:lstStyle>
            <a:lvl1pPr marL="0" indent="0" algn="just">
              <a:lnSpc>
                <a:spcPct val="130000"/>
              </a:lnSpc>
              <a:spcBef>
                <a:spcPts val="1200"/>
              </a:spcBef>
              <a:buFontTx/>
              <a:buNone/>
              <a:defRPr sz="20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cxnSp>
        <p:nvCxnSpPr>
          <p:cNvPr id="11" name="直接连接符 10"/>
          <p:cNvCxnSpPr/>
          <p:nvPr userDrawn="1"/>
        </p:nvCxnSpPr>
        <p:spPr>
          <a:xfrm>
            <a:off x="4279900" y="2092754"/>
            <a:ext cx="0" cy="3672000"/>
          </a:xfrm>
          <a:prstGeom prst="line">
            <a:avLst/>
          </a:prstGeom>
          <a:ln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a:off x="7899400" y="2092754"/>
            <a:ext cx="0" cy="3672000"/>
          </a:xfrm>
          <a:prstGeom prst="line">
            <a:avLst/>
          </a:prstGeom>
          <a:ln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31" name="内容占位符 2"/>
          <p:cNvSpPr>
            <a:spLocks noGrp="1"/>
          </p:cNvSpPr>
          <p:nvPr>
            <p:ph sz="quarter" idx="15"/>
          </p:nvPr>
        </p:nvSpPr>
        <p:spPr>
          <a:xfrm>
            <a:off x="4528457" y="2003568"/>
            <a:ext cx="3122386" cy="3761186"/>
          </a:xfrm>
          <a:prstGeom prst="rect">
            <a:avLst/>
          </a:prstGeom>
        </p:spPr>
        <p:txBody>
          <a:bodyPr/>
          <a:lstStyle>
            <a:lvl1pPr marL="0" indent="0" algn="just">
              <a:lnSpc>
                <a:spcPct val="130000"/>
              </a:lnSpc>
              <a:spcBef>
                <a:spcPts val="1200"/>
              </a:spcBef>
              <a:buFontTx/>
              <a:buNone/>
              <a:defRPr sz="20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2" name="内容占位符 2"/>
          <p:cNvSpPr>
            <a:spLocks noGrp="1"/>
          </p:cNvSpPr>
          <p:nvPr>
            <p:ph sz="quarter" idx="16"/>
          </p:nvPr>
        </p:nvSpPr>
        <p:spPr>
          <a:xfrm>
            <a:off x="8147956" y="2003568"/>
            <a:ext cx="3122386" cy="3761186"/>
          </a:xfrm>
          <a:prstGeom prst="rect">
            <a:avLst/>
          </a:prstGeom>
        </p:spPr>
        <p:txBody>
          <a:bodyPr/>
          <a:lstStyle>
            <a:lvl1pPr marL="0" indent="0" algn="just">
              <a:lnSpc>
                <a:spcPct val="130000"/>
              </a:lnSpc>
              <a:spcBef>
                <a:spcPts val="1200"/>
              </a:spcBef>
              <a:buFontTx/>
              <a:buNone/>
              <a:defRPr sz="20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4" name="内容占位符 2"/>
          <p:cNvSpPr>
            <a:spLocks noGrp="1"/>
          </p:cNvSpPr>
          <p:nvPr>
            <p:ph sz="quarter" idx="17"/>
          </p:nvPr>
        </p:nvSpPr>
        <p:spPr>
          <a:xfrm>
            <a:off x="4805922" y="1497503"/>
            <a:ext cx="4146549" cy="370501"/>
          </a:xfrm>
          <a:prstGeom prst="rect">
            <a:avLst/>
          </a:prstGeom>
        </p:spPr>
        <p:txBody>
          <a:bodyPr/>
          <a:lstStyle>
            <a:lvl1pPr marL="0" indent="0">
              <a:buFontTx/>
              <a:buNone/>
              <a:defRPr sz="2400" b="1">
                <a:solidFill>
                  <a:srgbClr val="003F88"/>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5" name="矩形 34"/>
          <p:cNvSpPr/>
          <p:nvPr userDrawn="1"/>
        </p:nvSpPr>
        <p:spPr>
          <a:xfrm>
            <a:off x="4634473" y="1497503"/>
            <a:ext cx="171448" cy="370486"/>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内容占位符 2"/>
          <p:cNvSpPr>
            <a:spLocks noGrp="1"/>
          </p:cNvSpPr>
          <p:nvPr>
            <p:ph sz="quarter" idx="18"/>
          </p:nvPr>
        </p:nvSpPr>
        <p:spPr>
          <a:xfrm>
            <a:off x="8425422" y="1497503"/>
            <a:ext cx="4146549" cy="370501"/>
          </a:xfrm>
          <a:prstGeom prst="rect">
            <a:avLst/>
          </a:prstGeom>
        </p:spPr>
        <p:txBody>
          <a:bodyPr/>
          <a:lstStyle>
            <a:lvl1pPr marL="0" indent="0">
              <a:buFontTx/>
              <a:buNone/>
              <a:defRPr sz="2400" b="1">
                <a:solidFill>
                  <a:srgbClr val="003F88"/>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7" name="矩形 36"/>
          <p:cNvSpPr/>
          <p:nvPr userDrawn="1"/>
        </p:nvSpPr>
        <p:spPr>
          <a:xfrm>
            <a:off x="8253973" y="1497503"/>
            <a:ext cx="171448" cy="370486"/>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4" name="Group 74"/>
          <p:cNvGrpSpPr>
            <a:grpSpLocks noChangeAspect="1"/>
          </p:cNvGrpSpPr>
          <p:nvPr userDrawn="1"/>
        </p:nvGrpSpPr>
        <p:grpSpPr bwMode="auto">
          <a:xfrm>
            <a:off x="9616522" y="267172"/>
            <a:ext cx="2209994" cy="614757"/>
            <a:chOff x="954" y="660"/>
            <a:chExt cx="1269" cy="353"/>
          </a:xfrm>
          <a:solidFill>
            <a:srgbClr val="003F88"/>
          </a:solidFill>
          <a:effectLst>
            <a:outerShdw blurRad="50800" dist="38100" dir="2700000" algn="tl" rotWithShape="0">
              <a:schemeClr val="bg1">
                <a:lumMod val="50000"/>
                <a:alpha val="40000"/>
              </a:schemeClr>
            </a:outerShdw>
          </a:effectLst>
        </p:grpSpPr>
        <p:sp>
          <p:nvSpPr>
            <p:cNvPr id="165"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6"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7"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8"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9"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0"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171"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2"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3"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4"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5"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6"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7"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8"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9"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0"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1"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2"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3"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4"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5"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6"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7"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8"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9"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0"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1"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2"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3"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4"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5"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6"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7"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8"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9"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00"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01"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02"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03"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04"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05"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06"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07"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08"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09"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0"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1"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2"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3"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4"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5"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6"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7"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8"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9"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0"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1"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2"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3"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4"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5"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6"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7"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8"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9"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30"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31"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2" name="灯片编号占位符 1"/>
          <p:cNvSpPr>
            <a:spLocks noGrp="1"/>
          </p:cNvSpPr>
          <p:nvPr>
            <p:ph type="sldNum" sz="quarter" idx="19"/>
          </p:nvPr>
        </p:nvSpPr>
        <p:spPr/>
        <p:txBody>
          <a:bodyPr/>
          <a:lstStyle/>
          <a:p>
            <a:fld id="{406D97C8-3D29-46CB-B3AA-3C2C5D4C915D}" type="slidenum">
              <a:rPr lang="zh-CN" altLang="en-US" smtClean="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图展示版式">
    <p:spTree>
      <p:nvGrpSpPr>
        <p:cNvPr id="1" name=""/>
        <p:cNvGrpSpPr/>
        <p:nvPr/>
      </p:nvGrpSpPr>
      <p:grpSpPr>
        <a:xfrm>
          <a:off x="0" y="0"/>
          <a:ext cx="0" cy="0"/>
          <a:chOff x="0" y="0"/>
          <a:chExt cx="0" cy="0"/>
        </a:xfrm>
      </p:grpSpPr>
      <p:sp>
        <p:nvSpPr>
          <p:cNvPr id="19" name="任意多边形: 形状 18"/>
          <p:cNvSpPr/>
          <p:nvPr userDrawn="1"/>
        </p:nvSpPr>
        <p:spPr>
          <a:xfrm>
            <a:off x="1" y="267172"/>
            <a:ext cx="9486459"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chemeClr val="tx2">
                <a:lumMod val="75000"/>
              </a:schemeClr>
            </a:fgClr>
            <a:bgClr>
              <a:srgbClr val="003F88"/>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400">
              <a:solidFill>
                <a:schemeClr val="accent1"/>
              </a:solidFill>
            </a:endParaRPr>
          </a:p>
        </p:txBody>
      </p:sp>
      <p:grpSp>
        <p:nvGrpSpPr>
          <p:cNvPr id="4" name="组合 3"/>
          <p:cNvGrpSpPr/>
          <p:nvPr userDrawn="1"/>
        </p:nvGrpSpPr>
        <p:grpSpPr>
          <a:xfrm>
            <a:off x="443029" y="435931"/>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文本占位符 11"/>
          <p:cNvSpPr>
            <a:spLocks noGrp="1"/>
          </p:cNvSpPr>
          <p:nvPr>
            <p:ph type="body" sz="quarter" idx="12" hasCustomPrompt="1"/>
          </p:nvPr>
        </p:nvSpPr>
        <p:spPr>
          <a:xfrm>
            <a:off x="660400" y="297665"/>
            <a:ext cx="7601971" cy="507831"/>
          </a:xfrm>
          <a:prstGeom prst="rect">
            <a:avLst/>
          </a:prstGeom>
        </p:spPr>
        <p:txBody>
          <a:bodyPr/>
          <a:lstStyle>
            <a:lvl1pPr marL="0" indent="0">
              <a:buFontTx/>
              <a:buNone/>
              <a:defRPr sz="2800" b="1" spc="300">
                <a:solidFill>
                  <a:schemeClr val="bg1"/>
                </a:solidFill>
                <a:latin typeface="+mj-ea"/>
                <a:ea typeface="+mj-ea"/>
              </a:defRPr>
            </a:lvl1pPr>
            <a:lvl2pPr marL="457200" indent="0">
              <a:buFontTx/>
              <a:buNone/>
              <a:defRPr sz="2800" b="1">
                <a:solidFill>
                  <a:schemeClr val="bg1"/>
                </a:solidFill>
                <a:latin typeface="+mj-ea"/>
                <a:ea typeface="+mj-ea"/>
              </a:defRPr>
            </a:lvl2pPr>
            <a:lvl3pPr marL="914400" indent="0">
              <a:buFontTx/>
              <a:buNone/>
              <a:defRPr sz="2800" b="1">
                <a:solidFill>
                  <a:schemeClr val="bg1"/>
                </a:solidFill>
                <a:latin typeface="+mj-ea"/>
                <a:ea typeface="+mj-ea"/>
              </a:defRPr>
            </a:lvl3pPr>
            <a:lvl4pPr marL="1371600" indent="0">
              <a:buFontTx/>
              <a:buNone/>
              <a:defRPr sz="2800" b="1">
                <a:solidFill>
                  <a:schemeClr val="bg1"/>
                </a:solidFill>
                <a:latin typeface="+mj-ea"/>
                <a:ea typeface="+mj-ea"/>
              </a:defRPr>
            </a:lvl4pPr>
            <a:lvl5pPr marL="1828800" indent="0">
              <a:buFontTx/>
              <a:buNone/>
              <a:defRPr sz="2800" b="1">
                <a:solidFill>
                  <a:schemeClr val="bg1"/>
                </a:solidFill>
                <a:latin typeface="+mj-ea"/>
                <a:ea typeface="+mj-ea"/>
              </a:defRPr>
            </a:lvl5pPr>
          </a:lstStyle>
          <a:p>
            <a:pPr lvl="0"/>
            <a:r>
              <a:rPr lang="en-US" altLang="zh-CN" dirty="0"/>
              <a:t>Click to edit Master title style</a:t>
            </a:r>
            <a:endParaRPr lang="en-US" altLang="zh-CN" dirty="0"/>
          </a:p>
        </p:txBody>
      </p:sp>
      <p:sp>
        <p:nvSpPr>
          <p:cNvPr id="30" name="图文框 29"/>
          <p:cNvSpPr/>
          <p:nvPr userDrawn="1"/>
        </p:nvSpPr>
        <p:spPr>
          <a:xfrm>
            <a:off x="2082500" y="1328456"/>
            <a:ext cx="7549733" cy="4486003"/>
          </a:xfrm>
          <a:prstGeom prst="frame">
            <a:avLst>
              <a:gd name="adj1" fmla="val 26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图片占位符 8"/>
          <p:cNvSpPr>
            <a:spLocks noGrp="1"/>
          </p:cNvSpPr>
          <p:nvPr>
            <p:ph type="pic" sz="quarter" idx="13"/>
          </p:nvPr>
        </p:nvSpPr>
        <p:spPr>
          <a:xfrm>
            <a:off x="2470179" y="1518878"/>
            <a:ext cx="7549733" cy="4105159"/>
          </a:xfrm>
          <a:prstGeom prst="rect">
            <a:avLst/>
          </a:prstGeom>
          <a:ln w="53975" cap="sq">
            <a:solidFill>
              <a:srgbClr val="003F88"/>
            </a:solidFill>
            <a:miter lim="800000"/>
          </a:ln>
        </p:spPr>
        <p:txBody>
          <a:bodyPr/>
          <a:lstStyle/>
          <a:p>
            <a:endParaRPr lang="zh-CN" altLang="en-US"/>
          </a:p>
        </p:txBody>
      </p:sp>
      <p:sp>
        <p:nvSpPr>
          <p:cNvPr id="11" name="矩形 10"/>
          <p:cNvSpPr/>
          <p:nvPr userDrawn="1"/>
        </p:nvSpPr>
        <p:spPr>
          <a:xfrm>
            <a:off x="1871099" y="1849430"/>
            <a:ext cx="449305" cy="34440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竖排文字占位符 13"/>
          <p:cNvSpPr>
            <a:spLocks noGrp="1"/>
          </p:cNvSpPr>
          <p:nvPr>
            <p:ph type="body" orient="vert" sz="quarter" idx="14" hasCustomPrompt="1"/>
          </p:nvPr>
        </p:nvSpPr>
        <p:spPr>
          <a:xfrm>
            <a:off x="1924107" y="1849430"/>
            <a:ext cx="418492" cy="3444051"/>
          </a:xfrm>
          <a:prstGeom prst="rect">
            <a:avLst/>
          </a:prstGeom>
        </p:spPr>
        <p:txBody>
          <a:bodyPr vert="eaVert"/>
          <a:lstStyle>
            <a:lvl1pPr marL="0" indent="0" algn="ctr">
              <a:buFontTx/>
              <a:buNone/>
              <a:defRPr lang="zh-CN" altLang="en-US" sz="2400" b="1" smtClean="0">
                <a:solidFill>
                  <a:schemeClr val="bg1"/>
                </a:solidFill>
                <a:latin typeface="+mj-ea"/>
                <a:ea typeface="+mj-ea"/>
              </a:defRPr>
            </a:lvl1pPr>
            <a:lvl2pPr>
              <a:defRPr lang="zh-CN" altLang="en-US" b="1" smtClean="0">
                <a:latin typeface="+mj-ea"/>
                <a:ea typeface="+mj-ea"/>
              </a:defRPr>
            </a:lvl2pPr>
            <a:lvl3pPr>
              <a:defRPr lang="zh-CN" altLang="en-US" sz="2400" b="1" smtClean="0">
                <a:latin typeface="+mj-ea"/>
                <a:ea typeface="+mj-ea"/>
              </a:defRPr>
            </a:lvl3pPr>
            <a:lvl4pPr>
              <a:defRPr lang="zh-CN" altLang="en-US" sz="2400" b="1" smtClean="0">
                <a:latin typeface="+mj-ea"/>
                <a:ea typeface="+mj-ea"/>
              </a:defRPr>
            </a:lvl4pPr>
            <a:lvl5pPr>
              <a:defRPr lang="zh-CN" altLang="en-US" sz="2400" b="1">
                <a:latin typeface="+mj-ea"/>
                <a:ea typeface="+mj-ea"/>
              </a:defRPr>
            </a:lvl5pPr>
          </a:lstStyle>
          <a:p>
            <a:pPr marL="228600" lvl="0" indent="-228600"/>
            <a:r>
              <a:rPr lang="zh-CN" altLang="en-US" dirty="0"/>
              <a:t>输入图片说明文字</a:t>
            </a:r>
            <a:endParaRPr lang="zh-CN" altLang="en-US" dirty="0"/>
          </a:p>
        </p:txBody>
      </p:sp>
      <p:grpSp>
        <p:nvGrpSpPr>
          <p:cNvPr id="84" name="Group 74"/>
          <p:cNvGrpSpPr>
            <a:grpSpLocks noChangeAspect="1"/>
          </p:cNvGrpSpPr>
          <p:nvPr userDrawn="1"/>
        </p:nvGrpSpPr>
        <p:grpSpPr bwMode="auto">
          <a:xfrm>
            <a:off x="9616522" y="267172"/>
            <a:ext cx="2209994" cy="614757"/>
            <a:chOff x="954" y="660"/>
            <a:chExt cx="1269" cy="353"/>
          </a:xfrm>
          <a:solidFill>
            <a:srgbClr val="003F88"/>
          </a:solidFill>
          <a:effectLst>
            <a:outerShdw blurRad="50800" dist="38100" dir="2700000" algn="tl" rotWithShape="0">
              <a:schemeClr val="bg1">
                <a:lumMod val="50000"/>
                <a:alpha val="40000"/>
              </a:schemeClr>
            </a:outerShdw>
          </a:effectLst>
        </p:grpSpPr>
        <p:sp>
          <p:nvSpPr>
            <p:cNvPr id="85"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6"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7"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8"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9"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0"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91"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2"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3"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4"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5"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6"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7"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8"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9"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0"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1"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2"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3"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4"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5"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6"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7"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8"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9"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0"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1"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2"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3"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4"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5"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6"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7"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8"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9"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0"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1"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2"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3"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4"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5"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6"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7"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8"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9"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0"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1"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2"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3"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4"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5"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6"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7"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8"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9"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0"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1"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2"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3"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4"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5"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6"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7"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8"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9"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0"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1"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2" name="灯片编号占位符 1"/>
          <p:cNvSpPr>
            <a:spLocks noGrp="1"/>
          </p:cNvSpPr>
          <p:nvPr>
            <p:ph type="sldNum" sz="quarter" idx="15"/>
          </p:nvPr>
        </p:nvSpPr>
        <p:spPr/>
        <p:txBody>
          <a:bodyPr/>
          <a:lstStyle/>
          <a:p>
            <a:fld id="{406D97C8-3D29-46CB-B3AA-3C2C5D4C915D}" type="slidenum">
              <a:rPr lang="zh-CN" altLang="en-US" smtClean="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图文展示版式">
    <p:spTree>
      <p:nvGrpSpPr>
        <p:cNvPr id="1" name=""/>
        <p:cNvGrpSpPr/>
        <p:nvPr/>
      </p:nvGrpSpPr>
      <p:grpSpPr>
        <a:xfrm>
          <a:off x="0" y="0"/>
          <a:ext cx="0" cy="0"/>
          <a:chOff x="0" y="0"/>
          <a:chExt cx="0" cy="0"/>
        </a:xfrm>
      </p:grpSpPr>
      <p:sp>
        <p:nvSpPr>
          <p:cNvPr id="19" name="任意多边形: 形状 18"/>
          <p:cNvSpPr/>
          <p:nvPr userDrawn="1"/>
        </p:nvSpPr>
        <p:spPr>
          <a:xfrm>
            <a:off x="1" y="267172"/>
            <a:ext cx="9486459"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chemeClr val="tx2">
                <a:lumMod val="75000"/>
              </a:schemeClr>
            </a:fgClr>
            <a:bgClr>
              <a:srgbClr val="003F88"/>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400">
              <a:solidFill>
                <a:schemeClr val="accent1"/>
              </a:solidFill>
            </a:endParaRPr>
          </a:p>
        </p:txBody>
      </p:sp>
      <p:grpSp>
        <p:nvGrpSpPr>
          <p:cNvPr id="4" name="组合 3"/>
          <p:cNvGrpSpPr/>
          <p:nvPr userDrawn="1"/>
        </p:nvGrpSpPr>
        <p:grpSpPr>
          <a:xfrm>
            <a:off x="443029" y="435931"/>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文本占位符 11"/>
          <p:cNvSpPr>
            <a:spLocks noGrp="1"/>
          </p:cNvSpPr>
          <p:nvPr>
            <p:ph type="body" sz="quarter" idx="12" hasCustomPrompt="1"/>
          </p:nvPr>
        </p:nvSpPr>
        <p:spPr>
          <a:xfrm>
            <a:off x="660400" y="297665"/>
            <a:ext cx="7601971" cy="507831"/>
          </a:xfrm>
          <a:prstGeom prst="rect">
            <a:avLst/>
          </a:prstGeom>
        </p:spPr>
        <p:txBody>
          <a:bodyPr/>
          <a:lstStyle>
            <a:lvl1pPr marL="0" indent="0">
              <a:buFontTx/>
              <a:buNone/>
              <a:defRPr sz="2800" b="1" spc="300">
                <a:solidFill>
                  <a:schemeClr val="bg1"/>
                </a:solidFill>
                <a:latin typeface="+mj-ea"/>
                <a:ea typeface="+mj-ea"/>
              </a:defRPr>
            </a:lvl1pPr>
            <a:lvl2pPr marL="457200" indent="0">
              <a:buFontTx/>
              <a:buNone/>
              <a:defRPr sz="2800" b="1">
                <a:solidFill>
                  <a:schemeClr val="bg1"/>
                </a:solidFill>
                <a:latin typeface="+mj-ea"/>
                <a:ea typeface="+mj-ea"/>
              </a:defRPr>
            </a:lvl2pPr>
            <a:lvl3pPr marL="914400" indent="0">
              <a:buFontTx/>
              <a:buNone/>
              <a:defRPr sz="2800" b="1">
                <a:solidFill>
                  <a:schemeClr val="bg1"/>
                </a:solidFill>
                <a:latin typeface="+mj-ea"/>
                <a:ea typeface="+mj-ea"/>
              </a:defRPr>
            </a:lvl3pPr>
            <a:lvl4pPr marL="1371600" indent="0">
              <a:buFontTx/>
              <a:buNone/>
              <a:defRPr sz="2800" b="1">
                <a:solidFill>
                  <a:schemeClr val="bg1"/>
                </a:solidFill>
                <a:latin typeface="+mj-ea"/>
                <a:ea typeface="+mj-ea"/>
              </a:defRPr>
            </a:lvl4pPr>
            <a:lvl5pPr marL="1828800" indent="0">
              <a:buFontTx/>
              <a:buNone/>
              <a:defRPr sz="2800" b="1">
                <a:solidFill>
                  <a:schemeClr val="bg1"/>
                </a:solidFill>
                <a:latin typeface="+mj-ea"/>
                <a:ea typeface="+mj-ea"/>
              </a:defRPr>
            </a:lvl5pPr>
          </a:lstStyle>
          <a:p>
            <a:pPr lvl="0"/>
            <a:r>
              <a:rPr lang="en-US" altLang="zh-CN" dirty="0"/>
              <a:t>Click to edit Master title style</a:t>
            </a:r>
            <a:endParaRPr lang="en-US" altLang="zh-CN" dirty="0"/>
          </a:p>
        </p:txBody>
      </p:sp>
      <p:sp>
        <p:nvSpPr>
          <p:cNvPr id="17" name="图文框 16"/>
          <p:cNvSpPr/>
          <p:nvPr userDrawn="1"/>
        </p:nvSpPr>
        <p:spPr>
          <a:xfrm>
            <a:off x="660400" y="1784267"/>
            <a:ext cx="10858500" cy="3571504"/>
          </a:xfrm>
          <a:prstGeom prst="frame">
            <a:avLst>
              <a:gd name="adj1" fmla="val 1459"/>
            </a:avLst>
          </a:prstGeom>
          <a:solidFill>
            <a:srgbClr val="E6E6E6"/>
          </a:solidFill>
          <a:ln>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图片占位符 8"/>
          <p:cNvSpPr>
            <a:spLocks noGrp="1"/>
          </p:cNvSpPr>
          <p:nvPr>
            <p:ph type="pic" sz="quarter" idx="13"/>
          </p:nvPr>
        </p:nvSpPr>
        <p:spPr>
          <a:xfrm>
            <a:off x="1296001" y="1613938"/>
            <a:ext cx="3887078" cy="4105159"/>
          </a:xfrm>
          <a:prstGeom prst="rect">
            <a:avLst/>
          </a:prstGeom>
          <a:ln w="53975" cap="sq">
            <a:noFill/>
          </a:ln>
        </p:spPr>
        <p:txBody>
          <a:bodyPr/>
          <a:lstStyle/>
          <a:p>
            <a:endParaRPr lang="zh-CN" altLang="en-US" dirty="0"/>
          </a:p>
        </p:txBody>
      </p:sp>
      <p:sp>
        <p:nvSpPr>
          <p:cNvPr id="20" name="竖排文字占位符 13"/>
          <p:cNvSpPr>
            <a:spLocks noGrp="1"/>
          </p:cNvSpPr>
          <p:nvPr>
            <p:ph type="body" orient="vert" sz="quarter" idx="14" hasCustomPrompt="1"/>
          </p:nvPr>
        </p:nvSpPr>
        <p:spPr>
          <a:xfrm>
            <a:off x="1092025" y="5100835"/>
            <a:ext cx="2870467" cy="458341"/>
          </a:xfrm>
          <a:prstGeom prst="rect">
            <a:avLst/>
          </a:prstGeom>
          <a:solidFill>
            <a:srgbClr val="003F88">
              <a:alpha val="20000"/>
            </a:srgbClr>
          </a:solidFill>
        </p:spPr>
        <p:txBody>
          <a:bodyPr vert="horz"/>
          <a:lstStyle>
            <a:lvl1pPr marL="0" indent="0" algn="ctr">
              <a:buFontTx/>
              <a:buNone/>
              <a:defRPr lang="zh-CN" altLang="en-US" sz="2400" b="1" smtClean="0">
                <a:solidFill>
                  <a:schemeClr val="tx2"/>
                </a:solidFill>
                <a:latin typeface="+mj-ea"/>
                <a:ea typeface="+mj-ea"/>
              </a:defRPr>
            </a:lvl1pPr>
            <a:lvl2pPr>
              <a:defRPr lang="zh-CN" altLang="en-US" b="1" smtClean="0">
                <a:latin typeface="+mj-ea"/>
                <a:ea typeface="+mj-ea"/>
              </a:defRPr>
            </a:lvl2pPr>
            <a:lvl3pPr>
              <a:defRPr lang="zh-CN" altLang="en-US" sz="2400" b="1" smtClean="0">
                <a:latin typeface="+mj-ea"/>
                <a:ea typeface="+mj-ea"/>
              </a:defRPr>
            </a:lvl3pPr>
            <a:lvl4pPr>
              <a:defRPr lang="zh-CN" altLang="en-US" sz="2400" b="1" smtClean="0">
                <a:latin typeface="+mj-ea"/>
                <a:ea typeface="+mj-ea"/>
              </a:defRPr>
            </a:lvl4pPr>
            <a:lvl5pPr>
              <a:defRPr lang="zh-CN" altLang="en-US" sz="2400" b="1">
                <a:latin typeface="+mj-ea"/>
                <a:ea typeface="+mj-ea"/>
              </a:defRPr>
            </a:lvl5pPr>
          </a:lstStyle>
          <a:p>
            <a:pPr marL="228600" lvl="0" indent="-228600"/>
            <a:r>
              <a:rPr lang="zh-CN" altLang="en-US" dirty="0"/>
              <a:t>输入图片说明文字</a:t>
            </a:r>
            <a:endParaRPr lang="zh-CN" altLang="en-US" dirty="0"/>
          </a:p>
        </p:txBody>
      </p:sp>
      <p:sp>
        <p:nvSpPr>
          <p:cNvPr id="21" name="内容占位符 2"/>
          <p:cNvSpPr>
            <a:spLocks noGrp="1"/>
          </p:cNvSpPr>
          <p:nvPr>
            <p:ph sz="quarter" idx="15"/>
          </p:nvPr>
        </p:nvSpPr>
        <p:spPr>
          <a:xfrm>
            <a:off x="6081486" y="2153539"/>
            <a:ext cx="4146549" cy="370501"/>
          </a:xfrm>
          <a:prstGeom prst="rect">
            <a:avLst/>
          </a:prstGeom>
        </p:spPr>
        <p:txBody>
          <a:bodyPr/>
          <a:lstStyle>
            <a:lvl1pPr marL="0" indent="0">
              <a:buFontTx/>
              <a:buNone/>
              <a:defRPr sz="2000" b="1">
                <a:solidFill>
                  <a:srgbClr val="003F88"/>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22" name="矩形 21"/>
          <p:cNvSpPr/>
          <p:nvPr userDrawn="1"/>
        </p:nvSpPr>
        <p:spPr>
          <a:xfrm>
            <a:off x="5910037" y="2153539"/>
            <a:ext cx="171448" cy="370486"/>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内容占位符 2"/>
          <p:cNvSpPr>
            <a:spLocks noGrp="1"/>
          </p:cNvSpPr>
          <p:nvPr>
            <p:ph sz="quarter" idx="16"/>
          </p:nvPr>
        </p:nvSpPr>
        <p:spPr>
          <a:xfrm>
            <a:off x="5774357" y="2618894"/>
            <a:ext cx="5158014" cy="2351315"/>
          </a:xfrm>
          <a:prstGeom prst="rect">
            <a:avLst/>
          </a:prstGeom>
        </p:spPr>
        <p:txBody>
          <a:bodyPr/>
          <a:lstStyle>
            <a:lvl1pPr marL="0" indent="0" algn="just">
              <a:lnSpc>
                <a:spcPct val="130000"/>
              </a:lnSpc>
              <a:spcBef>
                <a:spcPts val="1200"/>
              </a:spcBef>
              <a:buFontTx/>
              <a:buNone/>
              <a:defRPr sz="18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grpSp>
        <p:nvGrpSpPr>
          <p:cNvPr id="89" name="Group 74"/>
          <p:cNvGrpSpPr>
            <a:grpSpLocks noChangeAspect="1"/>
          </p:cNvGrpSpPr>
          <p:nvPr userDrawn="1"/>
        </p:nvGrpSpPr>
        <p:grpSpPr bwMode="auto">
          <a:xfrm>
            <a:off x="9616522" y="267172"/>
            <a:ext cx="2209994" cy="614757"/>
            <a:chOff x="954" y="660"/>
            <a:chExt cx="1269" cy="353"/>
          </a:xfrm>
          <a:solidFill>
            <a:srgbClr val="003F88"/>
          </a:solidFill>
          <a:effectLst>
            <a:outerShdw blurRad="50800" dist="38100" dir="2700000" algn="tl" rotWithShape="0">
              <a:schemeClr val="bg1">
                <a:lumMod val="50000"/>
                <a:alpha val="40000"/>
              </a:schemeClr>
            </a:outerShdw>
          </a:effectLst>
        </p:grpSpPr>
        <p:sp>
          <p:nvSpPr>
            <p:cNvPr id="90"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1"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2"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3"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4"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5"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96"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7"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8"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9"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0"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1"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2"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3"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4"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5"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6"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7"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8"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9"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0"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1"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2"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3"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4"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5"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6"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7"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8"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9"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0"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1"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2"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3"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4"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5"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6"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7"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8"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9"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0"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1"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2"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3"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4"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5"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6"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7"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8"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9"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0"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1"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2"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3"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4"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5"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6"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7"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8"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9"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0"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1"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2"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3"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4"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5"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6"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2" name="灯片编号占位符 1"/>
          <p:cNvSpPr>
            <a:spLocks noGrp="1"/>
          </p:cNvSpPr>
          <p:nvPr>
            <p:ph type="sldNum" sz="quarter" idx="17"/>
          </p:nvPr>
        </p:nvSpPr>
        <p:spPr/>
        <p:txBody>
          <a:bodyPr/>
          <a:lstStyle/>
          <a:p>
            <a:fld id="{406D97C8-3D29-46CB-B3AA-3C2C5D4C915D}"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图文展示版式">
    <p:spTree>
      <p:nvGrpSpPr>
        <p:cNvPr id="1" name=""/>
        <p:cNvGrpSpPr/>
        <p:nvPr/>
      </p:nvGrpSpPr>
      <p:grpSpPr>
        <a:xfrm>
          <a:off x="0" y="0"/>
          <a:ext cx="0" cy="0"/>
          <a:chOff x="0" y="0"/>
          <a:chExt cx="0" cy="0"/>
        </a:xfrm>
      </p:grpSpPr>
      <p:sp>
        <p:nvSpPr>
          <p:cNvPr id="2" name="矩形 1"/>
          <p:cNvSpPr/>
          <p:nvPr userDrawn="1"/>
        </p:nvSpPr>
        <p:spPr>
          <a:xfrm>
            <a:off x="3975652" y="1399163"/>
            <a:ext cx="7195931" cy="1754855"/>
          </a:xfrm>
          <a:prstGeom prst="rect">
            <a:avLst/>
          </a:prstGeom>
          <a:solidFill>
            <a:srgbClr val="E6E6E6">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任意多边形: 形状 18"/>
          <p:cNvSpPr/>
          <p:nvPr userDrawn="1"/>
        </p:nvSpPr>
        <p:spPr>
          <a:xfrm>
            <a:off x="1" y="267172"/>
            <a:ext cx="9486459"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chemeClr val="tx2">
                <a:lumMod val="75000"/>
              </a:schemeClr>
            </a:fgClr>
            <a:bgClr>
              <a:srgbClr val="003F88"/>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400">
              <a:solidFill>
                <a:schemeClr val="accent1"/>
              </a:solidFill>
            </a:endParaRPr>
          </a:p>
        </p:txBody>
      </p:sp>
      <p:grpSp>
        <p:nvGrpSpPr>
          <p:cNvPr id="4" name="组合 3"/>
          <p:cNvGrpSpPr/>
          <p:nvPr userDrawn="1"/>
        </p:nvGrpSpPr>
        <p:grpSpPr>
          <a:xfrm>
            <a:off x="443029" y="435931"/>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文本占位符 11"/>
          <p:cNvSpPr>
            <a:spLocks noGrp="1"/>
          </p:cNvSpPr>
          <p:nvPr>
            <p:ph type="body" sz="quarter" idx="12" hasCustomPrompt="1"/>
          </p:nvPr>
        </p:nvSpPr>
        <p:spPr>
          <a:xfrm>
            <a:off x="660400" y="297665"/>
            <a:ext cx="7601971" cy="507831"/>
          </a:xfrm>
          <a:prstGeom prst="rect">
            <a:avLst/>
          </a:prstGeom>
        </p:spPr>
        <p:txBody>
          <a:bodyPr/>
          <a:lstStyle>
            <a:lvl1pPr marL="0" indent="0">
              <a:buFontTx/>
              <a:buNone/>
              <a:defRPr sz="2800" b="1" spc="300">
                <a:solidFill>
                  <a:schemeClr val="bg1"/>
                </a:solidFill>
                <a:latin typeface="+mj-ea"/>
                <a:ea typeface="+mj-ea"/>
              </a:defRPr>
            </a:lvl1pPr>
            <a:lvl2pPr marL="457200" indent="0">
              <a:buFontTx/>
              <a:buNone/>
              <a:defRPr sz="2800" b="1">
                <a:solidFill>
                  <a:schemeClr val="bg1"/>
                </a:solidFill>
                <a:latin typeface="+mj-ea"/>
                <a:ea typeface="+mj-ea"/>
              </a:defRPr>
            </a:lvl2pPr>
            <a:lvl3pPr marL="914400" indent="0">
              <a:buFontTx/>
              <a:buNone/>
              <a:defRPr sz="2800" b="1">
                <a:solidFill>
                  <a:schemeClr val="bg1"/>
                </a:solidFill>
                <a:latin typeface="+mj-ea"/>
                <a:ea typeface="+mj-ea"/>
              </a:defRPr>
            </a:lvl3pPr>
            <a:lvl4pPr marL="1371600" indent="0">
              <a:buFontTx/>
              <a:buNone/>
              <a:defRPr sz="2800" b="1">
                <a:solidFill>
                  <a:schemeClr val="bg1"/>
                </a:solidFill>
                <a:latin typeface="+mj-ea"/>
                <a:ea typeface="+mj-ea"/>
              </a:defRPr>
            </a:lvl4pPr>
            <a:lvl5pPr marL="1828800" indent="0">
              <a:buFontTx/>
              <a:buNone/>
              <a:defRPr sz="2800" b="1">
                <a:solidFill>
                  <a:schemeClr val="bg1"/>
                </a:solidFill>
                <a:latin typeface="+mj-ea"/>
                <a:ea typeface="+mj-ea"/>
              </a:defRPr>
            </a:lvl5pPr>
          </a:lstStyle>
          <a:p>
            <a:pPr lvl="0"/>
            <a:r>
              <a:rPr lang="en-US" altLang="zh-CN" dirty="0"/>
              <a:t>Click to edit Master title style</a:t>
            </a:r>
            <a:endParaRPr lang="en-US" altLang="zh-CN" dirty="0"/>
          </a:p>
        </p:txBody>
      </p:sp>
      <p:sp>
        <p:nvSpPr>
          <p:cNvPr id="18" name="图片占位符 8"/>
          <p:cNvSpPr>
            <a:spLocks noGrp="1"/>
          </p:cNvSpPr>
          <p:nvPr>
            <p:ph type="pic" sz="quarter" idx="13"/>
          </p:nvPr>
        </p:nvSpPr>
        <p:spPr>
          <a:xfrm>
            <a:off x="1117850" y="1306397"/>
            <a:ext cx="3016043" cy="1947582"/>
          </a:xfrm>
          <a:prstGeom prst="rect">
            <a:avLst/>
          </a:prstGeom>
          <a:ln w="53975" cap="sq">
            <a:solidFill>
              <a:srgbClr val="003F88"/>
            </a:solidFill>
            <a:miter lim="800000"/>
          </a:ln>
        </p:spPr>
        <p:txBody>
          <a:bodyPr/>
          <a:lstStyle/>
          <a:p>
            <a:endParaRPr lang="zh-CN" altLang="en-US"/>
          </a:p>
        </p:txBody>
      </p:sp>
      <p:sp>
        <p:nvSpPr>
          <p:cNvPr id="23" name="内容占位符 2"/>
          <p:cNvSpPr>
            <a:spLocks noGrp="1"/>
          </p:cNvSpPr>
          <p:nvPr>
            <p:ph sz="quarter" idx="16"/>
          </p:nvPr>
        </p:nvSpPr>
        <p:spPr>
          <a:xfrm>
            <a:off x="4373217" y="1895061"/>
            <a:ext cx="6496596" cy="1163163"/>
          </a:xfrm>
          <a:prstGeom prst="rect">
            <a:avLst/>
          </a:prstGeom>
        </p:spPr>
        <p:txBody>
          <a:bodyPr/>
          <a:lstStyle>
            <a:lvl1pPr marL="0" indent="0" algn="just">
              <a:lnSpc>
                <a:spcPct val="130000"/>
              </a:lnSpc>
              <a:spcBef>
                <a:spcPts val="0"/>
              </a:spcBef>
              <a:buFontTx/>
              <a:buNone/>
              <a:defRPr sz="18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28" name="内容占位符 2"/>
          <p:cNvSpPr>
            <a:spLocks noGrp="1"/>
          </p:cNvSpPr>
          <p:nvPr>
            <p:ph sz="quarter" idx="15"/>
          </p:nvPr>
        </p:nvSpPr>
        <p:spPr>
          <a:xfrm>
            <a:off x="4662142" y="1524560"/>
            <a:ext cx="4146549" cy="370501"/>
          </a:xfrm>
          <a:prstGeom prst="rect">
            <a:avLst/>
          </a:prstGeom>
        </p:spPr>
        <p:txBody>
          <a:bodyPr/>
          <a:lstStyle>
            <a:lvl1pPr marL="0" indent="0">
              <a:buFontTx/>
              <a:buNone/>
              <a:defRPr sz="2000" b="1">
                <a:solidFill>
                  <a:srgbClr val="003F88"/>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29" name="矩形 28"/>
          <p:cNvSpPr/>
          <p:nvPr userDrawn="1"/>
        </p:nvSpPr>
        <p:spPr>
          <a:xfrm>
            <a:off x="4490693" y="1524560"/>
            <a:ext cx="171448" cy="370486"/>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userDrawn="1"/>
        </p:nvSpPr>
        <p:spPr>
          <a:xfrm>
            <a:off x="3975652" y="3842643"/>
            <a:ext cx="7195931" cy="1754855"/>
          </a:xfrm>
          <a:prstGeom prst="rect">
            <a:avLst/>
          </a:prstGeom>
          <a:solidFill>
            <a:srgbClr val="E6E6E6">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1" name="图片占位符 8"/>
          <p:cNvSpPr>
            <a:spLocks noGrp="1"/>
          </p:cNvSpPr>
          <p:nvPr>
            <p:ph type="pic" sz="quarter" idx="17"/>
          </p:nvPr>
        </p:nvSpPr>
        <p:spPr>
          <a:xfrm>
            <a:off x="1117850" y="3749877"/>
            <a:ext cx="3016043" cy="1947582"/>
          </a:xfrm>
          <a:prstGeom prst="rect">
            <a:avLst/>
          </a:prstGeom>
          <a:ln w="53975" cap="sq">
            <a:solidFill>
              <a:srgbClr val="003F88"/>
            </a:solidFill>
            <a:miter lim="800000"/>
          </a:ln>
        </p:spPr>
        <p:txBody>
          <a:bodyPr/>
          <a:lstStyle/>
          <a:p>
            <a:endParaRPr lang="zh-CN" altLang="en-US"/>
          </a:p>
        </p:txBody>
      </p:sp>
      <p:sp>
        <p:nvSpPr>
          <p:cNvPr id="36" name="内容占位符 2"/>
          <p:cNvSpPr>
            <a:spLocks noGrp="1"/>
          </p:cNvSpPr>
          <p:nvPr>
            <p:ph sz="quarter" idx="18"/>
          </p:nvPr>
        </p:nvSpPr>
        <p:spPr>
          <a:xfrm>
            <a:off x="4373217" y="4338541"/>
            <a:ext cx="6496596" cy="1163163"/>
          </a:xfrm>
          <a:prstGeom prst="rect">
            <a:avLst/>
          </a:prstGeom>
        </p:spPr>
        <p:txBody>
          <a:bodyPr/>
          <a:lstStyle>
            <a:lvl1pPr marL="0" indent="0" algn="just">
              <a:lnSpc>
                <a:spcPct val="130000"/>
              </a:lnSpc>
              <a:spcBef>
                <a:spcPts val="0"/>
              </a:spcBef>
              <a:buFontTx/>
              <a:buNone/>
              <a:defRPr sz="18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7" name="内容占位符 2"/>
          <p:cNvSpPr>
            <a:spLocks noGrp="1"/>
          </p:cNvSpPr>
          <p:nvPr>
            <p:ph sz="quarter" idx="19"/>
          </p:nvPr>
        </p:nvSpPr>
        <p:spPr>
          <a:xfrm>
            <a:off x="4662142" y="3968040"/>
            <a:ext cx="4146549" cy="370501"/>
          </a:xfrm>
          <a:prstGeom prst="rect">
            <a:avLst/>
          </a:prstGeom>
        </p:spPr>
        <p:txBody>
          <a:bodyPr/>
          <a:lstStyle>
            <a:lvl1pPr marL="0" indent="0">
              <a:buFontTx/>
              <a:buNone/>
              <a:defRPr sz="2000" b="1">
                <a:solidFill>
                  <a:srgbClr val="003F88"/>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8" name="矩形 37"/>
          <p:cNvSpPr/>
          <p:nvPr userDrawn="1"/>
        </p:nvSpPr>
        <p:spPr>
          <a:xfrm>
            <a:off x="4490693" y="3968040"/>
            <a:ext cx="171448" cy="370486"/>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6" name="Group 74"/>
          <p:cNvGrpSpPr>
            <a:grpSpLocks noChangeAspect="1"/>
          </p:cNvGrpSpPr>
          <p:nvPr userDrawn="1"/>
        </p:nvGrpSpPr>
        <p:grpSpPr bwMode="auto">
          <a:xfrm>
            <a:off x="9616522" y="267172"/>
            <a:ext cx="2209994" cy="614757"/>
            <a:chOff x="954" y="660"/>
            <a:chExt cx="1269" cy="353"/>
          </a:xfrm>
          <a:solidFill>
            <a:srgbClr val="003F88"/>
          </a:solidFill>
          <a:effectLst>
            <a:outerShdw blurRad="50800" dist="38100" dir="2700000" algn="tl" rotWithShape="0">
              <a:schemeClr val="bg1">
                <a:lumMod val="50000"/>
                <a:alpha val="40000"/>
              </a:schemeClr>
            </a:outerShdw>
          </a:effectLst>
        </p:grpSpPr>
        <p:sp>
          <p:nvSpPr>
            <p:cNvPr id="97"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8"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9"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0"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1"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2"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103"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4"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5"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6"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7"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8"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9"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0"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1"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2"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3"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4"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5"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6"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7"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8"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9"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0"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1"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2"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3"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4"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5"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6"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7"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8"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9"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0"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1"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2"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3"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4"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5"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6"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7"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8"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9"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0"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1"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2"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3"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4"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5"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6"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7"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8"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9"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0"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1"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2"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3"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4"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5"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6"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7"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8"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9"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0"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1"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2"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3"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3" name="灯片编号占位符 2"/>
          <p:cNvSpPr>
            <a:spLocks noGrp="1"/>
          </p:cNvSpPr>
          <p:nvPr>
            <p:ph type="sldNum" sz="quarter" idx="20"/>
          </p:nvPr>
        </p:nvSpPr>
        <p:spPr/>
        <p:txBody>
          <a:bodyPr/>
          <a:lstStyle/>
          <a:p>
            <a:fld id="{406D97C8-3D29-46CB-B3AA-3C2C5D4C915D}"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图文展示版式">
    <p:spTree>
      <p:nvGrpSpPr>
        <p:cNvPr id="1" name=""/>
        <p:cNvGrpSpPr/>
        <p:nvPr/>
      </p:nvGrpSpPr>
      <p:grpSpPr>
        <a:xfrm>
          <a:off x="0" y="0"/>
          <a:ext cx="0" cy="0"/>
          <a:chOff x="0" y="0"/>
          <a:chExt cx="0" cy="0"/>
        </a:xfrm>
      </p:grpSpPr>
      <p:sp>
        <p:nvSpPr>
          <p:cNvPr id="51" name="矩形 50"/>
          <p:cNvSpPr/>
          <p:nvPr userDrawn="1"/>
        </p:nvSpPr>
        <p:spPr>
          <a:xfrm>
            <a:off x="8186023" y="3413421"/>
            <a:ext cx="2344180" cy="1028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0" name="矩形 49"/>
          <p:cNvSpPr/>
          <p:nvPr userDrawn="1"/>
        </p:nvSpPr>
        <p:spPr>
          <a:xfrm>
            <a:off x="4923910" y="3413421"/>
            <a:ext cx="2344180" cy="1028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任意多边形: 形状 18"/>
          <p:cNvSpPr/>
          <p:nvPr userDrawn="1"/>
        </p:nvSpPr>
        <p:spPr>
          <a:xfrm>
            <a:off x="1" y="267172"/>
            <a:ext cx="9486459"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chemeClr val="tx2">
                <a:lumMod val="75000"/>
              </a:schemeClr>
            </a:fgClr>
            <a:bgClr>
              <a:srgbClr val="003F88"/>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400">
              <a:solidFill>
                <a:schemeClr val="accent1"/>
              </a:solidFill>
            </a:endParaRPr>
          </a:p>
        </p:txBody>
      </p:sp>
      <p:grpSp>
        <p:nvGrpSpPr>
          <p:cNvPr id="4" name="组合 3"/>
          <p:cNvGrpSpPr/>
          <p:nvPr userDrawn="1"/>
        </p:nvGrpSpPr>
        <p:grpSpPr>
          <a:xfrm>
            <a:off x="443029" y="435931"/>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文本占位符 11"/>
          <p:cNvSpPr>
            <a:spLocks noGrp="1"/>
          </p:cNvSpPr>
          <p:nvPr>
            <p:ph type="body" sz="quarter" idx="12" hasCustomPrompt="1"/>
          </p:nvPr>
        </p:nvSpPr>
        <p:spPr>
          <a:xfrm>
            <a:off x="660400" y="297665"/>
            <a:ext cx="7601971" cy="507831"/>
          </a:xfrm>
          <a:prstGeom prst="rect">
            <a:avLst/>
          </a:prstGeom>
        </p:spPr>
        <p:txBody>
          <a:bodyPr/>
          <a:lstStyle>
            <a:lvl1pPr marL="0" indent="0">
              <a:buFontTx/>
              <a:buNone/>
              <a:defRPr sz="2800" b="1" spc="300">
                <a:solidFill>
                  <a:schemeClr val="bg1"/>
                </a:solidFill>
                <a:latin typeface="+mj-ea"/>
                <a:ea typeface="+mj-ea"/>
              </a:defRPr>
            </a:lvl1pPr>
            <a:lvl2pPr marL="457200" indent="0">
              <a:buFontTx/>
              <a:buNone/>
              <a:defRPr sz="2800" b="1">
                <a:solidFill>
                  <a:schemeClr val="bg1"/>
                </a:solidFill>
                <a:latin typeface="+mj-ea"/>
                <a:ea typeface="+mj-ea"/>
              </a:defRPr>
            </a:lvl2pPr>
            <a:lvl3pPr marL="914400" indent="0">
              <a:buFontTx/>
              <a:buNone/>
              <a:defRPr sz="2800" b="1">
                <a:solidFill>
                  <a:schemeClr val="bg1"/>
                </a:solidFill>
                <a:latin typeface="+mj-ea"/>
                <a:ea typeface="+mj-ea"/>
              </a:defRPr>
            </a:lvl3pPr>
            <a:lvl4pPr marL="1371600" indent="0">
              <a:buFontTx/>
              <a:buNone/>
              <a:defRPr sz="2800" b="1">
                <a:solidFill>
                  <a:schemeClr val="bg1"/>
                </a:solidFill>
                <a:latin typeface="+mj-ea"/>
                <a:ea typeface="+mj-ea"/>
              </a:defRPr>
            </a:lvl4pPr>
            <a:lvl5pPr marL="1828800" indent="0">
              <a:buFontTx/>
              <a:buNone/>
              <a:defRPr sz="2800" b="1">
                <a:solidFill>
                  <a:schemeClr val="bg1"/>
                </a:solidFill>
                <a:latin typeface="+mj-ea"/>
                <a:ea typeface="+mj-ea"/>
              </a:defRPr>
            </a:lvl5pPr>
          </a:lstStyle>
          <a:p>
            <a:pPr lvl="0"/>
            <a:r>
              <a:rPr lang="en-US" altLang="zh-CN" dirty="0"/>
              <a:t>Click to edit Master title style</a:t>
            </a:r>
            <a:endParaRPr lang="en-US" altLang="zh-CN" dirty="0"/>
          </a:p>
        </p:txBody>
      </p:sp>
      <p:sp>
        <p:nvSpPr>
          <p:cNvPr id="17" name="图文框 16"/>
          <p:cNvSpPr/>
          <p:nvPr userDrawn="1"/>
        </p:nvSpPr>
        <p:spPr>
          <a:xfrm>
            <a:off x="1477349" y="1196191"/>
            <a:ext cx="2641600" cy="4865339"/>
          </a:xfrm>
          <a:prstGeom prst="frame">
            <a:avLst>
              <a:gd name="adj1" fmla="val 1459"/>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图片占位符 8"/>
          <p:cNvSpPr>
            <a:spLocks noGrp="1"/>
          </p:cNvSpPr>
          <p:nvPr>
            <p:ph type="pic" sz="quarter" idx="13"/>
          </p:nvPr>
        </p:nvSpPr>
        <p:spPr>
          <a:xfrm>
            <a:off x="1290128" y="1367201"/>
            <a:ext cx="3016043" cy="1815062"/>
          </a:xfrm>
          <a:prstGeom prst="rect">
            <a:avLst/>
          </a:prstGeom>
          <a:ln w="53975" cap="sq">
            <a:noFill/>
          </a:ln>
        </p:spPr>
        <p:txBody>
          <a:bodyPr/>
          <a:lstStyle/>
          <a:p>
            <a:endParaRPr lang="zh-CN" altLang="en-US"/>
          </a:p>
        </p:txBody>
      </p:sp>
      <p:sp>
        <p:nvSpPr>
          <p:cNvPr id="23" name="内容占位符 2"/>
          <p:cNvSpPr>
            <a:spLocks noGrp="1"/>
          </p:cNvSpPr>
          <p:nvPr>
            <p:ph sz="quarter" idx="16"/>
          </p:nvPr>
        </p:nvSpPr>
        <p:spPr>
          <a:xfrm>
            <a:off x="1658758" y="3658429"/>
            <a:ext cx="2278783" cy="2234371"/>
          </a:xfrm>
          <a:prstGeom prst="rect">
            <a:avLst/>
          </a:prstGeom>
        </p:spPr>
        <p:txBody>
          <a:bodyPr/>
          <a:lstStyle>
            <a:lvl1pPr marL="0" indent="0" algn="just">
              <a:lnSpc>
                <a:spcPct val="130000"/>
              </a:lnSpc>
              <a:spcBef>
                <a:spcPts val="0"/>
              </a:spcBef>
              <a:buFontTx/>
              <a:buNone/>
              <a:defRPr sz="18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24" name="图文框 23"/>
          <p:cNvSpPr/>
          <p:nvPr userDrawn="1"/>
        </p:nvSpPr>
        <p:spPr>
          <a:xfrm>
            <a:off x="4761986" y="1196191"/>
            <a:ext cx="2641600" cy="4865339"/>
          </a:xfrm>
          <a:prstGeom prst="frame">
            <a:avLst>
              <a:gd name="adj1" fmla="val 1459"/>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图片占位符 8"/>
          <p:cNvSpPr>
            <a:spLocks noGrp="1"/>
          </p:cNvSpPr>
          <p:nvPr>
            <p:ph type="pic" sz="quarter" idx="17"/>
          </p:nvPr>
        </p:nvSpPr>
        <p:spPr>
          <a:xfrm>
            <a:off x="4574765" y="1367201"/>
            <a:ext cx="3016043" cy="1815062"/>
          </a:xfrm>
          <a:prstGeom prst="rect">
            <a:avLst/>
          </a:prstGeom>
          <a:ln w="53975" cap="sq">
            <a:noFill/>
          </a:ln>
        </p:spPr>
        <p:txBody>
          <a:bodyPr/>
          <a:lstStyle/>
          <a:p>
            <a:endParaRPr lang="zh-CN" altLang="en-US"/>
          </a:p>
        </p:txBody>
      </p:sp>
      <p:sp>
        <p:nvSpPr>
          <p:cNvPr id="26" name="竖排文字占位符 13"/>
          <p:cNvSpPr>
            <a:spLocks noGrp="1"/>
          </p:cNvSpPr>
          <p:nvPr>
            <p:ph type="body" orient="vert" sz="quarter" idx="18" hasCustomPrompt="1"/>
          </p:nvPr>
        </p:nvSpPr>
        <p:spPr>
          <a:xfrm>
            <a:off x="4680252" y="3039037"/>
            <a:ext cx="2870467" cy="458341"/>
          </a:xfrm>
          <a:prstGeom prst="rect">
            <a:avLst/>
          </a:prstGeom>
          <a:solidFill>
            <a:schemeClr val="bg2">
              <a:lumMod val="20000"/>
              <a:lumOff val="80000"/>
            </a:schemeClr>
          </a:solidFill>
        </p:spPr>
        <p:txBody>
          <a:bodyPr vert="horz" anchor="ctr" anchorCtr="0"/>
          <a:lstStyle>
            <a:lvl1pPr marL="0" indent="0" algn="ctr">
              <a:buFontTx/>
              <a:buNone/>
              <a:defRPr lang="zh-CN" altLang="en-US" sz="2000" b="1" smtClean="0">
                <a:solidFill>
                  <a:srgbClr val="003F88"/>
                </a:solidFill>
                <a:latin typeface="+mj-ea"/>
                <a:ea typeface="+mj-ea"/>
              </a:defRPr>
            </a:lvl1pPr>
            <a:lvl2pPr>
              <a:defRPr lang="zh-CN" altLang="en-US" b="1" smtClean="0">
                <a:latin typeface="+mj-ea"/>
                <a:ea typeface="+mj-ea"/>
              </a:defRPr>
            </a:lvl2pPr>
            <a:lvl3pPr>
              <a:defRPr lang="zh-CN" altLang="en-US" sz="2400" b="1" smtClean="0">
                <a:latin typeface="+mj-ea"/>
                <a:ea typeface="+mj-ea"/>
              </a:defRPr>
            </a:lvl3pPr>
            <a:lvl4pPr>
              <a:defRPr lang="zh-CN" altLang="en-US" sz="2400" b="1" smtClean="0">
                <a:latin typeface="+mj-ea"/>
                <a:ea typeface="+mj-ea"/>
              </a:defRPr>
            </a:lvl4pPr>
            <a:lvl5pPr>
              <a:defRPr lang="zh-CN" altLang="en-US" sz="2400" b="1">
                <a:latin typeface="+mj-ea"/>
                <a:ea typeface="+mj-ea"/>
              </a:defRPr>
            </a:lvl5pPr>
          </a:lstStyle>
          <a:p>
            <a:pPr marL="228600" lvl="0" indent="-228600"/>
            <a:r>
              <a:rPr lang="zh-CN" altLang="en-US" dirty="0"/>
              <a:t>输入图片说明文字</a:t>
            </a:r>
            <a:endParaRPr lang="zh-CN" altLang="en-US" dirty="0"/>
          </a:p>
        </p:txBody>
      </p:sp>
      <p:sp>
        <p:nvSpPr>
          <p:cNvPr id="27" name="内容占位符 2"/>
          <p:cNvSpPr>
            <a:spLocks noGrp="1"/>
          </p:cNvSpPr>
          <p:nvPr>
            <p:ph sz="quarter" idx="19"/>
          </p:nvPr>
        </p:nvSpPr>
        <p:spPr>
          <a:xfrm>
            <a:off x="4943395" y="3658429"/>
            <a:ext cx="2278783" cy="2234371"/>
          </a:xfrm>
          <a:prstGeom prst="rect">
            <a:avLst/>
          </a:prstGeom>
        </p:spPr>
        <p:txBody>
          <a:bodyPr/>
          <a:lstStyle>
            <a:lvl1pPr marL="0" indent="0" algn="just">
              <a:lnSpc>
                <a:spcPct val="130000"/>
              </a:lnSpc>
              <a:spcBef>
                <a:spcPts val="0"/>
              </a:spcBef>
              <a:buFontTx/>
              <a:buNone/>
              <a:defRPr sz="18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2" name="图文框 31"/>
          <p:cNvSpPr/>
          <p:nvPr userDrawn="1"/>
        </p:nvSpPr>
        <p:spPr>
          <a:xfrm>
            <a:off x="8032108" y="1196191"/>
            <a:ext cx="2641600" cy="4865339"/>
          </a:xfrm>
          <a:prstGeom prst="frame">
            <a:avLst>
              <a:gd name="adj1" fmla="val 1459"/>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图片占位符 8"/>
          <p:cNvSpPr>
            <a:spLocks noGrp="1"/>
          </p:cNvSpPr>
          <p:nvPr>
            <p:ph type="pic" sz="quarter" idx="20"/>
          </p:nvPr>
        </p:nvSpPr>
        <p:spPr>
          <a:xfrm>
            <a:off x="7844887" y="1367201"/>
            <a:ext cx="3016043" cy="1815062"/>
          </a:xfrm>
          <a:prstGeom prst="rect">
            <a:avLst/>
          </a:prstGeom>
          <a:ln w="53975" cap="sq">
            <a:noFill/>
          </a:ln>
        </p:spPr>
        <p:txBody>
          <a:bodyPr/>
          <a:lstStyle/>
          <a:p>
            <a:endParaRPr lang="zh-CN" altLang="en-US"/>
          </a:p>
        </p:txBody>
      </p:sp>
      <p:sp>
        <p:nvSpPr>
          <p:cNvPr id="34" name="竖排文字占位符 13"/>
          <p:cNvSpPr>
            <a:spLocks noGrp="1"/>
          </p:cNvSpPr>
          <p:nvPr>
            <p:ph type="body" orient="vert" sz="quarter" idx="21" hasCustomPrompt="1"/>
          </p:nvPr>
        </p:nvSpPr>
        <p:spPr>
          <a:xfrm>
            <a:off x="7950374" y="3039037"/>
            <a:ext cx="2870467" cy="458341"/>
          </a:xfrm>
          <a:prstGeom prst="rect">
            <a:avLst/>
          </a:prstGeom>
          <a:solidFill>
            <a:schemeClr val="bg2">
              <a:lumMod val="20000"/>
              <a:lumOff val="80000"/>
            </a:schemeClr>
          </a:solidFill>
        </p:spPr>
        <p:txBody>
          <a:bodyPr vert="horz" anchor="ctr" anchorCtr="0"/>
          <a:lstStyle>
            <a:lvl1pPr marL="0" indent="0" algn="ctr">
              <a:buFontTx/>
              <a:buNone/>
              <a:defRPr lang="zh-CN" altLang="en-US" sz="2000" b="1" smtClean="0">
                <a:solidFill>
                  <a:srgbClr val="003F88"/>
                </a:solidFill>
                <a:latin typeface="+mj-ea"/>
                <a:ea typeface="+mj-ea"/>
              </a:defRPr>
            </a:lvl1pPr>
            <a:lvl2pPr>
              <a:defRPr lang="zh-CN" altLang="en-US" b="1" smtClean="0">
                <a:latin typeface="+mj-ea"/>
                <a:ea typeface="+mj-ea"/>
              </a:defRPr>
            </a:lvl2pPr>
            <a:lvl3pPr>
              <a:defRPr lang="zh-CN" altLang="en-US" sz="2400" b="1" smtClean="0">
                <a:latin typeface="+mj-ea"/>
                <a:ea typeface="+mj-ea"/>
              </a:defRPr>
            </a:lvl3pPr>
            <a:lvl4pPr>
              <a:defRPr lang="zh-CN" altLang="en-US" sz="2400" b="1" smtClean="0">
                <a:latin typeface="+mj-ea"/>
                <a:ea typeface="+mj-ea"/>
              </a:defRPr>
            </a:lvl4pPr>
            <a:lvl5pPr>
              <a:defRPr lang="zh-CN" altLang="en-US" sz="2400" b="1">
                <a:latin typeface="+mj-ea"/>
                <a:ea typeface="+mj-ea"/>
              </a:defRPr>
            </a:lvl5pPr>
          </a:lstStyle>
          <a:p>
            <a:pPr marL="228600" lvl="0" indent="-228600"/>
            <a:r>
              <a:rPr lang="zh-CN" altLang="en-US" dirty="0"/>
              <a:t>输入图片说明文字</a:t>
            </a:r>
            <a:endParaRPr lang="zh-CN" altLang="en-US" dirty="0"/>
          </a:p>
        </p:txBody>
      </p:sp>
      <p:sp>
        <p:nvSpPr>
          <p:cNvPr id="35" name="内容占位符 2"/>
          <p:cNvSpPr>
            <a:spLocks noGrp="1"/>
          </p:cNvSpPr>
          <p:nvPr>
            <p:ph sz="quarter" idx="22"/>
          </p:nvPr>
        </p:nvSpPr>
        <p:spPr>
          <a:xfrm>
            <a:off x="8213517" y="3658429"/>
            <a:ext cx="2278783" cy="2234371"/>
          </a:xfrm>
          <a:prstGeom prst="rect">
            <a:avLst/>
          </a:prstGeom>
        </p:spPr>
        <p:txBody>
          <a:bodyPr/>
          <a:lstStyle>
            <a:lvl1pPr marL="0" indent="0" algn="just">
              <a:lnSpc>
                <a:spcPct val="130000"/>
              </a:lnSpc>
              <a:spcBef>
                <a:spcPts val="0"/>
              </a:spcBef>
              <a:buFontTx/>
              <a:buNone/>
              <a:defRPr sz="18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 name="矩形 2"/>
          <p:cNvSpPr/>
          <p:nvPr userDrawn="1"/>
        </p:nvSpPr>
        <p:spPr>
          <a:xfrm>
            <a:off x="1658759" y="3413421"/>
            <a:ext cx="2344180" cy="1028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0" name="竖排文字占位符 13"/>
          <p:cNvSpPr>
            <a:spLocks noGrp="1"/>
          </p:cNvSpPr>
          <p:nvPr>
            <p:ph type="body" orient="vert" sz="quarter" idx="14" hasCustomPrompt="1"/>
          </p:nvPr>
        </p:nvSpPr>
        <p:spPr>
          <a:xfrm>
            <a:off x="1395615" y="3039037"/>
            <a:ext cx="2870467" cy="458341"/>
          </a:xfrm>
          <a:prstGeom prst="rect">
            <a:avLst/>
          </a:prstGeom>
          <a:solidFill>
            <a:schemeClr val="bg2">
              <a:lumMod val="20000"/>
              <a:lumOff val="80000"/>
            </a:schemeClr>
          </a:solidFill>
        </p:spPr>
        <p:txBody>
          <a:bodyPr vert="horz" anchor="ctr" anchorCtr="0"/>
          <a:lstStyle>
            <a:lvl1pPr marL="0" indent="0" algn="ctr">
              <a:buFontTx/>
              <a:buNone/>
              <a:defRPr lang="zh-CN" altLang="en-US" sz="2000" b="1" smtClean="0">
                <a:solidFill>
                  <a:srgbClr val="003F88"/>
                </a:solidFill>
                <a:latin typeface="+mj-ea"/>
                <a:ea typeface="+mj-ea"/>
              </a:defRPr>
            </a:lvl1pPr>
            <a:lvl2pPr>
              <a:defRPr lang="zh-CN" altLang="en-US" b="1" smtClean="0">
                <a:latin typeface="+mj-ea"/>
                <a:ea typeface="+mj-ea"/>
              </a:defRPr>
            </a:lvl2pPr>
            <a:lvl3pPr>
              <a:defRPr lang="zh-CN" altLang="en-US" sz="2400" b="1" smtClean="0">
                <a:latin typeface="+mj-ea"/>
                <a:ea typeface="+mj-ea"/>
              </a:defRPr>
            </a:lvl3pPr>
            <a:lvl4pPr>
              <a:defRPr lang="zh-CN" altLang="en-US" sz="2400" b="1" smtClean="0">
                <a:latin typeface="+mj-ea"/>
                <a:ea typeface="+mj-ea"/>
              </a:defRPr>
            </a:lvl4pPr>
            <a:lvl5pPr>
              <a:defRPr lang="zh-CN" altLang="en-US" sz="2400" b="1">
                <a:latin typeface="+mj-ea"/>
                <a:ea typeface="+mj-ea"/>
              </a:defRPr>
            </a:lvl5pPr>
          </a:lstStyle>
          <a:p>
            <a:pPr marL="228600" lvl="0" indent="-228600"/>
            <a:r>
              <a:rPr lang="zh-CN" altLang="en-US" dirty="0"/>
              <a:t>输入图片说明文字</a:t>
            </a:r>
            <a:endParaRPr lang="zh-CN" altLang="en-US" dirty="0"/>
          </a:p>
        </p:txBody>
      </p:sp>
      <p:grpSp>
        <p:nvGrpSpPr>
          <p:cNvPr id="102" name="Group 74"/>
          <p:cNvGrpSpPr>
            <a:grpSpLocks noChangeAspect="1"/>
          </p:cNvGrpSpPr>
          <p:nvPr userDrawn="1"/>
        </p:nvGrpSpPr>
        <p:grpSpPr bwMode="auto">
          <a:xfrm>
            <a:off x="9616522" y="267172"/>
            <a:ext cx="2209994" cy="614757"/>
            <a:chOff x="954" y="660"/>
            <a:chExt cx="1269" cy="353"/>
          </a:xfrm>
          <a:solidFill>
            <a:srgbClr val="003F88"/>
          </a:solidFill>
          <a:effectLst>
            <a:outerShdw blurRad="50800" dist="38100" dir="2700000" algn="tl" rotWithShape="0">
              <a:schemeClr val="bg1">
                <a:lumMod val="50000"/>
                <a:alpha val="40000"/>
              </a:schemeClr>
            </a:outerShdw>
          </a:effectLst>
        </p:grpSpPr>
        <p:sp>
          <p:nvSpPr>
            <p:cNvPr id="103"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4"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5"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6"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7"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8"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109"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0"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1"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2"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3"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4"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5"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6"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7"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8"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9"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0"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1"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2"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3"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4"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5"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6"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7"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8"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9"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0"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1"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2"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3"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4"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5"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6"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7"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8"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9"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0"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1"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2"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3"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4"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5"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6"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7"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8"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9"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0"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1"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2"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3"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4"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5"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6"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7"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8"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9"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0"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1"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2"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3"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4"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5"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6"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7"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8"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9"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2" name="灯片编号占位符 1"/>
          <p:cNvSpPr>
            <a:spLocks noGrp="1"/>
          </p:cNvSpPr>
          <p:nvPr>
            <p:ph type="sldNum" sz="quarter" idx="23"/>
          </p:nvPr>
        </p:nvSpPr>
        <p:spPr/>
        <p:txBody>
          <a:bodyPr/>
          <a:lstStyle/>
          <a:p>
            <a:fld id="{406D97C8-3D29-46CB-B3AA-3C2C5D4C915D}" type="slidenum">
              <a:rPr lang="zh-CN" altLang="en-US" smtClean="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团队介绍版式">
    <p:spTree>
      <p:nvGrpSpPr>
        <p:cNvPr id="1" name=""/>
        <p:cNvGrpSpPr/>
        <p:nvPr/>
      </p:nvGrpSpPr>
      <p:grpSpPr>
        <a:xfrm>
          <a:off x="0" y="0"/>
          <a:ext cx="0" cy="0"/>
          <a:chOff x="0" y="0"/>
          <a:chExt cx="0" cy="0"/>
        </a:xfrm>
      </p:grpSpPr>
      <p:sp>
        <p:nvSpPr>
          <p:cNvPr id="41" name="图文框 40"/>
          <p:cNvSpPr/>
          <p:nvPr userDrawn="1"/>
        </p:nvSpPr>
        <p:spPr>
          <a:xfrm>
            <a:off x="660400" y="1137406"/>
            <a:ext cx="10858500" cy="4996694"/>
          </a:xfrm>
          <a:prstGeom prst="frame">
            <a:avLst>
              <a:gd name="adj1" fmla="val 697"/>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矩形 19"/>
          <p:cNvSpPr/>
          <p:nvPr userDrawn="1"/>
        </p:nvSpPr>
        <p:spPr>
          <a:xfrm>
            <a:off x="1156295" y="1492029"/>
            <a:ext cx="2577505" cy="4332801"/>
          </a:xfrm>
          <a:prstGeom prst="rect">
            <a:avLst/>
          </a:prstGeom>
          <a:solidFill>
            <a:schemeClr val="bg2">
              <a:lumMod val="20000"/>
              <a:lumOff val="8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任意多边形: 形状 18"/>
          <p:cNvSpPr/>
          <p:nvPr userDrawn="1"/>
        </p:nvSpPr>
        <p:spPr>
          <a:xfrm>
            <a:off x="1" y="267172"/>
            <a:ext cx="9486459"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chemeClr val="tx2">
                <a:lumMod val="75000"/>
              </a:schemeClr>
            </a:fgClr>
            <a:bgClr>
              <a:srgbClr val="003F88"/>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400">
              <a:solidFill>
                <a:schemeClr val="accent1"/>
              </a:solidFill>
            </a:endParaRPr>
          </a:p>
        </p:txBody>
      </p:sp>
      <p:grpSp>
        <p:nvGrpSpPr>
          <p:cNvPr id="4" name="组合 3"/>
          <p:cNvGrpSpPr/>
          <p:nvPr userDrawn="1"/>
        </p:nvGrpSpPr>
        <p:grpSpPr>
          <a:xfrm>
            <a:off x="443029" y="435931"/>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文本占位符 11"/>
          <p:cNvSpPr>
            <a:spLocks noGrp="1"/>
          </p:cNvSpPr>
          <p:nvPr>
            <p:ph type="body" sz="quarter" idx="12" hasCustomPrompt="1"/>
          </p:nvPr>
        </p:nvSpPr>
        <p:spPr>
          <a:xfrm>
            <a:off x="660400" y="297665"/>
            <a:ext cx="7601971" cy="507831"/>
          </a:xfrm>
          <a:prstGeom prst="rect">
            <a:avLst/>
          </a:prstGeom>
        </p:spPr>
        <p:txBody>
          <a:bodyPr/>
          <a:lstStyle>
            <a:lvl1pPr marL="0" indent="0">
              <a:buFontTx/>
              <a:buNone/>
              <a:defRPr sz="2800" b="1" spc="300">
                <a:solidFill>
                  <a:schemeClr val="bg1"/>
                </a:solidFill>
                <a:latin typeface="+mj-ea"/>
                <a:ea typeface="+mj-ea"/>
              </a:defRPr>
            </a:lvl1pPr>
            <a:lvl2pPr marL="457200" indent="0">
              <a:buFontTx/>
              <a:buNone/>
              <a:defRPr sz="2800" b="1">
                <a:solidFill>
                  <a:schemeClr val="bg1"/>
                </a:solidFill>
                <a:latin typeface="+mj-ea"/>
                <a:ea typeface="+mj-ea"/>
              </a:defRPr>
            </a:lvl2pPr>
            <a:lvl3pPr marL="914400" indent="0">
              <a:buFontTx/>
              <a:buNone/>
              <a:defRPr sz="2800" b="1">
                <a:solidFill>
                  <a:schemeClr val="bg1"/>
                </a:solidFill>
                <a:latin typeface="+mj-ea"/>
                <a:ea typeface="+mj-ea"/>
              </a:defRPr>
            </a:lvl3pPr>
            <a:lvl4pPr marL="1371600" indent="0">
              <a:buFontTx/>
              <a:buNone/>
              <a:defRPr sz="2800" b="1">
                <a:solidFill>
                  <a:schemeClr val="bg1"/>
                </a:solidFill>
                <a:latin typeface="+mj-ea"/>
                <a:ea typeface="+mj-ea"/>
              </a:defRPr>
            </a:lvl4pPr>
            <a:lvl5pPr marL="1828800" indent="0">
              <a:buFontTx/>
              <a:buNone/>
              <a:defRPr sz="2800" b="1">
                <a:solidFill>
                  <a:schemeClr val="bg1"/>
                </a:solidFill>
                <a:latin typeface="+mj-ea"/>
                <a:ea typeface="+mj-ea"/>
              </a:defRPr>
            </a:lvl5pPr>
          </a:lstStyle>
          <a:p>
            <a:pPr lvl="0"/>
            <a:r>
              <a:rPr lang="en-US" altLang="zh-CN" dirty="0"/>
              <a:t>Click to edit Master title style</a:t>
            </a:r>
            <a:endParaRPr lang="en-US" altLang="zh-CN" dirty="0"/>
          </a:p>
        </p:txBody>
      </p:sp>
      <p:sp>
        <p:nvSpPr>
          <p:cNvPr id="18" name="图片占位符 8"/>
          <p:cNvSpPr>
            <a:spLocks noGrp="1"/>
          </p:cNvSpPr>
          <p:nvPr>
            <p:ph type="pic" sz="quarter" idx="13"/>
          </p:nvPr>
        </p:nvSpPr>
        <p:spPr>
          <a:xfrm>
            <a:off x="4536595" y="1646548"/>
            <a:ext cx="1279778" cy="1279778"/>
          </a:xfrm>
          <a:prstGeom prst="ellipse">
            <a:avLst/>
          </a:prstGeom>
          <a:ln w="9525" cap="sq">
            <a:solidFill>
              <a:schemeClr val="tx2"/>
            </a:solidFill>
            <a:miter lim="800000"/>
          </a:ln>
        </p:spPr>
        <p:txBody>
          <a:bodyPr/>
          <a:lstStyle/>
          <a:p>
            <a:endParaRPr lang="zh-CN" altLang="en-US"/>
          </a:p>
        </p:txBody>
      </p:sp>
      <p:sp>
        <p:nvSpPr>
          <p:cNvPr id="3" name="矩形 2"/>
          <p:cNvSpPr/>
          <p:nvPr userDrawn="1"/>
        </p:nvSpPr>
        <p:spPr>
          <a:xfrm>
            <a:off x="1163535" y="1468543"/>
            <a:ext cx="2563024" cy="472902"/>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内容占位符 2"/>
          <p:cNvSpPr>
            <a:spLocks noGrp="1"/>
          </p:cNvSpPr>
          <p:nvPr>
            <p:ph sz="quarter" idx="15"/>
          </p:nvPr>
        </p:nvSpPr>
        <p:spPr>
          <a:xfrm>
            <a:off x="1277032" y="1544948"/>
            <a:ext cx="2336030" cy="370501"/>
          </a:xfrm>
          <a:prstGeom prst="rect">
            <a:avLst/>
          </a:prstGeom>
        </p:spPr>
        <p:txBody>
          <a:bodyPr/>
          <a:lstStyle>
            <a:lvl1pPr marL="0" indent="0" algn="ctr">
              <a:buFontTx/>
              <a:buNone/>
              <a:defRPr sz="2000" b="1">
                <a:solidFill>
                  <a:schemeClr val="bg1"/>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4" name="内容占位符 2"/>
          <p:cNvSpPr>
            <a:spLocks noGrp="1"/>
          </p:cNvSpPr>
          <p:nvPr>
            <p:ph sz="quarter" idx="16"/>
          </p:nvPr>
        </p:nvSpPr>
        <p:spPr>
          <a:xfrm>
            <a:off x="4122084" y="2957167"/>
            <a:ext cx="2108800" cy="628101"/>
          </a:xfrm>
          <a:prstGeom prst="rect">
            <a:avLst/>
          </a:prstGeom>
        </p:spPr>
        <p:txBody>
          <a:bodyPr/>
          <a:lstStyle>
            <a:lvl1pPr marL="0" indent="0" algn="just">
              <a:lnSpc>
                <a:spcPct val="130000"/>
              </a:lnSpc>
              <a:spcBef>
                <a:spcPts val="0"/>
              </a:spcBef>
              <a:buFontTx/>
              <a:buNone/>
              <a:defRPr sz="14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28" name="图片占位符 8"/>
          <p:cNvSpPr>
            <a:spLocks noGrp="1"/>
          </p:cNvSpPr>
          <p:nvPr>
            <p:ph type="pic" sz="quarter" idx="17"/>
          </p:nvPr>
        </p:nvSpPr>
        <p:spPr>
          <a:xfrm>
            <a:off x="6927879" y="1646548"/>
            <a:ext cx="1279778" cy="1279778"/>
          </a:xfrm>
          <a:prstGeom prst="ellipse">
            <a:avLst/>
          </a:prstGeom>
          <a:ln w="9525" cap="sq">
            <a:solidFill>
              <a:schemeClr val="tx2"/>
            </a:solidFill>
            <a:miter lim="800000"/>
          </a:ln>
        </p:spPr>
        <p:txBody>
          <a:bodyPr/>
          <a:lstStyle/>
          <a:p>
            <a:endParaRPr lang="zh-CN" altLang="en-US"/>
          </a:p>
        </p:txBody>
      </p:sp>
      <p:sp>
        <p:nvSpPr>
          <p:cNvPr id="29" name="内容占位符 2"/>
          <p:cNvSpPr>
            <a:spLocks noGrp="1"/>
          </p:cNvSpPr>
          <p:nvPr>
            <p:ph sz="quarter" idx="18"/>
          </p:nvPr>
        </p:nvSpPr>
        <p:spPr>
          <a:xfrm>
            <a:off x="6513368" y="2957167"/>
            <a:ext cx="2108800" cy="628101"/>
          </a:xfrm>
          <a:prstGeom prst="rect">
            <a:avLst/>
          </a:prstGeom>
        </p:spPr>
        <p:txBody>
          <a:bodyPr/>
          <a:lstStyle>
            <a:lvl1pPr marL="0" indent="0" algn="just">
              <a:lnSpc>
                <a:spcPct val="130000"/>
              </a:lnSpc>
              <a:spcBef>
                <a:spcPts val="0"/>
              </a:spcBef>
              <a:buFontTx/>
              <a:buNone/>
              <a:defRPr sz="14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0" name="图片占位符 8"/>
          <p:cNvSpPr>
            <a:spLocks noGrp="1"/>
          </p:cNvSpPr>
          <p:nvPr>
            <p:ph type="pic" sz="quarter" idx="19"/>
          </p:nvPr>
        </p:nvSpPr>
        <p:spPr>
          <a:xfrm>
            <a:off x="9319163" y="1646548"/>
            <a:ext cx="1279778" cy="1279778"/>
          </a:xfrm>
          <a:prstGeom prst="ellipse">
            <a:avLst/>
          </a:prstGeom>
          <a:ln w="9525" cap="sq">
            <a:solidFill>
              <a:schemeClr val="tx2"/>
            </a:solidFill>
            <a:miter lim="800000"/>
          </a:ln>
        </p:spPr>
        <p:txBody>
          <a:bodyPr/>
          <a:lstStyle/>
          <a:p>
            <a:endParaRPr lang="zh-CN" altLang="en-US" dirty="0"/>
          </a:p>
        </p:txBody>
      </p:sp>
      <p:sp>
        <p:nvSpPr>
          <p:cNvPr id="31" name="内容占位符 2"/>
          <p:cNvSpPr>
            <a:spLocks noGrp="1"/>
          </p:cNvSpPr>
          <p:nvPr>
            <p:ph sz="quarter" idx="20"/>
          </p:nvPr>
        </p:nvSpPr>
        <p:spPr>
          <a:xfrm>
            <a:off x="8904652" y="2957167"/>
            <a:ext cx="2108800" cy="628101"/>
          </a:xfrm>
          <a:prstGeom prst="rect">
            <a:avLst/>
          </a:prstGeom>
        </p:spPr>
        <p:txBody>
          <a:bodyPr/>
          <a:lstStyle>
            <a:lvl1pPr marL="0" indent="0" algn="just">
              <a:lnSpc>
                <a:spcPct val="130000"/>
              </a:lnSpc>
              <a:spcBef>
                <a:spcPts val="0"/>
              </a:spcBef>
              <a:buFontTx/>
              <a:buNone/>
              <a:defRPr sz="14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2" name="图片占位符 8"/>
          <p:cNvSpPr>
            <a:spLocks noGrp="1"/>
          </p:cNvSpPr>
          <p:nvPr>
            <p:ph type="pic" sz="quarter" idx="21"/>
          </p:nvPr>
        </p:nvSpPr>
        <p:spPr>
          <a:xfrm>
            <a:off x="4536595" y="3739519"/>
            <a:ext cx="1279778" cy="1279778"/>
          </a:xfrm>
          <a:prstGeom prst="ellipse">
            <a:avLst/>
          </a:prstGeom>
          <a:ln w="9525" cap="sq">
            <a:solidFill>
              <a:schemeClr val="tx2"/>
            </a:solidFill>
            <a:miter lim="800000"/>
          </a:ln>
        </p:spPr>
        <p:txBody>
          <a:bodyPr/>
          <a:lstStyle/>
          <a:p>
            <a:endParaRPr lang="zh-CN" altLang="en-US"/>
          </a:p>
        </p:txBody>
      </p:sp>
      <p:sp>
        <p:nvSpPr>
          <p:cNvPr id="33" name="内容占位符 2"/>
          <p:cNvSpPr>
            <a:spLocks noGrp="1"/>
          </p:cNvSpPr>
          <p:nvPr>
            <p:ph sz="quarter" idx="22"/>
          </p:nvPr>
        </p:nvSpPr>
        <p:spPr>
          <a:xfrm>
            <a:off x="4122084" y="5050138"/>
            <a:ext cx="2108800" cy="628101"/>
          </a:xfrm>
          <a:prstGeom prst="rect">
            <a:avLst/>
          </a:prstGeom>
        </p:spPr>
        <p:txBody>
          <a:bodyPr/>
          <a:lstStyle>
            <a:lvl1pPr marL="0" indent="0" algn="just">
              <a:lnSpc>
                <a:spcPct val="130000"/>
              </a:lnSpc>
              <a:spcBef>
                <a:spcPts val="0"/>
              </a:spcBef>
              <a:buFontTx/>
              <a:buNone/>
              <a:defRPr sz="14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5" name="图片占位符 8"/>
          <p:cNvSpPr>
            <a:spLocks noGrp="1"/>
          </p:cNvSpPr>
          <p:nvPr>
            <p:ph type="pic" sz="quarter" idx="23"/>
          </p:nvPr>
        </p:nvSpPr>
        <p:spPr>
          <a:xfrm>
            <a:off x="6927879" y="3739519"/>
            <a:ext cx="1279778" cy="1279778"/>
          </a:xfrm>
          <a:prstGeom prst="ellipse">
            <a:avLst/>
          </a:prstGeom>
          <a:ln w="9525" cap="sq">
            <a:solidFill>
              <a:schemeClr val="tx2"/>
            </a:solidFill>
            <a:miter lim="800000"/>
          </a:ln>
        </p:spPr>
        <p:txBody>
          <a:bodyPr/>
          <a:lstStyle/>
          <a:p>
            <a:endParaRPr lang="zh-CN" altLang="en-US"/>
          </a:p>
        </p:txBody>
      </p:sp>
      <p:sp>
        <p:nvSpPr>
          <p:cNvPr id="36" name="内容占位符 2"/>
          <p:cNvSpPr>
            <a:spLocks noGrp="1"/>
          </p:cNvSpPr>
          <p:nvPr>
            <p:ph sz="quarter" idx="24"/>
          </p:nvPr>
        </p:nvSpPr>
        <p:spPr>
          <a:xfrm>
            <a:off x="6513368" y="5050138"/>
            <a:ext cx="2108800" cy="628101"/>
          </a:xfrm>
          <a:prstGeom prst="rect">
            <a:avLst/>
          </a:prstGeom>
        </p:spPr>
        <p:txBody>
          <a:bodyPr/>
          <a:lstStyle>
            <a:lvl1pPr marL="0" indent="0" algn="just">
              <a:lnSpc>
                <a:spcPct val="130000"/>
              </a:lnSpc>
              <a:spcBef>
                <a:spcPts val="0"/>
              </a:spcBef>
              <a:buFontTx/>
              <a:buNone/>
              <a:defRPr sz="14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7" name="图片占位符 8"/>
          <p:cNvSpPr>
            <a:spLocks noGrp="1"/>
          </p:cNvSpPr>
          <p:nvPr>
            <p:ph type="pic" sz="quarter" idx="25"/>
          </p:nvPr>
        </p:nvSpPr>
        <p:spPr>
          <a:xfrm>
            <a:off x="9319163" y="3739519"/>
            <a:ext cx="1279778" cy="1279778"/>
          </a:xfrm>
          <a:prstGeom prst="ellipse">
            <a:avLst/>
          </a:prstGeom>
          <a:ln w="9525" cap="sq">
            <a:solidFill>
              <a:schemeClr val="tx2"/>
            </a:solidFill>
            <a:miter lim="800000"/>
          </a:ln>
        </p:spPr>
        <p:txBody>
          <a:bodyPr/>
          <a:lstStyle/>
          <a:p>
            <a:endParaRPr lang="zh-CN" altLang="en-US"/>
          </a:p>
        </p:txBody>
      </p:sp>
      <p:sp>
        <p:nvSpPr>
          <p:cNvPr id="38" name="内容占位符 2"/>
          <p:cNvSpPr>
            <a:spLocks noGrp="1"/>
          </p:cNvSpPr>
          <p:nvPr>
            <p:ph sz="quarter" idx="26"/>
          </p:nvPr>
        </p:nvSpPr>
        <p:spPr>
          <a:xfrm>
            <a:off x="8904652" y="5050138"/>
            <a:ext cx="2108800" cy="628101"/>
          </a:xfrm>
          <a:prstGeom prst="rect">
            <a:avLst/>
          </a:prstGeom>
        </p:spPr>
        <p:txBody>
          <a:bodyPr/>
          <a:lstStyle>
            <a:lvl1pPr marL="0" indent="0" algn="just">
              <a:lnSpc>
                <a:spcPct val="130000"/>
              </a:lnSpc>
              <a:spcBef>
                <a:spcPts val="0"/>
              </a:spcBef>
              <a:buFontTx/>
              <a:buNone/>
              <a:defRPr sz="14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39" name="内容占位符 2"/>
          <p:cNvSpPr>
            <a:spLocks noGrp="1"/>
          </p:cNvSpPr>
          <p:nvPr>
            <p:ph sz="quarter" idx="27"/>
          </p:nvPr>
        </p:nvSpPr>
        <p:spPr>
          <a:xfrm>
            <a:off x="1277032" y="2026440"/>
            <a:ext cx="2336030" cy="3667817"/>
          </a:xfrm>
          <a:prstGeom prst="rect">
            <a:avLst/>
          </a:prstGeom>
        </p:spPr>
        <p:txBody>
          <a:bodyPr/>
          <a:lstStyle>
            <a:lvl1pPr marL="0" indent="0" algn="just">
              <a:lnSpc>
                <a:spcPct val="130000"/>
              </a:lnSpc>
              <a:spcBef>
                <a:spcPts val="0"/>
              </a:spcBef>
              <a:buFontTx/>
              <a:buNone/>
              <a:defRPr sz="18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grpSp>
        <p:nvGrpSpPr>
          <p:cNvPr id="108" name="Group 74"/>
          <p:cNvGrpSpPr>
            <a:grpSpLocks noChangeAspect="1"/>
          </p:cNvGrpSpPr>
          <p:nvPr userDrawn="1"/>
        </p:nvGrpSpPr>
        <p:grpSpPr bwMode="auto">
          <a:xfrm>
            <a:off x="9616522" y="267172"/>
            <a:ext cx="2209994" cy="614757"/>
            <a:chOff x="954" y="660"/>
            <a:chExt cx="1269" cy="353"/>
          </a:xfrm>
          <a:solidFill>
            <a:srgbClr val="003F88"/>
          </a:solidFill>
          <a:effectLst>
            <a:outerShdw blurRad="50800" dist="38100" dir="2700000" algn="tl" rotWithShape="0">
              <a:schemeClr val="bg1">
                <a:lumMod val="50000"/>
                <a:alpha val="40000"/>
              </a:schemeClr>
            </a:outerShdw>
          </a:effectLst>
        </p:grpSpPr>
        <p:sp>
          <p:nvSpPr>
            <p:cNvPr id="109"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0"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1"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2"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3"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4"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115"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6"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7"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8"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9"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0"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1"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2"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3"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4"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5"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6"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7"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8"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9"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0"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1"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2"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3"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4"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5"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6"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7"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8"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9"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0"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1"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2"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3"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4"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5"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6"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7"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8"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9"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0"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1"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2"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3"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4"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5"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6"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7"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8"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9"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0"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1"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2"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3"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4"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5"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6"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7"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8"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9"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0"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1"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2"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3"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4"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5"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2" name="灯片编号占位符 1"/>
          <p:cNvSpPr>
            <a:spLocks noGrp="1"/>
          </p:cNvSpPr>
          <p:nvPr>
            <p:ph type="sldNum" sz="quarter" idx="28"/>
          </p:nvPr>
        </p:nvSpPr>
        <p:spPr/>
        <p:txBody>
          <a:bodyPr/>
          <a:lstStyle/>
          <a:p>
            <a:fld id="{406D97C8-3D29-46CB-B3AA-3C2C5D4C915D}"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视频播放界面版式">
    <p:spTree>
      <p:nvGrpSpPr>
        <p:cNvPr id="1" name=""/>
        <p:cNvGrpSpPr/>
        <p:nvPr/>
      </p:nvGrpSpPr>
      <p:grpSpPr>
        <a:xfrm>
          <a:off x="0" y="0"/>
          <a:ext cx="0" cy="0"/>
          <a:chOff x="0" y="0"/>
          <a:chExt cx="0" cy="0"/>
        </a:xfrm>
      </p:grpSpPr>
      <p:sp>
        <p:nvSpPr>
          <p:cNvPr id="19" name="任意多边形: 形状 18"/>
          <p:cNvSpPr/>
          <p:nvPr userDrawn="1"/>
        </p:nvSpPr>
        <p:spPr>
          <a:xfrm>
            <a:off x="1" y="267172"/>
            <a:ext cx="9486459"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chemeClr val="tx2">
                <a:lumMod val="75000"/>
              </a:schemeClr>
            </a:fgClr>
            <a:bgClr>
              <a:srgbClr val="003F88"/>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400">
              <a:solidFill>
                <a:schemeClr val="accent1"/>
              </a:solidFill>
            </a:endParaRPr>
          </a:p>
        </p:txBody>
      </p:sp>
      <p:grpSp>
        <p:nvGrpSpPr>
          <p:cNvPr id="4" name="组合 3"/>
          <p:cNvGrpSpPr/>
          <p:nvPr userDrawn="1"/>
        </p:nvGrpSpPr>
        <p:grpSpPr>
          <a:xfrm>
            <a:off x="443029" y="435931"/>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文本占位符 11"/>
          <p:cNvSpPr>
            <a:spLocks noGrp="1"/>
          </p:cNvSpPr>
          <p:nvPr>
            <p:ph type="body" sz="quarter" idx="12" hasCustomPrompt="1"/>
          </p:nvPr>
        </p:nvSpPr>
        <p:spPr>
          <a:xfrm>
            <a:off x="660400" y="297665"/>
            <a:ext cx="7601971" cy="507831"/>
          </a:xfrm>
          <a:prstGeom prst="rect">
            <a:avLst/>
          </a:prstGeom>
        </p:spPr>
        <p:txBody>
          <a:bodyPr/>
          <a:lstStyle>
            <a:lvl1pPr marL="0" indent="0">
              <a:buFontTx/>
              <a:buNone/>
              <a:defRPr sz="2800" b="1" spc="300">
                <a:solidFill>
                  <a:schemeClr val="bg1"/>
                </a:solidFill>
                <a:latin typeface="+mj-ea"/>
                <a:ea typeface="+mj-ea"/>
              </a:defRPr>
            </a:lvl1pPr>
            <a:lvl2pPr marL="457200" indent="0">
              <a:buFontTx/>
              <a:buNone/>
              <a:defRPr sz="2800" b="1">
                <a:solidFill>
                  <a:schemeClr val="bg1"/>
                </a:solidFill>
                <a:latin typeface="+mj-ea"/>
                <a:ea typeface="+mj-ea"/>
              </a:defRPr>
            </a:lvl2pPr>
            <a:lvl3pPr marL="914400" indent="0">
              <a:buFontTx/>
              <a:buNone/>
              <a:defRPr sz="2800" b="1">
                <a:solidFill>
                  <a:schemeClr val="bg1"/>
                </a:solidFill>
                <a:latin typeface="+mj-ea"/>
                <a:ea typeface="+mj-ea"/>
              </a:defRPr>
            </a:lvl3pPr>
            <a:lvl4pPr marL="1371600" indent="0">
              <a:buFontTx/>
              <a:buNone/>
              <a:defRPr sz="2800" b="1">
                <a:solidFill>
                  <a:schemeClr val="bg1"/>
                </a:solidFill>
                <a:latin typeface="+mj-ea"/>
                <a:ea typeface="+mj-ea"/>
              </a:defRPr>
            </a:lvl4pPr>
            <a:lvl5pPr marL="1828800" indent="0">
              <a:buFontTx/>
              <a:buNone/>
              <a:defRPr sz="2800" b="1">
                <a:solidFill>
                  <a:schemeClr val="bg1"/>
                </a:solidFill>
                <a:latin typeface="+mj-ea"/>
                <a:ea typeface="+mj-ea"/>
              </a:defRPr>
            </a:lvl5pPr>
          </a:lstStyle>
          <a:p>
            <a:pPr lvl="0"/>
            <a:r>
              <a:rPr lang="en-US" altLang="zh-CN" dirty="0"/>
              <a:t>Click to edit Master title style</a:t>
            </a:r>
            <a:endParaRPr lang="en-US" altLang="zh-CN" dirty="0"/>
          </a:p>
        </p:txBody>
      </p:sp>
      <p:sp>
        <p:nvSpPr>
          <p:cNvPr id="10" name="矩形: 折角 9"/>
          <p:cNvSpPr/>
          <p:nvPr userDrawn="1"/>
        </p:nvSpPr>
        <p:spPr>
          <a:xfrm>
            <a:off x="8902700" y="1460500"/>
            <a:ext cx="2603500" cy="4292600"/>
          </a:xfrm>
          <a:prstGeom prst="foldedCorner">
            <a:avLst/>
          </a:prstGeom>
          <a:solidFill>
            <a:schemeClr val="bg2">
              <a:lumMod val="20000"/>
              <a:lumOff val="80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 name="箭头: 燕尾形 1"/>
          <p:cNvSpPr/>
          <p:nvPr userDrawn="1"/>
        </p:nvSpPr>
        <p:spPr>
          <a:xfrm flipH="1" flipV="1">
            <a:off x="8520938" y="1620182"/>
            <a:ext cx="2883662" cy="484632"/>
          </a:xfrm>
          <a:prstGeom prst="notchedRightArrow">
            <a:avLst>
              <a:gd name="adj1" fmla="val 100000"/>
              <a:gd name="adj2" fmla="val 39518"/>
            </a:avLst>
          </a:prstGeom>
          <a:pattFill prst="wdUpDiag">
            <a:fgClr>
              <a:schemeClr val="tx2">
                <a:lumMod val="75000"/>
              </a:schemeClr>
            </a:fgClr>
            <a:bgClr>
              <a:srgbClr val="003F88"/>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400">
              <a:solidFill>
                <a:schemeClr val="accent1"/>
              </a:solidFill>
            </a:endParaRPr>
          </a:p>
        </p:txBody>
      </p:sp>
      <p:sp>
        <p:nvSpPr>
          <p:cNvPr id="42" name="内容占位符 2"/>
          <p:cNvSpPr>
            <a:spLocks noGrp="1"/>
          </p:cNvSpPr>
          <p:nvPr>
            <p:ph sz="quarter" idx="15"/>
          </p:nvPr>
        </p:nvSpPr>
        <p:spPr>
          <a:xfrm>
            <a:off x="9321069" y="1689947"/>
            <a:ext cx="1892300" cy="370501"/>
          </a:xfrm>
          <a:prstGeom prst="rect">
            <a:avLst/>
          </a:prstGeom>
        </p:spPr>
        <p:txBody>
          <a:bodyPr/>
          <a:lstStyle>
            <a:lvl1pPr marL="0" indent="0" algn="l">
              <a:buFontTx/>
              <a:buNone/>
              <a:defRPr sz="2000" b="1">
                <a:solidFill>
                  <a:schemeClr val="bg1"/>
                </a:solidFill>
                <a:latin typeface="+mj-ea"/>
                <a:ea typeface="+mj-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sp>
        <p:nvSpPr>
          <p:cNvPr id="9" name="媒体占位符 8"/>
          <p:cNvSpPr>
            <a:spLocks noGrp="1"/>
          </p:cNvSpPr>
          <p:nvPr>
            <p:ph type="media" sz="quarter" idx="13"/>
          </p:nvPr>
        </p:nvSpPr>
        <p:spPr>
          <a:xfrm>
            <a:off x="685800" y="1308100"/>
            <a:ext cx="8216900" cy="4584700"/>
          </a:xfrm>
          <a:prstGeom prst="rect">
            <a:avLst/>
          </a:prstGeom>
          <a:ln w="38100">
            <a:solidFill>
              <a:srgbClr val="003F88"/>
            </a:solidFill>
          </a:ln>
        </p:spPr>
        <p:txBody>
          <a:bodyPr/>
          <a:lstStyle/>
          <a:p>
            <a:endParaRPr lang="zh-CN" altLang="en-US"/>
          </a:p>
        </p:txBody>
      </p:sp>
      <p:sp>
        <p:nvSpPr>
          <p:cNvPr id="44" name="video-player_69112"/>
          <p:cNvSpPr>
            <a:spLocks noChangeAspect="1"/>
          </p:cNvSpPr>
          <p:nvPr userDrawn="1"/>
        </p:nvSpPr>
        <p:spPr bwMode="auto">
          <a:xfrm>
            <a:off x="9024573" y="1748967"/>
            <a:ext cx="312437" cy="276689"/>
          </a:xfrm>
          <a:custGeom>
            <a:avLst/>
            <a:gdLst>
              <a:gd name="connsiteX0" fmla="*/ 168262 w 607490"/>
              <a:gd name="connsiteY0" fmla="*/ 355732 h 537985"/>
              <a:gd name="connsiteX1" fmla="*/ 168262 w 607490"/>
              <a:gd name="connsiteY1" fmla="*/ 394292 h 537985"/>
              <a:gd name="connsiteX2" fmla="*/ 229759 w 607490"/>
              <a:gd name="connsiteY2" fmla="*/ 394292 h 537985"/>
              <a:gd name="connsiteX3" fmla="*/ 229759 w 607490"/>
              <a:gd name="connsiteY3" fmla="*/ 355732 h 537985"/>
              <a:gd name="connsiteX4" fmla="*/ 59640 w 607490"/>
              <a:gd name="connsiteY4" fmla="*/ 355732 h 537985"/>
              <a:gd name="connsiteX5" fmla="*/ 59640 w 607490"/>
              <a:gd name="connsiteY5" fmla="*/ 394292 h 537985"/>
              <a:gd name="connsiteX6" fmla="*/ 121235 w 607490"/>
              <a:gd name="connsiteY6" fmla="*/ 394292 h 537985"/>
              <a:gd name="connsiteX7" fmla="*/ 121235 w 607490"/>
              <a:gd name="connsiteY7" fmla="*/ 355732 h 537985"/>
              <a:gd name="connsiteX8" fmla="*/ 332305 w 607490"/>
              <a:gd name="connsiteY8" fmla="*/ 297835 h 537985"/>
              <a:gd name="connsiteX9" fmla="*/ 363903 w 607490"/>
              <a:gd name="connsiteY9" fmla="*/ 318139 h 537985"/>
              <a:gd name="connsiteX10" fmla="*/ 423647 w 607490"/>
              <a:gd name="connsiteY10" fmla="*/ 380034 h 537985"/>
              <a:gd name="connsiteX11" fmla="*/ 452394 w 607490"/>
              <a:gd name="connsiteY11" fmla="*/ 353382 h 537985"/>
              <a:gd name="connsiteX12" fmla="*/ 507542 w 607490"/>
              <a:gd name="connsiteY12" fmla="*/ 325852 h 537985"/>
              <a:gd name="connsiteX13" fmla="*/ 567481 w 607490"/>
              <a:gd name="connsiteY13" fmla="*/ 349965 h 537985"/>
              <a:gd name="connsiteX14" fmla="*/ 605713 w 607490"/>
              <a:gd name="connsiteY14" fmla="*/ 426894 h 537985"/>
              <a:gd name="connsiteX15" fmla="*/ 576477 w 607490"/>
              <a:gd name="connsiteY15" fmla="*/ 506361 h 537985"/>
              <a:gd name="connsiteX16" fmla="*/ 497959 w 607490"/>
              <a:gd name="connsiteY16" fmla="*/ 537601 h 537985"/>
              <a:gd name="connsiteX17" fmla="*/ 426091 w 607490"/>
              <a:gd name="connsiteY17" fmla="*/ 526472 h 537985"/>
              <a:gd name="connsiteX18" fmla="*/ 347378 w 607490"/>
              <a:gd name="connsiteY18" fmla="*/ 480002 h 537985"/>
              <a:gd name="connsiteX19" fmla="*/ 346889 w 607490"/>
              <a:gd name="connsiteY19" fmla="*/ 479612 h 537985"/>
              <a:gd name="connsiteX20" fmla="*/ 335938 w 607490"/>
              <a:gd name="connsiteY20" fmla="*/ 462332 h 537985"/>
              <a:gd name="connsiteX21" fmla="*/ 341218 w 607490"/>
              <a:gd name="connsiteY21" fmla="*/ 452081 h 537985"/>
              <a:gd name="connsiteX22" fmla="*/ 376615 w 607490"/>
              <a:gd name="connsiteY22" fmla="*/ 451984 h 537985"/>
              <a:gd name="connsiteX23" fmla="*/ 423940 w 607490"/>
              <a:gd name="connsiteY23" fmla="*/ 465358 h 537985"/>
              <a:gd name="connsiteX24" fmla="*/ 425309 w 607490"/>
              <a:gd name="connsiteY24" fmla="*/ 463992 h 537985"/>
              <a:gd name="connsiteX25" fmla="*/ 328409 w 607490"/>
              <a:gd name="connsiteY25" fmla="*/ 345474 h 537985"/>
              <a:gd name="connsiteX26" fmla="*/ 320098 w 607490"/>
              <a:gd name="connsiteY26" fmla="*/ 302519 h 537985"/>
              <a:gd name="connsiteX27" fmla="*/ 332305 w 607490"/>
              <a:gd name="connsiteY27" fmla="*/ 297835 h 537985"/>
              <a:gd name="connsiteX28" fmla="*/ 216177 w 607490"/>
              <a:gd name="connsiteY28" fmla="*/ 129844 h 537985"/>
              <a:gd name="connsiteX29" fmla="*/ 229371 w 607490"/>
              <a:gd name="connsiteY29" fmla="*/ 131601 h 537985"/>
              <a:gd name="connsiteX30" fmla="*/ 307854 w 607490"/>
              <a:gd name="connsiteY30" fmla="*/ 197206 h 537985"/>
              <a:gd name="connsiteX31" fmla="*/ 312252 w 607490"/>
              <a:gd name="connsiteY31" fmla="*/ 206773 h 537985"/>
              <a:gd name="connsiteX32" fmla="*/ 307854 w 607490"/>
              <a:gd name="connsiteY32" fmla="*/ 216340 h 537985"/>
              <a:gd name="connsiteX33" fmla="*/ 229371 w 607490"/>
              <a:gd name="connsiteY33" fmla="*/ 281944 h 537985"/>
              <a:gd name="connsiteX34" fmla="*/ 221357 w 607490"/>
              <a:gd name="connsiteY34" fmla="*/ 284873 h 537985"/>
              <a:gd name="connsiteX35" fmla="*/ 216177 w 607490"/>
              <a:gd name="connsiteY35" fmla="*/ 283702 h 537985"/>
              <a:gd name="connsiteX36" fmla="*/ 208944 w 607490"/>
              <a:gd name="connsiteY36" fmla="*/ 272377 h 537985"/>
              <a:gd name="connsiteX37" fmla="*/ 208944 w 607490"/>
              <a:gd name="connsiteY37" fmla="*/ 141169 h 537985"/>
              <a:gd name="connsiteX38" fmla="*/ 216177 w 607490"/>
              <a:gd name="connsiteY38" fmla="*/ 129844 h 537985"/>
              <a:gd name="connsiteX39" fmla="*/ 385311 w 607490"/>
              <a:gd name="connsiteY39" fmla="*/ 30751 h 537985"/>
              <a:gd name="connsiteX40" fmla="*/ 385311 w 607490"/>
              <a:gd name="connsiteY40" fmla="*/ 69213 h 537985"/>
              <a:gd name="connsiteX41" fmla="*/ 446808 w 607490"/>
              <a:gd name="connsiteY41" fmla="*/ 69213 h 537985"/>
              <a:gd name="connsiteX42" fmla="*/ 446808 w 607490"/>
              <a:gd name="connsiteY42" fmla="*/ 30751 h 537985"/>
              <a:gd name="connsiteX43" fmla="*/ 276787 w 607490"/>
              <a:gd name="connsiteY43" fmla="*/ 30751 h 537985"/>
              <a:gd name="connsiteX44" fmla="*/ 276787 w 607490"/>
              <a:gd name="connsiteY44" fmla="*/ 69213 h 537985"/>
              <a:gd name="connsiteX45" fmla="*/ 338284 w 607490"/>
              <a:gd name="connsiteY45" fmla="*/ 69213 h 537985"/>
              <a:gd name="connsiteX46" fmla="*/ 338284 w 607490"/>
              <a:gd name="connsiteY46" fmla="*/ 30751 h 537985"/>
              <a:gd name="connsiteX47" fmla="*/ 168262 w 607490"/>
              <a:gd name="connsiteY47" fmla="*/ 30751 h 537985"/>
              <a:gd name="connsiteX48" fmla="*/ 168262 w 607490"/>
              <a:gd name="connsiteY48" fmla="*/ 69213 h 537985"/>
              <a:gd name="connsiteX49" fmla="*/ 229759 w 607490"/>
              <a:gd name="connsiteY49" fmla="*/ 69213 h 537985"/>
              <a:gd name="connsiteX50" fmla="*/ 229759 w 607490"/>
              <a:gd name="connsiteY50" fmla="*/ 30751 h 537985"/>
              <a:gd name="connsiteX51" fmla="*/ 59640 w 607490"/>
              <a:gd name="connsiteY51" fmla="*/ 30751 h 537985"/>
              <a:gd name="connsiteX52" fmla="*/ 59640 w 607490"/>
              <a:gd name="connsiteY52" fmla="*/ 69213 h 537985"/>
              <a:gd name="connsiteX53" fmla="*/ 121235 w 607490"/>
              <a:gd name="connsiteY53" fmla="*/ 69213 h 537985"/>
              <a:gd name="connsiteX54" fmla="*/ 121235 w 607490"/>
              <a:gd name="connsiteY54" fmla="*/ 30751 h 537985"/>
              <a:gd name="connsiteX55" fmla="*/ 24149 w 607490"/>
              <a:gd name="connsiteY55" fmla="*/ 0 h 537985"/>
              <a:gd name="connsiteX56" fmla="*/ 482299 w 607490"/>
              <a:gd name="connsiteY56" fmla="*/ 0 h 537985"/>
              <a:gd name="connsiteX57" fmla="*/ 506448 w 607490"/>
              <a:gd name="connsiteY57" fmla="*/ 24112 h 537985"/>
              <a:gd name="connsiteX58" fmla="*/ 506448 w 607490"/>
              <a:gd name="connsiteY58" fmla="*/ 303211 h 537985"/>
              <a:gd name="connsiteX59" fmla="*/ 500386 w 607490"/>
              <a:gd name="connsiteY59" fmla="*/ 303992 h 537985"/>
              <a:gd name="connsiteX60" fmla="*/ 436543 w 607490"/>
              <a:gd name="connsiteY60" fmla="*/ 335426 h 537985"/>
              <a:gd name="connsiteX61" fmla="*/ 419433 w 607490"/>
              <a:gd name="connsiteY61" fmla="*/ 350167 h 537985"/>
              <a:gd name="connsiteX62" fmla="*/ 396164 w 607490"/>
              <a:gd name="connsiteY62" fmla="*/ 326250 h 537985"/>
              <a:gd name="connsiteX63" fmla="*/ 448568 w 607490"/>
              <a:gd name="connsiteY63" fmla="*/ 326250 h 537985"/>
              <a:gd name="connsiteX64" fmla="*/ 448568 w 607490"/>
              <a:gd name="connsiteY64" fmla="*/ 98695 h 537985"/>
              <a:gd name="connsiteX65" fmla="*/ 57880 w 607490"/>
              <a:gd name="connsiteY65" fmla="*/ 98695 h 537985"/>
              <a:gd name="connsiteX66" fmla="*/ 57880 w 607490"/>
              <a:gd name="connsiteY66" fmla="*/ 326250 h 537985"/>
              <a:gd name="connsiteX67" fmla="*/ 292919 w 607490"/>
              <a:gd name="connsiteY67" fmla="*/ 326250 h 537985"/>
              <a:gd name="connsiteX68" fmla="*/ 309637 w 607490"/>
              <a:gd name="connsiteY68" fmla="*/ 355439 h 537985"/>
              <a:gd name="connsiteX69" fmla="*/ 309931 w 607490"/>
              <a:gd name="connsiteY69" fmla="*/ 355732 h 537985"/>
              <a:gd name="connsiteX70" fmla="*/ 276787 w 607490"/>
              <a:gd name="connsiteY70" fmla="*/ 355732 h 537985"/>
              <a:gd name="connsiteX71" fmla="*/ 276787 w 607490"/>
              <a:gd name="connsiteY71" fmla="*/ 394292 h 537985"/>
              <a:gd name="connsiteX72" fmla="*/ 340044 w 607490"/>
              <a:gd name="connsiteY72" fmla="*/ 394292 h 537985"/>
              <a:gd name="connsiteX73" fmla="*/ 366539 w 607490"/>
              <a:gd name="connsiteY73" fmla="*/ 424945 h 537985"/>
              <a:gd name="connsiteX74" fmla="*/ 24149 w 607490"/>
              <a:gd name="connsiteY74" fmla="*/ 424945 h 537985"/>
              <a:gd name="connsiteX75" fmla="*/ 0 w 607490"/>
              <a:gd name="connsiteY75" fmla="*/ 400930 h 537985"/>
              <a:gd name="connsiteX76" fmla="*/ 0 w 607490"/>
              <a:gd name="connsiteY76" fmla="*/ 24112 h 537985"/>
              <a:gd name="connsiteX77" fmla="*/ 24149 w 607490"/>
              <a:gd name="connsiteY77" fmla="*/ 0 h 53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607490" h="537985">
                <a:moveTo>
                  <a:pt x="168262" y="355732"/>
                </a:moveTo>
                <a:lnTo>
                  <a:pt x="168262" y="394292"/>
                </a:lnTo>
                <a:lnTo>
                  <a:pt x="229759" y="394292"/>
                </a:lnTo>
                <a:lnTo>
                  <a:pt x="229759" y="355732"/>
                </a:lnTo>
                <a:close/>
                <a:moveTo>
                  <a:pt x="59640" y="355732"/>
                </a:moveTo>
                <a:lnTo>
                  <a:pt x="59640" y="394292"/>
                </a:lnTo>
                <a:lnTo>
                  <a:pt x="121235" y="394292"/>
                </a:lnTo>
                <a:lnTo>
                  <a:pt x="121235" y="355732"/>
                </a:lnTo>
                <a:close/>
                <a:moveTo>
                  <a:pt x="332305" y="297835"/>
                </a:moveTo>
                <a:cubicBezTo>
                  <a:pt x="344928" y="298095"/>
                  <a:pt x="357963" y="311110"/>
                  <a:pt x="363903" y="318139"/>
                </a:cubicBezTo>
                <a:cubicBezTo>
                  <a:pt x="379744" y="336883"/>
                  <a:pt x="412109" y="370174"/>
                  <a:pt x="423647" y="380034"/>
                </a:cubicBezTo>
                <a:cubicBezTo>
                  <a:pt x="428242" y="375055"/>
                  <a:pt x="438607" y="364218"/>
                  <a:pt x="452394" y="353382"/>
                </a:cubicBezTo>
                <a:cubicBezTo>
                  <a:pt x="471950" y="338152"/>
                  <a:pt x="490528" y="328878"/>
                  <a:pt x="507542" y="325852"/>
                </a:cubicBezTo>
                <a:cubicBezTo>
                  <a:pt x="531400" y="321654"/>
                  <a:pt x="551641" y="329757"/>
                  <a:pt x="567481" y="349965"/>
                </a:cubicBezTo>
                <a:cubicBezTo>
                  <a:pt x="579215" y="364902"/>
                  <a:pt x="599748" y="394678"/>
                  <a:pt x="605713" y="426894"/>
                </a:cubicBezTo>
                <a:cubicBezTo>
                  <a:pt x="611873" y="459599"/>
                  <a:pt x="601997" y="486348"/>
                  <a:pt x="576477" y="506361"/>
                </a:cubicBezTo>
                <a:cubicBezTo>
                  <a:pt x="552716" y="525008"/>
                  <a:pt x="526316" y="535454"/>
                  <a:pt x="497959" y="537601"/>
                </a:cubicBezTo>
                <a:cubicBezTo>
                  <a:pt x="475079" y="539261"/>
                  <a:pt x="450927" y="535551"/>
                  <a:pt x="426091" y="526472"/>
                </a:cubicBezTo>
                <a:cubicBezTo>
                  <a:pt x="387468" y="512316"/>
                  <a:pt x="358134" y="489277"/>
                  <a:pt x="347378" y="480002"/>
                </a:cubicBezTo>
                <a:cubicBezTo>
                  <a:pt x="347085" y="479807"/>
                  <a:pt x="346987" y="479709"/>
                  <a:pt x="346889" y="479612"/>
                </a:cubicBezTo>
                <a:cubicBezTo>
                  <a:pt x="339556" y="473852"/>
                  <a:pt x="335840" y="467994"/>
                  <a:pt x="335938" y="462332"/>
                </a:cubicBezTo>
                <a:cubicBezTo>
                  <a:pt x="335938" y="458427"/>
                  <a:pt x="337796" y="454815"/>
                  <a:pt x="341218" y="452081"/>
                </a:cubicBezTo>
                <a:cubicBezTo>
                  <a:pt x="349725" y="445443"/>
                  <a:pt x="366543" y="445345"/>
                  <a:pt x="376615" y="451984"/>
                </a:cubicBezTo>
                <a:cubicBezTo>
                  <a:pt x="387566" y="459208"/>
                  <a:pt x="414651" y="472583"/>
                  <a:pt x="423940" y="465358"/>
                </a:cubicBezTo>
                <a:cubicBezTo>
                  <a:pt x="424527" y="464968"/>
                  <a:pt x="424918" y="464480"/>
                  <a:pt x="425309" y="463992"/>
                </a:cubicBezTo>
                <a:lnTo>
                  <a:pt x="328409" y="345474"/>
                </a:lnTo>
                <a:cubicBezTo>
                  <a:pt x="327725" y="344693"/>
                  <a:pt x="303573" y="318530"/>
                  <a:pt x="320098" y="302519"/>
                </a:cubicBezTo>
                <a:cubicBezTo>
                  <a:pt x="323936" y="299078"/>
                  <a:pt x="328097" y="297748"/>
                  <a:pt x="332305" y="297835"/>
                </a:cubicBezTo>
                <a:close/>
                <a:moveTo>
                  <a:pt x="216177" y="129844"/>
                </a:moveTo>
                <a:cubicBezTo>
                  <a:pt x="220477" y="127794"/>
                  <a:pt x="225657" y="128477"/>
                  <a:pt x="229371" y="131601"/>
                </a:cubicBezTo>
                <a:lnTo>
                  <a:pt x="307854" y="197206"/>
                </a:lnTo>
                <a:cubicBezTo>
                  <a:pt x="310590" y="199549"/>
                  <a:pt x="312252" y="203063"/>
                  <a:pt x="312252" y="206773"/>
                </a:cubicBezTo>
                <a:cubicBezTo>
                  <a:pt x="312252" y="210483"/>
                  <a:pt x="310590" y="213899"/>
                  <a:pt x="307854" y="216340"/>
                </a:cubicBezTo>
                <a:lnTo>
                  <a:pt x="229371" y="281944"/>
                </a:lnTo>
                <a:cubicBezTo>
                  <a:pt x="227123" y="283799"/>
                  <a:pt x="224289" y="284873"/>
                  <a:pt x="221357" y="284873"/>
                </a:cubicBezTo>
                <a:cubicBezTo>
                  <a:pt x="219597" y="284873"/>
                  <a:pt x="217838" y="284482"/>
                  <a:pt x="216177" y="283702"/>
                </a:cubicBezTo>
                <a:cubicBezTo>
                  <a:pt x="211778" y="281651"/>
                  <a:pt x="208944" y="277258"/>
                  <a:pt x="208944" y="272377"/>
                </a:cubicBezTo>
                <a:lnTo>
                  <a:pt x="208944" y="141169"/>
                </a:lnTo>
                <a:cubicBezTo>
                  <a:pt x="208944" y="136287"/>
                  <a:pt x="211778" y="131894"/>
                  <a:pt x="216177" y="129844"/>
                </a:cubicBezTo>
                <a:close/>
                <a:moveTo>
                  <a:pt x="385311" y="30751"/>
                </a:moveTo>
                <a:lnTo>
                  <a:pt x="385311" y="69213"/>
                </a:lnTo>
                <a:lnTo>
                  <a:pt x="446808" y="69213"/>
                </a:lnTo>
                <a:lnTo>
                  <a:pt x="446808" y="30751"/>
                </a:lnTo>
                <a:close/>
                <a:moveTo>
                  <a:pt x="276787" y="30751"/>
                </a:moveTo>
                <a:lnTo>
                  <a:pt x="276787" y="69213"/>
                </a:lnTo>
                <a:lnTo>
                  <a:pt x="338284" y="69213"/>
                </a:lnTo>
                <a:lnTo>
                  <a:pt x="338284" y="30751"/>
                </a:lnTo>
                <a:close/>
                <a:moveTo>
                  <a:pt x="168262" y="30751"/>
                </a:moveTo>
                <a:lnTo>
                  <a:pt x="168262" y="69213"/>
                </a:lnTo>
                <a:lnTo>
                  <a:pt x="229759" y="69213"/>
                </a:lnTo>
                <a:lnTo>
                  <a:pt x="229759" y="30751"/>
                </a:lnTo>
                <a:close/>
                <a:moveTo>
                  <a:pt x="59640" y="30751"/>
                </a:moveTo>
                <a:lnTo>
                  <a:pt x="59640" y="69213"/>
                </a:lnTo>
                <a:lnTo>
                  <a:pt x="121235" y="69213"/>
                </a:lnTo>
                <a:lnTo>
                  <a:pt x="121235" y="30751"/>
                </a:lnTo>
                <a:close/>
                <a:moveTo>
                  <a:pt x="24149" y="0"/>
                </a:moveTo>
                <a:lnTo>
                  <a:pt x="482299" y="0"/>
                </a:lnTo>
                <a:cubicBezTo>
                  <a:pt x="495693" y="0"/>
                  <a:pt x="506448" y="10836"/>
                  <a:pt x="506448" y="24112"/>
                </a:cubicBezTo>
                <a:lnTo>
                  <a:pt x="506448" y="303211"/>
                </a:lnTo>
                <a:cubicBezTo>
                  <a:pt x="504395" y="303407"/>
                  <a:pt x="502439" y="303700"/>
                  <a:pt x="500386" y="303992"/>
                </a:cubicBezTo>
                <a:cubicBezTo>
                  <a:pt x="480050" y="307604"/>
                  <a:pt x="458639" y="318147"/>
                  <a:pt x="436543" y="335426"/>
                </a:cubicBezTo>
                <a:cubicBezTo>
                  <a:pt x="430090" y="340503"/>
                  <a:pt x="424321" y="345579"/>
                  <a:pt x="419433" y="350167"/>
                </a:cubicBezTo>
                <a:cubicBezTo>
                  <a:pt x="412393" y="343236"/>
                  <a:pt x="404083" y="334743"/>
                  <a:pt x="396164" y="326250"/>
                </a:cubicBezTo>
                <a:lnTo>
                  <a:pt x="448568" y="326250"/>
                </a:lnTo>
                <a:lnTo>
                  <a:pt x="448568" y="98695"/>
                </a:lnTo>
                <a:lnTo>
                  <a:pt x="57880" y="98695"/>
                </a:lnTo>
                <a:lnTo>
                  <a:pt x="57880" y="326250"/>
                </a:lnTo>
                <a:lnTo>
                  <a:pt x="292919" y="326250"/>
                </a:lnTo>
                <a:cubicBezTo>
                  <a:pt x="295558" y="335914"/>
                  <a:pt x="301229" y="345872"/>
                  <a:pt x="309637" y="355439"/>
                </a:cubicBezTo>
                <a:lnTo>
                  <a:pt x="309931" y="355732"/>
                </a:lnTo>
                <a:lnTo>
                  <a:pt x="276787" y="355732"/>
                </a:lnTo>
                <a:lnTo>
                  <a:pt x="276787" y="394292"/>
                </a:lnTo>
                <a:lnTo>
                  <a:pt x="340044" y="394292"/>
                </a:lnTo>
                <a:lnTo>
                  <a:pt x="366539" y="424945"/>
                </a:lnTo>
                <a:lnTo>
                  <a:pt x="24149" y="424945"/>
                </a:lnTo>
                <a:cubicBezTo>
                  <a:pt x="10755" y="424945"/>
                  <a:pt x="0" y="414207"/>
                  <a:pt x="0" y="400930"/>
                </a:cubicBezTo>
                <a:lnTo>
                  <a:pt x="0" y="24112"/>
                </a:lnTo>
                <a:cubicBezTo>
                  <a:pt x="0" y="10836"/>
                  <a:pt x="10755" y="0"/>
                  <a:pt x="24149" y="0"/>
                </a:cubicBezTo>
                <a:close/>
              </a:path>
            </a:pathLst>
          </a:custGeom>
          <a:solidFill>
            <a:schemeClr val="bg1"/>
          </a:solidFill>
          <a:ln>
            <a:noFill/>
          </a:ln>
        </p:spPr>
      </p:sp>
      <p:sp>
        <p:nvSpPr>
          <p:cNvPr id="45" name="内容占位符 2"/>
          <p:cNvSpPr>
            <a:spLocks noGrp="1"/>
          </p:cNvSpPr>
          <p:nvPr>
            <p:ph sz="quarter" idx="27"/>
          </p:nvPr>
        </p:nvSpPr>
        <p:spPr>
          <a:xfrm>
            <a:off x="9158514" y="2264497"/>
            <a:ext cx="2120900" cy="2973322"/>
          </a:xfrm>
          <a:prstGeom prst="rect">
            <a:avLst/>
          </a:prstGeom>
        </p:spPr>
        <p:txBody>
          <a:bodyPr/>
          <a:lstStyle>
            <a:lvl1pPr marL="0" indent="0" algn="just">
              <a:lnSpc>
                <a:spcPct val="130000"/>
              </a:lnSpc>
              <a:spcBef>
                <a:spcPts val="0"/>
              </a:spcBef>
              <a:buFontTx/>
              <a:buNone/>
              <a:defRPr sz="1800" b="0">
                <a:solidFill>
                  <a:schemeClr val="tx1"/>
                </a:solidFill>
                <a:latin typeface="+mn-ea"/>
                <a:ea typeface="+mn-ea"/>
              </a:defRPr>
            </a:lvl1pPr>
            <a:lvl2pPr marL="457200" indent="0">
              <a:buFontTx/>
              <a:buNone/>
              <a:defRPr sz="2400" b="1">
                <a:solidFill>
                  <a:schemeClr val="tx1"/>
                </a:solidFill>
                <a:latin typeface="+mj-ea"/>
                <a:ea typeface="+mj-ea"/>
              </a:defRPr>
            </a:lvl2pPr>
            <a:lvl3pPr marL="914400" indent="0">
              <a:buFontTx/>
              <a:buNone/>
              <a:defRPr sz="2400" b="1">
                <a:solidFill>
                  <a:schemeClr val="tx1"/>
                </a:solidFill>
                <a:latin typeface="+mj-ea"/>
                <a:ea typeface="+mj-ea"/>
              </a:defRPr>
            </a:lvl3pPr>
            <a:lvl4pPr marL="1371600" indent="0">
              <a:buFontTx/>
              <a:buNone/>
              <a:defRPr sz="2400" b="1">
                <a:solidFill>
                  <a:schemeClr val="tx1"/>
                </a:solidFill>
                <a:latin typeface="+mj-ea"/>
                <a:ea typeface="+mj-ea"/>
              </a:defRPr>
            </a:lvl4pPr>
            <a:lvl5pPr marL="1828800" indent="0">
              <a:buFontTx/>
              <a:buNone/>
              <a:defRPr sz="2400" b="1">
                <a:solidFill>
                  <a:schemeClr val="tx1"/>
                </a:solidFill>
                <a:latin typeface="+mj-ea"/>
                <a:ea typeface="+mj-ea"/>
              </a:defRPr>
            </a:lvl5pPr>
          </a:lstStyle>
          <a:p>
            <a:pPr lvl="0"/>
            <a:r>
              <a:rPr lang="zh-CN" altLang="en-US" dirty="0"/>
              <a:t>单击此处编辑母版文本样式</a:t>
            </a:r>
            <a:endParaRPr lang="zh-CN" altLang="en-US" dirty="0"/>
          </a:p>
        </p:txBody>
      </p:sp>
      <p:grpSp>
        <p:nvGrpSpPr>
          <p:cNvPr id="86" name="Group 74"/>
          <p:cNvGrpSpPr>
            <a:grpSpLocks noChangeAspect="1"/>
          </p:cNvGrpSpPr>
          <p:nvPr userDrawn="1"/>
        </p:nvGrpSpPr>
        <p:grpSpPr bwMode="auto">
          <a:xfrm>
            <a:off x="9616522" y="267172"/>
            <a:ext cx="2209994" cy="614757"/>
            <a:chOff x="954" y="660"/>
            <a:chExt cx="1269" cy="353"/>
          </a:xfrm>
          <a:solidFill>
            <a:srgbClr val="003F88"/>
          </a:solidFill>
          <a:effectLst>
            <a:outerShdw blurRad="50800" dist="38100" dir="2700000" algn="tl" rotWithShape="0">
              <a:schemeClr val="bg1">
                <a:lumMod val="50000"/>
                <a:alpha val="40000"/>
              </a:schemeClr>
            </a:outerShdw>
          </a:effectLst>
        </p:grpSpPr>
        <p:sp>
          <p:nvSpPr>
            <p:cNvPr id="87"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8"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9"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0"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1"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2"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93"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4"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5"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6"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7"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8"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9"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0"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1"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2"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3"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4"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5"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6"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7"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8"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9"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0"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1"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2"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3"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4"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5"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6"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7"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8"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9"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0"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1"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2"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3"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4"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5"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6"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7"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8"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9"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0"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1"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2"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3"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4"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5"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6"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7"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8"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9"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0"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1"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2"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3"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4"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5"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6"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7"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8"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9"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0"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1"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2"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3"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3" name="灯片编号占位符 2"/>
          <p:cNvSpPr>
            <a:spLocks noGrp="1"/>
          </p:cNvSpPr>
          <p:nvPr>
            <p:ph type="sldNum" sz="quarter" idx="28"/>
          </p:nvPr>
        </p:nvSpPr>
        <p:spPr/>
        <p:txBody>
          <a:bodyPr/>
          <a:lstStyle/>
          <a:p>
            <a:fld id="{406D97C8-3D29-46CB-B3AA-3C2C5D4C915D}"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17" name="矩形 16"/>
          <p:cNvSpPr/>
          <p:nvPr userDrawn="1"/>
        </p:nvSpPr>
        <p:spPr>
          <a:xfrm>
            <a:off x="4668254" y="6381864"/>
            <a:ext cx="2868328" cy="276999"/>
          </a:xfrm>
          <a:prstGeom prst="rect">
            <a:avLst/>
          </a:prstGeom>
        </p:spPr>
        <p:txBody>
          <a:bodyPr wrap="square" anchor="ctr" anchorCtr="0">
            <a:spAutoFit/>
          </a:bodyPr>
          <a:lstStyle/>
          <a:p>
            <a:pPr algn="ctr"/>
            <a:r>
              <a:rPr lang="zh-CN" altLang="en-US" sz="1200" b="1" spc="300" dirty="0">
                <a:solidFill>
                  <a:srgbClr val="003F88"/>
                </a:solidFill>
                <a:latin typeface="+mj-ea"/>
                <a:ea typeface="+mj-ea"/>
              </a:rPr>
              <a:t>浙江大学浙大数芯实验室</a:t>
            </a:r>
            <a:endParaRPr lang="zh-CN" altLang="en-US" sz="1200" b="1" spc="300" dirty="0">
              <a:solidFill>
                <a:srgbClr val="003F88"/>
              </a:solidFill>
              <a:latin typeface="+mj-ea"/>
              <a:ea typeface="+mj-ea"/>
            </a:endParaRPr>
          </a:p>
        </p:txBody>
      </p:sp>
      <p:grpSp>
        <p:nvGrpSpPr>
          <p:cNvPr id="18" name="组合 17"/>
          <p:cNvGrpSpPr/>
          <p:nvPr userDrawn="1"/>
        </p:nvGrpSpPr>
        <p:grpSpPr>
          <a:xfrm>
            <a:off x="666750" y="6520363"/>
            <a:ext cx="10858500" cy="0"/>
            <a:chOff x="666750" y="6520363"/>
            <a:chExt cx="10858500" cy="0"/>
          </a:xfrm>
        </p:grpSpPr>
        <p:cxnSp>
          <p:nvCxnSpPr>
            <p:cNvPr id="19" name="直接连接符 18"/>
            <p:cNvCxnSpPr/>
            <p:nvPr userDrawn="1"/>
          </p:nvCxnSpPr>
          <p:spPr>
            <a:xfrm flipH="1">
              <a:off x="7892716" y="6520363"/>
              <a:ext cx="3632534" cy="0"/>
            </a:xfrm>
            <a:prstGeom prst="line">
              <a:avLst/>
            </a:prstGeom>
            <a:ln w="25400">
              <a:solidFill>
                <a:srgbClr val="003F88"/>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nvCxnSpPr>
          <p:spPr>
            <a:xfrm flipH="1">
              <a:off x="666750" y="6520363"/>
              <a:ext cx="3626117" cy="0"/>
            </a:xfrm>
            <a:prstGeom prst="line">
              <a:avLst/>
            </a:prstGeom>
            <a:ln w="25400">
              <a:solidFill>
                <a:srgbClr val="003F88"/>
              </a:solidFill>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4"/>
          </p:nvPr>
        </p:nvSpPr>
        <p:spPr>
          <a:xfrm>
            <a:off x="9340362" y="633780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6D97C8-3D29-46CB-B3AA-3C2C5D4C915D}"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3.xml"/><Relationship Id="rId4" Type="http://schemas.openxmlformats.org/officeDocument/2006/relationships/image" Target="../media/image3.png"/><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w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3.xml"/><Relationship Id="rId6" Type="http://schemas.openxmlformats.org/officeDocument/2006/relationships/image" Target="../media/image13.emf"/><Relationship Id="rId5" Type="http://schemas.openxmlformats.org/officeDocument/2006/relationships/oleObject" Target="../embeddings/oleObject4.bin"/><Relationship Id="rId4" Type="http://schemas.openxmlformats.org/officeDocument/2006/relationships/image" Target="../media/image12.emf"/><Relationship Id="rId3" Type="http://schemas.openxmlformats.org/officeDocument/2006/relationships/oleObject" Target="../embeddings/oleObject3.bin"/><Relationship Id="rId2" Type="http://schemas.openxmlformats.org/officeDocument/2006/relationships/image" Target="../media/image11.e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8.png"/><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microsoft.com/office/2007/relationships/hdphoto" Target="../media/image33.wdp"/><Relationship Id="rId5" Type="http://schemas.openxmlformats.org/officeDocument/2006/relationships/image" Target="../media/image32.png"/><Relationship Id="rId4" Type="http://schemas.openxmlformats.org/officeDocument/2006/relationships/image" Target="../media/image31.png"/><Relationship Id="rId3" Type="http://schemas.microsoft.com/office/2007/relationships/hdphoto" Target="../media/image30.wdp"/><Relationship Id="rId2" Type="http://schemas.openxmlformats.org/officeDocument/2006/relationships/image" Target="../media/image29.png"/><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5.png"/><Relationship Id="rId1"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6.png"/></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43.png"/><Relationship Id="rId6" Type="http://schemas.microsoft.com/office/2007/relationships/hdphoto" Target="../media/image42.wdp"/><Relationship Id="rId5" Type="http://schemas.openxmlformats.org/officeDocument/2006/relationships/image" Target="../media/image41.png"/><Relationship Id="rId4" Type="http://schemas.openxmlformats.org/officeDocument/2006/relationships/image" Target="../media/image40.png"/><Relationship Id="rId3" Type="http://schemas.microsoft.com/office/2007/relationships/hdphoto" Target="../media/image39.wdp"/><Relationship Id="rId2" Type="http://schemas.openxmlformats.org/officeDocument/2006/relationships/image" Target="../media/image38.png"/><Relationship Id="rId1" Type="http://schemas.openxmlformats.org/officeDocument/2006/relationships/image" Target="../media/image37.png"/></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microsoft.com/office/2007/relationships/hdphoto" Target="../media/image42.wdp"/><Relationship Id="rId6" Type="http://schemas.openxmlformats.org/officeDocument/2006/relationships/image" Target="../media/image41.png"/><Relationship Id="rId5" Type="http://schemas.microsoft.com/office/2007/relationships/hdphoto" Target="../media/image39.wdp"/><Relationship Id="rId4" Type="http://schemas.openxmlformats.org/officeDocument/2006/relationships/image" Target="../media/image38.png"/><Relationship Id="rId3" Type="http://schemas.microsoft.com/office/2007/relationships/hdphoto" Target="../media/image46.wdp"/><Relationship Id="rId2" Type="http://schemas.openxmlformats.org/officeDocument/2006/relationships/image" Target="../media/image45.png"/><Relationship Id="rId1" Type="http://schemas.openxmlformats.org/officeDocument/2006/relationships/image" Target="../media/image4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7.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image" Target="../media/image55.png"/><Relationship Id="rId5" Type="http://schemas.openxmlformats.org/officeDocument/2006/relationships/tags" Target="../tags/tag1.xml"/><Relationship Id="rId4" Type="http://schemas.microsoft.com/office/2007/relationships/hdphoto" Target="../media/image54.wdp"/><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microsoft.com/office/2007/relationships/hdphoto" Target="../media/image62.wdp"/><Relationship Id="rId6" Type="http://schemas.openxmlformats.org/officeDocument/2006/relationships/image" Target="../media/image61.png"/><Relationship Id="rId5" Type="http://schemas.microsoft.com/office/2007/relationships/hdphoto" Target="../media/image60.wdp"/><Relationship Id="rId4" Type="http://schemas.openxmlformats.org/officeDocument/2006/relationships/image" Target="../media/image59.png"/><Relationship Id="rId3" Type="http://schemas.microsoft.com/office/2007/relationships/hdphoto" Target="../media/image58.wdp"/><Relationship Id="rId2" Type="http://schemas.openxmlformats.org/officeDocument/2006/relationships/image" Target="../media/image57.png"/><Relationship Id="rId1" Type="http://schemas.openxmlformats.org/officeDocument/2006/relationships/image" Target="../media/image56.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63.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66.png"/><Relationship Id="rId3" Type="http://schemas.microsoft.com/office/2007/relationships/hdphoto" Target="../media/image58.wdp"/><Relationship Id="rId2" Type="http://schemas.openxmlformats.org/officeDocument/2006/relationships/image" Target="../media/image57.png"/><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68.png"/><Relationship Id="rId4" Type="http://schemas.openxmlformats.org/officeDocument/2006/relationships/image" Target="../media/image67.png"/><Relationship Id="rId3" Type="http://schemas.microsoft.com/office/2007/relationships/hdphoto" Target="../media/image60.wdp"/><Relationship Id="rId2" Type="http://schemas.openxmlformats.org/officeDocument/2006/relationships/image" Target="../media/image59.png"/><Relationship Id="rId1" Type="http://schemas.openxmlformats.org/officeDocument/2006/relationships/tags" Target="../tags/tag3.xml"/></Relationships>
</file>

<file path=ppt/slides/_rels/slide30.xml.rels><?xml version="1.0" encoding="UTF-8" standalone="yes"?>
<Relationships xmlns="http://schemas.openxmlformats.org/package/2006/relationships"><Relationship Id="rId9" Type="http://schemas.microsoft.com/office/2007/relationships/hdphoto" Target="../media/image62.wdp"/><Relationship Id="rId8" Type="http://schemas.openxmlformats.org/officeDocument/2006/relationships/image" Target="../media/image61.png"/><Relationship Id="rId7" Type="http://schemas.openxmlformats.org/officeDocument/2006/relationships/tags" Target="../tags/tag6.xml"/><Relationship Id="rId6" Type="http://schemas.openxmlformats.org/officeDocument/2006/relationships/image" Target="../media/image70.wmf"/><Relationship Id="rId5" Type="http://schemas.openxmlformats.org/officeDocument/2006/relationships/oleObject" Target="../embeddings/oleObject6.bin"/><Relationship Id="rId4" Type="http://schemas.openxmlformats.org/officeDocument/2006/relationships/tags" Target="../tags/tag5.xml"/><Relationship Id="rId3" Type="http://schemas.openxmlformats.org/officeDocument/2006/relationships/image" Target="../media/image69.wmf"/><Relationship Id="rId2" Type="http://schemas.openxmlformats.org/officeDocument/2006/relationships/oleObject" Target="../embeddings/oleObject5.bin"/><Relationship Id="rId12" Type="http://schemas.openxmlformats.org/officeDocument/2006/relationships/vmlDrawing" Target="../drawings/vmlDrawing3.vml"/><Relationship Id="rId11" Type="http://schemas.openxmlformats.org/officeDocument/2006/relationships/slideLayout" Target="../slideLayouts/slideLayout3.xml"/><Relationship Id="rId10" Type="http://schemas.openxmlformats.org/officeDocument/2006/relationships/image" Target="../media/image71.png"/><Relationship Id="rId1" Type="http://schemas.openxmlformats.org/officeDocument/2006/relationships/tags" Target="../tags/tag4.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72.pn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78.png"/><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image" Target="../media/image75.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81.png"/><Relationship Id="rId3" Type="http://schemas.openxmlformats.org/officeDocument/2006/relationships/image" Target="../media/image75.png"/><Relationship Id="rId2" Type="http://schemas.openxmlformats.org/officeDocument/2006/relationships/image" Target="../media/image80.png"/><Relationship Id="rId1" Type="http://schemas.openxmlformats.org/officeDocument/2006/relationships/image" Target="../media/image79.png"/></Relationships>
</file>

<file path=ppt/slides/_rels/slide34.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3.xml"/><Relationship Id="rId3" Type="http://schemas.openxmlformats.org/officeDocument/2006/relationships/image" Target="../media/image83.emf"/><Relationship Id="rId2" Type="http://schemas.openxmlformats.org/officeDocument/2006/relationships/oleObject" Target="../embeddings/oleObject7.bin"/><Relationship Id="rId1" Type="http://schemas.openxmlformats.org/officeDocument/2006/relationships/image" Target="../media/image82.png"/></Relationships>
</file>

<file path=ppt/slides/_rels/slide35.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3.xml"/><Relationship Id="rId3" Type="http://schemas.openxmlformats.org/officeDocument/2006/relationships/image" Target="../media/image85.emf"/><Relationship Id="rId2" Type="http://schemas.openxmlformats.org/officeDocument/2006/relationships/oleObject" Target="../embeddings/oleObject8.bin"/><Relationship Id="rId1" Type="http://schemas.openxmlformats.org/officeDocument/2006/relationships/image" Target="../media/image84.png"/></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88.png"/><Relationship Id="rId4" Type="http://schemas.openxmlformats.org/officeDocument/2006/relationships/image" Target="../media/image87.png"/><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image" Target="../media/image86.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0.png"/><Relationship Id="rId1" Type="http://schemas.openxmlformats.org/officeDocument/2006/relationships/image" Target="../media/image8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1.png"/><Relationship Id="rId1" Type="http://schemas.openxmlformats.org/officeDocument/2006/relationships/tags" Target="../tags/tag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95.png"/><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image" Target="../media/image92.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2.png"/></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3.xml"/><Relationship Id="rId4" Type="http://schemas.openxmlformats.org/officeDocument/2006/relationships/image" Target="../media/image97.wmf"/><Relationship Id="rId3" Type="http://schemas.openxmlformats.org/officeDocument/2006/relationships/oleObject" Target="../embeddings/oleObject10.bin"/><Relationship Id="rId2" Type="http://schemas.openxmlformats.org/officeDocument/2006/relationships/image" Target="../media/image96.wmf"/><Relationship Id="rId1" Type="http://schemas.openxmlformats.org/officeDocument/2006/relationships/oleObject" Target="../embeddings/oleObject9.bin"/></Relationships>
</file>

<file path=ppt/slides/_rels/slide44.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3.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wmf"/><Relationship Id="rId3" Type="http://schemas.openxmlformats.org/officeDocument/2006/relationships/oleObject" Target="../embeddings/oleObject12.bin"/><Relationship Id="rId2" Type="http://schemas.openxmlformats.org/officeDocument/2006/relationships/image" Target="../media/image96.wmf"/><Relationship Id="rId1" Type="http://schemas.openxmlformats.org/officeDocument/2006/relationships/oleObject" Target="../embeddings/oleObject11.bin"/></Relationships>
</file>

<file path=ppt/slides/_rels/slide45.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3.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7.wmf"/><Relationship Id="rId3" Type="http://schemas.openxmlformats.org/officeDocument/2006/relationships/oleObject" Target="../embeddings/oleObject14.bin"/><Relationship Id="rId2" Type="http://schemas.openxmlformats.org/officeDocument/2006/relationships/image" Target="../media/image96.wmf"/><Relationship Id="rId1" Type="http://schemas.openxmlformats.org/officeDocument/2006/relationships/oleObject" Target="../embeddings/oleObject13.bin"/></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03.png"/><Relationship Id="rId1" Type="http://schemas.openxmlformats.org/officeDocument/2006/relationships/image" Target="../media/image102.jpe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image" Target="../media/image104.jpeg"/></Relationships>
</file>

<file path=ppt/slides/_rels/slide48.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3.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emf"/><Relationship Id="rId3" Type="http://schemas.openxmlformats.org/officeDocument/2006/relationships/oleObject" Target="../embeddings/oleObject15.bin"/><Relationship Id="rId2" Type="http://schemas.openxmlformats.org/officeDocument/2006/relationships/image" Target="../media/image108.png"/><Relationship Id="rId1" Type="http://schemas.openxmlformats.org/officeDocument/2006/relationships/image" Target="../media/image107.png"/></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116.png"/><Relationship Id="rId7" Type="http://schemas.openxmlformats.org/officeDocument/2006/relationships/image" Target="../media/image115.png"/><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 Id="rId3" Type="http://schemas.openxmlformats.org/officeDocument/2006/relationships/image" Target="../media/image109.emf"/><Relationship Id="rId2" Type="http://schemas.openxmlformats.org/officeDocument/2006/relationships/oleObject" Target="../embeddings/oleObject16.bin"/><Relationship Id="rId10" Type="http://schemas.openxmlformats.org/officeDocument/2006/relationships/vmlDrawing" Target="../drawings/vmlDrawing10.vml"/><Relationship Id="rId1" Type="http://schemas.openxmlformats.org/officeDocument/2006/relationships/image" Target="../media/image108.png"/></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3.xml"/><Relationship Id="rId2" Type="http://schemas.openxmlformats.org/officeDocument/2006/relationships/image" Target="../media/image117.emf"/><Relationship Id="rId1" Type="http://schemas.openxmlformats.org/officeDocument/2006/relationships/oleObject" Target="../embeddings/oleObject17.bin"/></Relationships>
</file>

<file path=ppt/slides/_rels/slide51.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3.xml"/><Relationship Id="rId3" Type="http://schemas.openxmlformats.org/officeDocument/2006/relationships/image" Target="../media/image118.png"/><Relationship Id="rId2" Type="http://schemas.openxmlformats.org/officeDocument/2006/relationships/image" Target="../media/image117.emf"/><Relationship Id="rId1" Type="http://schemas.openxmlformats.org/officeDocument/2006/relationships/oleObject" Target="../embeddings/oleObject18.bin"/></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0.png"/><Relationship Id="rId1" Type="http://schemas.openxmlformats.org/officeDocument/2006/relationships/image" Target="../media/image119.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2.png"/><Relationship Id="rId1" Type="http://schemas.openxmlformats.org/officeDocument/2006/relationships/image" Target="../media/image121.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4.emf"/><Relationship Id="rId1" Type="http://schemas.openxmlformats.org/officeDocument/2006/relationships/image" Target="../media/image1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6"/>
          </p:nvPr>
        </p:nvSpPr>
        <p:spPr>
          <a:xfrm>
            <a:off x="4394200" y="5363468"/>
            <a:ext cx="3390900" cy="339725"/>
          </a:xfrm>
        </p:spPr>
        <p:txBody>
          <a:bodyPr/>
          <a:lstStyle/>
          <a:p>
            <a:r>
              <a:rPr lang="en-US" altLang="zh-CN" dirty="0"/>
              <a:t>2026.6.11</a:t>
            </a:r>
            <a:endParaRPr lang="zh-CN" altLang="en-US" dirty="0"/>
          </a:p>
        </p:txBody>
      </p:sp>
      <p:sp>
        <p:nvSpPr>
          <p:cNvPr id="4" name="文本占位符 3"/>
          <p:cNvSpPr>
            <a:spLocks noGrp="1"/>
          </p:cNvSpPr>
          <p:nvPr>
            <p:ph type="body" sz="quarter" idx="12"/>
          </p:nvPr>
        </p:nvSpPr>
        <p:spPr/>
        <p:txBody>
          <a:bodyPr/>
          <a:lstStyle/>
          <a:p>
            <a:r>
              <a:rPr lang="zh-CN" altLang="en-US" dirty="0"/>
              <a:t>习题课</a:t>
            </a:r>
            <a:r>
              <a:rPr lang="en-US" altLang="zh-CN" dirty="0"/>
              <a:t>3</a:t>
            </a:r>
            <a:endParaRPr lang="en-US" altLang="zh-CN" dirty="0"/>
          </a:p>
        </p:txBody>
      </p:sp>
      <p:sp>
        <p:nvSpPr>
          <p:cNvPr id="5" name="灯片编号占位符 4"/>
          <p:cNvSpPr>
            <a:spLocks noGrp="1"/>
          </p:cNvSpPr>
          <p:nvPr>
            <p:ph type="sldNum" sz="quarter" idx="17"/>
          </p:nvPr>
        </p:nvSpPr>
        <p:spPr/>
        <p:txBody>
          <a:bodyPr/>
          <a:lstStyle/>
          <a:p>
            <a:fld id="{406D97C8-3D29-46CB-B3AA-3C2C5D4C915D}" type="slidenum">
              <a:rPr lang="zh-CN" altLang="en-US" smtClean="0"/>
            </a:fld>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目标</a:t>
            </a:r>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7" name="Rectangle 3"/>
          <p:cNvSpPr>
            <a:spLocks noChangeArrowheads="1"/>
          </p:cNvSpPr>
          <p:nvPr/>
        </p:nvSpPr>
        <p:spPr bwMode="auto">
          <a:xfrm>
            <a:off x="660400" y="2215198"/>
            <a:ext cx="10161905" cy="2939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1740" rIns="9144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lvl="0" indent="-285750" defTabSz="914400">
              <a:lnSpc>
                <a:spcPct val="150000"/>
              </a:lnSpc>
              <a:buFont typeface="Arial" panose="020B0604020202020204" pitchFamily="34" charset="0"/>
              <a:buChar char="•"/>
            </a:pPr>
            <a:r>
              <a:rPr kumimoji="0" lang="zh-CN" altLang="en-US" i="0" u="none" strike="noStrike" cap="none" normalizeH="0" baseline="0" dirty="0">
                <a:solidFill>
                  <a:schemeClr val="tx1"/>
                </a:solidFill>
                <a:latin typeface="+mn-ea"/>
                <a:cs typeface="Times New Roman" panose="02020603050405020304" pitchFamily="18" charset="0"/>
              </a:rPr>
              <a:t>本次习题课内容范围</a:t>
            </a:r>
            <a:r>
              <a:rPr kumimoji="0" lang="zh-CN" altLang="en-US" i="0" u="none" strike="noStrike" cap="none" normalizeH="0" baseline="0" dirty="0">
                <a:solidFill>
                  <a:schemeClr val="tx1"/>
                </a:solidFill>
                <a:latin typeface="+mn-ea"/>
                <a:cs typeface="Times New Roman" panose="02020603050405020304" pitchFamily="18" charset="0"/>
              </a:rPr>
              <a:t>为作业</a:t>
            </a:r>
            <a:r>
              <a:rPr kumimoji="0" lang="en-US" altLang="zh-CN" i="0" u="none" strike="noStrike" cap="none" normalizeH="0" baseline="0" dirty="0">
                <a:solidFill>
                  <a:schemeClr val="tx1"/>
                </a:solidFill>
                <a:latin typeface="+mn-ea"/>
                <a:cs typeface="Times New Roman" panose="02020603050405020304" pitchFamily="18" charset="0"/>
              </a:rPr>
              <a:t>8</a:t>
            </a:r>
            <a:r>
              <a:rPr kumimoji="0" lang="zh-CN" altLang="en-US" i="0" u="none" strike="noStrike" cap="none" normalizeH="0" baseline="0" dirty="0">
                <a:solidFill>
                  <a:schemeClr val="tx1"/>
                </a:solidFill>
                <a:latin typeface="+mn-ea"/>
                <a:cs typeface="Times New Roman" panose="02020603050405020304" pitchFamily="18" charset="0"/>
              </a:rPr>
              <a:t>、</a:t>
            </a:r>
            <a:r>
              <a:rPr kumimoji="0" lang="en-US" altLang="zh-CN" i="0" u="none" strike="noStrike" cap="none" normalizeH="0" baseline="0" dirty="0">
                <a:solidFill>
                  <a:schemeClr val="tx1"/>
                </a:solidFill>
                <a:latin typeface="+mn-ea"/>
                <a:cs typeface="Times New Roman" panose="02020603050405020304" pitchFamily="18" charset="0"/>
              </a:rPr>
              <a:t>9</a:t>
            </a:r>
            <a:r>
              <a:rPr kumimoji="0" lang="zh-CN" altLang="en-US" i="0" u="none" strike="noStrike" cap="none" normalizeH="0" baseline="0" dirty="0">
                <a:solidFill>
                  <a:schemeClr val="tx1"/>
                </a:solidFill>
                <a:latin typeface="+mn-ea"/>
                <a:cs typeface="Times New Roman" panose="02020603050405020304" pitchFamily="18" charset="0"/>
              </a:rPr>
              <a:t>、</a:t>
            </a:r>
            <a:r>
              <a:rPr kumimoji="0" lang="en-US" altLang="zh-CN" i="0" u="none" strike="noStrike" cap="none" normalizeH="0" baseline="0" dirty="0">
                <a:solidFill>
                  <a:schemeClr val="tx1"/>
                </a:solidFill>
                <a:latin typeface="+mn-ea"/>
                <a:cs typeface="Times New Roman" panose="02020603050405020304" pitchFamily="18" charset="0"/>
              </a:rPr>
              <a:t>10</a:t>
            </a:r>
            <a:r>
              <a:rPr kumimoji="0" lang="zh-CN" altLang="en-US" i="0" u="none" strike="noStrike" cap="none" normalizeH="0" baseline="0" dirty="0">
                <a:solidFill>
                  <a:schemeClr val="tx1"/>
                </a:solidFill>
                <a:latin typeface="+mn-ea"/>
                <a:cs typeface="Times New Roman" panose="02020603050405020304" pitchFamily="18" charset="0"/>
              </a:rPr>
              <a:t>、</a:t>
            </a:r>
            <a:r>
              <a:rPr kumimoji="0" lang="en-US" altLang="zh-CN" i="0" u="none" strike="noStrike" cap="none" normalizeH="0" baseline="0" dirty="0">
                <a:solidFill>
                  <a:schemeClr val="tx1"/>
                </a:solidFill>
                <a:latin typeface="+mn-ea"/>
                <a:cs typeface="Times New Roman" panose="02020603050405020304" pitchFamily="18" charset="0"/>
              </a:rPr>
              <a:t>11</a:t>
            </a:r>
            <a:r>
              <a:rPr kumimoji="0" lang="zh-CN" altLang="en-US" i="0" u="none" strike="noStrike" cap="none" normalizeH="0" baseline="0" dirty="0">
                <a:solidFill>
                  <a:schemeClr val="tx1"/>
                </a:solidFill>
                <a:latin typeface="+mn-ea"/>
                <a:cs typeface="Times New Roman" panose="02020603050405020304" pitchFamily="18" charset="0"/>
              </a:rPr>
              <a:t>、</a:t>
            </a:r>
            <a:r>
              <a:rPr kumimoji="0" lang="en-US" altLang="zh-CN" i="0" u="none" strike="noStrike" cap="none" normalizeH="0" baseline="0" dirty="0">
                <a:solidFill>
                  <a:schemeClr val="tx1"/>
                </a:solidFill>
                <a:latin typeface="+mn-ea"/>
                <a:cs typeface="Times New Roman" panose="02020603050405020304" pitchFamily="18" charset="0"/>
              </a:rPr>
              <a:t>12</a:t>
            </a:r>
            <a:r>
              <a:rPr kumimoji="0" lang="zh-CN" altLang="en-US" i="0" u="none" strike="noStrike" cap="none" normalizeH="0" baseline="0" dirty="0">
                <a:solidFill>
                  <a:schemeClr val="tx1"/>
                </a:solidFill>
                <a:latin typeface="+mn-ea"/>
                <a:cs typeface="Times New Roman" panose="02020603050405020304" pitchFamily="18" charset="0"/>
              </a:rPr>
              <a:t>、小测</a:t>
            </a:r>
            <a:r>
              <a:rPr kumimoji="0" lang="en-US" altLang="zh-CN" i="0" u="none" strike="noStrike" cap="none" normalizeH="0" baseline="0" dirty="0">
                <a:solidFill>
                  <a:schemeClr val="tx1"/>
                </a:solidFill>
                <a:latin typeface="+mn-ea"/>
                <a:cs typeface="Times New Roman" panose="02020603050405020304" pitchFamily="18" charset="0"/>
              </a:rPr>
              <a:t>3</a:t>
            </a:r>
            <a:r>
              <a:rPr kumimoji="0" lang="zh-CN" altLang="en-US" i="0" u="none" strike="noStrike" cap="none" normalizeH="0" baseline="0" dirty="0">
                <a:solidFill>
                  <a:schemeClr val="tx1"/>
                </a:solidFill>
                <a:latin typeface="+mn-ea"/>
                <a:cs typeface="Times New Roman" panose="02020603050405020304" pitchFamily="18" charset="0"/>
              </a:rPr>
              <a:t>、小测</a:t>
            </a:r>
            <a:r>
              <a:rPr kumimoji="0" lang="en-US" altLang="zh-CN" i="0" u="none" strike="noStrike" cap="none" normalizeH="0" baseline="0" dirty="0">
                <a:solidFill>
                  <a:schemeClr val="tx1"/>
                </a:solidFill>
                <a:latin typeface="+mn-ea"/>
                <a:cs typeface="Times New Roman" panose="02020603050405020304" pitchFamily="18" charset="0"/>
              </a:rPr>
              <a:t>4</a:t>
            </a:r>
            <a:endParaRPr kumimoji="0" lang="en-US" altLang="zh-CN" i="0" u="none" strike="noStrike" cap="none" normalizeH="0" baseline="0" dirty="0">
              <a:solidFill>
                <a:schemeClr val="tx1"/>
              </a:solidFill>
              <a:latin typeface="+mn-ea"/>
              <a:cs typeface="Times New Roman" panose="02020603050405020304" pitchFamily="18" charset="0"/>
            </a:endParaRPr>
          </a:p>
          <a:p>
            <a:pPr marL="285750" lvl="0" indent="-285750" defTabSz="914400">
              <a:lnSpc>
                <a:spcPct val="150000"/>
              </a:lnSpc>
              <a:buFont typeface="Arial" panose="020B0604020202020204" pitchFamily="34" charset="0"/>
              <a:buChar char="•"/>
            </a:pPr>
            <a:r>
              <a:rPr kumimoji="0" lang="zh-CN" altLang="en-US" i="0" u="none" strike="noStrike" cap="none" normalizeH="0" baseline="0" dirty="0">
                <a:solidFill>
                  <a:schemeClr val="tx1"/>
                </a:solidFill>
                <a:latin typeface="+mn-ea"/>
                <a:cs typeface="Times New Roman" panose="02020603050405020304" pitchFamily="18" charset="0"/>
              </a:rPr>
              <a:t>本次习题课内容主要为控制器与脉冲</a:t>
            </a:r>
            <a:r>
              <a:rPr kumimoji="0" lang="zh-CN" altLang="en-US" i="0" u="none" strike="noStrike" cap="none" normalizeH="0" baseline="0" dirty="0">
                <a:solidFill>
                  <a:schemeClr val="tx1"/>
                </a:solidFill>
                <a:latin typeface="+mn-ea"/>
                <a:cs typeface="Times New Roman" panose="02020603050405020304" pitchFamily="18" charset="0"/>
              </a:rPr>
              <a:t>电路</a:t>
            </a:r>
            <a:endParaRPr kumimoji="0" lang="zh-CN" altLang="en-US" i="0" u="none" strike="noStrike" cap="none" normalizeH="0" baseline="0" dirty="0">
              <a:solidFill>
                <a:schemeClr val="tx1"/>
              </a:solidFill>
              <a:latin typeface="+mn-ea"/>
              <a:cs typeface="Times New Roman" panose="02020603050405020304" pitchFamily="18" charset="0"/>
            </a:endParaRPr>
          </a:p>
          <a:p>
            <a:pPr marL="285750" lvl="0" indent="-285750" defTabSz="914400">
              <a:lnSpc>
                <a:spcPct val="150000"/>
              </a:lnSpc>
              <a:buFont typeface="Arial" panose="020B0604020202020204" pitchFamily="34" charset="0"/>
              <a:buChar char="•"/>
            </a:pPr>
            <a:r>
              <a:rPr kumimoji="0" lang="zh-CN" altLang="en-US" i="0" u="none" strike="noStrike" cap="none" normalizeH="0" baseline="0" dirty="0">
                <a:solidFill>
                  <a:schemeClr val="tx1"/>
                </a:solidFill>
                <a:latin typeface="+mn-ea"/>
                <a:cs typeface="Times New Roman" panose="02020603050405020304" pitchFamily="18" charset="0"/>
              </a:rPr>
              <a:t>本周到下周日（也就是</a:t>
            </a:r>
            <a:r>
              <a:rPr kumimoji="0" lang="en-US" altLang="zh-CN" i="0" u="none" strike="noStrike" cap="none" normalizeH="0" baseline="0" dirty="0">
                <a:solidFill>
                  <a:schemeClr val="tx1"/>
                </a:solidFill>
                <a:latin typeface="+mn-ea"/>
                <a:cs typeface="Times New Roman" panose="02020603050405020304" pitchFamily="18" charset="0"/>
              </a:rPr>
              <a:t>6.21</a:t>
            </a:r>
            <a:r>
              <a:rPr kumimoji="0" lang="zh-CN" altLang="en-US" i="0" u="none" strike="noStrike" cap="none" normalizeH="0" baseline="0" dirty="0">
                <a:solidFill>
                  <a:schemeClr val="tx1"/>
                </a:solidFill>
                <a:latin typeface="+mn-ea"/>
                <a:cs typeface="Times New Roman" panose="02020603050405020304" pitchFamily="18" charset="0"/>
              </a:rPr>
              <a:t>号），允许补交作业，补交的作业成绩按照</a:t>
            </a:r>
            <a:r>
              <a:rPr kumimoji="0" lang="en-US" altLang="zh-CN" i="0" u="none" strike="noStrike" cap="none" normalizeH="0" baseline="0" dirty="0">
                <a:solidFill>
                  <a:schemeClr val="tx1"/>
                </a:solidFill>
                <a:latin typeface="+mn-ea"/>
                <a:cs typeface="Times New Roman" panose="02020603050405020304" pitchFamily="18" charset="0"/>
              </a:rPr>
              <a:t>80%</a:t>
            </a:r>
            <a:r>
              <a:rPr kumimoji="0" lang="zh-CN" altLang="en-US" i="0" u="none" strike="noStrike" cap="none" normalizeH="0" baseline="0" dirty="0">
                <a:solidFill>
                  <a:schemeClr val="tx1"/>
                </a:solidFill>
                <a:latin typeface="+mn-ea"/>
                <a:cs typeface="Times New Roman" panose="02020603050405020304" pitchFamily="18" charset="0"/>
              </a:rPr>
              <a:t>计算。本周会在学在浙大上单独开放一次作业补交，请以</a:t>
            </a:r>
            <a:r>
              <a:rPr kumimoji="0" lang="en-US" altLang="zh-CN" i="0" u="none" strike="noStrike" cap="none" normalizeH="0" baseline="0" dirty="0">
                <a:solidFill>
                  <a:schemeClr val="tx1"/>
                </a:solidFill>
                <a:latin typeface="+mn-ea"/>
                <a:cs typeface="Times New Roman" panose="02020603050405020304" pitchFamily="18" charset="0"/>
              </a:rPr>
              <a:t>pdf</a:t>
            </a:r>
            <a:r>
              <a:rPr kumimoji="0" lang="zh-CN" altLang="en-US" i="0" u="none" strike="noStrike" cap="none" normalizeH="0" baseline="0" dirty="0">
                <a:solidFill>
                  <a:schemeClr val="tx1"/>
                </a:solidFill>
                <a:latin typeface="+mn-ea"/>
                <a:cs typeface="Times New Roman" panose="02020603050405020304" pitchFamily="18" charset="0"/>
              </a:rPr>
              <a:t>的格式上交，同时标注补交的作业序号（例如</a:t>
            </a:r>
            <a:r>
              <a:rPr kumimoji="0" lang="en-US" altLang="zh-CN" i="0" u="none" strike="noStrike" cap="none" normalizeH="0" baseline="0" dirty="0">
                <a:solidFill>
                  <a:schemeClr val="tx1"/>
                </a:solidFill>
                <a:latin typeface="+mn-ea"/>
                <a:cs typeface="Times New Roman" panose="02020603050405020304" pitchFamily="18" charset="0"/>
              </a:rPr>
              <a:t>“</a:t>
            </a:r>
            <a:r>
              <a:rPr kumimoji="0" lang="zh-CN" altLang="en-US" i="0" u="none" strike="noStrike" cap="none" normalizeH="0" baseline="0" dirty="0">
                <a:solidFill>
                  <a:schemeClr val="tx1"/>
                </a:solidFill>
                <a:latin typeface="+mn-ea"/>
                <a:cs typeface="Times New Roman" panose="02020603050405020304" pitchFamily="18" charset="0"/>
              </a:rPr>
              <a:t>作业</a:t>
            </a:r>
            <a:r>
              <a:rPr kumimoji="0" lang="en-US" altLang="zh-CN" i="0" u="none" strike="noStrike" cap="none" normalizeH="0" baseline="0" dirty="0">
                <a:solidFill>
                  <a:schemeClr val="tx1"/>
                </a:solidFill>
                <a:latin typeface="+mn-ea"/>
                <a:cs typeface="Times New Roman" panose="02020603050405020304" pitchFamily="18" charset="0"/>
              </a:rPr>
              <a:t>3”</a:t>
            </a:r>
            <a:r>
              <a:rPr kumimoji="0" lang="zh-CN" altLang="en-US" i="0" u="none" strike="noStrike" cap="none" normalizeH="0" baseline="0" dirty="0">
                <a:solidFill>
                  <a:schemeClr val="tx1"/>
                </a:solidFill>
                <a:latin typeface="+mn-ea"/>
                <a:cs typeface="Times New Roman" panose="02020603050405020304" pitchFamily="18" charset="0"/>
              </a:rPr>
              <a:t>这样子），</a:t>
            </a:r>
            <a:r>
              <a:rPr kumimoji="0" lang="zh-CN" altLang="en-US" i="0" u="none" strike="noStrike" cap="none" normalizeH="0" baseline="0" dirty="0">
                <a:solidFill>
                  <a:schemeClr val="tx1"/>
                </a:solidFill>
                <a:latin typeface="+mn-ea"/>
                <a:cs typeface="Times New Roman" panose="02020603050405020304" pitchFamily="18" charset="0"/>
              </a:rPr>
              <a:t>补交截至日期为</a:t>
            </a:r>
            <a:r>
              <a:rPr kumimoji="0" lang="en-US" altLang="zh-CN" i="0" u="none" strike="noStrike" cap="none" normalizeH="0" baseline="0" dirty="0">
                <a:solidFill>
                  <a:schemeClr val="tx1"/>
                </a:solidFill>
                <a:latin typeface="+mn-ea"/>
                <a:cs typeface="Times New Roman" panose="02020603050405020304" pitchFamily="18" charset="0"/>
              </a:rPr>
              <a:t>2026/6/21 22:00</a:t>
            </a:r>
            <a:r>
              <a:rPr kumimoji="0" lang="zh-CN" altLang="en-US" i="0" u="none" strike="noStrike" cap="none" normalizeH="0" baseline="0" dirty="0">
                <a:solidFill>
                  <a:schemeClr val="tx1"/>
                </a:solidFill>
                <a:latin typeface="+mn-ea"/>
                <a:cs typeface="Times New Roman" panose="02020603050405020304" pitchFamily="18" charset="0"/>
              </a:rPr>
              <a:t>。</a:t>
            </a:r>
            <a:endParaRPr kumimoji="0" lang="zh-CN" altLang="en-US" i="0" u="none" strike="noStrike" cap="none" normalizeH="0" baseline="0" dirty="0">
              <a:solidFill>
                <a:schemeClr val="tx1"/>
              </a:solidFill>
              <a:latin typeface="+mn-ea"/>
              <a:cs typeface="Times New Roman" panose="02020603050405020304" pitchFamily="18" charset="0"/>
            </a:endParaRPr>
          </a:p>
          <a:p>
            <a:pPr marL="285750" lvl="0" indent="-285750" defTabSz="914400">
              <a:lnSpc>
                <a:spcPct val="150000"/>
              </a:lnSpc>
              <a:buFont typeface="Arial" panose="020B0604020202020204" pitchFamily="34" charset="0"/>
              <a:buChar char="•"/>
            </a:pPr>
            <a:r>
              <a:rPr kumimoji="0" lang="zh-CN" altLang="en-US" i="0" u="none" strike="noStrike" cap="none" normalizeH="0" baseline="0" dirty="0">
                <a:solidFill>
                  <a:schemeClr val="tx1"/>
                </a:solidFill>
                <a:latin typeface="+mn-ea"/>
                <a:cs typeface="Times New Roman" panose="02020603050405020304" pitchFamily="18" charset="0"/>
              </a:rPr>
              <a:t>计划于</a:t>
            </a:r>
            <a:r>
              <a:rPr kumimoji="0" lang="zh-CN" altLang="en-US" i="0" u="none" strike="noStrike" cap="none" normalizeH="0" baseline="0" dirty="0">
                <a:solidFill>
                  <a:schemeClr val="tx1"/>
                </a:solidFill>
                <a:latin typeface="+mn-ea"/>
                <a:cs typeface="Times New Roman" panose="02020603050405020304" pitchFamily="18" charset="0"/>
              </a:rPr>
              <a:t>近期汇总作业、小测等平时成绩。届时会将作业</a:t>
            </a:r>
            <a:r>
              <a:rPr kumimoji="0" lang="en-US" altLang="zh-CN" i="0" u="none" strike="noStrike" cap="none" normalizeH="0" baseline="0" dirty="0">
                <a:solidFill>
                  <a:schemeClr val="tx1"/>
                </a:solidFill>
                <a:latin typeface="+mn-ea"/>
                <a:cs typeface="Times New Roman" panose="02020603050405020304" pitchFamily="18" charset="0"/>
              </a:rPr>
              <a:t>/</a:t>
            </a:r>
            <a:r>
              <a:rPr kumimoji="0" lang="zh-CN" altLang="en-US" i="0" u="none" strike="noStrike" cap="none" normalizeH="0" baseline="0" dirty="0">
                <a:solidFill>
                  <a:schemeClr val="tx1"/>
                </a:solidFill>
                <a:latin typeface="+mn-ea"/>
                <a:cs typeface="Times New Roman" panose="02020603050405020304" pitchFamily="18" charset="0"/>
              </a:rPr>
              <a:t>小测提交情况的</a:t>
            </a:r>
            <a:r>
              <a:rPr kumimoji="0" lang="en-US" altLang="zh-CN" i="0" u="none" strike="noStrike" cap="none" normalizeH="0" baseline="0" dirty="0">
                <a:solidFill>
                  <a:schemeClr val="tx1"/>
                </a:solidFill>
                <a:latin typeface="+mn-ea"/>
                <a:cs typeface="Times New Roman" panose="02020603050405020304" pitchFamily="18" charset="0"/>
              </a:rPr>
              <a:t>excel</a:t>
            </a:r>
            <a:r>
              <a:rPr kumimoji="0" lang="zh-CN" altLang="en-US" i="0" u="none" strike="noStrike" cap="none" normalizeH="0" baseline="0" dirty="0">
                <a:solidFill>
                  <a:schemeClr val="tx1"/>
                </a:solidFill>
                <a:latin typeface="+mn-ea"/>
                <a:cs typeface="Times New Roman" panose="02020603050405020304" pitchFamily="18" charset="0"/>
              </a:rPr>
              <a:t>表格放到钉钉群里，请各位核实自己的登记</a:t>
            </a:r>
            <a:r>
              <a:rPr kumimoji="0" lang="zh-CN" altLang="en-US" i="0" u="none" strike="noStrike" cap="none" normalizeH="0" baseline="0" dirty="0">
                <a:solidFill>
                  <a:schemeClr val="tx1"/>
                </a:solidFill>
                <a:latin typeface="+mn-ea"/>
                <a:cs typeface="Times New Roman" panose="02020603050405020304" pitchFamily="18" charset="0"/>
              </a:rPr>
              <a:t>情况是否</a:t>
            </a:r>
            <a:r>
              <a:rPr kumimoji="0" lang="zh-CN" altLang="en-US" i="0" u="none" strike="noStrike" cap="none" normalizeH="0" baseline="0" dirty="0">
                <a:solidFill>
                  <a:schemeClr val="tx1"/>
                </a:solidFill>
                <a:latin typeface="+mn-ea"/>
                <a:cs typeface="Times New Roman" panose="02020603050405020304" pitchFamily="18" charset="0"/>
              </a:rPr>
              <a:t>正确。</a:t>
            </a:r>
            <a:endParaRPr kumimoji="0" lang="zh-CN" altLang="en-US" i="0" u="none" strike="noStrike" cap="none" normalizeH="0" baseline="0" dirty="0">
              <a:solidFill>
                <a:schemeClr val="tx1"/>
              </a:solidFill>
              <a:latin typeface="+mn-ea"/>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作业</a:t>
            </a:r>
            <a:r>
              <a:rPr lang="en-US" altLang="zh-CN" dirty="0">
                <a:sym typeface="+mn-ea"/>
              </a:rPr>
              <a:t>8</a:t>
            </a:r>
            <a:endParaRPr lang="en-US" altLang="zh-CN"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3" name="文本框 2"/>
          <p:cNvSpPr txBox="1"/>
          <p:nvPr/>
        </p:nvSpPr>
        <p:spPr>
          <a:xfrm>
            <a:off x="402956" y="1053569"/>
            <a:ext cx="11019294" cy="645160"/>
          </a:xfrm>
          <a:prstGeom prst="rect">
            <a:avLst/>
          </a:prstGeom>
          <a:noFill/>
        </p:spPr>
        <p:txBody>
          <a:bodyPr wrap="square">
            <a:spAutoFit/>
          </a:bodyPr>
          <a:lstStyle/>
          <a:p>
            <a:pPr indent="0">
              <a:buFont typeface="Arial" panose="020B0604020202020204" pitchFamily="34" charset="0"/>
              <a:buNone/>
            </a:pPr>
            <a:r>
              <a:rPr lang="en-US" altLang="zh-CN" dirty="0">
                <a:latin typeface="+mn-ea"/>
              </a:rPr>
              <a:t>1</a:t>
            </a:r>
            <a:r>
              <a:rPr lang="zh-CN" altLang="en-US" dirty="0">
                <a:latin typeface="+mn-ea"/>
              </a:rPr>
              <a:t>、设计一个4输入优先编码器，其输入如表2.1所示，其中</a:t>
            </a:r>
            <a:r>
              <a:rPr lang="en-US" altLang="zh-CN" dirty="0">
                <a:latin typeface="+mn-ea"/>
              </a:rPr>
              <a:t>D0</a:t>
            </a:r>
            <a:r>
              <a:rPr lang="zh-CN" altLang="en-US" dirty="0">
                <a:latin typeface="+mn-ea"/>
              </a:rPr>
              <a:t>的优先级最低，</a:t>
            </a:r>
            <a:r>
              <a:rPr lang="en-US" altLang="zh-CN" dirty="0">
                <a:latin typeface="+mn-ea"/>
              </a:rPr>
              <a:t>D3</a:t>
            </a:r>
            <a:r>
              <a:rPr lang="zh-CN" altLang="en-US" dirty="0">
                <a:latin typeface="+mn-ea"/>
              </a:rPr>
              <a:t>的优先级最高。</a:t>
            </a:r>
            <a:r>
              <a:rPr lang="en-US" altLang="zh-CN" dirty="0">
                <a:latin typeface="+mn-ea"/>
              </a:rPr>
              <a:t>X</a:t>
            </a:r>
            <a:r>
              <a:rPr lang="zh-CN" altLang="en-US" dirty="0">
                <a:latin typeface="+mn-ea"/>
              </a:rPr>
              <a:t>表示无关条件，</a:t>
            </a:r>
            <a:r>
              <a:rPr lang="en-US" altLang="zh-CN" dirty="0">
                <a:latin typeface="+mn-ea"/>
              </a:rPr>
              <a:t>V</a:t>
            </a:r>
            <a:r>
              <a:rPr lang="zh-CN" altLang="en-US" dirty="0">
                <a:latin typeface="+mn-ea"/>
              </a:rPr>
              <a:t>表示有效位指示符。</a:t>
            </a:r>
            <a:endParaRPr lang="zh-CN" altLang="en-US" dirty="0">
              <a:latin typeface="+mn-ea"/>
            </a:endParaRPr>
          </a:p>
        </p:txBody>
      </p:sp>
      <p:sp>
        <p:nvSpPr>
          <p:cNvPr id="10" name="文本框 9"/>
          <p:cNvSpPr txBox="1"/>
          <p:nvPr/>
        </p:nvSpPr>
        <p:spPr>
          <a:xfrm>
            <a:off x="4384040" y="1732915"/>
            <a:ext cx="3272790" cy="448945"/>
          </a:xfrm>
          <a:prstGeom prst="rect">
            <a:avLst/>
          </a:prstGeom>
        </p:spPr>
        <p:txBody>
          <a:bodyPr>
            <a:noAutofit/>
          </a:bodyPr>
          <a:p>
            <a:pPr marL="0" indent="0" algn="just" defTabSz="266700">
              <a:spcBef>
                <a:spcPct val="0"/>
              </a:spcBef>
              <a:spcAft>
                <a:spcPct val="0"/>
              </a:spcAft>
            </a:pPr>
            <a:r>
              <a:rPr lang="en-US" altLang="zh-CN" sz="1600">
                <a:latin typeface="Times New Roman" panose="02020603050405020304"/>
                <a:ea typeface="宋体" panose="02010600030101010101" pitchFamily="2" charset="-122"/>
              </a:rPr>
              <a:t>  </a:t>
            </a:r>
            <a:r>
              <a:rPr lang="zh-CN" altLang="en-US" sz="1600">
                <a:latin typeface="Times New Roman" panose="02020603050405020304"/>
                <a:ea typeface="宋体" panose="02010600030101010101" pitchFamily="2" charset="-122"/>
              </a:rPr>
              <a:t>表</a:t>
            </a:r>
            <a:r>
              <a:rPr lang="en-US" altLang="zh-CN" sz="1600">
                <a:latin typeface="Times New Roman" panose="02020603050405020304"/>
                <a:ea typeface="Times New Roman" panose="02020603050405020304"/>
              </a:rPr>
              <a:t>2.1 </a:t>
            </a:r>
            <a:r>
              <a:rPr lang="zh-CN" altLang="en-US" sz="1600">
                <a:latin typeface="Times New Roman" panose="02020603050405020304"/>
                <a:ea typeface="宋体" panose="02010600030101010101" pitchFamily="2" charset="-122"/>
              </a:rPr>
              <a:t>优先编码器真值表</a:t>
            </a:r>
            <a:endParaRPr lang="zh-CN" altLang="en-US" sz="1600">
              <a:latin typeface="Times New Roman" panose="02020603050405020304"/>
              <a:ea typeface="宋体" panose="02010600030101010101" pitchFamily="2" charset="-122"/>
            </a:endParaRPr>
          </a:p>
        </p:txBody>
      </p:sp>
      <p:graphicFrame>
        <p:nvGraphicFramePr>
          <p:cNvPr id="11" name="表格 10"/>
          <p:cNvGraphicFramePr/>
          <p:nvPr/>
        </p:nvGraphicFramePr>
        <p:xfrm>
          <a:off x="2974975" y="2070100"/>
          <a:ext cx="5631815" cy="1564640"/>
        </p:xfrm>
        <a:graphic>
          <a:graphicData uri="http://schemas.openxmlformats.org/drawingml/2006/table">
            <a:tbl>
              <a:tblPr/>
              <a:tblGrid>
                <a:gridCol w="804545"/>
                <a:gridCol w="804545"/>
                <a:gridCol w="804545"/>
                <a:gridCol w="804545"/>
                <a:gridCol w="804545"/>
                <a:gridCol w="804545"/>
                <a:gridCol w="804545"/>
              </a:tblGrid>
              <a:tr h="223520">
                <a:tc gridSpan="4">
                  <a:txBody>
                    <a:bodyPr/>
                    <a:p>
                      <a:pPr marL="0" indent="0" algn="ctr">
                        <a:spcBef>
                          <a:spcPct val="0"/>
                        </a:spcBef>
                        <a:spcAft>
                          <a:spcPct val="0"/>
                        </a:spcAft>
                      </a:pPr>
                      <a:r>
                        <a:rPr lang="zh-CN" sz="1100">
                          <a:latin typeface="Times New Roman" panose="02020603050405020304"/>
                          <a:ea typeface="宋体" panose="02010600030101010101" pitchFamily="2" charset="-122"/>
                        </a:rPr>
                        <a:t>输入</a:t>
                      </a:r>
                      <a:endParaRPr lang="zh-CN" sz="11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gridSpan="3">
                  <a:txBody>
                    <a:bodyPr/>
                    <a:p>
                      <a:pPr marL="0" indent="0" algn="ctr">
                        <a:spcBef>
                          <a:spcPct val="0"/>
                        </a:spcBef>
                        <a:spcAft>
                          <a:spcPct val="0"/>
                        </a:spcAft>
                      </a:pPr>
                      <a:r>
                        <a:rPr lang="zh-CN" sz="1100">
                          <a:latin typeface="Times New Roman" panose="02020603050405020304"/>
                          <a:ea typeface="宋体" panose="02010600030101010101" pitchFamily="2" charset="-122"/>
                        </a:rPr>
                        <a:t>输出</a:t>
                      </a:r>
                      <a:endParaRPr lang="zh-CN" sz="11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r>
              <a:tr h="223520">
                <a:tc>
                  <a:txBody>
                    <a:bodyPr/>
                    <a:p>
                      <a:pPr marL="0" indent="0" algn="ctr">
                        <a:spcBef>
                          <a:spcPct val="0"/>
                        </a:spcBef>
                        <a:spcAft>
                          <a:spcPct val="0"/>
                        </a:spcAft>
                      </a:pPr>
                      <a:r>
                        <a:rPr lang="en-US" altLang="zh-CN" sz="1100">
                          <a:latin typeface="Times New Roman" panose="02020603050405020304"/>
                          <a:ea typeface="Times New Roman" panose="02020603050405020304"/>
                        </a:rPr>
                        <a:t>D</a:t>
                      </a:r>
                      <a:r>
                        <a:rPr lang="en-US" altLang="zh-CN" sz="1100" baseline="-25000">
                          <a:latin typeface="Times New Roman" panose="02020603050405020304"/>
                          <a:ea typeface="Times New Roman" panose="02020603050405020304"/>
                        </a:rPr>
                        <a:t>0</a:t>
                      </a:r>
                      <a:endParaRPr lang="en-US" altLang="zh-CN" sz="1100" baseline="-250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D</a:t>
                      </a:r>
                      <a:r>
                        <a:rPr lang="en-US" altLang="zh-CN" sz="1100" baseline="-25000">
                          <a:latin typeface="Times New Roman" panose="02020603050405020304"/>
                          <a:ea typeface="Times New Roman" panose="02020603050405020304"/>
                        </a:rPr>
                        <a:t>1</a:t>
                      </a:r>
                      <a:endParaRPr lang="en-US" altLang="zh-CN" sz="1100" baseline="-250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D</a:t>
                      </a:r>
                      <a:r>
                        <a:rPr lang="en-US" altLang="zh-CN" sz="1100" baseline="-25000">
                          <a:latin typeface="Times New Roman" panose="02020603050405020304"/>
                          <a:ea typeface="Times New Roman" panose="02020603050405020304"/>
                        </a:rPr>
                        <a:t>2</a:t>
                      </a:r>
                      <a:endParaRPr lang="en-US" altLang="zh-CN" sz="1100" baseline="-250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D</a:t>
                      </a:r>
                      <a:r>
                        <a:rPr lang="en-US" altLang="zh-CN" sz="1100" baseline="-25000">
                          <a:latin typeface="Times New Roman" panose="02020603050405020304"/>
                          <a:ea typeface="Times New Roman" panose="02020603050405020304"/>
                        </a:rPr>
                        <a:t>3</a:t>
                      </a:r>
                      <a:endParaRPr lang="en-US" altLang="zh-CN" sz="1100" baseline="-250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y</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V</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23520">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23520">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23520">
                <a:tc>
                  <a:txBody>
                    <a:bodyPr/>
                    <a:p>
                      <a:pPr marL="0" indent="0" algn="ctr">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23520">
                <a:tc>
                  <a:txBody>
                    <a:bodyPr/>
                    <a:p>
                      <a:pPr marL="0" indent="0" algn="ctr">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23520">
                <a:tc>
                  <a:txBody>
                    <a:bodyPr/>
                    <a:p>
                      <a:pPr marL="0" indent="0" algn="ctr">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12" name="文本框 11"/>
          <p:cNvSpPr txBox="1"/>
          <p:nvPr/>
        </p:nvSpPr>
        <p:spPr>
          <a:xfrm>
            <a:off x="529956" y="3937104"/>
            <a:ext cx="11019294" cy="645160"/>
          </a:xfrm>
          <a:prstGeom prst="rect">
            <a:avLst/>
          </a:prstGeom>
          <a:noFill/>
        </p:spPr>
        <p:txBody>
          <a:bodyPr wrap="square">
            <a:spAutoFit/>
          </a:bodyPr>
          <a:lstStyle/>
          <a:p>
            <a:pPr indent="0">
              <a:buFont typeface="Arial" panose="020B0604020202020204" pitchFamily="34" charset="0"/>
              <a:buNone/>
            </a:pPr>
            <a:r>
              <a:rPr lang="zh-CN" altLang="en-US" dirty="0">
                <a:latin typeface="+mn-ea"/>
              </a:rPr>
              <a:t>（</a:t>
            </a:r>
            <a:r>
              <a:rPr lang="en-US" altLang="zh-CN" dirty="0">
                <a:latin typeface="+mn-ea"/>
              </a:rPr>
              <a:t>1</a:t>
            </a:r>
            <a:r>
              <a:rPr lang="zh-CN" altLang="en-US" dirty="0">
                <a:latin typeface="+mn-ea"/>
              </a:rPr>
              <a:t>）采用门电路（反相器、与门、或门）画出作业2第3题结果的逻辑图</a:t>
            </a:r>
            <a:r>
              <a:rPr lang="en-US" altLang="zh-CN" dirty="0">
                <a:latin typeface="+mn-ea"/>
              </a:rPr>
              <a:t>,</a:t>
            </a:r>
            <a:r>
              <a:rPr lang="zh-CN" altLang="en-US" dirty="0">
                <a:latin typeface="+mn-ea"/>
              </a:rPr>
              <a:t>并根据逻辑图进行优先编码器电路的</a:t>
            </a:r>
            <a:r>
              <a:rPr lang="en-US" altLang="zh-CN" dirty="0">
                <a:latin typeface="+mn-ea"/>
              </a:rPr>
              <a:t>Verilog HDL</a:t>
            </a:r>
            <a:r>
              <a:rPr lang="zh-CN" altLang="en-US" dirty="0">
                <a:latin typeface="+mn-ea"/>
              </a:rPr>
              <a:t>门级描述。</a:t>
            </a:r>
            <a:endParaRPr lang="zh-CN" altLang="en-US" dirty="0">
              <a:latin typeface="+mn-ea"/>
            </a:endParaRPr>
          </a:p>
        </p:txBody>
      </p:sp>
      <p:pic>
        <p:nvPicPr>
          <p:cNvPr id="13" name="图片 12"/>
          <p:cNvPicPr>
            <a:picLocks noChangeAspect="1"/>
          </p:cNvPicPr>
          <p:nvPr/>
        </p:nvPicPr>
        <p:blipFill>
          <a:blip r:embed="rId1"/>
          <a:stretch>
            <a:fillRect/>
          </a:stretch>
        </p:blipFill>
        <p:spPr>
          <a:xfrm>
            <a:off x="660400" y="4675505"/>
            <a:ext cx="5780405" cy="561340"/>
          </a:xfrm>
          <a:prstGeom prst="rect">
            <a:avLst/>
          </a:prstGeom>
        </p:spPr>
      </p:pic>
      <p:sp>
        <p:nvSpPr>
          <p:cNvPr id="14" name="文本框 13"/>
          <p:cNvSpPr txBox="1"/>
          <p:nvPr/>
        </p:nvSpPr>
        <p:spPr>
          <a:xfrm>
            <a:off x="529956" y="5330294"/>
            <a:ext cx="11019294" cy="645160"/>
          </a:xfrm>
          <a:prstGeom prst="rect">
            <a:avLst/>
          </a:prstGeom>
          <a:noFill/>
        </p:spPr>
        <p:txBody>
          <a:bodyPr wrap="square">
            <a:spAutoFit/>
          </a:bodyPr>
          <a:lstStyle/>
          <a:p>
            <a:pPr indent="0">
              <a:buFont typeface="Arial" panose="020B0604020202020204" pitchFamily="34" charset="0"/>
              <a:buNone/>
            </a:pPr>
            <a:r>
              <a:rPr lang="zh-CN" altLang="en-US" dirty="0">
                <a:latin typeface="+mn-ea"/>
              </a:rPr>
              <a:t>（</a:t>
            </a:r>
            <a:r>
              <a:rPr lang="en-US" altLang="zh-CN" dirty="0">
                <a:latin typeface="+mn-ea"/>
              </a:rPr>
              <a:t>2</a:t>
            </a:r>
            <a:r>
              <a:rPr lang="zh-CN" altLang="en-US" dirty="0">
                <a:latin typeface="+mn-ea"/>
              </a:rPr>
              <a:t>）写出一个4输入优先编码器的</a:t>
            </a:r>
            <a:r>
              <a:rPr lang="en-US" altLang="zh-CN" dirty="0">
                <a:latin typeface="+mn-ea"/>
              </a:rPr>
              <a:t>Verilog HDL</a:t>
            </a:r>
            <a:r>
              <a:rPr lang="zh-CN" altLang="en-US" dirty="0">
                <a:latin typeface="+mn-ea"/>
              </a:rPr>
              <a:t>行为描述，输入</a:t>
            </a:r>
            <a:r>
              <a:rPr lang="en-US" altLang="zh-CN" dirty="0">
                <a:latin typeface="+mn-ea"/>
              </a:rPr>
              <a:t>D</a:t>
            </a:r>
            <a:r>
              <a:rPr lang="zh-CN" altLang="en-US" dirty="0">
                <a:latin typeface="+mn-ea"/>
              </a:rPr>
              <a:t>用4位矢量，</a:t>
            </a:r>
            <a:r>
              <a:rPr lang="en-US" altLang="zh-CN" dirty="0">
                <a:latin typeface="+mn-ea"/>
              </a:rPr>
              <a:t>always</a:t>
            </a:r>
            <a:r>
              <a:rPr lang="zh-CN" altLang="en-US" dirty="0">
                <a:latin typeface="+mn-ea"/>
              </a:rPr>
              <a:t>模块中用</a:t>
            </a:r>
            <a:r>
              <a:rPr lang="en-US" altLang="zh-CN" dirty="0">
                <a:latin typeface="+mn-ea"/>
              </a:rPr>
              <a:t>if-else</a:t>
            </a:r>
            <a:r>
              <a:rPr lang="zh-CN" altLang="en-US" dirty="0">
                <a:latin typeface="+mn-ea"/>
              </a:rPr>
              <a:t>描述，假定输入</a:t>
            </a:r>
            <a:r>
              <a:rPr lang="en-US" altLang="zh-CN" dirty="0">
                <a:latin typeface="+mn-ea"/>
              </a:rPr>
              <a:t>D[3]</a:t>
            </a:r>
            <a:r>
              <a:rPr lang="zh-CN" altLang="en-US" dirty="0">
                <a:latin typeface="+mn-ea"/>
              </a:rPr>
              <a:t>具有最高优先级。</a:t>
            </a:r>
            <a:endParaRPr lang="zh-CN" altLang="en-US" dirty="0">
              <a:latin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作业</a:t>
            </a:r>
            <a:r>
              <a:rPr lang="en-US" altLang="zh-CN" dirty="0">
                <a:sym typeface="+mn-ea"/>
              </a:rPr>
              <a:t>8</a:t>
            </a:r>
            <a:endParaRPr lang="en-US" altLang="zh-CN"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12" name="文本框 11"/>
          <p:cNvSpPr txBox="1"/>
          <p:nvPr/>
        </p:nvSpPr>
        <p:spPr>
          <a:xfrm>
            <a:off x="291831" y="1089129"/>
            <a:ext cx="11019294" cy="645160"/>
          </a:xfrm>
          <a:prstGeom prst="rect">
            <a:avLst/>
          </a:prstGeom>
          <a:noFill/>
        </p:spPr>
        <p:txBody>
          <a:bodyPr wrap="square">
            <a:spAutoFit/>
          </a:bodyPr>
          <a:lstStyle/>
          <a:p>
            <a:pPr indent="0">
              <a:buFont typeface="Arial" panose="020B0604020202020204" pitchFamily="34" charset="0"/>
              <a:buNone/>
            </a:pPr>
            <a:r>
              <a:rPr lang="zh-CN" altLang="en-US" dirty="0">
                <a:latin typeface="+mn-ea"/>
              </a:rPr>
              <a:t>（</a:t>
            </a:r>
            <a:r>
              <a:rPr lang="en-US" altLang="zh-CN" dirty="0">
                <a:latin typeface="+mn-ea"/>
              </a:rPr>
              <a:t>1</a:t>
            </a:r>
            <a:r>
              <a:rPr lang="zh-CN" altLang="en-US" dirty="0">
                <a:latin typeface="+mn-ea"/>
              </a:rPr>
              <a:t>）采用门电路（反相器、与门、或门）画出作业2第3题结果的逻辑图</a:t>
            </a:r>
            <a:r>
              <a:rPr lang="en-US" altLang="zh-CN" dirty="0">
                <a:latin typeface="+mn-ea"/>
              </a:rPr>
              <a:t>,</a:t>
            </a:r>
            <a:r>
              <a:rPr lang="zh-CN" altLang="en-US" dirty="0">
                <a:latin typeface="+mn-ea"/>
              </a:rPr>
              <a:t>并根据逻辑图进行优先编码器电路的</a:t>
            </a:r>
            <a:r>
              <a:rPr lang="en-US" altLang="zh-CN" dirty="0">
                <a:latin typeface="+mn-ea"/>
              </a:rPr>
              <a:t>Verilog HDL</a:t>
            </a:r>
            <a:r>
              <a:rPr lang="zh-CN" altLang="en-US" dirty="0">
                <a:latin typeface="+mn-ea"/>
              </a:rPr>
              <a:t>门级描述。</a:t>
            </a:r>
            <a:endParaRPr lang="zh-CN" altLang="en-US" dirty="0">
              <a:latin typeface="+mn-ea"/>
            </a:endParaRPr>
          </a:p>
        </p:txBody>
      </p:sp>
      <p:pic>
        <p:nvPicPr>
          <p:cNvPr id="13" name="图片 12"/>
          <p:cNvPicPr>
            <a:picLocks noChangeAspect="1"/>
          </p:cNvPicPr>
          <p:nvPr/>
        </p:nvPicPr>
        <p:blipFill>
          <a:blip r:embed="rId1"/>
          <a:stretch>
            <a:fillRect/>
          </a:stretch>
        </p:blipFill>
        <p:spPr>
          <a:xfrm>
            <a:off x="422275" y="1856105"/>
            <a:ext cx="5780405" cy="561340"/>
          </a:xfrm>
          <a:prstGeom prst="rect">
            <a:avLst/>
          </a:prstGeom>
        </p:spPr>
      </p:pic>
      <p:graphicFrame>
        <p:nvGraphicFramePr>
          <p:cNvPr id="3" name="对象 -2147482621"/>
          <p:cNvGraphicFramePr>
            <a:graphicFrameLocks noChangeAspect="1"/>
          </p:cNvGraphicFramePr>
          <p:nvPr/>
        </p:nvGraphicFramePr>
        <p:xfrm>
          <a:off x="660400" y="2931160"/>
          <a:ext cx="4779010" cy="2407285"/>
        </p:xfrm>
        <a:graphic>
          <a:graphicData uri="http://schemas.openxmlformats.org/presentationml/2006/ole">
            <mc:AlternateContent xmlns:mc="http://schemas.openxmlformats.org/markup-compatibility/2006">
              <mc:Choice xmlns:v="urn:schemas-microsoft-com:vml" Requires="v">
                <p:oleObj spid="_x0000_s3076" name="" r:id="rId2" imgW="7543800" imgH="3797300" progId="Visio.Drawing.11">
                  <p:embed/>
                </p:oleObj>
              </mc:Choice>
              <mc:Fallback>
                <p:oleObj name="" r:id="rId2" imgW="7543800" imgH="3797300" progId="Visio.Drawing.11">
                  <p:embed/>
                  <p:pic>
                    <p:nvPicPr>
                      <p:cNvPr id="0" name="图片 3075"/>
                      <p:cNvPicPr/>
                      <p:nvPr/>
                    </p:nvPicPr>
                    <p:blipFill>
                      <a:blip r:embed="rId3"/>
                      <a:stretch>
                        <a:fillRect/>
                      </a:stretch>
                    </p:blipFill>
                    <p:spPr>
                      <a:xfrm>
                        <a:off x="660400" y="2931160"/>
                        <a:ext cx="4779010" cy="2407285"/>
                      </a:xfrm>
                      <a:prstGeom prst="rect">
                        <a:avLst/>
                      </a:prstGeom>
                      <a:noFill/>
                      <a:ln w="38100">
                        <a:noFill/>
                        <a:miter/>
                      </a:ln>
                    </p:spPr>
                  </p:pic>
                </p:oleObj>
              </mc:Fallback>
            </mc:AlternateContent>
          </a:graphicData>
        </a:graphic>
      </p:graphicFrame>
      <p:pic>
        <p:nvPicPr>
          <p:cNvPr id="4"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9850" y="3011170"/>
            <a:ext cx="4991100" cy="2247265"/>
          </a:xfrm>
          <a:prstGeom prst="rect">
            <a:avLst/>
          </a:prstGeom>
        </p:spPr>
      </p:pic>
      <p:sp>
        <p:nvSpPr>
          <p:cNvPr id="5" name="文本框 4"/>
          <p:cNvSpPr txBox="1"/>
          <p:nvPr/>
        </p:nvSpPr>
        <p:spPr>
          <a:xfrm>
            <a:off x="2876550" y="4481195"/>
            <a:ext cx="438150" cy="229870"/>
          </a:xfrm>
          <a:prstGeom prst="rect">
            <a:avLst/>
          </a:prstGeom>
          <a:noFill/>
        </p:spPr>
        <p:txBody>
          <a:bodyPr wrap="square" rtlCol="0">
            <a:spAutoFit/>
          </a:bodyPr>
          <a:p>
            <a:r>
              <a:rPr lang="en-US" altLang="zh-CN" sz="900"/>
              <a:t>Dbar</a:t>
            </a:r>
            <a:endParaRPr lang="en-US" altLang="zh-CN" sz="900"/>
          </a:p>
        </p:txBody>
      </p:sp>
      <p:sp>
        <p:nvSpPr>
          <p:cNvPr id="6" name="文本框 5"/>
          <p:cNvSpPr txBox="1"/>
          <p:nvPr/>
        </p:nvSpPr>
        <p:spPr>
          <a:xfrm>
            <a:off x="3765550" y="3703320"/>
            <a:ext cx="438150" cy="229870"/>
          </a:xfrm>
          <a:prstGeom prst="rect">
            <a:avLst/>
          </a:prstGeom>
          <a:noFill/>
        </p:spPr>
        <p:txBody>
          <a:bodyPr wrap="square" rtlCol="0">
            <a:spAutoFit/>
          </a:bodyPr>
          <a:p>
            <a:r>
              <a:rPr lang="en-US" altLang="zh-CN" sz="900"/>
              <a:t>t</a:t>
            </a:r>
            <a:endParaRPr lang="en-US" altLang="zh-CN"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作业</a:t>
            </a:r>
            <a:r>
              <a:rPr lang="en-US" altLang="zh-CN" dirty="0">
                <a:sym typeface="+mn-ea"/>
              </a:rPr>
              <a:t>8</a:t>
            </a:r>
            <a:endParaRPr lang="en-US" altLang="zh-CN"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14" name="文本框 13"/>
          <p:cNvSpPr txBox="1"/>
          <p:nvPr/>
        </p:nvSpPr>
        <p:spPr>
          <a:xfrm>
            <a:off x="472806" y="1129769"/>
            <a:ext cx="11019294" cy="645160"/>
          </a:xfrm>
          <a:prstGeom prst="rect">
            <a:avLst/>
          </a:prstGeom>
          <a:noFill/>
        </p:spPr>
        <p:txBody>
          <a:bodyPr wrap="square">
            <a:spAutoFit/>
          </a:bodyPr>
          <a:lstStyle/>
          <a:p>
            <a:pPr indent="0">
              <a:buFont typeface="Arial" panose="020B0604020202020204" pitchFamily="34" charset="0"/>
              <a:buNone/>
            </a:pPr>
            <a:r>
              <a:rPr lang="zh-CN" altLang="en-US" dirty="0">
                <a:latin typeface="+mn-ea"/>
              </a:rPr>
              <a:t>（</a:t>
            </a:r>
            <a:r>
              <a:rPr lang="en-US" altLang="zh-CN" dirty="0">
                <a:latin typeface="+mn-ea"/>
              </a:rPr>
              <a:t>2</a:t>
            </a:r>
            <a:r>
              <a:rPr lang="zh-CN" altLang="en-US" dirty="0">
                <a:latin typeface="+mn-ea"/>
              </a:rPr>
              <a:t>）写出一个4输入优先编码器的</a:t>
            </a:r>
            <a:r>
              <a:rPr lang="en-US" altLang="zh-CN" dirty="0">
                <a:latin typeface="+mn-ea"/>
              </a:rPr>
              <a:t>Verilog HDL</a:t>
            </a:r>
            <a:r>
              <a:rPr lang="zh-CN" altLang="en-US" dirty="0">
                <a:latin typeface="+mn-ea"/>
              </a:rPr>
              <a:t>行为描述，输入</a:t>
            </a:r>
            <a:r>
              <a:rPr lang="en-US" altLang="zh-CN" dirty="0">
                <a:latin typeface="+mn-ea"/>
              </a:rPr>
              <a:t>D</a:t>
            </a:r>
            <a:r>
              <a:rPr lang="zh-CN" altLang="en-US" dirty="0">
                <a:latin typeface="+mn-ea"/>
              </a:rPr>
              <a:t>用4位矢量，</a:t>
            </a:r>
            <a:r>
              <a:rPr lang="en-US" altLang="zh-CN" dirty="0">
                <a:latin typeface="+mn-ea"/>
              </a:rPr>
              <a:t>always</a:t>
            </a:r>
            <a:r>
              <a:rPr lang="zh-CN" altLang="en-US" dirty="0">
                <a:latin typeface="+mn-ea"/>
              </a:rPr>
              <a:t>模块中用</a:t>
            </a:r>
            <a:r>
              <a:rPr lang="en-US" altLang="zh-CN" dirty="0">
                <a:latin typeface="+mn-ea"/>
              </a:rPr>
              <a:t>if-else</a:t>
            </a:r>
            <a:r>
              <a:rPr lang="zh-CN" altLang="en-US" dirty="0">
                <a:latin typeface="+mn-ea"/>
              </a:rPr>
              <a:t>描述，假定输入</a:t>
            </a:r>
            <a:r>
              <a:rPr lang="en-US" altLang="zh-CN" dirty="0">
                <a:latin typeface="+mn-ea"/>
              </a:rPr>
              <a:t>D[3]</a:t>
            </a:r>
            <a:r>
              <a:rPr lang="zh-CN" altLang="en-US" dirty="0">
                <a:latin typeface="+mn-ea"/>
              </a:rPr>
              <a:t>具有最高优先级。</a:t>
            </a:r>
            <a:endParaRPr lang="zh-CN" altLang="en-US" dirty="0">
              <a:latin typeface="+mn-ea"/>
            </a:endParaRPr>
          </a:p>
        </p:txBody>
      </p:sp>
      <p:pic>
        <p:nvPicPr>
          <p:cNvPr id="5"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97890" y="1971675"/>
            <a:ext cx="7696835" cy="2914650"/>
          </a:xfrm>
          <a:prstGeom prst="rect">
            <a:avLst/>
          </a:prstGeom>
        </p:spPr>
      </p:pic>
      <p:sp>
        <p:nvSpPr>
          <p:cNvPr id="4" name="文本框 3"/>
          <p:cNvSpPr txBox="1"/>
          <p:nvPr/>
        </p:nvSpPr>
        <p:spPr>
          <a:xfrm>
            <a:off x="472806" y="5190594"/>
            <a:ext cx="11019294" cy="645160"/>
          </a:xfrm>
          <a:prstGeom prst="rect">
            <a:avLst/>
          </a:prstGeom>
          <a:noFill/>
        </p:spPr>
        <p:txBody>
          <a:bodyPr wrap="square">
            <a:spAutoFit/>
          </a:bodyPr>
          <a:lstStyle/>
          <a:p>
            <a:pPr indent="0">
              <a:buFont typeface="Arial" panose="020B0604020202020204" pitchFamily="34" charset="0"/>
              <a:buNone/>
            </a:pPr>
            <a:r>
              <a:rPr lang="en-US" altLang="zh-CN" dirty="0">
                <a:solidFill>
                  <a:srgbClr val="FF0000"/>
                </a:solidFill>
                <a:latin typeface="+mn-ea"/>
              </a:rPr>
              <a:t>always</a:t>
            </a:r>
            <a:r>
              <a:rPr lang="zh-CN" altLang="en-US" dirty="0">
                <a:solidFill>
                  <a:srgbClr val="FF0000"/>
                </a:solidFill>
                <a:latin typeface="+mn-ea"/>
              </a:rPr>
              <a:t>块的敏感条件要写对（</a:t>
            </a:r>
            <a:r>
              <a:rPr lang="en-US" altLang="zh-CN" dirty="0">
                <a:solidFill>
                  <a:srgbClr val="FF0000"/>
                </a:solidFill>
                <a:latin typeface="+mn-ea"/>
              </a:rPr>
              <a:t>D）；</a:t>
            </a:r>
            <a:r>
              <a:rPr lang="zh-CN" altLang="en-US" dirty="0">
                <a:solidFill>
                  <a:srgbClr val="FF0000"/>
                </a:solidFill>
                <a:latin typeface="+mn-ea"/>
              </a:rPr>
              <a:t>此处为组合逻辑，过程块中的赋值应该是阻塞赋值（=），而不是时序逻辑的非阻塞赋值（&lt;=）。</a:t>
            </a:r>
            <a:endParaRPr lang="zh-CN" altLang="en-US" dirty="0">
              <a:solidFill>
                <a:srgbClr val="FF0000"/>
              </a:solidFill>
              <a:latin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作业</a:t>
            </a:r>
            <a:r>
              <a:rPr lang="en-US" altLang="zh-CN" dirty="0">
                <a:sym typeface="+mn-ea"/>
              </a:rPr>
              <a:t>8</a:t>
            </a:r>
            <a:endParaRPr lang="en-US" altLang="zh-CN"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14" name="文本框 13"/>
          <p:cNvSpPr txBox="1"/>
          <p:nvPr/>
        </p:nvSpPr>
        <p:spPr>
          <a:xfrm>
            <a:off x="472806" y="1129769"/>
            <a:ext cx="11019294" cy="1198880"/>
          </a:xfrm>
          <a:prstGeom prst="rect">
            <a:avLst/>
          </a:prstGeom>
          <a:noFill/>
        </p:spPr>
        <p:txBody>
          <a:bodyPr wrap="square">
            <a:spAutoFit/>
          </a:bodyPr>
          <a:lstStyle/>
          <a:p>
            <a:pPr indent="0">
              <a:buFont typeface="Arial" panose="020B0604020202020204" pitchFamily="34" charset="0"/>
              <a:buNone/>
            </a:pPr>
            <a:r>
              <a:rPr lang="en-US" altLang="zh-CN" dirty="0">
                <a:latin typeface="+mn-ea"/>
              </a:rPr>
              <a:t>2</a:t>
            </a:r>
            <a:r>
              <a:rPr lang="zh-CN" altLang="en-US" dirty="0">
                <a:latin typeface="+mn-ea"/>
              </a:rPr>
              <a:t>、科学家们发现金星人使用16进制数字系统。然而，这些数字同我们的习惯是完全不同的。下面的第一行是0-7，第二行是8-</a:t>
            </a:r>
            <a:r>
              <a:rPr lang="en-US" altLang="zh-CN" dirty="0">
                <a:latin typeface="+mn-ea"/>
              </a:rPr>
              <a:t>F。</a:t>
            </a:r>
            <a:r>
              <a:rPr lang="zh-CN" altLang="en-US" dirty="0">
                <a:latin typeface="+mn-ea"/>
              </a:rPr>
              <a:t>你的任务是设计一个组合逻辑子系统，对0（0000）到</a:t>
            </a:r>
            <a:r>
              <a:rPr lang="en-US" altLang="zh-CN" dirty="0">
                <a:latin typeface="+mn-ea"/>
              </a:rPr>
              <a:t>F（1111）</a:t>
            </a:r>
            <a:r>
              <a:rPr lang="zh-CN" altLang="en-US" dirty="0">
                <a:latin typeface="+mn-ea"/>
              </a:rPr>
              <a:t>的十六进制数字进行解码，来驱动七段显示为十六进制数字系统火星版（第一行中的0-7，底下一行的8-</a:t>
            </a:r>
            <a:r>
              <a:rPr lang="en-US" altLang="zh-CN" dirty="0">
                <a:latin typeface="+mn-ea"/>
              </a:rPr>
              <a:t>F）。LED</a:t>
            </a:r>
            <a:r>
              <a:rPr lang="zh-CN" altLang="en-US" dirty="0">
                <a:latin typeface="+mn-ea"/>
              </a:rPr>
              <a:t>段以在水平最底端（</a:t>
            </a:r>
            <a:r>
              <a:rPr lang="en-US" altLang="zh-CN" dirty="0">
                <a:latin typeface="+mn-ea"/>
              </a:rPr>
              <a:t>LED0）</a:t>
            </a:r>
            <a:r>
              <a:rPr lang="zh-CN" altLang="en-US" dirty="0">
                <a:latin typeface="+mn-ea"/>
              </a:rPr>
              <a:t>的反相时钟来计数，中间是</a:t>
            </a:r>
            <a:r>
              <a:rPr lang="en-US" altLang="zh-CN" dirty="0">
                <a:latin typeface="+mn-ea"/>
              </a:rPr>
              <a:t>LED6 。</a:t>
            </a:r>
            <a:endParaRPr lang="en-US" altLang="zh-CN" dirty="0">
              <a:latin typeface="+mn-ea"/>
            </a:endParaRPr>
          </a:p>
        </p:txBody>
      </p:sp>
      <p:sp>
        <p:nvSpPr>
          <p:cNvPr id="4" name="文本框 3"/>
          <p:cNvSpPr txBox="1"/>
          <p:nvPr/>
        </p:nvSpPr>
        <p:spPr>
          <a:xfrm>
            <a:off x="472806" y="5190594"/>
            <a:ext cx="11019294" cy="645160"/>
          </a:xfrm>
          <a:prstGeom prst="rect">
            <a:avLst/>
          </a:prstGeom>
          <a:noFill/>
        </p:spPr>
        <p:txBody>
          <a:bodyPr wrap="square">
            <a:spAutoFit/>
          </a:bodyPr>
          <a:lstStyle/>
          <a:p>
            <a:pPr indent="0">
              <a:buFont typeface="Arial" panose="020B0604020202020204" pitchFamily="34" charset="0"/>
              <a:buNone/>
            </a:pPr>
            <a:r>
              <a:rPr lang="zh-CN" dirty="0">
                <a:solidFill>
                  <a:schemeClr val="tx1"/>
                </a:solidFill>
                <a:latin typeface="+mn-ea"/>
              </a:rPr>
              <a:t>（</a:t>
            </a:r>
            <a:r>
              <a:rPr lang="en-US" altLang="zh-CN" dirty="0">
                <a:solidFill>
                  <a:schemeClr val="tx1"/>
                </a:solidFill>
                <a:latin typeface="+mn-ea"/>
              </a:rPr>
              <a:t>1</a:t>
            </a:r>
            <a:r>
              <a:rPr lang="zh-CN" altLang="en-US" dirty="0">
                <a:solidFill>
                  <a:schemeClr val="tx1"/>
                </a:solidFill>
                <a:latin typeface="+mn-ea"/>
              </a:rPr>
              <a:t>）填写七段驱动显示的真值表。</a:t>
            </a:r>
            <a:endParaRPr lang="zh-CN" altLang="en-US" dirty="0">
              <a:solidFill>
                <a:schemeClr val="tx1"/>
              </a:solidFill>
              <a:latin typeface="+mn-ea"/>
            </a:endParaRPr>
          </a:p>
          <a:p>
            <a:pPr indent="0">
              <a:buFont typeface="Arial" panose="020B0604020202020204" pitchFamily="34" charset="0"/>
              <a:buNone/>
            </a:pPr>
            <a:r>
              <a:rPr lang="zh-CN" altLang="en-US" dirty="0">
                <a:solidFill>
                  <a:schemeClr val="tx1"/>
                </a:solidFill>
                <a:latin typeface="+mn-ea"/>
              </a:rPr>
              <a:t>（</a:t>
            </a:r>
            <a:r>
              <a:rPr lang="en-US" altLang="zh-CN" dirty="0">
                <a:solidFill>
                  <a:schemeClr val="tx1"/>
                </a:solidFill>
                <a:latin typeface="+mn-ea"/>
              </a:rPr>
              <a:t>2</a:t>
            </a:r>
            <a:r>
              <a:rPr lang="zh-CN" altLang="en-US" dirty="0">
                <a:solidFill>
                  <a:schemeClr val="tx1"/>
                </a:solidFill>
                <a:latin typeface="+mn-ea"/>
              </a:rPr>
              <a:t>）写出每个段的</a:t>
            </a:r>
            <a:r>
              <a:rPr lang="en-US" altLang="zh-CN" dirty="0">
                <a:solidFill>
                  <a:schemeClr val="tx1"/>
                </a:solidFill>
                <a:latin typeface="+mn-ea"/>
              </a:rPr>
              <a:t>Verilog</a:t>
            </a:r>
            <a:r>
              <a:rPr lang="zh-CN" altLang="en-US" dirty="0">
                <a:solidFill>
                  <a:schemeClr val="tx1"/>
                </a:solidFill>
                <a:latin typeface="+mn-ea"/>
              </a:rPr>
              <a:t>描述。</a:t>
            </a:r>
            <a:endParaRPr lang="zh-CN" altLang="en-US" dirty="0">
              <a:solidFill>
                <a:schemeClr val="tx1"/>
              </a:solidFill>
              <a:latin typeface="+mn-ea"/>
            </a:endParaRPr>
          </a:p>
        </p:txBody>
      </p:sp>
      <p:pic>
        <p:nvPicPr>
          <p:cNvPr id="3" name="图片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2667000" y="2425700"/>
            <a:ext cx="5882640" cy="200723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作业</a:t>
            </a:r>
            <a:r>
              <a:rPr lang="en-US" altLang="zh-CN" dirty="0">
                <a:sym typeface="+mn-ea"/>
              </a:rPr>
              <a:t>8</a:t>
            </a:r>
            <a:endParaRPr lang="en-US" altLang="zh-CN"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4" name="文本框 3"/>
          <p:cNvSpPr txBox="1"/>
          <p:nvPr/>
        </p:nvSpPr>
        <p:spPr>
          <a:xfrm>
            <a:off x="368300" y="1209040"/>
            <a:ext cx="4352290" cy="368300"/>
          </a:xfrm>
          <a:prstGeom prst="rect">
            <a:avLst/>
          </a:prstGeom>
          <a:noFill/>
        </p:spPr>
        <p:txBody>
          <a:bodyPr wrap="square">
            <a:spAutoFit/>
          </a:bodyPr>
          <a:lstStyle/>
          <a:p>
            <a:pPr indent="0">
              <a:buFont typeface="Arial" panose="020B0604020202020204" pitchFamily="34" charset="0"/>
              <a:buNone/>
            </a:pPr>
            <a:r>
              <a:rPr lang="zh-CN" dirty="0">
                <a:solidFill>
                  <a:schemeClr val="tx1"/>
                </a:solidFill>
                <a:latin typeface="+mn-ea"/>
              </a:rPr>
              <a:t>（</a:t>
            </a:r>
            <a:r>
              <a:rPr lang="en-US" altLang="zh-CN" dirty="0">
                <a:solidFill>
                  <a:schemeClr val="tx1"/>
                </a:solidFill>
                <a:latin typeface="+mn-ea"/>
              </a:rPr>
              <a:t>1</a:t>
            </a:r>
            <a:r>
              <a:rPr lang="zh-CN" altLang="en-US" dirty="0">
                <a:solidFill>
                  <a:schemeClr val="tx1"/>
                </a:solidFill>
                <a:latin typeface="+mn-ea"/>
              </a:rPr>
              <a:t>）填写七段驱动显示的真值表。</a:t>
            </a:r>
            <a:r>
              <a:rPr lang="en-US" altLang="zh-CN" dirty="0">
                <a:solidFill>
                  <a:schemeClr val="tx1"/>
                </a:solidFill>
                <a:latin typeface="+mn-ea"/>
              </a:rPr>
              <a:t>                             </a:t>
            </a:r>
            <a:endParaRPr lang="en-US" altLang="zh-CN" dirty="0">
              <a:solidFill>
                <a:schemeClr val="tx1"/>
              </a:solidFill>
              <a:latin typeface="+mn-ea"/>
            </a:endParaRPr>
          </a:p>
        </p:txBody>
      </p:sp>
      <p:graphicFrame>
        <p:nvGraphicFramePr>
          <p:cNvPr id="5" name="表格 4"/>
          <p:cNvGraphicFramePr/>
          <p:nvPr/>
        </p:nvGraphicFramePr>
        <p:xfrm>
          <a:off x="368300" y="1771650"/>
          <a:ext cx="5411470" cy="4457700"/>
        </p:xfrm>
        <a:graphic>
          <a:graphicData uri="http://schemas.openxmlformats.org/drawingml/2006/table">
            <a:tbl>
              <a:tblPr/>
              <a:tblGrid>
                <a:gridCol w="450850"/>
                <a:gridCol w="450850"/>
                <a:gridCol w="450850"/>
                <a:gridCol w="450850"/>
                <a:gridCol w="450850"/>
                <a:gridCol w="450850"/>
                <a:gridCol w="450850"/>
                <a:gridCol w="450850"/>
                <a:gridCol w="450850"/>
                <a:gridCol w="450850"/>
                <a:gridCol w="451485"/>
                <a:gridCol w="451485"/>
              </a:tblGrid>
              <a:tr h="247650">
                <a:tc>
                  <a:txBody>
                    <a:bodyPr/>
                    <a:p>
                      <a:pPr algn="ctr">
                        <a:spcBef>
                          <a:spcPct val="0"/>
                        </a:spcBef>
                        <a:spcAft>
                          <a:spcPct val="0"/>
                        </a:spcAft>
                      </a:pPr>
                      <a:endParaRPr sz="1100">
                        <a:latin typeface="Times New Roman" panose="02020603050405020304"/>
                        <a:ea typeface="宋体" panose="02010600030101010101" pitchFamily="2" charset="-122"/>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w="28575"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gridSpan="4">
                  <a:txBody>
                    <a:bodyPr/>
                    <a:p>
                      <a:pPr marL="0" indent="0" algn="ctr">
                        <a:spcBef>
                          <a:spcPct val="0"/>
                        </a:spcBef>
                        <a:spcAft>
                          <a:spcPct val="0"/>
                        </a:spcAft>
                      </a:pPr>
                      <a:r>
                        <a:rPr lang="zh-CN" sz="1200" b="1">
                          <a:latin typeface="Times New Roman" panose="02020603050405020304"/>
                          <a:ea typeface="宋体" panose="02010600030101010101" pitchFamily="2" charset="-122"/>
                        </a:rPr>
                        <a:t>输</a:t>
                      </a:r>
                      <a:r>
                        <a:rPr lang="zh-CN" altLang="en-US" sz="1200" b="1">
                          <a:latin typeface="Times New Roman" panose="02020603050405020304"/>
                          <a:ea typeface="宋体" panose="02010600030101010101" pitchFamily="2" charset="-122"/>
                        </a:rPr>
                        <a:t> </a:t>
                      </a:r>
                      <a:r>
                        <a:rPr lang="zh-CN" altLang="en-US" sz="1200" b="1">
                          <a:latin typeface="Times New Roman" panose="02020603050405020304"/>
                          <a:ea typeface="Times New Roman" panose="02020603050405020304"/>
                        </a:rPr>
                        <a:t>  </a:t>
                      </a:r>
                      <a:r>
                        <a:rPr lang="zh-CN" sz="1200" b="1">
                          <a:latin typeface="Times New Roman" panose="02020603050405020304"/>
                          <a:ea typeface="宋体" panose="02010600030101010101" pitchFamily="2" charset="-122"/>
                        </a:rPr>
                        <a:t>入</a:t>
                      </a:r>
                      <a:endParaRPr lang="zh-CN" sz="1200" b="1">
                        <a:latin typeface="Times New Roman" panose="02020603050405020304"/>
                        <a:ea typeface="宋体" panose="02010600030101010101" pitchFamily="2" charset="-122"/>
                      </a:endParaRPr>
                    </a:p>
                  </a:txBody>
                  <a:tcPr marL="68580" marR="68580" marT="0" marB="0" anchor="t" anchorCtr="0">
                    <a:lnL w="19050"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w="28575"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hMerge="1">
                  <a:tcPr>
                    <a:lnT w="28575"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tcPr>
                </a:tc>
                <a:tc hMerge="1">
                  <a:tcPr>
                    <a:lnT w="28575"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tcPr>
                </a:tc>
                <a:tc hMerge="1">
                  <a:tcPr>
                    <a:lnR w="19050" cap="flat" cmpd="sng">
                      <a:solidFill>
                        <a:srgbClr val="000008"/>
                      </a:solidFill>
                      <a:prstDash val="solid"/>
                      <a:headEnd type="none" w="med" len="med"/>
                      <a:tailEnd type="none" w="med" len="med"/>
                    </a:lnR>
                    <a:lnT w="28575"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tcPr>
                </a:tc>
                <a:tc gridSpan="7">
                  <a:txBody>
                    <a:bodyPr/>
                    <a:p>
                      <a:pPr marL="0" indent="0" algn="ctr">
                        <a:spcBef>
                          <a:spcPct val="0"/>
                        </a:spcBef>
                        <a:spcAft>
                          <a:spcPct val="0"/>
                        </a:spcAft>
                      </a:pPr>
                      <a:r>
                        <a:rPr lang="zh-CN" sz="1200" b="1">
                          <a:latin typeface="Times New Roman" panose="02020603050405020304"/>
                          <a:ea typeface="宋体" panose="02010600030101010101" pitchFamily="2" charset="-122"/>
                        </a:rPr>
                        <a:t>输</a:t>
                      </a:r>
                      <a:r>
                        <a:rPr lang="zh-CN" altLang="en-US" sz="1200" b="1">
                          <a:latin typeface="Times New Roman" panose="02020603050405020304"/>
                          <a:ea typeface="宋体" panose="02010600030101010101" pitchFamily="2" charset="-122"/>
                        </a:rPr>
                        <a:t> </a:t>
                      </a:r>
                      <a:r>
                        <a:rPr lang="zh-CN" altLang="en-US" sz="1200" b="1">
                          <a:latin typeface="Times New Roman" panose="02020603050405020304"/>
                          <a:ea typeface="Times New Roman" panose="02020603050405020304"/>
                        </a:rPr>
                        <a:t>  </a:t>
                      </a:r>
                      <a:r>
                        <a:rPr lang="zh-CN" sz="1200" b="1">
                          <a:latin typeface="Times New Roman" panose="02020603050405020304"/>
                          <a:ea typeface="宋体" panose="02010600030101010101" pitchFamily="2" charset="-122"/>
                        </a:rPr>
                        <a:t>出</a:t>
                      </a:r>
                      <a:endParaRPr lang="zh-CN" sz="1200" b="1">
                        <a:latin typeface="Times New Roman" panose="02020603050405020304"/>
                        <a:ea typeface="宋体" panose="02010600030101010101" pitchFamily="2" charset="-122"/>
                      </a:endParaRPr>
                    </a:p>
                  </a:txBody>
                  <a:tcPr marL="68580" marR="68580" marT="0" marB="0" anchor="t" anchorCtr="0">
                    <a:lnL w="19050" cap="flat" cmpd="sng">
                      <a:solidFill>
                        <a:srgbClr val="000008"/>
                      </a:solidFill>
                      <a:prstDash val="solid"/>
                      <a:headEnd type="none" w="med" len="med"/>
                      <a:tailEnd type="none" w="med" len="med"/>
                    </a:lnL>
                    <a:lnR w="28575" cap="flat" cmpd="sng">
                      <a:solidFill>
                        <a:srgbClr val="000008"/>
                      </a:solidFill>
                      <a:prstDash val="solid"/>
                      <a:headEnd type="none" w="med" len="med"/>
                      <a:tailEnd type="none" w="med" len="med"/>
                    </a:lnR>
                    <a:lnT w="28575"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hMerge="1">
                  <a:tcPr>
                    <a:lnT w="28575"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tcPr>
                </a:tc>
                <a:tc hMerge="1">
                  <a:tcPr>
                    <a:lnT w="28575"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tcPr>
                </a:tc>
                <a:tc hMerge="1">
                  <a:tcPr>
                    <a:lnT w="28575"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tcPr>
                </a:tc>
                <a:tc hMerge="1">
                  <a:tcPr>
                    <a:lnT w="28575"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tcPr>
                </a:tc>
                <a:tc hMerge="1">
                  <a:tcPr>
                    <a:lnT w="28575"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tcPr>
                </a:tc>
                <a:tc hMerge="1">
                  <a:tcPr>
                    <a:lnR w="28575" cap="flat" cmpd="sng">
                      <a:solidFill>
                        <a:srgbClr val="000008"/>
                      </a:solidFill>
                      <a:prstDash val="solid"/>
                      <a:headEnd type="none" w="med" len="med"/>
                      <a:tailEnd type="none" w="med" len="med"/>
                    </a:lnR>
                    <a:lnT w="28575"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tcPr>
                </a:tc>
              </a:tr>
              <a:tr h="247650">
                <a:tc>
                  <a:txBody>
                    <a:bodyPr/>
                    <a:p>
                      <a:pPr marL="0" indent="0" algn="ctr">
                        <a:spcBef>
                          <a:spcPct val="0"/>
                        </a:spcBef>
                        <a:spcAft>
                          <a:spcPct val="0"/>
                        </a:spcAft>
                      </a:pPr>
                      <a:r>
                        <a:rPr lang="zh-CN" sz="1200" b="1">
                          <a:latin typeface="Times New Roman" panose="02020603050405020304"/>
                          <a:ea typeface="宋体" panose="02010600030101010101" pitchFamily="2" charset="-122"/>
                        </a:rPr>
                        <a:t>序号</a:t>
                      </a:r>
                      <a:endParaRPr lang="zh-CN" sz="1200" b="1">
                        <a:latin typeface="Times New Roman" panose="02020603050405020304"/>
                        <a:ea typeface="宋体" panose="02010600030101010101" pitchFamily="2" charset="-122"/>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w="19050"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1">
                          <a:latin typeface="Times New Roman" panose="02020603050405020304"/>
                          <a:ea typeface="Times New Roman" panose="02020603050405020304"/>
                        </a:rPr>
                        <a:t>A</a:t>
                      </a:r>
                      <a:endParaRPr lang="en-US" altLang="zh-CN" sz="1200" b="1">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w="19050"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1">
                          <a:latin typeface="Times New Roman" panose="02020603050405020304"/>
                          <a:ea typeface="Times New Roman" panose="02020603050405020304"/>
                        </a:rPr>
                        <a:t>B</a:t>
                      </a:r>
                      <a:endParaRPr lang="en-US" altLang="zh-CN" sz="1200" b="1">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1">
                          <a:latin typeface="Times New Roman" panose="02020603050405020304"/>
                          <a:ea typeface="Times New Roman" panose="02020603050405020304"/>
                        </a:rPr>
                        <a:t>C</a:t>
                      </a:r>
                      <a:endParaRPr lang="en-US" altLang="zh-CN" sz="1200" b="1">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1">
                          <a:latin typeface="Times New Roman" panose="02020603050405020304"/>
                          <a:ea typeface="Times New Roman" panose="02020603050405020304"/>
                        </a:rPr>
                        <a:t>D</a:t>
                      </a:r>
                      <a:endParaRPr lang="en-US" altLang="zh-CN" sz="1200" b="1">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w="19050"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1">
                          <a:latin typeface="Times New Roman" panose="02020603050405020304"/>
                          <a:ea typeface="Times New Roman" panose="02020603050405020304"/>
                        </a:rPr>
                        <a:t>Y</a:t>
                      </a:r>
                      <a:r>
                        <a:rPr lang="en-US" altLang="zh-CN" sz="1200" b="1" baseline="-25000">
                          <a:latin typeface="Times New Roman" panose="02020603050405020304"/>
                          <a:ea typeface="Times New Roman" panose="02020603050405020304"/>
                        </a:rPr>
                        <a:t>0</a:t>
                      </a:r>
                      <a:endParaRPr lang="en-US" altLang="zh-CN" sz="1200" b="1" baseline="-250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w="19050"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1">
                          <a:latin typeface="Times New Roman" panose="02020603050405020304"/>
                          <a:ea typeface="Times New Roman" panose="02020603050405020304"/>
                        </a:rPr>
                        <a:t>Y</a:t>
                      </a:r>
                      <a:r>
                        <a:rPr lang="en-US" altLang="zh-CN" sz="1200" b="1" baseline="-25000">
                          <a:latin typeface="Times New Roman" panose="02020603050405020304"/>
                          <a:ea typeface="Times New Roman" panose="02020603050405020304"/>
                        </a:rPr>
                        <a:t>1</a:t>
                      </a:r>
                      <a:endParaRPr lang="en-US" altLang="zh-CN" sz="1200" b="1" baseline="-25000">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1">
                          <a:latin typeface="Times New Roman" panose="02020603050405020304"/>
                          <a:ea typeface="Times New Roman" panose="02020603050405020304"/>
                        </a:rPr>
                        <a:t>Y</a:t>
                      </a:r>
                      <a:r>
                        <a:rPr lang="en-US" altLang="zh-CN" sz="1200" b="1" baseline="-25000">
                          <a:latin typeface="Times New Roman" panose="02020603050405020304"/>
                          <a:ea typeface="Times New Roman" panose="02020603050405020304"/>
                        </a:rPr>
                        <a:t>2</a:t>
                      </a:r>
                      <a:endParaRPr lang="en-US" altLang="zh-CN" sz="1200" b="1" baseline="-25000">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1">
                          <a:latin typeface="Times New Roman" panose="02020603050405020304"/>
                          <a:ea typeface="Times New Roman" panose="02020603050405020304"/>
                        </a:rPr>
                        <a:t>Y</a:t>
                      </a:r>
                      <a:r>
                        <a:rPr lang="en-US" altLang="zh-CN" sz="1200" b="1" baseline="-25000">
                          <a:latin typeface="Times New Roman" panose="02020603050405020304"/>
                          <a:ea typeface="Times New Roman" panose="02020603050405020304"/>
                        </a:rPr>
                        <a:t>3</a:t>
                      </a:r>
                      <a:endParaRPr lang="en-US" altLang="zh-CN" sz="1200" b="1" baseline="-25000">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1">
                          <a:latin typeface="Times New Roman" panose="02020603050405020304"/>
                          <a:ea typeface="Times New Roman" panose="02020603050405020304"/>
                        </a:rPr>
                        <a:t>Y</a:t>
                      </a:r>
                      <a:r>
                        <a:rPr lang="en-US" altLang="zh-CN" sz="1200" b="1" baseline="-25000">
                          <a:latin typeface="Times New Roman" panose="02020603050405020304"/>
                          <a:ea typeface="Times New Roman" panose="02020603050405020304"/>
                        </a:rPr>
                        <a:t>4</a:t>
                      </a:r>
                      <a:endParaRPr lang="en-US" altLang="zh-CN" sz="1200" b="1" baseline="-25000">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1">
                          <a:latin typeface="Times New Roman" panose="02020603050405020304"/>
                          <a:ea typeface="Times New Roman" panose="02020603050405020304"/>
                        </a:rPr>
                        <a:t>Y</a:t>
                      </a:r>
                      <a:r>
                        <a:rPr lang="en-US" altLang="zh-CN" sz="1200" b="1" baseline="-25000">
                          <a:latin typeface="Times New Roman" panose="02020603050405020304"/>
                          <a:ea typeface="Times New Roman" panose="02020603050405020304"/>
                        </a:rPr>
                        <a:t>5</a:t>
                      </a:r>
                      <a:endParaRPr lang="en-US" altLang="zh-CN" sz="1200" b="1" baseline="-25000">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1">
                          <a:latin typeface="Times New Roman" panose="02020603050405020304"/>
                          <a:ea typeface="Times New Roman" panose="02020603050405020304"/>
                        </a:rPr>
                        <a:t>Y</a:t>
                      </a:r>
                      <a:r>
                        <a:rPr lang="en-US" altLang="zh-CN" sz="1200" b="1" baseline="-25000">
                          <a:latin typeface="Times New Roman" panose="02020603050405020304"/>
                          <a:ea typeface="Times New Roman" panose="02020603050405020304"/>
                        </a:rPr>
                        <a:t>6</a:t>
                      </a:r>
                      <a:endParaRPr lang="en-US" altLang="zh-CN" sz="1200" b="1" baseline="-250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w="19050" cap="flat" cmpd="sng">
                      <a:solidFill>
                        <a:srgbClr val="000008"/>
                      </a:solidFill>
                      <a:prstDash val="solid"/>
                      <a:headEnd type="none" w="med" len="med"/>
                      <a:tailEnd type="none" w="med" len="med"/>
                    </a:lnT>
                    <a:lnB w="19050" cap="flat" cmpd="sng">
                      <a:solidFill>
                        <a:srgbClr val="000008"/>
                      </a:solidFill>
                      <a:prstDash val="solid"/>
                      <a:headEnd type="none" w="med" len="med"/>
                      <a:tailEnd type="none" w="med" len="med"/>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0</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w="190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w="190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w="190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w="190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w="190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w="19050" cap="flat" cmpd="sng">
                      <a:solidFill>
                        <a:srgbClr val="000008"/>
                      </a:solidFill>
                      <a:prstDash val="solid"/>
                      <a:headEnd type="none" w="med" len="med"/>
                      <a:tailEnd type="none" w="med" len="med"/>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1</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2</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3</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4</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5</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6</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7</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8</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9</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A</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B</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C</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D</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E</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a:noFill/>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a:noFill/>
                    </a:lnB>
                    <a:noFill/>
                  </a:tcPr>
                </a:tc>
              </a:tr>
              <a:tr h="247650">
                <a:tc>
                  <a:txBody>
                    <a:bodyPr/>
                    <a:p>
                      <a:pPr marL="0" indent="0" algn="ctr">
                        <a:spcBef>
                          <a:spcPct val="0"/>
                        </a:spcBef>
                        <a:spcAft>
                          <a:spcPct val="0"/>
                        </a:spcAft>
                      </a:pPr>
                      <a:r>
                        <a:rPr lang="en-US" altLang="zh-CN" sz="1200" b="1">
                          <a:latin typeface="Times New Roman" panose="02020603050405020304"/>
                          <a:ea typeface="Times New Roman" panose="02020603050405020304"/>
                        </a:rPr>
                        <a:t>F</a:t>
                      </a:r>
                      <a:endParaRPr lang="en-US" altLang="zh-CN" sz="1200" b="1">
                        <a:latin typeface="Times New Roman" panose="02020603050405020304"/>
                        <a:ea typeface="Times New Roman" panose="02020603050405020304"/>
                      </a:endParaRPr>
                    </a:p>
                  </a:txBody>
                  <a:tcPr marL="68580" marR="68580" marT="0" marB="0" anchor="t" anchorCtr="0">
                    <a:lnL w="28575" cap="flat" cmpd="sng">
                      <a:solidFill>
                        <a:srgbClr val="000008"/>
                      </a:solidFill>
                      <a:prstDash val="solid"/>
                      <a:headEnd type="none" w="med" len="med"/>
                      <a:tailEnd type="none" w="med" len="med"/>
                    </a:lnL>
                    <a:lnR w="19050" cap="flat" cmpd="sng">
                      <a:solidFill>
                        <a:srgbClr val="000008"/>
                      </a:solidFill>
                      <a:prstDash val="solid"/>
                      <a:headEnd type="none" w="med" len="med"/>
                      <a:tailEnd type="none" w="med" len="med"/>
                    </a:lnR>
                    <a:lnT>
                      <a:noFill/>
                    </a:lnT>
                    <a:lnB w="28575"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w="28575"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w="28575"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w="28575"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19050" cap="flat" cmpd="sng">
                      <a:solidFill>
                        <a:srgbClr val="000008"/>
                      </a:solidFill>
                      <a:prstDash val="solid"/>
                      <a:headEnd type="none" w="med" len="med"/>
                      <a:tailEnd type="none" w="med" len="med"/>
                    </a:lnR>
                    <a:lnT>
                      <a:noFill/>
                    </a:lnT>
                    <a:lnB w="28575"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w="19050" cap="flat" cmpd="sng">
                      <a:solidFill>
                        <a:srgbClr val="000008"/>
                      </a:solidFill>
                      <a:prstDash val="solid"/>
                      <a:headEnd type="none" w="med" len="med"/>
                      <a:tailEnd type="none" w="med" len="med"/>
                    </a:lnL>
                    <a:lnR>
                      <a:noFill/>
                    </a:lnR>
                    <a:lnT>
                      <a:noFill/>
                    </a:lnT>
                    <a:lnB w="28575"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w="28575"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w="28575"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w="28575"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w="28575"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a:noFill/>
                    </a:lnR>
                    <a:lnT>
                      <a:noFill/>
                    </a:lnT>
                    <a:lnB w="28575"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t" anchorCtr="0">
                    <a:lnL>
                      <a:noFill/>
                    </a:lnL>
                    <a:lnR w="28575" cap="flat" cmpd="sng">
                      <a:solidFill>
                        <a:srgbClr val="000008"/>
                      </a:solidFill>
                      <a:prstDash val="solid"/>
                      <a:headEnd type="none" w="med" len="med"/>
                      <a:tailEnd type="none" w="med" len="med"/>
                    </a:lnR>
                    <a:lnT>
                      <a:noFill/>
                    </a:lnT>
                    <a:lnB w="28575" cap="flat" cmpd="sng">
                      <a:solidFill>
                        <a:srgbClr val="000008"/>
                      </a:solidFill>
                      <a:prstDash val="solid"/>
                      <a:headEnd type="none" w="med" len="med"/>
                      <a:tailEnd type="none" w="med" len="med"/>
                    </a:lnB>
                    <a:noFill/>
                  </a:tcPr>
                </a:tc>
              </a:tr>
            </a:tbl>
          </a:graphicData>
        </a:graphic>
      </p:graphicFrame>
      <p:sp>
        <p:nvSpPr>
          <p:cNvPr id="6" name="文本框 5"/>
          <p:cNvSpPr txBox="1"/>
          <p:nvPr/>
        </p:nvSpPr>
        <p:spPr>
          <a:xfrm>
            <a:off x="6515100" y="1209040"/>
            <a:ext cx="5194935" cy="922020"/>
          </a:xfrm>
          <a:prstGeom prst="rect">
            <a:avLst/>
          </a:prstGeom>
          <a:noFill/>
        </p:spPr>
        <p:txBody>
          <a:bodyPr wrap="square" rtlCol="0" anchor="t">
            <a:spAutoFit/>
          </a:bodyPr>
          <a:p>
            <a:pPr indent="0">
              <a:buFont typeface="Arial" panose="020B0604020202020204" pitchFamily="34" charset="0"/>
              <a:buNone/>
            </a:pPr>
            <a:r>
              <a:rPr lang="zh-CN" altLang="en-US" dirty="0">
                <a:latin typeface="+mn-ea"/>
                <a:sym typeface="+mn-ea"/>
              </a:rPr>
              <a:t>（</a:t>
            </a:r>
            <a:r>
              <a:rPr lang="en-US" altLang="zh-CN" dirty="0">
                <a:latin typeface="+mn-ea"/>
                <a:sym typeface="+mn-ea"/>
              </a:rPr>
              <a:t>2</a:t>
            </a:r>
            <a:r>
              <a:rPr lang="zh-CN" altLang="en-US" dirty="0">
                <a:latin typeface="+mn-ea"/>
                <a:sym typeface="+mn-ea"/>
              </a:rPr>
              <a:t>）写出每个段的</a:t>
            </a:r>
            <a:r>
              <a:rPr lang="en-US" altLang="zh-CN" dirty="0">
                <a:latin typeface="+mn-ea"/>
                <a:sym typeface="+mn-ea"/>
              </a:rPr>
              <a:t>Verilog</a:t>
            </a:r>
            <a:r>
              <a:rPr lang="zh-CN" altLang="en-US" dirty="0">
                <a:latin typeface="+mn-ea"/>
                <a:sym typeface="+mn-ea"/>
              </a:rPr>
              <a:t>描述。</a:t>
            </a:r>
            <a:endParaRPr lang="zh-CN" altLang="en-US" dirty="0">
              <a:latin typeface="+mn-ea"/>
              <a:sym typeface="+mn-ea"/>
            </a:endParaRPr>
          </a:p>
          <a:p>
            <a:pPr indent="0">
              <a:buFont typeface="Arial" panose="020B0604020202020204" pitchFamily="34" charset="0"/>
              <a:buNone/>
            </a:pPr>
            <a:r>
              <a:rPr lang="zh-CN" altLang="en-US" dirty="0">
                <a:latin typeface="+mn-ea"/>
                <a:sym typeface="+mn-ea"/>
              </a:rPr>
              <a:t>本题采用译码器的方法最为简单，根据上述真值表。采用</a:t>
            </a:r>
            <a:r>
              <a:rPr lang="en-US" altLang="zh-CN" dirty="0">
                <a:latin typeface="+mn-ea"/>
                <a:sym typeface="+mn-ea"/>
              </a:rPr>
              <a:t>case</a:t>
            </a:r>
            <a:r>
              <a:rPr lang="zh-CN" altLang="en-US" dirty="0">
                <a:latin typeface="+mn-ea"/>
                <a:sym typeface="+mn-ea"/>
              </a:rPr>
              <a:t>语句进行描述。</a:t>
            </a:r>
            <a:endParaRPr lang="zh-CN" altLang="en-US" dirty="0">
              <a:latin typeface="+mn-ea"/>
              <a:sym typeface="+mn-ea"/>
            </a:endParaRPr>
          </a:p>
        </p:txBody>
      </p:sp>
      <p:pic>
        <p:nvPicPr>
          <p:cNvPr id="13" name="图片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00445" y="2131060"/>
            <a:ext cx="5982970" cy="36880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9</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5" name="文本框 4"/>
          <p:cNvSpPr txBox="1"/>
          <p:nvPr/>
        </p:nvSpPr>
        <p:spPr>
          <a:xfrm>
            <a:off x="402956" y="1053569"/>
            <a:ext cx="11019294" cy="922020"/>
          </a:xfrm>
          <a:prstGeom prst="rect">
            <a:avLst/>
          </a:prstGeom>
          <a:noFill/>
        </p:spPr>
        <p:txBody>
          <a:bodyPr wrap="square">
            <a:spAutoFit/>
          </a:bodyPr>
          <a:lstStyle/>
          <a:p>
            <a:pPr indent="0">
              <a:buFont typeface="Arial" panose="020B0604020202020204" pitchFamily="34" charset="0"/>
              <a:buNone/>
            </a:pPr>
            <a:r>
              <a:rPr lang="zh-CN" altLang="en-US" dirty="0">
                <a:latin typeface="+mn-ea"/>
              </a:rPr>
              <a:t>1、某系统的</a:t>
            </a:r>
            <a:r>
              <a:rPr lang="en-US" altLang="zh-CN" dirty="0">
                <a:latin typeface="+mn-ea"/>
              </a:rPr>
              <a:t>ASM</a:t>
            </a:r>
            <a:r>
              <a:rPr lang="zh-CN" altLang="en-US" dirty="0">
                <a:latin typeface="+mn-ea"/>
              </a:rPr>
              <a:t>图如图所示，其中包括输入</a:t>
            </a:r>
            <a:r>
              <a:rPr lang="en-US" altLang="zh-CN" dirty="0">
                <a:latin typeface="+mn-ea"/>
              </a:rPr>
              <a:t>Z、x，</a:t>
            </a:r>
            <a:r>
              <a:rPr lang="zh-CN" altLang="en-US" dirty="0">
                <a:latin typeface="+mn-ea"/>
              </a:rPr>
              <a:t>状态</a:t>
            </a:r>
            <a:r>
              <a:rPr lang="en-US" altLang="zh-CN" dirty="0">
                <a:latin typeface="+mn-ea"/>
              </a:rPr>
              <a:t>A、B、C、D、E（</a:t>
            </a:r>
            <a:r>
              <a:rPr lang="zh-CN" altLang="en-US" dirty="0">
                <a:latin typeface="+mn-ea"/>
              </a:rPr>
              <a:t>分别用000~100代表状态</a:t>
            </a:r>
            <a:r>
              <a:rPr lang="en-US" altLang="zh-CN" dirty="0">
                <a:latin typeface="+mn-ea"/>
              </a:rPr>
              <a:t>A~E），</a:t>
            </a:r>
            <a:r>
              <a:rPr lang="zh-CN" altLang="en-US" dirty="0">
                <a:latin typeface="+mn-ea"/>
              </a:rPr>
              <a:t>输出</a:t>
            </a:r>
            <a:r>
              <a:rPr lang="en-US" altLang="zh-CN" dirty="0">
                <a:latin typeface="+mn-ea"/>
              </a:rPr>
              <a:t>SET。</a:t>
            </a:r>
            <a:r>
              <a:rPr lang="zh-CN" altLang="en-US" dirty="0">
                <a:latin typeface="+mn-ea"/>
              </a:rPr>
              <a:t>其中判断框后的</a:t>
            </a:r>
            <a:r>
              <a:rPr lang="en-US" altLang="zh-CN" dirty="0">
                <a:latin typeface="+mn-ea"/>
              </a:rPr>
              <a:t>Y</a:t>
            </a:r>
            <a:r>
              <a:rPr lang="zh-CN" altLang="en-US" dirty="0">
                <a:latin typeface="+mn-ea"/>
              </a:rPr>
              <a:t>表示变量等于1，</a:t>
            </a:r>
            <a:r>
              <a:rPr lang="en-US" altLang="zh-CN" dirty="0">
                <a:latin typeface="+mn-ea"/>
              </a:rPr>
              <a:t>N</a:t>
            </a:r>
            <a:r>
              <a:rPr lang="zh-CN" altLang="en-US" dirty="0">
                <a:latin typeface="+mn-ea"/>
              </a:rPr>
              <a:t>表示变量等于0。以</a:t>
            </a:r>
            <a:r>
              <a:rPr lang="en-US" altLang="zh-CN" dirty="0">
                <a:latin typeface="+mn-ea"/>
              </a:rPr>
              <a:t>D</a:t>
            </a:r>
            <a:r>
              <a:rPr lang="zh-CN" altLang="en-US" dirty="0">
                <a:latin typeface="+mn-ea"/>
              </a:rPr>
              <a:t>触发器设计该控制器：画出状态转移表，写出状态方程、驱动方程、输出方程。</a:t>
            </a:r>
            <a:endParaRPr lang="zh-CN" altLang="en-US" dirty="0">
              <a:latin typeface="+mn-ea"/>
            </a:endParaRPr>
          </a:p>
        </p:txBody>
      </p:sp>
      <p:pic>
        <p:nvPicPr>
          <p:cNvPr id="3" name="图片 1"/>
          <p:cNvPicPr>
            <a:picLocks noChangeAspect="1" noChangeArrowheads="1"/>
          </p:cNvPicPr>
          <p:nvPr/>
        </p:nvPicPr>
        <p:blipFill>
          <a:blip r:embed="rId1">
            <a:lum contrast="20000"/>
            <a:extLst>
              <a:ext uri="{28A0092B-C50C-407E-A947-70E740481C1C}">
                <a14:useLocalDpi xmlns:a14="http://schemas.microsoft.com/office/drawing/2010/main" val="0"/>
              </a:ext>
            </a:extLst>
          </a:blip>
          <a:srcRect/>
          <a:stretch>
            <a:fillRect/>
          </a:stretch>
        </p:blipFill>
        <p:spPr>
          <a:xfrm>
            <a:off x="4122420" y="2216150"/>
            <a:ext cx="3439795" cy="39827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9</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5" name="文本框 4"/>
          <p:cNvSpPr txBox="1"/>
          <p:nvPr/>
        </p:nvSpPr>
        <p:spPr>
          <a:xfrm>
            <a:off x="402956" y="1053569"/>
            <a:ext cx="11019294" cy="922020"/>
          </a:xfrm>
          <a:prstGeom prst="rect">
            <a:avLst/>
          </a:prstGeom>
          <a:noFill/>
        </p:spPr>
        <p:txBody>
          <a:bodyPr wrap="square">
            <a:spAutoFit/>
          </a:bodyPr>
          <a:lstStyle/>
          <a:p>
            <a:pPr indent="0">
              <a:buFont typeface="Arial" panose="020B0604020202020204" pitchFamily="34" charset="0"/>
              <a:buNone/>
            </a:pPr>
            <a:r>
              <a:rPr lang="zh-CN" altLang="en-US" dirty="0">
                <a:latin typeface="+mn-ea"/>
              </a:rPr>
              <a:t>1、某系统的</a:t>
            </a:r>
            <a:r>
              <a:rPr lang="en-US" altLang="zh-CN" dirty="0">
                <a:latin typeface="+mn-ea"/>
              </a:rPr>
              <a:t>ASM</a:t>
            </a:r>
            <a:r>
              <a:rPr lang="zh-CN" altLang="en-US" dirty="0">
                <a:latin typeface="+mn-ea"/>
              </a:rPr>
              <a:t>图如图所示，其中包括输入</a:t>
            </a:r>
            <a:r>
              <a:rPr lang="en-US" altLang="zh-CN" dirty="0">
                <a:latin typeface="+mn-ea"/>
              </a:rPr>
              <a:t>Z、x，</a:t>
            </a:r>
            <a:r>
              <a:rPr lang="zh-CN" altLang="en-US" dirty="0">
                <a:latin typeface="+mn-ea"/>
              </a:rPr>
              <a:t>状态</a:t>
            </a:r>
            <a:r>
              <a:rPr lang="en-US" altLang="zh-CN" dirty="0">
                <a:latin typeface="+mn-ea"/>
              </a:rPr>
              <a:t>A、B、C、D、E（</a:t>
            </a:r>
            <a:r>
              <a:rPr lang="zh-CN" altLang="en-US" dirty="0">
                <a:latin typeface="+mn-ea"/>
              </a:rPr>
              <a:t>分别用000~100代表状态</a:t>
            </a:r>
            <a:r>
              <a:rPr lang="en-US" altLang="zh-CN" dirty="0">
                <a:latin typeface="+mn-ea"/>
              </a:rPr>
              <a:t>A~E），</a:t>
            </a:r>
            <a:r>
              <a:rPr lang="zh-CN" altLang="en-US" dirty="0">
                <a:latin typeface="+mn-ea"/>
              </a:rPr>
              <a:t>输出</a:t>
            </a:r>
            <a:r>
              <a:rPr lang="en-US" altLang="zh-CN" dirty="0">
                <a:latin typeface="+mn-ea"/>
              </a:rPr>
              <a:t>SET。</a:t>
            </a:r>
            <a:r>
              <a:rPr lang="zh-CN" altLang="en-US" dirty="0">
                <a:latin typeface="+mn-ea"/>
              </a:rPr>
              <a:t>其中判断框后的</a:t>
            </a:r>
            <a:r>
              <a:rPr lang="en-US" altLang="zh-CN" dirty="0">
                <a:latin typeface="+mn-ea"/>
              </a:rPr>
              <a:t>Y</a:t>
            </a:r>
            <a:r>
              <a:rPr lang="zh-CN" altLang="en-US" dirty="0">
                <a:latin typeface="+mn-ea"/>
              </a:rPr>
              <a:t>表示变量等于1，</a:t>
            </a:r>
            <a:r>
              <a:rPr lang="en-US" altLang="zh-CN" dirty="0">
                <a:latin typeface="+mn-ea"/>
              </a:rPr>
              <a:t>N</a:t>
            </a:r>
            <a:r>
              <a:rPr lang="zh-CN" altLang="en-US" dirty="0">
                <a:latin typeface="+mn-ea"/>
              </a:rPr>
              <a:t>表示变量等于0。以</a:t>
            </a:r>
            <a:r>
              <a:rPr lang="en-US" altLang="zh-CN" dirty="0">
                <a:latin typeface="+mn-ea"/>
              </a:rPr>
              <a:t>D</a:t>
            </a:r>
            <a:r>
              <a:rPr lang="zh-CN" altLang="en-US" dirty="0">
                <a:latin typeface="+mn-ea"/>
              </a:rPr>
              <a:t>触发器设计该控制器：画出状态转移表，写出状态方程、驱动方程、输出方程。</a:t>
            </a:r>
            <a:endParaRPr lang="zh-CN" altLang="en-US" dirty="0">
              <a:latin typeface="+mn-ea"/>
            </a:endParaRPr>
          </a:p>
        </p:txBody>
      </p:sp>
      <p:sp>
        <p:nvSpPr>
          <p:cNvPr id="4" name="文本框 3"/>
          <p:cNvSpPr txBox="1"/>
          <p:nvPr/>
        </p:nvSpPr>
        <p:spPr>
          <a:xfrm>
            <a:off x="520700" y="2343785"/>
            <a:ext cx="2229485" cy="368300"/>
          </a:xfrm>
          <a:prstGeom prst="rect">
            <a:avLst/>
          </a:prstGeom>
          <a:noFill/>
        </p:spPr>
        <p:txBody>
          <a:bodyPr wrap="square" rtlCol="0" anchor="t">
            <a:spAutoFit/>
          </a:bodyPr>
          <a:p>
            <a:r>
              <a:rPr lang="zh-CN" altLang="en-US" dirty="0">
                <a:latin typeface="+mn-ea"/>
                <a:sym typeface="+mn-ea"/>
              </a:rPr>
              <a:t>状态转移表</a:t>
            </a:r>
            <a:endParaRPr lang="zh-CN" altLang="en-US" dirty="0">
              <a:latin typeface="+mn-ea"/>
              <a:sym typeface="+mn-ea"/>
            </a:endParaRPr>
          </a:p>
        </p:txBody>
      </p:sp>
      <p:graphicFrame>
        <p:nvGraphicFramePr>
          <p:cNvPr id="6" name="表格 5"/>
          <p:cNvGraphicFramePr/>
          <p:nvPr/>
        </p:nvGraphicFramePr>
        <p:xfrm>
          <a:off x="520700" y="2867025"/>
          <a:ext cx="5411470" cy="3017520"/>
        </p:xfrm>
        <a:graphic>
          <a:graphicData uri="http://schemas.openxmlformats.org/drawingml/2006/table">
            <a:tbl>
              <a:tblPr/>
              <a:tblGrid>
                <a:gridCol w="601086"/>
                <a:gridCol w="601087"/>
                <a:gridCol w="601086"/>
                <a:gridCol w="601086"/>
                <a:gridCol w="601087"/>
                <a:gridCol w="601086"/>
                <a:gridCol w="601651"/>
                <a:gridCol w="601650"/>
                <a:gridCol w="601651"/>
              </a:tblGrid>
              <a:tr h="0">
                <a:tc gridSpan="3">
                  <a:txBody>
                    <a:bodyPr/>
                    <a:p>
                      <a:pPr marL="0" indent="0" algn="ctr">
                        <a:lnSpc>
                          <a:spcPct val="150000"/>
                        </a:lnSpc>
                        <a:spcBef>
                          <a:spcPct val="0"/>
                        </a:spcBef>
                        <a:spcAft>
                          <a:spcPct val="0"/>
                        </a:spcAft>
                        <a:buNone/>
                      </a:pPr>
                      <a:r>
                        <a:rPr lang="zh-CN" altLang="en-US" sz="1100">
                          <a:latin typeface="Times New Roman" panose="02020603050405020304"/>
                          <a:ea typeface="Times New Roman" panose="02020603050405020304"/>
                        </a:rPr>
                        <a:t>现态</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gridSpan="2">
                  <a:txBody>
                    <a:bodyPr/>
                    <a:p>
                      <a:pPr marL="0" indent="0" algn="ctr">
                        <a:lnSpc>
                          <a:spcPct val="150000"/>
                        </a:lnSpc>
                        <a:spcBef>
                          <a:spcPct val="0"/>
                        </a:spcBef>
                        <a:spcAft>
                          <a:spcPct val="0"/>
                        </a:spcAft>
                        <a:buNone/>
                      </a:pPr>
                      <a:r>
                        <a:rPr lang="zh-CN" altLang="en-US" sz="1100">
                          <a:latin typeface="Times New Roman" panose="02020603050405020304"/>
                          <a:ea typeface="Times New Roman" panose="02020603050405020304"/>
                        </a:rPr>
                        <a:t>转移</a:t>
                      </a:r>
                      <a:r>
                        <a:rPr lang="zh-CN" altLang="en-US" sz="1100">
                          <a:latin typeface="Times New Roman" panose="02020603050405020304"/>
                          <a:ea typeface="Times New Roman" panose="02020603050405020304"/>
                        </a:rPr>
                        <a:t>条件</a:t>
                      </a:r>
                      <a:endParaRPr lang="zh-CN" altLang="en-US"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gridSpan="3">
                  <a:txBody>
                    <a:bodyPr/>
                    <a:p>
                      <a:pPr marL="0" indent="0" algn="ctr">
                        <a:lnSpc>
                          <a:spcPct val="150000"/>
                        </a:lnSpc>
                        <a:spcBef>
                          <a:spcPct val="0"/>
                        </a:spcBef>
                        <a:spcAft>
                          <a:spcPct val="0"/>
                        </a:spcAft>
                        <a:buNone/>
                      </a:pPr>
                      <a:r>
                        <a:rPr lang="zh-CN" altLang="en-US" sz="1100">
                          <a:latin typeface="Times New Roman" panose="02020603050405020304"/>
                          <a:ea typeface="Times New Roman" panose="02020603050405020304"/>
                        </a:rPr>
                        <a:t>次态</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zh-CN" altLang="en-US" sz="1100">
                          <a:latin typeface="Times New Roman" panose="02020603050405020304"/>
                          <a:ea typeface="Times New Roman" panose="02020603050405020304"/>
                        </a:rPr>
                        <a:t>输出</a:t>
                      </a:r>
                      <a:endParaRPr lang="zh-CN" altLang="en-US"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Q2</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Z</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Q2*</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SET</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gridSpan="3">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9" name="文本框 8"/>
          <p:cNvSpPr txBox="1"/>
          <p:nvPr/>
        </p:nvSpPr>
        <p:spPr>
          <a:xfrm>
            <a:off x="7110730" y="1975485"/>
            <a:ext cx="2229485" cy="368300"/>
          </a:xfrm>
          <a:prstGeom prst="rect">
            <a:avLst/>
          </a:prstGeom>
          <a:noFill/>
        </p:spPr>
        <p:txBody>
          <a:bodyPr wrap="square" rtlCol="0" anchor="t">
            <a:spAutoFit/>
          </a:bodyPr>
          <a:p>
            <a:r>
              <a:rPr lang="zh-CN" altLang="en-US" dirty="0">
                <a:latin typeface="+mn-ea"/>
                <a:sym typeface="+mn-ea"/>
              </a:rPr>
              <a:t>状态</a:t>
            </a:r>
            <a:r>
              <a:rPr lang="zh-CN" altLang="en-US" dirty="0">
                <a:latin typeface="+mn-ea"/>
                <a:sym typeface="+mn-ea"/>
              </a:rPr>
              <a:t>方程：</a:t>
            </a:r>
            <a:endParaRPr lang="zh-CN" altLang="en-US" dirty="0">
              <a:latin typeface="+mn-ea"/>
              <a:sym typeface="+mn-ea"/>
            </a:endParaRPr>
          </a:p>
        </p:txBody>
      </p:sp>
      <p:pic>
        <p:nvPicPr>
          <p:cNvPr id="10" name="图片 9"/>
          <p:cNvPicPr>
            <a:picLocks noChangeAspect="1"/>
          </p:cNvPicPr>
          <p:nvPr/>
        </p:nvPicPr>
        <p:blipFill>
          <a:blip r:embed="rId1"/>
          <a:stretch>
            <a:fillRect/>
          </a:stretch>
        </p:blipFill>
        <p:spPr>
          <a:xfrm>
            <a:off x="8382000" y="1975485"/>
            <a:ext cx="2324100" cy="1352550"/>
          </a:xfrm>
          <a:prstGeom prst="rect">
            <a:avLst/>
          </a:prstGeom>
        </p:spPr>
      </p:pic>
      <p:sp>
        <p:nvSpPr>
          <p:cNvPr id="11" name="文本框 10"/>
          <p:cNvSpPr txBox="1"/>
          <p:nvPr/>
        </p:nvSpPr>
        <p:spPr>
          <a:xfrm>
            <a:off x="7198995" y="3429000"/>
            <a:ext cx="2820035" cy="368300"/>
          </a:xfrm>
          <a:prstGeom prst="rect">
            <a:avLst/>
          </a:prstGeom>
          <a:noFill/>
        </p:spPr>
        <p:txBody>
          <a:bodyPr wrap="square" rtlCol="0" anchor="t">
            <a:spAutoFit/>
          </a:bodyPr>
          <a:p>
            <a:r>
              <a:rPr lang="zh-CN" altLang="en-US" dirty="0">
                <a:latin typeface="+mn-ea"/>
                <a:sym typeface="+mn-ea"/>
              </a:rPr>
              <a:t>驱动方程（</a:t>
            </a:r>
            <a:r>
              <a:rPr lang="en-US" altLang="zh-CN" dirty="0">
                <a:latin typeface="+mn-ea"/>
                <a:sym typeface="+mn-ea"/>
              </a:rPr>
              <a:t>D</a:t>
            </a:r>
            <a:r>
              <a:rPr lang="zh-CN" altLang="en-US" dirty="0">
                <a:latin typeface="+mn-ea"/>
                <a:sym typeface="+mn-ea"/>
              </a:rPr>
              <a:t>触发器）：</a:t>
            </a:r>
            <a:endParaRPr lang="zh-CN" altLang="en-US" dirty="0">
              <a:latin typeface="+mn-ea"/>
              <a:sym typeface="+mn-ea"/>
            </a:endParaRPr>
          </a:p>
        </p:txBody>
      </p:sp>
      <p:pic>
        <p:nvPicPr>
          <p:cNvPr id="12" name="图片 11"/>
          <p:cNvPicPr>
            <a:picLocks noChangeAspect="1"/>
          </p:cNvPicPr>
          <p:nvPr/>
        </p:nvPicPr>
        <p:blipFill>
          <a:blip r:embed="rId2"/>
          <a:stretch>
            <a:fillRect/>
          </a:stretch>
        </p:blipFill>
        <p:spPr>
          <a:xfrm>
            <a:off x="8382000" y="3898265"/>
            <a:ext cx="2667000" cy="1276350"/>
          </a:xfrm>
          <a:prstGeom prst="rect">
            <a:avLst/>
          </a:prstGeom>
        </p:spPr>
      </p:pic>
      <p:sp>
        <p:nvSpPr>
          <p:cNvPr id="13" name="文本框 12"/>
          <p:cNvSpPr txBox="1"/>
          <p:nvPr/>
        </p:nvSpPr>
        <p:spPr>
          <a:xfrm>
            <a:off x="7198995" y="5250815"/>
            <a:ext cx="2820035" cy="368300"/>
          </a:xfrm>
          <a:prstGeom prst="rect">
            <a:avLst/>
          </a:prstGeom>
          <a:noFill/>
        </p:spPr>
        <p:txBody>
          <a:bodyPr wrap="square" rtlCol="0" anchor="t">
            <a:spAutoFit/>
          </a:bodyPr>
          <a:p>
            <a:r>
              <a:rPr lang="zh-CN" altLang="en-US" dirty="0">
                <a:latin typeface="+mn-ea"/>
                <a:sym typeface="+mn-ea"/>
              </a:rPr>
              <a:t>输出</a:t>
            </a:r>
            <a:r>
              <a:rPr lang="zh-CN" altLang="en-US" dirty="0">
                <a:latin typeface="+mn-ea"/>
                <a:sym typeface="+mn-ea"/>
              </a:rPr>
              <a:t>方程：</a:t>
            </a:r>
            <a:endParaRPr lang="zh-CN" altLang="en-US" dirty="0">
              <a:latin typeface="+mn-ea"/>
              <a:sym typeface="+mn-ea"/>
            </a:endParaRPr>
          </a:p>
        </p:txBody>
      </p:sp>
      <p:pic>
        <p:nvPicPr>
          <p:cNvPr id="14" name="图片 13"/>
          <p:cNvPicPr>
            <a:picLocks noChangeAspect="1"/>
          </p:cNvPicPr>
          <p:nvPr/>
        </p:nvPicPr>
        <p:blipFill>
          <a:blip r:embed="rId3"/>
          <a:stretch>
            <a:fillRect/>
          </a:stretch>
        </p:blipFill>
        <p:spPr>
          <a:xfrm>
            <a:off x="8382000" y="5536565"/>
            <a:ext cx="1513205" cy="5067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9</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4" name="文本框 3"/>
          <p:cNvSpPr txBox="1"/>
          <p:nvPr/>
        </p:nvSpPr>
        <p:spPr>
          <a:xfrm>
            <a:off x="402956" y="1053569"/>
            <a:ext cx="11019294" cy="368300"/>
          </a:xfrm>
          <a:prstGeom prst="rect">
            <a:avLst/>
          </a:prstGeom>
          <a:noFill/>
        </p:spPr>
        <p:txBody>
          <a:bodyPr wrap="square">
            <a:spAutoFit/>
          </a:bodyPr>
          <a:lstStyle/>
          <a:p>
            <a:pPr indent="0">
              <a:buFont typeface="Arial" panose="020B0604020202020204" pitchFamily="34" charset="0"/>
              <a:buNone/>
            </a:pPr>
            <a:r>
              <a:rPr lang="en-US" altLang="zh-CN" dirty="0">
                <a:latin typeface="+mn-ea"/>
              </a:rPr>
              <a:t>2</a:t>
            </a:r>
            <a:r>
              <a:rPr lang="zh-CN" altLang="en-US" dirty="0">
                <a:latin typeface="+mn-ea"/>
              </a:rPr>
              <a:t>、有一控制器状态图如下：</a:t>
            </a:r>
            <a:endParaRPr lang="zh-CN" altLang="en-US" dirty="0">
              <a:latin typeface="+mn-ea"/>
            </a:endParaRPr>
          </a:p>
        </p:txBody>
      </p:sp>
      <p:graphicFrame>
        <p:nvGraphicFramePr>
          <p:cNvPr id="3" name="对象 -2147482624"/>
          <p:cNvGraphicFramePr>
            <a:graphicFrameLocks noChangeAspect="1"/>
          </p:cNvGraphicFramePr>
          <p:nvPr/>
        </p:nvGraphicFramePr>
        <p:xfrm>
          <a:off x="581978" y="2370773"/>
          <a:ext cx="4813935" cy="2620645"/>
        </p:xfrm>
        <a:graphic>
          <a:graphicData uri="http://schemas.openxmlformats.org/presentationml/2006/ole">
            <mc:AlternateContent xmlns:mc="http://schemas.openxmlformats.org/markup-compatibility/2006">
              <mc:Choice xmlns:v="urn:schemas-microsoft-com:vml" Requires="v">
                <p:oleObj spid="_x0000_s3076" name="" r:id="rId1" imgW="5155565" imgH="2811145" progId="Visio.Drawing.15">
                  <p:embed/>
                </p:oleObj>
              </mc:Choice>
              <mc:Fallback>
                <p:oleObj name="" r:id="rId1" imgW="5155565" imgH="2811145" progId="Visio.Drawing.15">
                  <p:embed/>
                  <p:pic>
                    <p:nvPicPr>
                      <p:cNvPr id="0" name="图片 3075"/>
                      <p:cNvPicPr/>
                      <p:nvPr/>
                    </p:nvPicPr>
                    <p:blipFill>
                      <a:blip r:embed="rId2"/>
                      <a:stretch>
                        <a:fillRect/>
                      </a:stretch>
                    </p:blipFill>
                    <p:spPr>
                      <a:xfrm>
                        <a:off x="581978" y="2370773"/>
                        <a:ext cx="4813935" cy="2620645"/>
                      </a:xfrm>
                      <a:prstGeom prst="rect">
                        <a:avLst/>
                      </a:prstGeom>
                      <a:noFill/>
                      <a:ln w="38100">
                        <a:noFill/>
                        <a:miter/>
                      </a:ln>
                    </p:spPr>
                  </p:pic>
                </p:oleObj>
              </mc:Fallback>
            </mc:AlternateContent>
          </a:graphicData>
        </a:graphic>
      </p:graphicFrame>
      <p:sp>
        <p:nvSpPr>
          <p:cNvPr id="6" name="文本框 5"/>
          <p:cNvSpPr txBox="1"/>
          <p:nvPr/>
        </p:nvSpPr>
        <p:spPr>
          <a:xfrm>
            <a:off x="5541645" y="1335405"/>
            <a:ext cx="3538220" cy="368300"/>
          </a:xfrm>
          <a:prstGeom prst="rect">
            <a:avLst/>
          </a:prstGeom>
          <a:noFill/>
        </p:spPr>
        <p:txBody>
          <a:bodyPr wrap="square">
            <a:spAutoFit/>
          </a:bodyPr>
          <a:lstStyle/>
          <a:p>
            <a:pPr indent="0">
              <a:buFont typeface="Arial" panose="020B0604020202020204" pitchFamily="34" charset="0"/>
              <a:buNone/>
            </a:pPr>
            <a:r>
              <a:rPr lang="zh-CN" altLang="en-US" dirty="0">
                <a:latin typeface="+mn-ea"/>
              </a:rPr>
              <a:t>（</a:t>
            </a:r>
            <a:r>
              <a:rPr lang="en-US" altLang="zh-CN" dirty="0">
                <a:latin typeface="+mn-ea"/>
              </a:rPr>
              <a:t>1</a:t>
            </a:r>
            <a:r>
              <a:rPr lang="zh-CN" altLang="en-US" dirty="0">
                <a:latin typeface="+mn-ea"/>
              </a:rPr>
              <a:t>）请画出此状态图的</a:t>
            </a:r>
            <a:r>
              <a:rPr lang="en-US" altLang="zh-CN" dirty="0">
                <a:latin typeface="+mn-ea"/>
              </a:rPr>
              <a:t>ASM</a:t>
            </a:r>
            <a:r>
              <a:rPr lang="zh-CN" altLang="en-US" dirty="0">
                <a:latin typeface="+mn-ea"/>
              </a:rPr>
              <a:t>图。</a:t>
            </a:r>
            <a:endParaRPr lang="zh-CN" altLang="en-US" dirty="0">
              <a:latin typeface="+mn-ea"/>
            </a:endParaRPr>
          </a:p>
        </p:txBody>
      </p:sp>
      <p:graphicFrame>
        <p:nvGraphicFramePr>
          <p:cNvPr id="5" name="对象 -2147482620"/>
          <p:cNvGraphicFramePr>
            <a:graphicFrameLocks noChangeAspect="1"/>
          </p:cNvGraphicFramePr>
          <p:nvPr/>
        </p:nvGraphicFramePr>
        <p:xfrm>
          <a:off x="5454015" y="1869758"/>
          <a:ext cx="3166110" cy="4087495"/>
        </p:xfrm>
        <a:graphic>
          <a:graphicData uri="http://schemas.openxmlformats.org/presentationml/2006/ole">
            <mc:AlternateContent xmlns:mc="http://schemas.openxmlformats.org/markup-compatibility/2006">
              <mc:Choice xmlns:v="urn:schemas-microsoft-com:vml" Requires="v">
                <p:oleObj spid="_x0000_s7" name="" r:id="rId3" imgW="5473700" imgH="7089775" progId="Visio.Drawing.15">
                  <p:embed/>
                </p:oleObj>
              </mc:Choice>
              <mc:Fallback>
                <p:oleObj name="" r:id="rId3" imgW="5473700" imgH="7089775" progId="Visio.Drawing.15">
                  <p:embed/>
                  <p:pic>
                    <p:nvPicPr>
                      <p:cNvPr id="0" name="图片 6"/>
                      <p:cNvPicPr/>
                      <p:nvPr/>
                    </p:nvPicPr>
                    <p:blipFill>
                      <a:blip r:embed="rId4"/>
                      <a:stretch>
                        <a:fillRect/>
                      </a:stretch>
                    </p:blipFill>
                    <p:spPr>
                      <a:xfrm>
                        <a:off x="5454015" y="1869758"/>
                        <a:ext cx="3166110" cy="4087495"/>
                      </a:xfrm>
                      <a:prstGeom prst="rect">
                        <a:avLst/>
                      </a:prstGeom>
                      <a:noFill/>
                      <a:ln w="38100">
                        <a:noFill/>
                        <a:miter/>
                      </a:ln>
                    </p:spPr>
                  </p:pic>
                </p:oleObj>
              </mc:Fallback>
            </mc:AlternateContent>
          </a:graphicData>
        </a:graphic>
      </p:graphicFrame>
      <p:graphicFrame>
        <p:nvGraphicFramePr>
          <p:cNvPr id="9" name="对象 -2147482619"/>
          <p:cNvGraphicFramePr>
            <a:graphicFrameLocks noChangeAspect="1"/>
          </p:cNvGraphicFramePr>
          <p:nvPr/>
        </p:nvGraphicFramePr>
        <p:xfrm>
          <a:off x="8677910" y="1791653"/>
          <a:ext cx="3234690" cy="4176395"/>
        </p:xfrm>
        <a:graphic>
          <a:graphicData uri="http://schemas.openxmlformats.org/presentationml/2006/ole">
            <mc:AlternateContent xmlns:mc="http://schemas.openxmlformats.org/markup-compatibility/2006">
              <mc:Choice xmlns:v="urn:schemas-microsoft-com:vml" Requires="v">
                <p:oleObj spid="_x0000_s10" name="" r:id="rId5" imgW="5473700" imgH="7089775" progId="Visio.Drawing.15">
                  <p:embed/>
                </p:oleObj>
              </mc:Choice>
              <mc:Fallback>
                <p:oleObj name="" r:id="rId5" imgW="5473700" imgH="7089775" progId="Visio.Drawing.15">
                  <p:embed/>
                  <p:pic>
                    <p:nvPicPr>
                      <p:cNvPr id="0" name="图片 8"/>
                      <p:cNvPicPr/>
                      <p:nvPr/>
                    </p:nvPicPr>
                    <p:blipFill>
                      <a:blip r:embed="rId6"/>
                      <a:stretch>
                        <a:fillRect/>
                      </a:stretch>
                    </p:blipFill>
                    <p:spPr>
                      <a:xfrm>
                        <a:off x="8677910" y="1791653"/>
                        <a:ext cx="3234690" cy="4176395"/>
                      </a:xfrm>
                      <a:prstGeom prst="rect">
                        <a:avLst/>
                      </a:prstGeom>
                      <a:noFill/>
                      <a:ln w="38100">
                        <a:noFill/>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en-US" altLang="zh-CN" dirty="0"/>
              <a:t>ASM</a:t>
            </a:r>
            <a:r>
              <a:rPr lang="zh-CN" altLang="en-US" dirty="0"/>
              <a:t>图</a:t>
            </a:r>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9" name="文本框 8"/>
          <p:cNvSpPr txBox="1"/>
          <p:nvPr/>
        </p:nvSpPr>
        <p:spPr>
          <a:xfrm>
            <a:off x="358826" y="987837"/>
            <a:ext cx="6140348" cy="506730"/>
          </a:xfrm>
          <a:prstGeom prst="rect">
            <a:avLst/>
          </a:prstGeom>
          <a:noFill/>
        </p:spPr>
        <p:txBody>
          <a:bodyPr wrap="square" rtlCol="0">
            <a:spAutoFit/>
          </a:bodyPr>
          <a:lstStyle/>
          <a:p>
            <a:pPr lvl="0" algn="just">
              <a:lnSpc>
                <a:spcPct val="150000"/>
              </a:lnSpc>
              <a:spcAft>
                <a:spcPts val="0"/>
              </a:spcAft>
            </a:pPr>
            <a:r>
              <a:rPr lang="zh-CN" altLang="en-US" kern="0" dirty="0">
                <a:latin typeface="Times New Roman" panose="02020603050405020304" pitchFamily="18" charset="0"/>
              </a:rPr>
              <a:t>把如图四个状态的状态转换图试转换为</a:t>
            </a:r>
            <a:r>
              <a:rPr lang="en-US" altLang="zh-CN" kern="0" dirty="0">
                <a:latin typeface="Times New Roman" panose="02020603050405020304" pitchFamily="18" charset="0"/>
              </a:rPr>
              <a:t>ASM</a:t>
            </a:r>
            <a:r>
              <a:rPr lang="zh-CN" altLang="en-US" kern="0" dirty="0">
                <a:latin typeface="Times New Roman" panose="02020603050405020304" pitchFamily="18" charset="0"/>
              </a:rPr>
              <a:t>图。</a:t>
            </a:r>
            <a:endParaRPr lang="en-US" altLang="zh-CN" dirty="0">
              <a:solidFill>
                <a:prstClr val="black"/>
              </a:solidFill>
            </a:endParaRPr>
          </a:p>
        </p:txBody>
      </p:sp>
      <p:pic>
        <p:nvPicPr>
          <p:cNvPr id="10" name="图片 9"/>
          <p:cNvPicPr/>
          <p:nvPr/>
        </p:nvPicPr>
        <p:blipFill>
          <a:blip r:embed="rId1" cstate="print">
            <a:extLst>
              <a:ext uri="{28A0092B-C50C-407E-A947-70E740481C1C}">
                <a14:useLocalDpi xmlns:a14="http://schemas.microsoft.com/office/drawing/2010/main" val="0"/>
              </a:ext>
            </a:extLst>
          </a:blip>
          <a:srcRect b="15506"/>
          <a:stretch>
            <a:fillRect/>
          </a:stretch>
        </p:blipFill>
        <p:spPr>
          <a:xfrm>
            <a:off x="3548380" y="1670050"/>
            <a:ext cx="3386455" cy="2091690"/>
          </a:xfrm>
          <a:prstGeom prst="rect">
            <a:avLst/>
          </a:prstGeom>
          <a:ln>
            <a:noFill/>
          </a:ln>
        </p:spPr>
      </p:pic>
      <p:pic>
        <p:nvPicPr>
          <p:cNvPr id="3" name="图片 2"/>
          <p:cNvPicPr/>
          <p:nvPr/>
        </p:nvPicPr>
        <p:blipFill>
          <a:blip r:embed="rId2"/>
          <a:stretch>
            <a:fillRect/>
          </a:stretch>
        </p:blipFill>
        <p:spPr>
          <a:xfrm>
            <a:off x="358775" y="1532255"/>
            <a:ext cx="3020695" cy="4806315"/>
          </a:xfrm>
          <a:prstGeom prst="rect">
            <a:avLst/>
          </a:prstGeom>
        </p:spPr>
      </p:pic>
      <p:sp>
        <p:nvSpPr>
          <p:cNvPr id="4" name="文本框 3"/>
          <p:cNvSpPr txBox="1"/>
          <p:nvPr/>
        </p:nvSpPr>
        <p:spPr>
          <a:xfrm>
            <a:off x="7276465" y="1532255"/>
            <a:ext cx="4806950" cy="1753235"/>
          </a:xfrm>
          <a:prstGeom prst="rect">
            <a:avLst/>
          </a:prstGeom>
          <a:noFill/>
        </p:spPr>
        <p:txBody>
          <a:bodyPr wrap="square" rtlCol="0">
            <a:spAutoFit/>
          </a:bodyPr>
          <a:p>
            <a:r>
              <a:rPr lang="zh-CN" altLang="en-US"/>
              <a:t>可以看到这道题答案在最开始是做了区分的，也就是把</a:t>
            </a:r>
            <a:r>
              <a:rPr lang="en-US" altLang="zh-CN"/>
              <a:t>z=0</a:t>
            </a:r>
            <a:r>
              <a:rPr lang="zh-CN" altLang="en-US"/>
              <a:t>给单独拿出来了，但是实际上这种写法是</a:t>
            </a:r>
            <a:r>
              <a:rPr lang="zh-CN" altLang="en-US">
                <a:solidFill>
                  <a:srgbClr val="FF0000"/>
                </a:solidFill>
              </a:rPr>
              <a:t>错误</a:t>
            </a:r>
            <a:r>
              <a:rPr lang="zh-CN" altLang="en-US"/>
              <a:t>的，因为条件框应该在判断框</a:t>
            </a:r>
            <a:r>
              <a:rPr lang="zh-CN" altLang="en-US"/>
              <a:t>后面。</a:t>
            </a:r>
            <a:endParaRPr lang="zh-CN" altLang="en-US"/>
          </a:p>
          <a:p>
            <a:r>
              <a:rPr lang="zh-CN" altLang="en-US"/>
              <a:t>那么应该怎么画最开始这段</a:t>
            </a:r>
            <a:r>
              <a:rPr lang="zh-CN" altLang="en-US"/>
              <a:t>呢？</a:t>
            </a:r>
            <a:endParaRPr lang="zh-CN" altLang="en-US"/>
          </a:p>
          <a:p>
            <a:endParaRPr lang="zh-CN" altLang="en-US"/>
          </a:p>
        </p:txBody>
      </p:sp>
      <p:pic>
        <p:nvPicPr>
          <p:cNvPr id="5" name="图片 4"/>
          <p:cNvPicPr>
            <a:picLocks noChangeAspect="1"/>
          </p:cNvPicPr>
          <p:nvPr/>
        </p:nvPicPr>
        <p:blipFill>
          <a:blip r:embed="rId3"/>
          <a:stretch>
            <a:fillRect/>
          </a:stretch>
        </p:blipFill>
        <p:spPr>
          <a:xfrm>
            <a:off x="4016375" y="4004945"/>
            <a:ext cx="7094220" cy="1997710"/>
          </a:xfrm>
          <a:prstGeom prst="rect">
            <a:avLst/>
          </a:prstGeom>
        </p:spPr>
      </p:pic>
      <p:sp>
        <p:nvSpPr>
          <p:cNvPr id="6" name="矩形 5"/>
          <p:cNvSpPr/>
          <p:nvPr/>
        </p:nvSpPr>
        <p:spPr>
          <a:xfrm>
            <a:off x="1504950" y="2167890"/>
            <a:ext cx="1493520" cy="563880"/>
          </a:xfrm>
          <a:prstGeom prst="rect">
            <a:avLst/>
          </a:prstGeom>
          <a:noFill/>
          <a:ln>
            <a:solidFill>
              <a:srgbClr val="FF0000"/>
            </a:solid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en-US" altLang="zh-CN" dirty="0"/>
              <a:t>ASM</a:t>
            </a:r>
            <a:r>
              <a:rPr lang="zh-CN" altLang="en-US" dirty="0"/>
              <a:t>图</a:t>
            </a:r>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247015" y="3429000"/>
            <a:ext cx="5848985" cy="2750185"/>
          </a:xfrm>
          <a:prstGeom prst="rect">
            <a:avLst/>
          </a:prstGeom>
        </p:spPr>
      </p:pic>
      <p:pic>
        <p:nvPicPr>
          <p:cNvPr id="7" name="图片 6"/>
          <p:cNvPicPr>
            <a:picLocks noChangeAspect="1"/>
          </p:cNvPicPr>
          <p:nvPr/>
        </p:nvPicPr>
        <p:blipFill>
          <a:blip r:embed="rId2"/>
          <a:stretch>
            <a:fillRect/>
          </a:stretch>
        </p:blipFill>
        <p:spPr>
          <a:xfrm>
            <a:off x="99695" y="1133475"/>
            <a:ext cx="6164580" cy="2112645"/>
          </a:xfrm>
          <a:prstGeom prst="rect">
            <a:avLst/>
          </a:prstGeom>
        </p:spPr>
      </p:pic>
      <p:sp>
        <p:nvSpPr>
          <p:cNvPr id="11" name="文本框 10"/>
          <p:cNvSpPr txBox="1"/>
          <p:nvPr/>
        </p:nvSpPr>
        <p:spPr>
          <a:xfrm>
            <a:off x="6394450" y="1492250"/>
            <a:ext cx="5379085" cy="2461260"/>
          </a:xfrm>
          <a:prstGeom prst="rect">
            <a:avLst/>
          </a:prstGeom>
          <a:noFill/>
        </p:spPr>
        <p:txBody>
          <a:bodyPr wrap="square" rtlCol="0">
            <a:spAutoFit/>
          </a:bodyPr>
          <a:p>
            <a:pPr indent="0" fontAlgn="auto">
              <a:lnSpc>
                <a:spcPct val="100000"/>
              </a:lnSpc>
            </a:pPr>
            <a:r>
              <a:rPr lang="en-US" altLang="zh-CN" sz="1400"/>
              <a:t>ASM </a:t>
            </a:r>
            <a:r>
              <a:rPr lang="zh-CN" altLang="en-US" sz="1400"/>
              <a:t>图中的每一个块描述系统在一个时钟脉冲间隔期间（即两个相邻时钟有效沿之间）的状态。图 （</a:t>
            </a:r>
            <a:r>
              <a:rPr lang="en-US" altLang="zh-CN" sz="1400"/>
              <a:t>a)</a:t>
            </a:r>
            <a:r>
              <a:rPr lang="zh-CN" altLang="en-US" sz="1400"/>
              <a:t>中状态框和条件框内的操作在同一个时钟脉冲作用下启动，此时控制器的状态从 </a:t>
            </a:r>
            <a:r>
              <a:rPr lang="en-US" altLang="zh-CN" sz="1400"/>
              <a:t>S_0 </a:t>
            </a:r>
            <a:r>
              <a:rPr lang="zh-CN" altLang="en-US" sz="1400"/>
              <a:t>转移到它的下一状态。</a:t>
            </a:r>
            <a:endParaRPr lang="zh-CN" altLang="en-US" sz="1400"/>
          </a:p>
          <a:p>
            <a:pPr indent="0" fontAlgn="auto">
              <a:lnSpc>
                <a:spcPct val="100000"/>
              </a:lnSpc>
            </a:pPr>
            <a:r>
              <a:rPr lang="zh-CN" altLang="en-US" sz="1400">
                <a:highlight>
                  <a:srgbClr val="FFFF00"/>
                </a:highlight>
              </a:rPr>
              <a:t>图中还给出了一个 </a:t>
            </a:r>
            <a:r>
              <a:rPr lang="en-US" altLang="zh-CN" sz="1400">
                <a:highlight>
                  <a:srgbClr val="FFFF00"/>
                </a:highlight>
              </a:rPr>
              <a:t>ASM </a:t>
            </a:r>
            <a:r>
              <a:rPr lang="zh-CN" altLang="en-US" sz="1400">
                <a:highlight>
                  <a:srgbClr val="FFFF00"/>
                </a:highlight>
              </a:rPr>
              <a:t>块的示例。与状态 </a:t>
            </a:r>
            <a:r>
              <a:rPr lang="en-US" altLang="zh-CN" sz="1400">
                <a:highlight>
                  <a:srgbClr val="FFFF00"/>
                </a:highlight>
              </a:rPr>
              <a:t>S_0 </a:t>
            </a:r>
            <a:r>
              <a:rPr lang="zh-CN" altLang="en-US" sz="1400">
                <a:highlight>
                  <a:srgbClr val="FFFF00"/>
                </a:highlight>
              </a:rPr>
              <a:t>相关联的有两个判断框和一个条件框。图中用虚线将整个结构框起来以区分该块，但通常并不这样做，因为 </a:t>
            </a:r>
            <a:r>
              <a:rPr lang="en-US" altLang="zh-CN" sz="1400">
                <a:highlight>
                  <a:srgbClr val="FFFF00"/>
                </a:highlight>
              </a:rPr>
              <a:t>ASM </a:t>
            </a:r>
            <a:r>
              <a:rPr lang="zh-CN" altLang="en-US" sz="1400">
                <a:highlight>
                  <a:srgbClr val="FFFF00"/>
                </a:highlight>
              </a:rPr>
              <a:t>图本身就能通过其结构唯一地定义每一个块。一个没有任何判断框或条件框的状态框本身就构成一个简单块。</a:t>
            </a:r>
            <a:endParaRPr lang="zh-CN" altLang="en-US" sz="1400">
              <a:highlight>
                <a:srgbClr val="FFFF00"/>
              </a:highlight>
            </a:endParaRPr>
          </a:p>
          <a:p>
            <a:pPr indent="0" fontAlgn="auto">
              <a:lnSpc>
                <a:spcPct val="100000"/>
              </a:lnSpc>
            </a:pPr>
            <a:r>
              <a:rPr lang="zh-CN" altLang="en-US" sz="1400"/>
              <a:t>同一个时钟脉冲将系统控制器转移到下一状态 </a:t>
            </a:r>
            <a:r>
              <a:rPr lang="en-US" altLang="zh-CN" sz="1400"/>
              <a:t>S_1、S_2 </a:t>
            </a:r>
            <a:r>
              <a:rPr lang="zh-CN" altLang="en-US" sz="1400"/>
              <a:t>或 </a:t>
            </a:r>
            <a:r>
              <a:rPr lang="en-US" altLang="zh-CN" sz="1400"/>
              <a:t>S_3，</a:t>
            </a:r>
            <a:r>
              <a:rPr lang="zh-CN" altLang="en-US" sz="1400"/>
              <a:t>具体由 </a:t>
            </a:r>
            <a:r>
              <a:rPr lang="en-US" altLang="zh-CN" sz="1400"/>
              <a:t>E </a:t>
            </a:r>
            <a:r>
              <a:rPr lang="zh-CN" altLang="en-US" sz="1400"/>
              <a:t>和 </a:t>
            </a:r>
            <a:r>
              <a:rPr lang="en-US" altLang="zh-CN" sz="1400"/>
              <a:t>F </a:t>
            </a:r>
            <a:r>
              <a:rPr lang="zh-CN" altLang="en-US" sz="1400"/>
              <a:t>的二进制值决定。仅控制器的 </a:t>
            </a:r>
            <a:r>
              <a:rPr lang="en-US" altLang="zh-CN" sz="1400"/>
              <a:t>ASM </a:t>
            </a:r>
            <a:r>
              <a:rPr lang="zh-CN" altLang="en-US" sz="1400"/>
              <a:t>图如图(</a:t>
            </a:r>
            <a:r>
              <a:rPr lang="en-US" altLang="zh-CN" sz="1400"/>
              <a:t>b) </a:t>
            </a:r>
            <a:r>
              <a:rPr lang="zh-CN" altLang="en-US" sz="1400"/>
              <a:t>所示。</a:t>
            </a:r>
            <a:endParaRPr lang="zh-CN" altLang="en-US" sz="1400"/>
          </a:p>
        </p:txBody>
      </p:sp>
      <p:sp>
        <p:nvSpPr>
          <p:cNvPr id="12" name="文本框 11"/>
          <p:cNvSpPr txBox="1"/>
          <p:nvPr/>
        </p:nvSpPr>
        <p:spPr>
          <a:xfrm>
            <a:off x="6394450" y="4219575"/>
            <a:ext cx="5379085" cy="1168400"/>
          </a:xfrm>
          <a:prstGeom prst="rect">
            <a:avLst/>
          </a:prstGeom>
          <a:noFill/>
        </p:spPr>
        <p:txBody>
          <a:bodyPr wrap="square" rtlCol="0">
            <a:spAutoFit/>
          </a:bodyPr>
          <a:p>
            <a:r>
              <a:rPr lang="en-US" altLang="zh-CN" sz="1400"/>
              <a:t>Moore </a:t>
            </a:r>
            <a:r>
              <a:rPr lang="zh-CN" altLang="en-US" sz="1400"/>
              <a:t>型信号 </a:t>
            </a:r>
            <a:r>
              <a:rPr lang="en-US" altLang="zh-CN" sz="1400"/>
              <a:t>incr_A </a:t>
            </a:r>
            <a:r>
              <a:rPr lang="zh-CN" altLang="en-US" sz="1400"/>
              <a:t>在机器处于 </a:t>
            </a:r>
            <a:r>
              <a:rPr lang="en-US" altLang="zh-CN" sz="1400"/>
              <a:t>S_0 </a:t>
            </a:r>
            <a:r>
              <a:rPr lang="zh-CN" altLang="en-US" sz="1400"/>
              <a:t>时被无条件置位；</a:t>
            </a:r>
            <a:r>
              <a:rPr lang="en-US" altLang="zh-CN" sz="1400"/>
              <a:t>Mealy </a:t>
            </a:r>
            <a:r>
              <a:rPr lang="zh-CN" altLang="en-US" sz="1400"/>
              <a:t>型信号 </a:t>
            </a:r>
            <a:r>
              <a:rPr lang="en-US" altLang="zh-CN" sz="1400"/>
              <a:t>Clear_R </a:t>
            </a:r>
            <a:r>
              <a:rPr lang="zh-CN" altLang="en-US" sz="1400"/>
              <a:t>则在状态为 </a:t>
            </a:r>
            <a:r>
              <a:rPr lang="en-US" altLang="zh-CN" sz="1400"/>
              <a:t>S_0 </a:t>
            </a:r>
            <a:r>
              <a:rPr lang="zh-CN" altLang="en-US" sz="1400"/>
              <a:t>且 </a:t>
            </a:r>
            <a:r>
              <a:rPr lang="en-US" altLang="zh-CN" sz="1400"/>
              <a:t>E </a:t>
            </a:r>
            <a:r>
              <a:rPr lang="zh-CN" altLang="en-US" sz="1400"/>
              <a:t>被置位时条件生成。</a:t>
            </a:r>
            <a:r>
              <a:rPr lang="zh-CN" altLang="en-US" sz="1400">
                <a:solidFill>
                  <a:srgbClr val="FF0000"/>
                </a:solidFill>
              </a:rPr>
              <a:t>一般来说，控制器的 </a:t>
            </a:r>
            <a:r>
              <a:rPr lang="en-US" altLang="zh-CN" sz="1400">
                <a:solidFill>
                  <a:srgbClr val="FF0000"/>
                </a:solidFill>
              </a:rPr>
              <a:t>Moore </a:t>
            </a:r>
            <a:r>
              <a:rPr lang="zh-CN" altLang="en-US" sz="1400">
                <a:solidFill>
                  <a:srgbClr val="FF0000"/>
                </a:solidFill>
              </a:rPr>
              <a:t>型输出是无条件生成的，并在状态框内标明；</a:t>
            </a:r>
            <a:r>
              <a:rPr lang="en-US" altLang="zh-CN" sz="1400">
                <a:solidFill>
                  <a:srgbClr val="FF0000"/>
                </a:solidFill>
              </a:rPr>
              <a:t>Mealy </a:t>
            </a:r>
            <a:r>
              <a:rPr lang="zh-CN" altLang="en-US" sz="1400">
                <a:solidFill>
                  <a:srgbClr val="FF0000"/>
                </a:solidFill>
              </a:rPr>
              <a:t>型输出则是条件生成的，并在连接判断框出口路径的条件框中标明。</a:t>
            </a:r>
            <a:endParaRPr lang="zh-CN" altLang="en-US" sz="140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9</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6" name="文本框 5"/>
          <p:cNvSpPr txBox="1"/>
          <p:nvPr/>
        </p:nvSpPr>
        <p:spPr>
          <a:xfrm>
            <a:off x="188595" y="1335405"/>
            <a:ext cx="4594860" cy="368300"/>
          </a:xfrm>
          <a:prstGeom prst="rect">
            <a:avLst/>
          </a:prstGeom>
          <a:noFill/>
        </p:spPr>
        <p:txBody>
          <a:bodyPr wrap="square">
            <a:spAutoFit/>
          </a:bodyPr>
          <a:lstStyle/>
          <a:p>
            <a:pPr indent="0">
              <a:buFont typeface="Arial" panose="020B0604020202020204" pitchFamily="34" charset="0"/>
              <a:buNone/>
            </a:pPr>
            <a:r>
              <a:rPr lang="zh-CN" altLang="en-US" dirty="0">
                <a:latin typeface="+mn-ea"/>
              </a:rPr>
              <a:t>（</a:t>
            </a:r>
            <a:r>
              <a:rPr lang="en-US" altLang="zh-CN" dirty="0">
                <a:latin typeface="+mn-ea"/>
              </a:rPr>
              <a:t>2</a:t>
            </a:r>
            <a:r>
              <a:rPr lang="zh-CN" altLang="en-US" dirty="0">
                <a:latin typeface="+mn-ea"/>
              </a:rPr>
              <a:t>）用</a:t>
            </a:r>
            <a:r>
              <a:rPr lang="en-US" altLang="zh-CN" dirty="0">
                <a:latin typeface="+mn-ea"/>
              </a:rPr>
              <a:t>MUX</a:t>
            </a:r>
            <a:r>
              <a:rPr lang="zh-CN" altLang="en-US" dirty="0">
                <a:latin typeface="+mn-ea"/>
              </a:rPr>
              <a:t>型控制器实现此系统。</a:t>
            </a:r>
            <a:endParaRPr lang="zh-CN" altLang="en-US" dirty="0">
              <a:latin typeface="+mn-ea"/>
            </a:endParaRPr>
          </a:p>
        </p:txBody>
      </p:sp>
      <p:pic>
        <p:nvPicPr>
          <p:cNvPr id="34" name="图片 33"/>
          <p:cNvPicPr>
            <a:picLocks noChangeAspect="1"/>
          </p:cNvPicPr>
          <p:nvPr/>
        </p:nvPicPr>
        <p:blipFill>
          <a:blip r:embed="rId1"/>
          <a:stretch>
            <a:fillRect/>
          </a:stretch>
        </p:blipFill>
        <p:spPr>
          <a:xfrm>
            <a:off x="0" y="1896745"/>
            <a:ext cx="5942965" cy="3681095"/>
          </a:xfrm>
          <a:prstGeom prst="rect">
            <a:avLst/>
          </a:prstGeom>
        </p:spPr>
      </p:pic>
      <p:pic>
        <p:nvPicPr>
          <p:cNvPr id="35" name="图片 34"/>
          <p:cNvPicPr>
            <a:picLocks noChangeAspect="1"/>
          </p:cNvPicPr>
          <p:nvPr/>
        </p:nvPicPr>
        <p:blipFill>
          <a:blip r:embed="rId2"/>
          <a:stretch>
            <a:fillRect/>
          </a:stretch>
        </p:blipFill>
        <p:spPr>
          <a:xfrm>
            <a:off x="300990" y="5836285"/>
            <a:ext cx="1820545" cy="374015"/>
          </a:xfrm>
          <a:prstGeom prst="rect">
            <a:avLst/>
          </a:prstGeom>
        </p:spPr>
      </p:pic>
      <p:pic>
        <p:nvPicPr>
          <p:cNvPr id="36" name="图片 35"/>
          <p:cNvPicPr>
            <a:picLocks noChangeAspect="1"/>
          </p:cNvPicPr>
          <p:nvPr/>
        </p:nvPicPr>
        <p:blipFill>
          <a:blip r:embed="rId3">
            <a:lum bright="-6000" contrast="-26000"/>
          </a:blip>
          <a:stretch>
            <a:fillRect/>
          </a:stretch>
        </p:blipFill>
        <p:spPr>
          <a:xfrm>
            <a:off x="6262370" y="1798320"/>
            <a:ext cx="5385435" cy="40379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9</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6" name="文本框 5"/>
          <p:cNvSpPr txBox="1"/>
          <p:nvPr/>
        </p:nvSpPr>
        <p:spPr>
          <a:xfrm>
            <a:off x="188595" y="1335405"/>
            <a:ext cx="6261735" cy="368300"/>
          </a:xfrm>
          <a:prstGeom prst="rect">
            <a:avLst/>
          </a:prstGeom>
          <a:noFill/>
        </p:spPr>
        <p:txBody>
          <a:bodyPr wrap="square">
            <a:spAutoFit/>
          </a:bodyPr>
          <a:lstStyle/>
          <a:p>
            <a:pPr indent="0">
              <a:buFont typeface="Arial" panose="020B0604020202020204" pitchFamily="34" charset="0"/>
              <a:buNone/>
            </a:pPr>
            <a:r>
              <a:rPr lang="zh-CN" altLang="en-US" dirty="0">
                <a:latin typeface="+mn-ea"/>
              </a:rPr>
              <a:t>（</a:t>
            </a:r>
            <a:r>
              <a:rPr lang="en-US" altLang="zh-CN" dirty="0">
                <a:latin typeface="+mn-ea"/>
              </a:rPr>
              <a:t>3</a:t>
            </a:r>
            <a:r>
              <a:rPr lang="zh-CN" altLang="en-US" dirty="0">
                <a:latin typeface="+mn-ea"/>
              </a:rPr>
              <a:t>）用微控制器实现此系统，写出微指令格式，并加以说明。</a:t>
            </a:r>
            <a:endParaRPr lang="zh-CN" altLang="en-US" dirty="0">
              <a:latin typeface="+mn-ea"/>
            </a:endParaRPr>
          </a:p>
        </p:txBody>
      </p:sp>
      <p:pic>
        <p:nvPicPr>
          <p:cNvPr id="9" name="图片 8"/>
          <p:cNvPicPr>
            <a:picLocks noChangeAspect="1"/>
          </p:cNvPicPr>
          <p:nvPr/>
        </p:nvPicPr>
        <p:blipFill>
          <a:blip r:embed="rId1"/>
          <a:stretch>
            <a:fillRect/>
          </a:stretch>
        </p:blipFill>
        <p:spPr>
          <a:xfrm>
            <a:off x="1142365" y="1890395"/>
            <a:ext cx="3677285" cy="956310"/>
          </a:xfrm>
          <a:prstGeom prst="rect">
            <a:avLst/>
          </a:prstGeom>
        </p:spPr>
      </p:pic>
      <p:sp>
        <p:nvSpPr>
          <p:cNvPr id="3" name="文本框 2"/>
          <p:cNvSpPr txBox="1"/>
          <p:nvPr/>
        </p:nvSpPr>
        <p:spPr>
          <a:xfrm>
            <a:off x="188595" y="3033395"/>
            <a:ext cx="6261735" cy="368300"/>
          </a:xfrm>
          <a:prstGeom prst="rect">
            <a:avLst/>
          </a:prstGeom>
          <a:noFill/>
        </p:spPr>
        <p:txBody>
          <a:bodyPr wrap="square">
            <a:spAutoFit/>
          </a:bodyPr>
          <a:lstStyle/>
          <a:p>
            <a:pPr indent="0">
              <a:buFont typeface="Arial" panose="020B0604020202020204" pitchFamily="34" charset="0"/>
              <a:buNone/>
            </a:pPr>
            <a:r>
              <a:rPr lang="zh-CN" altLang="en-US" dirty="0">
                <a:latin typeface="+mn-ea"/>
              </a:rPr>
              <a:t>（</a:t>
            </a:r>
            <a:r>
              <a:rPr lang="en-US" altLang="zh-CN" dirty="0">
                <a:latin typeface="+mn-ea"/>
              </a:rPr>
              <a:t>4</a:t>
            </a:r>
            <a:r>
              <a:rPr lang="zh-CN" altLang="en-US" dirty="0">
                <a:latin typeface="+mn-ea"/>
              </a:rPr>
              <a:t>）写出微控制器控制存储器</a:t>
            </a:r>
            <a:r>
              <a:rPr lang="en-US" altLang="zh-CN" dirty="0">
                <a:latin typeface="+mn-ea"/>
              </a:rPr>
              <a:t>E2PROM</a:t>
            </a:r>
            <a:r>
              <a:rPr lang="zh-CN" altLang="en-US" dirty="0">
                <a:latin typeface="+mn-ea"/>
              </a:rPr>
              <a:t>中存放的微程序。</a:t>
            </a:r>
            <a:endParaRPr lang="zh-CN" altLang="en-US" dirty="0">
              <a:latin typeface="+mn-ea"/>
            </a:endParaRPr>
          </a:p>
        </p:txBody>
      </p:sp>
      <p:graphicFrame>
        <p:nvGraphicFramePr>
          <p:cNvPr id="4" name="表格 3"/>
          <p:cNvGraphicFramePr/>
          <p:nvPr/>
        </p:nvGraphicFramePr>
        <p:xfrm>
          <a:off x="299085" y="3588385"/>
          <a:ext cx="7211060" cy="2263140"/>
        </p:xfrm>
        <a:graphic>
          <a:graphicData uri="http://schemas.openxmlformats.org/drawingml/2006/table">
            <a:tbl>
              <a:tblPr/>
              <a:tblGrid>
                <a:gridCol w="761365"/>
                <a:gridCol w="760730"/>
                <a:gridCol w="765175"/>
                <a:gridCol w="1388745"/>
                <a:gridCol w="686435"/>
                <a:gridCol w="640080"/>
                <a:gridCol w="736600"/>
                <a:gridCol w="735330"/>
                <a:gridCol w="736600"/>
              </a:tblGrid>
              <a:tr h="251460">
                <a:tc rowSpan="2" gridSpan="3">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当前微地址</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hMerge="1">
                  <a:tcPr>
                    <a:lnT w="6350" cap="flat" cmpd="sng">
                      <a:solidFill>
                        <a:srgbClr val="000008"/>
                      </a:solidFill>
                      <a:prstDash val="solid"/>
                      <a:headEnd type="none" w="med" len="med"/>
                      <a:tailEnd type="none" w="med" len="med"/>
                    </a:lnT>
                  </a:tcPr>
                </a:tc>
                <a:tc rowSpan="2"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tcPr>
                </a:tc>
                <a:tc gridSpan="6">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微指令二进制代码</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r>
              <a:tr h="251460">
                <a:tc vMerge="1" gridSpan="3">
                  <a:tcPr>
                    <a:lnL w="6350" cap="flat" cmpd="sng">
                      <a:solidFill>
                        <a:srgbClr val="000008"/>
                      </a:solidFill>
                      <a:prstDash val="solid"/>
                      <a:headEnd type="none" w="med" len="med"/>
                      <a:tailEnd type="none" w="med" len="med"/>
                    </a:lnL>
                    <a:lnB w="6350" cap="flat" cmpd="sng">
                      <a:solidFill>
                        <a:srgbClr val="000008"/>
                      </a:solidFill>
                      <a:prstDash val="solid"/>
                      <a:headEnd type="none" w="med" len="med"/>
                      <a:tailEnd type="none" w="med" len="med"/>
                    </a:lnB>
                  </a:tcPr>
                </a:tc>
                <a:tc vMerge="1" hMerge="1">
                  <a:tcPr>
                    <a:lnB w="6350" cap="flat" cmpd="sng">
                      <a:solidFill>
                        <a:srgbClr val="000008"/>
                      </a:solidFill>
                      <a:prstDash val="solid"/>
                      <a:headEnd type="none" w="med" len="med"/>
                      <a:tailEnd type="none" w="med" len="med"/>
                    </a:lnB>
                  </a:tcPr>
                </a:tc>
                <a:tc vMerge="1" hMerge="1">
                  <a:tcPr>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微命令</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gridSpan="2">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判别</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gridSpan="3">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下地址</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1</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1</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1</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1</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1</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solidFill>
                            <a:schemeClr val="accent4"/>
                          </a:solidFill>
                          <a:latin typeface="Times New Roman" panose="02020603050405020304"/>
                          <a:ea typeface="Times New Roman" panose="02020603050405020304"/>
                        </a:rPr>
                        <a:t>0</a:t>
                      </a:r>
                      <a:endParaRPr lang="en-US" altLang="zh-CN" sz="1100">
                        <a:solidFill>
                          <a:schemeClr val="accent4"/>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solidFill>
                            <a:srgbClr val="FF0000"/>
                          </a:solidFill>
                          <a:latin typeface="Times New Roman" panose="02020603050405020304"/>
                          <a:ea typeface="Times New Roman" panose="02020603050405020304"/>
                        </a:rPr>
                        <a:t>1</a:t>
                      </a:r>
                      <a:endParaRPr lang="en-US" altLang="zh-CN" sz="1100">
                        <a:solidFill>
                          <a:srgbClr val="FF0000"/>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5" name="文本框 4"/>
          <p:cNvSpPr txBox="1"/>
          <p:nvPr/>
        </p:nvSpPr>
        <p:spPr>
          <a:xfrm>
            <a:off x="7654925" y="1075690"/>
            <a:ext cx="4428490" cy="5692775"/>
          </a:xfrm>
          <a:prstGeom prst="rect">
            <a:avLst/>
          </a:prstGeom>
          <a:noFill/>
        </p:spPr>
        <p:txBody>
          <a:bodyPr wrap="square">
            <a:spAutoFit/>
          </a:bodyPr>
          <a:lstStyle/>
          <a:p>
            <a:pPr indent="0" fontAlgn="auto">
              <a:lnSpc>
                <a:spcPct val="100000"/>
              </a:lnSpc>
              <a:buFont typeface="Arial" panose="020B0604020202020204" pitchFamily="34" charset="0"/>
              <a:buNone/>
            </a:pPr>
            <a:r>
              <a:rPr lang="zh-CN" altLang="en-US" sz="1400" dirty="0">
                <a:latin typeface="+mn-ea"/>
              </a:rPr>
              <a:t>说明：</a:t>
            </a:r>
            <a:endParaRPr lang="zh-CN" altLang="en-US" sz="1400" dirty="0">
              <a:latin typeface="+mn-ea"/>
            </a:endParaRPr>
          </a:p>
          <a:p>
            <a:pPr indent="0" fontAlgn="auto">
              <a:lnSpc>
                <a:spcPct val="100000"/>
              </a:lnSpc>
              <a:buFont typeface="Arial" panose="020B0604020202020204" pitchFamily="34" charset="0"/>
              <a:buNone/>
            </a:pPr>
            <a:r>
              <a:rPr lang="zh-CN" altLang="en-US" sz="1400" dirty="0">
                <a:latin typeface="+mn-ea"/>
              </a:rPr>
              <a:t>这里的判别对应的</a:t>
            </a:r>
            <a:r>
              <a:rPr lang="en-US" altLang="zh-CN" sz="1400" dirty="0">
                <a:latin typeface="+mn-ea"/>
              </a:rPr>
              <a:t>P(1</a:t>
            </a:r>
            <a:r>
              <a:rPr lang="zh-CN" altLang="en-US" sz="1400" dirty="0">
                <a:latin typeface="+mn-ea"/>
              </a:rPr>
              <a:t>）、</a:t>
            </a:r>
            <a:r>
              <a:rPr lang="en-US" altLang="zh-CN" sz="1400" dirty="0">
                <a:latin typeface="+mn-ea"/>
              </a:rPr>
              <a:t>P(2)</a:t>
            </a:r>
            <a:r>
              <a:rPr lang="zh-CN" altLang="en-US" sz="1400" dirty="0">
                <a:latin typeface="+mn-ea"/>
              </a:rPr>
              <a:t>对应</a:t>
            </a:r>
            <a:r>
              <a:rPr lang="en-US" altLang="zh-CN" sz="1400" dirty="0">
                <a:latin typeface="+mn-ea"/>
              </a:rPr>
              <a:t>X0X1.</a:t>
            </a:r>
            <a:endParaRPr lang="en-US" altLang="zh-CN" sz="1400" dirty="0">
              <a:latin typeface="+mn-ea"/>
            </a:endParaRPr>
          </a:p>
          <a:p>
            <a:pPr indent="0" fontAlgn="auto">
              <a:lnSpc>
                <a:spcPct val="100000"/>
              </a:lnSpc>
              <a:buFont typeface="Arial" panose="020B0604020202020204" pitchFamily="34" charset="0"/>
              <a:buNone/>
            </a:pPr>
            <a:r>
              <a:rPr lang="zh-CN" altLang="en-US" sz="1400" dirty="0">
                <a:latin typeface="+mn-ea"/>
              </a:rPr>
              <a:t>可以注意到这边时顺序执行</a:t>
            </a:r>
            <a:endParaRPr lang="zh-CN" altLang="en-US" sz="1400" dirty="0">
              <a:latin typeface="+mn-ea"/>
            </a:endParaRPr>
          </a:p>
          <a:p>
            <a:pPr indent="0" fontAlgn="auto">
              <a:lnSpc>
                <a:spcPct val="100000"/>
              </a:lnSpc>
              <a:buFont typeface="Arial" panose="020B0604020202020204" pitchFamily="34" charset="0"/>
              <a:buNone/>
            </a:pPr>
            <a:r>
              <a:rPr lang="en-US" altLang="zh-CN" sz="1400" dirty="0">
                <a:latin typeface="+mn-ea"/>
              </a:rPr>
              <a:t>S0--&gt;S1--&gt;S2--&gt;S3</a:t>
            </a:r>
            <a:r>
              <a:rPr lang="en-US" altLang="zh-CN" sz="1400" dirty="0">
                <a:latin typeface="+mn-ea"/>
                <a:sym typeface="+mn-ea"/>
              </a:rPr>
              <a:t>---&gt;</a:t>
            </a:r>
            <a:r>
              <a:rPr lang="en-US" altLang="zh-CN" sz="1400" dirty="0">
                <a:solidFill>
                  <a:srgbClr val="FF0000"/>
                </a:solidFill>
                <a:latin typeface="+mn-ea"/>
                <a:sym typeface="+mn-ea"/>
              </a:rPr>
              <a:t>S4</a:t>
            </a:r>
            <a:r>
              <a:rPr lang="en-US" altLang="zh-CN" sz="1400" dirty="0">
                <a:solidFill>
                  <a:srgbClr val="FF0000"/>
                </a:solidFill>
                <a:latin typeface="+mn-ea"/>
              </a:rPr>
              <a:t> </a:t>
            </a:r>
            <a:r>
              <a:rPr lang="en-US" altLang="zh-CN" sz="1400" dirty="0">
                <a:latin typeface="+mn-ea"/>
              </a:rPr>
              <a:t>     </a:t>
            </a:r>
            <a:r>
              <a:rPr lang="en-US" altLang="zh-CN" sz="1400" dirty="0">
                <a:solidFill>
                  <a:srgbClr val="FF0000"/>
                </a:solidFill>
                <a:latin typeface="+mn-ea"/>
              </a:rPr>
              <a:t>S4---&gt;S4</a:t>
            </a:r>
            <a:endParaRPr lang="en-US" altLang="zh-CN" sz="1400" dirty="0">
              <a:solidFill>
                <a:srgbClr val="FF0000"/>
              </a:solidFill>
              <a:latin typeface="+mn-ea"/>
            </a:endParaRPr>
          </a:p>
          <a:p>
            <a:pPr indent="0" fontAlgn="auto">
              <a:lnSpc>
                <a:spcPct val="100000"/>
              </a:lnSpc>
              <a:buFont typeface="Arial" panose="020B0604020202020204" pitchFamily="34" charset="0"/>
              <a:buNone/>
            </a:pPr>
            <a:r>
              <a:rPr lang="zh-CN" altLang="en-US" sz="1400" dirty="0">
                <a:latin typeface="+mn-ea"/>
              </a:rPr>
              <a:t>这是我们</a:t>
            </a:r>
            <a:r>
              <a:rPr lang="en-US" altLang="zh-CN" sz="1400" dirty="0">
                <a:latin typeface="+mn-ea"/>
              </a:rPr>
              <a:t>E2PROM</a:t>
            </a:r>
            <a:r>
              <a:rPr lang="zh-CN" altLang="en-US" sz="1400" dirty="0">
                <a:latin typeface="+mn-ea"/>
              </a:rPr>
              <a:t>中写的东西，正常情况下按照顺序读取其中内容。但是实际上我们看到作为一个</a:t>
            </a:r>
            <a:r>
              <a:rPr lang="en-US" altLang="zh-CN" sz="1400" dirty="0">
                <a:latin typeface="+mn-ea"/>
              </a:rPr>
              <a:t>Mealy</a:t>
            </a:r>
            <a:r>
              <a:rPr lang="zh-CN" altLang="en-US" sz="1400" dirty="0">
                <a:latin typeface="+mn-ea"/>
              </a:rPr>
              <a:t>电路</a:t>
            </a:r>
            <a:r>
              <a:rPr lang="en-US" altLang="zh-CN" sz="1400" dirty="0">
                <a:latin typeface="+mn-ea"/>
              </a:rPr>
              <a:t>, </a:t>
            </a:r>
            <a:r>
              <a:rPr lang="zh-CN" altLang="en-US" sz="1400" dirty="0">
                <a:latin typeface="+mn-ea"/>
              </a:rPr>
              <a:t>我们仍旧需要约束其他判别字段的下地址。简单来说不在</a:t>
            </a:r>
            <a:r>
              <a:rPr lang="en-US" altLang="zh-CN" sz="1400" dirty="0">
                <a:latin typeface="+mn-ea"/>
              </a:rPr>
              <a:t>ROM</a:t>
            </a:r>
            <a:r>
              <a:rPr lang="zh-CN" altLang="en-US" sz="1400" dirty="0">
                <a:latin typeface="+mn-ea"/>
              </a:rPr>
              <a:t>中的微程序，我们需要额外的组合电路来修正我们的下地址。</a:t>
            </a:r>
            <a:endParaRPr lang="zh-CN" altLang="en-US" sz="1400" dirty="0">
              <a:latin typeface="+mn-ea"/>
            </a:endParaRPr>
          </a:p>
          <a:p>
            <a:pPr indent="0" fontAlgn="auto">
              <a:lnSpc>
                <a:spcPct val="100000"/>
              </a:lnSpc>
              <a:buFont typeface="Arial" panose="020B0604020202020204" pitchFamily="34" charset="0"/>
              <a:buNone/>
            </a:pPr>
            <a:r>
              <a:rPr lang="zh-CN" altLang="en-US" sz="1400" dirty="0">
                <a:latin typeface="+mn-ea"/>
              </a:rPr>
              <a:t>假定我们选取的是带有强置数端的</a:t>
            </a:r>
            <a:r>
              <a:rPr lang="en-US" altLang="zh-CN" sz="1400" dirty="0">
                <a:latin typeface="+mn-ea"/>
              </a:rPr>
              <a:t>74LS74</a:t>
            </a:r>
            <a:r>
              <a:rPr lang="zh-CN" altLang="en-US" sz="1400" dirty="0">
                <a:latin typeface="+mn-ea"/>
              </a:rPr>
              <a:t>双</a:t>
            </a:r>
            <a:r>
              <a:rPr lang="en-US" altLang="zh-CN" sz="1400" dirty="0">
                <a:latin typeface="+mn-ea"/>
              </a:rPr>
              <a:t>D</a:t>
            </a:r>
            <a:r>
              <a:rPr lang="zh-CN" altLang="en-US" sz="1400" dirty="0">
                <a:latin typeface="+mn-ea"/>
              </a:rPr>
              <a:t>触发器，在</a:t>
            </a:r>
            <a:r>
              <a:rPr lang="en-US" altLang="zh-CN" sz="1400" dirty="0">
                <a:latin typeface="+mn-ea"/>
              </a:rPr>
              <a:t>T3</a:t>
            </a:r>
            <a:r>
              <a:rPr lang="zh-CN" altLang="en-US" sz="1400" dirty="0">
                <a:latin typeface="+mn-ea"/>
              </a:rPr>
              <a:t>时间修改</a:t>
            </a:r>
            <a:r>
              <a:rPr lang="en-US" altLang="zh-CN" sz="1400" dirty="0">
                <a:latin typeface="+mn-ea"/>
              </a:rPr>
              <a:t>A\B\C</a:t>
            </a:r>
            <a:r>
              <a:rPr lang="zh-CN" altLang="en-US" sz="1400" dirty="0">
                <a:latin typeface="+mn-ea"/>
              </a:rPr>
              <a:t>触发器。</a:t>
            </a:r>
            <a:endParaRPr lang="zh-CN" altLang="en-US" sz="1400" dirty="0">
              <a:latin typeface="+mn-ea"/>
            </a:endParaRPr>
          </a:p>
          <a:p>
            <a:pPr indent="0" fontAlgn="auto">
              <a:lnSpc>
                <a:spcPct val="100000"/>
              </a:lnSpc>
              <a:buFont typeface="Arial" panose="020B0604020202020204" pitchFamily="34" charset="0"/>
              <a:buNone/>
            </a:pPr>
            <a:r>
              <a:rPr lang="zh-CN" altLang="en-US" sz="1400" dirty="0">
                <a:latin typeface="+mn-ea"/>
              </a:rPr>
              <a:t>当</a:t>
            </a:r>
            <a:r>
              <a:rPr lang="en-US" altLang="zh-CN" sz="1400" dirty="0">
                <a:latin typeface="+mn-ea"/>
              </a:rPr>
              <a:t>X1X2=0x</a:t>
            </a:r>
            <a:r>
              <a:rPr lang="zh-CN" altLang="en-US" sz="1400" dirty="0">
                <a:latin typeface="+mn-ea"/>
              </a:rPr>
              <a:t>时，强制置</a:t>
            </a:r>
            <a:r>
              <a:rPr lang="en-US" altLang="zh-CN" sz="1400" dirty="0">
                <a:latin typeface="+mn-ea"/>
              </a:rPr>
              <a:t>0</a:t>
            </a:r>
            <a:r>
              <a:rPr lang="zh-CN" altLang="en-US" sz="1400" dirty="0">
                <a:latin typeface="+mn-ea"/>
              </a:rPr>
              <a:t>。但是如此前的转移图所示，实际有效只需要</a:t>
            </a:r>
            <a:r>
              <a:rPr lang="en-US" altLang="zh-CN" sz="1400" dirty="0">
                <a:latin typeface="+mn-ea"/>
              </a:rPr>
              <a:t>X1</a:t>
            </a:r>
            <a:r>
              <a:rPr lang="zh-CN" altLang="en-US" sz="1400" dirty="0">
                <a:latin typeface="+mn-ea"/>
              </a:rPr>
              <a:t>，也就只需要</a:t>
            </a:r>
            <a:r>
              <a:rPr lang="en-US" altLang="zh-CN" sz="1400" dirty="0">
                <a:latin typeface="+mn-ea"/>
              </a:rPr>
              <a:t>P(1)</a:t>
            </a:r>
            <a:r>
              <a:rPr lang="zh-CN" altLang="en-US" sz="1400" dirty="0">
                <a:latin typeface="+mn-ea"/>
              </a:rPr>
              <a:t>有效即可</a:t>
            </a:r>
            <a:r>
              <a:rPr lang="en-US" altLang="zh-CN" sz="1400" dirty="0">
                <a:latin typeface="+mn-ea"/>
              </a:rPr>
              <a:t>(</a:t>
            </a:r>
            <a:r>
              <a:rPr lang="zh-CN" altLang="en-US" sz="1400" dirty="0">
                <a:solidFill>
                  <a:srgbClr val="FF0000"/>
                </a:solidFill>
                <a:latin typeface="+mn-ea"/>
              </a:rPr>
              <a:t>这样后面地址不对了，得考虑</a:t>
            </a:r>
            <a:r>
              <a:rPr lang="en-US" altLang="zh-CN" sz="1400" dirty="0">
                <a:solidFill>
                  <a:srgbClr val="FF0000"/>
                </a:solidFill>
                <a:latin typeface="+mn-ea"/>
              </a:rPr>
              <a:t>P(2)</a:t>
            </a:r>
            <a:r>
              <a:rPr lang="zh-CN" altLang="en-US" sz="1400" dirty="0">
                <a:latin typeface="+mn-ea"/>
              </a:rPr>
              <a:t>）。也就是通过</a:t>
            </a:r>
            <a:r>
              <a:rPr lang="en-US" altLang="zh-CN" sz="1400" dirty="0">
                <a:latin typeface="+mn-ea"/>
                <a:sym typeface="+mn-ea"/>
              </a:rPr>
              <a:t>A\B\C</a:t>
            </a:r>
            <a:r>
              <a:rPr lang="zh-CN" altLang="en-US" sz="1400" dirty="0">
                <a:latin typeface="+mn-ea"/>
                <a:sym typeface="+mn-ea"/>
              </a:rPr>
              <a:t>触发器的</a:t>
            </a:r>
            <a:r>
              <a:rPr lang="en-US" altLang="zh-CN" sz="1400" dirty="0">
                <a:latin typeface="+mn-ea"/>
                <a:sym typeface="+mn-ea"/>
              </a:rPr>
              <a:t>R</a:t>
            </a:r>
            <a:r>
              <a:rPr lang="en-US" altLang="zh-CN" sz="1400" baseline="-25000" dirty="0">
                <a:latin typeface="+mn-ea"/>
                <a:sym typeface="+mn-ea"/>
              </a:rPr>
              <a:t>D</a:t>
            </a:r>
            <a:r>
              <a:rPr lang="zh-CN" altLang="en-US" sz="1400" dirty="0">
                <a:latin typeface="+mn-ea"/>
                <a:sym typeface="+mn-ea"/>
              </a:rPr>
              <a:t>端强制置</a:t>
            </a:r>
            <a:r>
              <a:rPr lang="en-US" altLang="zh-CN" sz="1400" dirty="0">
                <a:latin typeface="+mn-ea"/>
                <a:sym typeface="+mn-ea"/>
              </a:rPr>
              <a:t>”1“</a:t>
            </a:r>
            <a:r>
              <a:rPr lang="zh-CN" altLang="en-US" sz="1400" dirty="0">
                <a:latin typeface="+mn-ea"/>
                <a:sym typeface="+mn-ea"/>
              </a:rPr>
              <a:t>的方式修改下</a:t>
            </a:r>
            <a:endParaRPr lang="zh-CN" altLang="en-US" sz="1400" dirty="0">
              <a:latin typeface="+mn-ea"/>
              <a:sym typeface="+mn-ea"/>
            </a:endParaRPr>
          </a:p>
          <a:p>
            <a:pPr indent="0" fontAlgn="auto">
              <a:lnSpc>
                <a:spcPct val="100000"/>
              </a:lnSpc>
              <a:buFont typeface="Arial" panose="020B0604020202020204" pitchFamily="34" charset="0"/>
              <a:buNone/>
            </a:pPr>
            <a:r>
              <a:rPr lang="zh-CN" altLang="en-US" sz="1400" dirty="0">
                <a:latin typeface="+mn-ea"/>
                <a:sym typeface="+mn-ea"/>
              </a:rPr>
              <a:t>地址为</a:t>
            </a:r>
            <a:r>
              <a:rPr lang="en-US" altLang="zh-CN" sz="1400" dirty="0">
                <a:latin typeface="+mn-ea"/>
                <a:sym typeface="+mn-ea"/>
              </a:rPr>
              <a:t>0</a:t>
            </a:r>
            <a:r>
              <a:rPr lang="zh-CN" altLang="en-US" sz="1400" dirty="0">
                <a:latin typeface="+mn-ea"/>
                <a:sym typeface="+mn-ea"/>
              </a:rPr>
              <a:t>：</a:t>
            </a:r>
            <a:r>
              <a:rPr lang="en-US" altLang="zh-CN" sz="1400" dirty="0">
                <a:latin typeface="+mn-ea"/>
                <a:sym typeface="+mn-ea"/>
              </a:rPr>
              <a:t>R</a:t>
            </a:r>
            <a:r>
              <a:rPr lang="en-US" altLang="zh-CN" sz="1400" baseline="-25000" dirty="0">
                <a:latin typeface="+mn-ea"/>
                <a:sym typeface="+mn-ea"/>
              </a:rPr>
              <a:t>D </a:t>
            </a:r>
            <a:r>
              <a:rPr lang="en-US" altLang="zh-CN" sz="1400" dirty="0">
                <a:latin typeface="+mn-ea"/>
                <a:sym typeface="+mn-ea"/>
              </a:rPr>
              <a:t>= T3 · P(1) · </a:t>
            </a:r>
            <a:r>
              <a:rPr lang="en-US" altLang="zh-CN" sz="1400" dirty="0">
                <a:solidFill>
                  <a:srgbClr val="FF0000"/>
                </a:solidFill>
                <a:latin typeface="+mn-ea"/>
                <a:sym typeface="+mn-ea"/>
              </a:rPr>
              <a:t>P(2)‘</a:t>
            </a:r>
            <a:r>
              <a:rPr lang="en-US" altLang="zh-CN" sz="1400" dirty="0">
                <a:latin typeface="+mn-ea"/>
                <a:sym typeface="+mn-ea"/>
              </a:rPr>
              <a:t> ·</a:t>
            </a:r>
            <a:r>
              <a:rPr lang="en-US" altLang="zh-CN" sz="1400" dirty="0">
                <a:latin typeface="+mn-ea"/>
                <a:sym typeface="+mn-ea"/>
              </a:rPr>
              <a:t> X1‘</a:t>
            </a:r>
            <a:endParaRPr lang="en-US" altLang="zh-CN" sz="1400" dirty="0">
              <a:latin typeface="+mn-ea"/>
              <a:sym typeface="+mn-ea"/>
            </a:endParaRPr>
          </a:p>
          <a:p>
            <a:pPr indent="0" fontAlgn="auto">
              <a:lnSpc>
                <a:spcPct val="100000"/>
              </a:lnSpc>
              <a:buFont typeface="Arial" panose="020B0604020202020204" pitchFamily="34" charset="0"/>
              <a:buNone/>
            </a:pPr>
            <a:r>
              <a:rPr lang="zh-CN" altLang="en-US" sz="1400" dirty="0">
                <a:latin typeface="+mn-ea"/>
              </a:rPr>
              <a:t>另一部分，由于</a:t>
            </a:r>
            <a:r>
              <a:rPr lang="en-US" altLang="zh-CN" sz="1400" dirty="0">
                <a:latin typeface="+mn-ea"/>
              </a:rPr>
              <a:t>S3</a:t>
            </a:r>
            <a:r>
              <a:rPr lang="zh-CN" altLang="en-US" sz="1400" dirty="0">
                <a:latin typeface="+mn-ea"/>
              </a:rPr>
              <a:t>考虑到微命令为</a:t>
            </a:r>
            <a:r>
              <a:rPr lang="en-US" altLang="zh-CN" sz="1400" dirty="0">
                <a:latin typeface="+mn-ea"/>
              </a:rPr>
              <a:t>1</a:t>
            </a:r>
            <a:r>
              <a:rPr lang="zh-CN" altLang="en-US" sz="1400" dirty="0">
                <a:latin typeface="+mn-ea"/>
              </a:rPr>
              <a:t>的问题，所以考虑增加两个状态存储微命令（</a:t>
            </a:r>
            <a:r>
              <a:rPr lang="en-US" altLang="zh-CN" sz="1400" dirty="0">
                <a:latin typeface="+mn-ea"/>
              </a:rPr>
              <a:t>101</a:t>
            </a:r>
            <a:r>
              <a:rPr lang="zh-CN" altLang="en-US" sz="1400" dirty="0">
                <a:latin typeface="+mn-ea"/>
              </a:rPr>
              <a:t>和</a:t>
            </a:r>
            <a:r>
              <a:rPr lang="en-US" altLang="zh-CN" sz="1400" dirty="0">
                <a:latin typeface="+mn-ea"/>
              </a:rPr>
              <a:t>110</a:t>
            </a:r>
            <a:r>
              <a:rPr lang="zh-CN" altLang="en-US" sz="1400" dirty="0">
                <a:latin typeface="+mn-ea"/>
              </a:rPr>
              <a:t>），这里需要在</a:t>
            </a:r>
            <a:r>
              <a:rPr lang="en-US" altLang="zh-CN" sz="1400" dirty="0">
                <a:latin typeface="+mn-ea"/>
              </a:rPr>
              <a:t>P(1)</a:t>
            </a:r>
            <a:r>
              <a:rPr lang="zh-CN" altLang="en-US" sz="1400" dirty="0">
                <a:latin typeface="+mn-ea"/>
              </a:rPr>
              <a:t>和</a:t>
            </a:r>
            <a:r>
              <a:rPr lang="en-US" altLang="zh-CN" sz="1400" dirty="0">
                <a:latin typeface="+mn-ea"/>
              </a:rPr>
              <a:t>P(2)</a:t>
            </a:r>
            <a:r>
              <a:rPr lang="zh-CN" altLang="en-US" sz="1400" dirty="0">
                <a:latin typeface="+mn-ea"/>
              </a:rPr>
              <a:t>都有效期间</a:t>
            </a:r>
            <a:r>
              <a:rPr lang="zh-CN" altLang="en-US" sz="1400" dirty="0">
                <a:latin typeface="+mn-ea"/>
              </a:rPr>
              <a:t>进行。</a:t>
            </a:r>
            <a:endParaRPr lang="zh-CN" altLang="en-US" sz="1400" dirty="0">
              <a:latin typeface="+mn-ea"/>
            </a:endParaRPr>
          </a:p>
          <a:p>
            <a:pPr indent="0" fontAlgn="auto">
              <a:lnSpc>
                <a:spcPct val="100000"/>
              </a:lnSpc>
              <a:buFont typeface="Arial" panose="020B0604020202020204" pitchFamily="34" charset="0"/>
              <a:buNone/>
            </a:pPr>
            <a:r>
              <a:rPr lang="zh-CN" altLang="en-US" sz="1400" dirty="0">
                <a:latin typeface="+mn-ea"/>
              </a:rPr>
              <a:t>只修改地址寄存器的情况，我们需要额外的跳转</a:t>
            </a:r>
            <a:r>
              <a:rPr lang="en-US" altLang="zh-CN" sz="1400" dirty="0">
                <a:latin typeface="+mn-ea"/>
              </a:rPr>
              <a:t>101</a:t>
            </a:r>
            <a:r>
              <a:rPr lang="zh-CN" altLang="en-US" sz="1400" dirty="0">
                <a:latin typeface="+mn-ea"/>
              </a:rPr>
              <a:t>和</a:t>
            </a:r>
            <a:r>
              <a:rPr lang="en-US" altLang="zh-CN" sz="1400" dirty="0">
                <a:latin typeface="+mn-ea"/>
              </a:rPr>
              <a:t>110</a:t>
            </a:r>
            <a:r>
              <a:rPr lang="zh-CN" altLang="en-US" sz="1400" dirty="0">
                <a:latin typeface="+mn-ea"/>
              </a:rPr>
              <a:t>的地址修改逻辑，这边只需要修改</a:t>
            </a:r>
            <a:r>
              <a:rPr lang="zh-CN" altLang="en-US" sz="1400" dirty="0">
                <a:latin typeface="+mn-ea"/>
                <a:sym typeface="+mn-ea"/>
              </a:rPr>
              <a:t>通过</a:t>
            </a:r>
            <a:r>
              <a:rPr lang="en-US" altLang="zh-CN" sz="1400" dirty="0">
                <a:latin typeface="+mn-ea"/>
                <a:sym typeface="+mn-ea"/>
              </a:rPr>
              <a:t>A\B\C</a:t>
            </a:r>
            <a:r>
              <a:rPr lang="zh-CN" altLang="en-US" sz="1400" dirty="0">
                <a:latin typeface="+mn-ea"/>
                <a:sym typeface="+mn-ea"/>
              </a:rPr>
              <a:t>触发器的</a:t>
            </a:r>
            <a:r>
              <a:rPr lang="en-US" altLang="zh-CN" sz="1400" dirty="0">
                <a:latin typeface="+mn-ea"/>
                <a:sym typeface="+mn-ea"/>
              </a:rPr>
              <a:t>S</a:t>
            </a:r>
            <a:r>
              <a:rPr lang="en-US" altLang="zh-CN" sz="1400" baseline="-25000" dirty="0">
                <a:latin typeface="+mn-ea"/>
                <a:sym typeface="+mn-ea"/>
              </a:rPr>
              <a:t>D</a:t>
            </a:r>
            <a:r>
              <a:rPr lang="zh-CN" altLang="en-US" sz="1400" dirty="0">
                <a:latin typeface="+mn-ea"/>
                <a:sym typeface="+mn-ea"/>
              </a:rPr>
              <a:t>端：</a:t>
            </a:r>
            <a:endParaRPr lang="zh-CN" altLang="en-US" sz="1400" dirty="0">
              <a:latin typeface="+mn-ea"/>
            </a:endParaRPr>
          </a:p>
          <a:p>
            <a:pPr indent="0" fontAlgn="auto">
              <a:lnSpc>
                <a:spcPct val="100000"/>
              </a:lnSpc>
              <a:buFont typeface="Arial" panose="020B0604020202020204" pitchFamily="34" charset="0"/>
              <a:buNone/>
            </a:pPr>
            <a:r>
              <a:rPr lang="en-US" altLang="zh-CN" sz="1400" dirty="0">
                <a:latin typeface="+mn-ea"/>
              </a:rPr>
              <a:t>B = T3·P(1)·P(2)·X2’</a:t>
            </a:r>
            <a:endParaRPr lang="en-US" altLang="zh-CN" sz="1400" dirty="0">
              <a:latin typeface="+mn-ea"/>
            </a:endParaRPr>
          </a:p>
          <a:p>
            <a:pPr indent="0" fontAlgn="auto">
              <a:lnSpc>
                <a:spcPct val="100000"/>
              </a:lnSpc>
              <a:buFont typeface="Arial" panose="020B0604020202020204" pitchFamily="34" charset="0"/>
              <a:buNone/>
            </a:pPr>
            <a:r>
              <a:rPr lang="en-US" altLang="zh-CN" sz="1400" dirty="0">
                <a:latin typeface="+mn-ea"/>
              </a:rPr>
              <a:t>C = </a:t>
            </a:r>
            <a:r>
              <a:rPr lang="en-US" altLang="zh-CN" sz="1400" dirty="0">
                <a:latin typeface="+mn-ea"/>
                <a:sym typeface="+mn-ea"/>
              </a:rPr>
              <a:t>T3·P(1)·P(2)·X2</a:t>
            </a:r>
            <a:endParaRPr lang="en-US" altLang="zh-CN" sz="1400" dirty="0">
              <a:latin typeface="+mn-ea"/>
              <a:sym typeface="+mn-ea"/>
            </a:endParaRPr>
          </a:p>
          <a:p>
            <a:pPr indent="0" fontAlgn="auto">
              <a:lnSpc>
                <a:spcPct val="100000"/>
              </a:lnSpc>
              <a:buFont typeface="Arial" panose="020B0604020202020204" pitchFamily="34" charset="0"/>
              <a:buNone/>
            </a:pPr>
            <a:r>
              <a:rPr lang="zh-CN" altLang="en-US" sz="1400" dirty="0">
                <a:solidFill>
                  <a:srgbClr val="FF0000"/>
                </a:solidFill>
                <a:latin typeface="+mn-ea"/>
              </a:rPr>
              <a:t>这里确实引入了一些时序问题，也就是</a:t>
            </a:r>
            <a:r>
              <a:rPr lang="en-US" altLang="zh-CN" sz="1400" dirty="0">
                <a:solidFill>
                  <a:srgbClr val="FF0000"/>
                </a:solidFill>
                <a:latin typeface="+mn-ea"/>
              </a:rPr>
              <a:t>S3有两个周期。</a:t>
            </a:r>
            <a:endParaRPr lang="zh-CN" altLang="en-US" sz="1400" dirty="0">
              <a:latin typeface="+mn-ea"/>
            </a:endParaRPr>
          </a:p>
          <a:p>
            <a:pPr indent="0">
              <a:buFont typeface="Arial" panose="020B0604020202020204" pitchFamily="34" charset="0"/>
              <a:buNone/>
            </a:pPr>
            <a:endParaRPr lang="en-US" altLang="zh-CN" sz="1400" dirty="0">
              <a:latin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9</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6" name="文本框 5"/>
          <p:cNvSpPr txBox="1"/>
          <p:nvPr/>
        </p:nvSpPr>
        <p:spPr>
          <a:xfrm>
            <a:off x="188595" y="1335405"/>
            <a:ext cx="6261735" cy="368300"/>
          </a:xfrm>
          <a:prstGeom prst="rect">
            <a:avLst/>
          </a:prstGeom>
          <a:noFill/>
        </p:spPr>
        <p:txBody>
          <a:bodyPr wrap="square">
            <a:spAutoFit/>
          </a:bodyPr>
          <a:lstStyle/>
          <a:p>
            <a:pPr indent="0">
              <a:buFont typeface="Arial" panose="020B0604020202020204" pitchFamily="34" charset="0"/>
              <a:buNone/>
            </a:pPr>
            <a:r>
              <a:rPr lang="zh-CN" altLang="en-US" dirty="0">
                <a:latin typeface="+mn-ea"/>
              </a:rPr>
              <a:t>（</a:t>
            </a:r>
            <a:r>
              <a:rPr lang="en-US" altLang="zh-CN" dirty="0">
                <a:latin typeface="+mn-ea"/>
              </a:rPr>
              <a:t>3</a:t>
            </a:r>
            <a:r>
              <a:rPr lang="zh-CN" altLang="en-US" dirty="0">
                <a:latin typeface="+mn-ea"/>
              </a:rPr>
              <a:t>）用微控制器实现此系统，写出微指令格式，并加以说明。</a:t>
            </a:r>
            <a:endParaRPr lang="zh-CN" altLang="en-US" dirty="0">
              <a:latin typeface="+mn-ea"/>
            </a:endParaRPr>
          </a:p>
        </p:txBody>
      </p:sp>
      <p:pic>
        <p:nvPicPr>
          <p:cNvPr id="9" name="图片 8"/>
          <p:cNvPicPr>
            <a:picLocks noChangeAspect="1"/>
          </p:cNvPicPr>
          <p:nvPr/>
        </p:nvPicPr>
        <p:blipFill>
          <a:blip r:embed="rId1"/>
          <a:stretch>
            <a:fillRect/>
          </a:stretch>
        </p:blipFill>
        <p:spPr>
          <a:xfrm>
            <a:off x="1142365" y="1890395"/>
            <a:ext cx="3677285" cy="956310"/>
          </a:xfrm>
          <a:prstGeom prst="rect">
            <a:avLst/>
          </a:prstGeom>
        </p:spPr>
      </p:pic>
      <p:sp>
        <p:nvSpPr>
          <p:cNvPr id="3" name="文本框 2"/>
          <p:cNvSpPr txBox="1"/>
          <p:nvPr/>
        </p:nvSpPr>
        <p:spPr>
          <a:xfrm>
            <a:off x="188595" y="3033395"/>
            <a:ext cx="6261735" cy="368300"/>
          </a:xfrm>
          <a:prstGeom prst="rect">
            <a:avLst/>
          </a:prstGeom>
          <a:noFill/>
        </p:spPr>
        <p:txBody>
          <a:bodyPr wrap="square">
            <a:spAutoFit/>
          </a:bodyPr>
          <a:lstStyle/>
          <a:p>
            <a:pPr indent="0">
              <a:buFont typeface="Arial" panose="020B0604020202020204" pitchFamily="34" charset="0"/>
              <a:buNone/>
            </a:pPr>
            <a:r>
              <a:rPr lang="zh-CN" altLang="en-US" dirty="0">
                <a:latin typeface="+mn-ea"/>
              </a:rPr>
              <a:t>（</a:t>
            </a:r>
            <a:r>
              <a:rPr lang="en-US" altLang="zh-CN" dirty="0">
                <a:latin typeface="+mn-ea"/>
              </a:rPr>
              <a:t>4</a:t>
            </a:r>
            <a:r>
              <a:rPr lang="zh-CN" altLang="en-US" dirty="0">
                <a:latin typeface="+mn-ea"/>
              </a:rPr>
              <a:t>）写出微控制器控制存储器</a:t>
            </a:r>
            <a:r>
              <a:rPr lang="en-US" altLang="zh-CN" dirty="0">
                <a:latin typeface="+mn-ea"/>
              </a:rPr>
              <a:t>E2PROM</a:t>
            </a:r>
            <a:r>
              <a:rPr lang="zh-CN" altLang="en-US" dirty="0">
                <a:latin typeface="+mn-ea"/>
              </a:rPr>
              <a:t>中存放的微程序。</a:t>
            </a:r>
            <a:endParaRPr lang="zh-CN" altLang="en-US" dirty="0">
              <a:latin typeface="+mn-ea"/>
            </a:endParaRPr>
          </a:p>
        </p:txBody>
      </p:sp>
      <p:graphicFrame>
        <p:nvGraphicFramePr>
          <p:cNvPr id="4" name="表格 3"/>
          <p:cNvGraphicFramePr/>
          <p:nvPr/>
        </p:nvGraphicFramePr>
        <p:xfrm>
          <a:off x="299085" y="3588385"/>
          <a:ext cx="7211060" cy="2263140"/>
        </p:xfrm>
        <a:graphic>
          <a:graphicData uri="http://schemas.openxmlformats.org/drawingml/2006/table">
            <a:tbl>
              <a:tblPr/>
              <a:tblGrid>
                <a:gridCol w="761365"/>
                <a:gridCol w="760730"/>
                <a:gridCol w="765175"/>
                <a:gridCol w="1388745"/>
                <a:gridCol w="686435"/>
                <a:gridCol w="640080"/>
                <a:gridCol w="736600"/>
                <a:gridCol w="735330"/>
                <a:gridCol w="736600"/>
              </a:tblGrid>
              <a:tr h="251460">
                <a:tc rowSpan="2" gridSpan="3">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当前微地址</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hMerge="1">
                  <a:tcPr>
                    <a:lnT w="6350" cap="flat" cmpd="sng">
                      <a:solidFill>
                        <a:srgbClr val="000008"/>
                      </a:solidFill>
                      <a:prstDash val="solid"/>
                      <a:headEnd type="none" w="med" len="med"/>
                      <a:tailEnd type="none" w="med" len="med"/>
                    </a:lnT>
                  </a:tcPr>
                </a:tc>
                <a:tc rowSpan="2"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tcPr>
                </a:tc>
                <a:tc gridSpan="6">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微指令二进制代码</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r>
              <a:tr h="251460">
                <a:tc vMerge="1" gridSpan="3">
                  <a:tcPr>
                    <a:lnL w="6350" cap="flat" cmpd="sng">
                      <a:solidFill>
                        <a:srgbClr val="000008"/>
                      </a:solidFill>
                      <a:prstDash val="solid"/>
                      <a:headEnd type="none" w="med" len="med"/>
                      <a:tailEnd type="none" w="med" len="med"/>
                    </a:lnL>
                    <a:lnB w="6350" cap="flat" cmpd="sng">
                      <a:solidFill>
                        <a:srgbClr val="000008"/>
                      </a:solidFill>
                      <a:prstDash val="solid"/>
                      <a:headEnd type="none" w="med" len="med"/>
                      <a:tailEnd type="none" w="med" len="med"/>
                    </a:lnB>
                  </a:tcPr>
                </a:tc>
                <a:tc vMerge="1" hMerge="1">
                  <a:tcPr>
                    <a:lnB w="6350" cap="flat" cmpd="sng">
                      <a:solidFill>
                        <a:srgbClr val="000008"/>
                      </a:solidFill>
                      <a:prstDash val="solid"/>
                      <a:headEnd type="none" w="med" len="med"/>
                      <a:tailEnd type="none" w="med" len="med"/>
                    </a:lnB>
                  </a:tcPr>
                </a:tc>
                <a:tc vMerge="1" hMerge="1">
                  <a:tcPr>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微命令</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gridSpan="2">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判别</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gridSpan="3">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下地址</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solidFill>
                            <a:schemeClr val="tx1"/>
                          </a:solidFill>
                          <a:latin typeface="Times New Roman" panose="02020603050405020304"/>
                          <a:ea typeface="Times New Roman" panose="02020603050405020304"/>
                        </a:rPr>
                        <a:t>1</a:t>
                      </a:r>
                      <a:endParaRPr lang="en-US" altLang="zh-CN" sz="1100">
                        <a:solidFill>
                          <a:schemeClr val="tx1"/>
                        </a:solidFill>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5" name="文本框 4"/>
          <p:cNvSpPr txBox="1"/>
          <p:nvPr/>
        </p:nvSpPr>
        <p:spPr>
          <a:xfrm>
            <a:off x="7654925" y="1379220"/>
            <a:ext cx="4428490" cy="3969385"/>
          </a:xfrm>
          <a:prstGeom prst="rect">
            <a:avLst/>
          </a:prstGeom>
          <a:noFill/>
        </p:spPr>
        <p:txBody>
          <a:bodyPr wrap="square">
            <a:spAutoFit/>
          </a:bodyPr>
          <a:lstStyle/>
          <a:p>
            <a:pPr indent="0" fontAlgn="auto">
              <a:lnSpc>
                <a:spcPct val="100000"/>
              </a:lnSpc>
              <a:buFont typeface="Arial" panose="020B0604020202020204" pitchFamily="34" charset="0"/>
              <a:buNone/>
            </a:pPr>
            <a:r>
              <a:rPr lang="zh-CN" altLang="en-US" sz="1400" dirty="0">
                <a:solidFill>
                  <a:srgbClr val="FF0000"/>
                </a:solidFill>
                <a:latin typeface="+mn-ea"/>
              </a:rPr>
              <a:t>这里确实引入了一些时序问题，也就是</a:t>
            </a:r>
            <a:r>
              <a:rPr lang="en-US" altLang="zh-CN" sz="1400" dirty="0">
                <a:solidFill>
                  <a:srgbClr val="FF0000"/>
                </a:solidFill>
                <a:latin typeface="+mn-ea"/>
              </a:rPr>
              <a:t>S3有两个周期。</a:t>
            </a:r>
            <a:endParaRPr lang="zh-CN" altLang="en-US" sz="1400" dirty="0">
              <a:latin typeface="+mn-ea"/>
            </a:endParaRPr>
          </a:p>
          <a:p>
            <a:pPr indent="0">
              <a:buFont typeface="Arial" panose="020B0604020202020204" pitchFamily="34" charset="0"/>
              <a:buNone/>
            </a:pPr>
            <a:r>
              <a:rPr lang="zh-CN" altLang="en-US" sz="1400" dirty="0">
                <a:solidFill>
                  <a:srgbClr val="FF0000"/>
                </a:solidFill>
                <a:latin typeface="+mn-ea"/>
              </a:rPr>
              <a:t>如果在</a:t>
            </a:r>
            <a:r>
              <a:rPr lang="en-US" altLang="zh-CN" sz="1400" dirty="0">
                <a:solidFill>
                  <a:srgbClr val="FF0000"/>
                </a:solidFill>
                <a:latin typeface="+mn-ea"/>
              </a:rPr>
              <a:t>S2</a:t>
            </a:r>
            <a:r>
              <a:rPr lang="zh-CN" altLang="en-US" sz="1400" dirty="0">
                <a:solidFill>
                  <a:srgbClr val="FF0000"/>
                </a:solidFill>
                <a:latin typeface="+mn-ea"/>
              </a:rPr>
              <a:t>阶段就给</a:t>
            </a:r>
            <a:r>
              <a:rPr lang="en-US" altLang="zh-CN" sz="1400" dirty="0">
                <a:solidFill>
                  <a:srgbClr val="FF0000"/>
                </a:solidFill>
                <a:latin typeface="+mn-ea"/>
              </a:rPr>
              <a:t>S3</a:t>
            </a:r>
            <a:r>
              <a:rPr lang="zh-CN" altLang="en-US" sz="1400" dirty="0">
                <a:solidFill>
                  <a:srgbClr val="FF0000"/>
                </a:solidFill>
                <a:latin typeface="+mn-ea"/>
              </a:rPr>
              <a:t>多个微地址的话，确实可以缓解</a:t>
            </a:r>
            <a:r>
              <a:rPr lang="en-US" altLang="zh-CN" sz="1400" dirty="0">
                <a:solidFill>
                  <a:srgbClr val="FF0000"/>
                </a:solidFill>
                <a:latin typeface="+mn-ea"/>
              </a:rPr>
              <a:t>S3</a:t>
            </a:r>
            <a:r>
              <a:rPr lang="zh-CN" altLang="en-US" sz="1400" dirty="0">
                <a:solidFill>
                  <a:srgbClr val="FF0000"/>
                </a:solidFill>
                <a:latin typeface="+mn-ea"/>
              </a:rPr>
              <a:t>的三个输出，但是会引入新的问题，也就是</a:t>
            </a:r>
            <a:r>
              <a:rPr lang="en-US" altLang="zh-CN" sz="1400" dirty="0">
                <a:solidFill>
                  <a:srgbClr val="FF0000"/>
                </a:solidFill>
                <a:latin typeface="+mn-ea"/>
              </a:rPr>
              <a:t>S2</a:t>
            </a:r>
            <a:r>
              <a:rPr lang="zh-CN" altLang="en-US" sz="1400" dirty="0">
                <a:solidFill>
                  <a:srgbClr val="FF0000"/>
                </a:solidFill>
                <a:latin typeface="+mn-ea"/>
              </a:rPr>
              <a:t>在不知道</a:t>
            </a:r>
            <a:r>
              <a:rPr lang="en-US" altLang="zh-CN" sz="1400" dirty="0">
                <a:solidFill>
                  <a:srgbClr val="FF0000"/>
                </a:solidFill>
                <a:latin typeface="+mn-ea"/>
              </a:rPr>
              <a:t>S3</a:t>
            </a:r>
            <a:r>
              <a:rPr lang="zh-CN" altLang="en-US" sz="1400" dirty="0">
                <a:solidFill>
                  <a:srgbClr val="FF0000"/>
                </a:solidFill>
                <a:latin typeface="+mn-ea"/>
              </a:rPr>
              <a:t>的外部信号时，如何跳转到对应的</a:t>
            </a:r>
            <a:r>
              <a:rPr lang="en-US" altLang="zh-CN" sz="1400" dirty="0">
                <a:solidFill>
                  <a:srgbClr val="FF0000"/>
                </a:solidFill>
                <a:latin typeface="+mn-ea"/>
              </a:rPr>
              <a:t>S3</a:t>
            </a:r>
            <a:r>
              <a:rPr lang="zh-CN" altLang="en-US" sz="1400" dirty="0">
                <a:solidFill>
                  <a:srgbClr val="FF0000"/>
                </a:solidFill>
                <a:latin typeface="+mn-ea"/>
              </a:rPr>
              <a:t>微地址。</a:t>
            </a:r>
            <a:endParaRPr lang="zh-CN" altLang="en-US" sz="1400" dirty="0">
              <a:solidFill>
                <a:srgbClr val="FF0000"/>
              </a:solidFill>
              <a:latin typeface="+mn-ea"/>
            </a:endParaRPr>
          </a:p>
          <a:p>
            <a:pPr indent="0">
              <a:buFont typeface="Arial" panose="020B0604020202020204" pitchFamily="34" charset="0"/>
              <a:buNone/>
            </a:pPr>
            <a:r>
              <a:rPr lang="zh-CN" altLang="en-US" sz="1400" dirty="0">
                <a:solidFill>
                  <a:schemeClr val="tx1"/>
                </a:solidFill>
                <a:latin typeface="+mn-ea"/>
              </a:rPr>
              <a:t>因此，如果严格一点的话，保证每个状态的周期是一样的，也就不能够设置这种多余微地址。但是由于输出的微命令不同，所以在</a:t>
            </a:r>
            <a:r>
              <a:rPr lang="en-US" altLang="zh-CN" sz="1400" dirty="0">
                <a:solidFill>
                  <a:schemeClr val="tx1"/>
                </a:solidFill>
                <a:latin typeface="+mn-ea"/>
              </a:rPr>
              <a:t>T2</a:t>
            </a:r>
            <a:r>
              <a:rPr lang="zh-CN" altLang="en-US" sz="1400" dirty="0">
                <a:solidFill>
                  <a:schemeClr val="tx1"/>
                </a:solidFill>
                <a:latin typeface="+mn-ea"/>
              </a:rPr>
              <a:t>时间段，我们要修改控制信号的输出（微命令）。</a:t>
            </a:r>
            <a:endParaRPr lang="zh-CN" altLang="en-US" sz="1400" dirty="0">
              <a:solidFill>
                <a:schemeClr val="tx1"/>
              </a:solidFill>
              <a:latin typeface="+mn-ea"/>
            </a:endParaRPr>
          </a:p>
          <a:p>
            <a:pPr indent="0">
              <a:buFont typeface="Arial" panose="020B0604020202020204" pitchFamily="34" charset="0"/>
              <a:buNone/>
            </a:pPr>
            <a:r>
              <a:rPr lang="zh-CN" altLang="en-US" sz="1400" dirty="0">
                <a:solidFill>
                  <a:schemeClr val="tx1"/>
                </a:solidFill>
                <a:latin typeface="+mn-ea"/>
              </a:rPr>
              <a:t>这样的话，流程如下：</a:t>
            </a:r>
            <a:endParaRPr lang="zh-CN" altLang="en-US" sz="1400" dirty="0">
              <a:solidFill>
                <a:schemeClr val="tx1"/>
              </a:solidFill>
              <a:latin typeface="+mn-ea"/>
            </a:endParaRPr>
          </a:p>
          <a:p>
            <a:pPr indent="0">
              <a:buFont typeface="Arial" panose="020B0604020202020204" pitchFamily="34" charset="0"/>
              <a:buNone/>
            </a:pPr>
            <a:r>
              <a:rPr lang="en-US" altLang="zh-CN" sz="1400" dirty="0">
                <a:solidFill>
                  <a:schemeClr val="tx1"/>
                </a:solidFill>
                <a:latin typeface="+mn-ea"/>
                <a:sym typeface="+mn-ea"/>
              </a:rPr>
              <a:t>S0--&gt;S1--&gt;S2--&gt;S3</a:t>
            </a:r>
            <a:r>
              <a:rPr lang="en-US" altLang="zh-CN" sz="1400" dirty="0">
                <a:solidFill>
                  <a:schemeClr val="tx1"/>
                </a:solidFill>
                <a:latin typeface="+mn-ea"/>
                <a:sym typeface="+mn-ea"/>
              </a:rPr>
              <a:t>---&gt;S4</a:t>
            </a:r>
            <a:r>
              <a:rPr lang="zh-CN" altLang="en-US" sz="1400" dirty="0">
                <a:solidFill>
                  <a:schemeClr val="tx1"/>
                </a:solidFill>
                <a:latin typeface="+mn-ea"/>
              </a:rPr>
              <a:t> </a:t>
            </a:r>
            <a:r>
              <a:rPr lang="en-US" altLang="zh-CN" sz="1400" dirty="0">
                <a:solidFill>
                  <a:schemeClr val="tx1"/>
                </a:solidFill>
                <a:latin typeface="+mn-ea"/>
              </a:rPr>
              <a:t>  </a:t>
            </a:r>
            <a:r>
              <a:rPr lang="en-US" altLang="zh-CN" sz="1400" dirty="0">
                <a:solidFill>
                  <a:schemeClr val="tx1"/>
                </a:solidFill>
                <a:latin typeface="+mn-ea"/>
                <a:sym typeface="+mn-ea"/>
              </a:rPr>
              <a:t>S4</a:t>
            </a:r>
            <a:r>
              <a:rPr lang="zh-CN" altLang="en-US" sz="1400" dirty="0">
                <a:solidFill>
                  <a:schemeClr val="tx1"/>
                </a:solidFill>
                <a:latin typeface="+mn-ea"/>
                <a:sym typeface="+mn-ea"/>
              </a:rPr>
              <a:t> </a:t>
            </a:r>
            <a:r>
              <a:rPr lang="en-US" altLang="zh-CN" sz="1400" dirty="0">
                <a:solidFill>
                  <a:schemeClr val="tx1"/>
                </a:solidFill>
                <a:latin typeface="+mn-ea"/>
                <a:sym typeface="+mn-ea"/>
              </a:rPr>
              <a:t>--&gt;S4</a:t>
            </a:r>
            <a:endParaRPr lang="en-US" altLang="zh-CN" sz="1400" dirty="0">
              <a:solidFill>
                <a:schemeClr val="tx1"/>
              </a:solidFill>
              <a:latin typeface="+mn-ea"/>
              <a:sym typeface="+mn-ea"/>
            </a:endParaRPr>
          </a:p>
          <a:p>
            <a:pPr indent="0">
              <a:buFont typeface="Arial" panose="020B0604020202020204" pitchFamily="34" charset="0"/>
              <a:buNone/>
            </a:pPr>
            <a:r>
              <a:rPr lang="zh-CN" altLang="en-US" sz="1400" dirty="0">
                <a:solidFill>
                  <a:schemeClr val="tx1"/>
                </a:solidFill>
                <a:latin typeface="+mn-ea"/>
              </a:rPr>
              <a:t>这样只</a:t>
            </a:r>
            <a:r>
              <a:rPr lang="zh-CN" altLang="en-US" sz="1400" dirty="0">
                <a:solidFill>
                  <a:schemeClr val="tx1"/>
                </a:solidFill>
                <a:latin typeface="+mn-ea"/>
              </a:rPr>
              <a:t>需要：</a:t>
            </a:r>
            <a:endParaRPr lang="zh-CN" altLang="en-US" sz="1400" dirty="0">
              <a:solidFill>
                <a:schemeClr val="tx1"/>
              </a:solidFill>
              <a:latin typeface="+mn-ea"/>
            </a:endParaRPr>
          </a:p>
          <a:p>
            <a:pPr indent="0" fontAlgn="auto">
              <a:lnSpc>
                <a:spcPct val="100000"/>
              </a:lnSpc>
              <a:buFont typeface="Arial" panose="020B0604020202020204" pitchFamily="34" charset="0"/>
              <a:buNone/>
            </a:pPr>
            <a:r>
              <a:rPr lang="zh-CN" altLang="en-US" sz="1400" dirty="0">
                <a:latin typeface="+mn-ea"/>
                <a:sym typeface="+mn-ea"/>
              </a:rPr>
              <a:t>当</a:t>
            </a:r>
            <a:r>
              <a:rPr lang="en-US" altLang="zh-CN" sz="1400" dirty="0">
                <a:latin typeface="+mn-ea"/>
                <a:sym typeface="+mn-ea"/>
              </a:rPr>
              <a:t>X1X2=0x</a:t>
            </a:r>
            <a:r>
              <a:rPr lang="zh-CN" altLang="en-US" sz="1400" dirty="0">
                <a:latin typeface="+mn-ea"/>
                <a:sym typeface="+mn-ea"/>
              </a:rPr>
              <a:t>时，强制置</a:t>
            </a:r>
            <a:r>
              <a:rPr lang="en-US" altLang="zh-CN" sz="1400" dirty="0">
                <a:latin typeface="+mn-ea"/>
                <a:sym typeface="+mn-ea"/>
              </a:rPr>
              <a:t>0</a:t>
            </a:r>
            <a:r>
              <a:rPr lang="zh-CN" altLang="en-US" sz="1400" dirty="0">
                <a:latin typeface="+mn-ea"/>
                <a:sym typeface="+mn-ea"/>
              </a:rPr>
              <a:t>。但是如此前的转移图所示，实际有效只需要</a:t>
            </a:r>
            <a:r>
              <a:rPr lang="en-US" altLang="zh-CN" sz="1400" dirty="0">
                <a:latin typeface="+mn-ea"/>
                <a:sym typeface="+mn-ea"/>
              </a:rPr>
              <a:t>X1</a:t>
            </a:r>
            <a:r>
              <a:rPr lang="zh-CN" altLang="en-US" sz="1400" dirty="0">
                <a:latin typeface="+mn-ea"/>
                <a:sym typeface="+mn-ea"/>
              </a:rPr>
              <a:t>，也就只需要</a:t>
            </a:r>
            <a:r>
              <a:rPr lang="en-US" altLang="zh-CN" sz="1400" dirty="0">
                <a:latin typeface="+mn-ea"/>
                <a:sym typeface="+mn-ea"/>
              </a:rPr>
              <a:t>P(1)</a:t>
            </a:r>
            <a:r>
              <a:rPr lang="zh-CN" altLang="en-US" sz="1400" dirty="0">
                <a:latin typeface="+mn-ea"/>
                <a:sym typeface="+mn-ea"/>
              </a:rPr>
              <a:t>有效即可。也就是通过</a:t>
            </a:r>
            <a:r>
              <a:rPr lang="en-US" altLang="zh-CN" sz="1400" dirty="0">
                <a:latin typeface="+mn-ea"/>
                <a:sym typeface="+mn-ea"/>
              </a:rPr>
              <a:t>A\B\C</a:t>
            </a:r>
            <a:r>
              <a:rPr lang="zh-CN" altLang="en-US" sz="1400" dirty="0">
                <a:latin typeface="+mn-ea"/>
                <a:sym typeface="+mn-ea"/>
              </a:rPr>
              <a:t>触发器的</a:t>
            </a:r>
            <a:r>
              <a:rPr lang="en-US" altLang="zh-CN" sz="1400" dirty="0">
                <a:latin typeface="+mn-ea"/>
                <a:sym typeface="+mn-ea"/>
              </a:rPr>
              <a:t>R</a:t>
            </a:r>
            <a:r>
              <a:rPr lang="en-US" altLang="zh-CN" sz="1400" baseline="-25000" dirty="0">
                <a:latin typeface="+mn-ea"/>
                <a:sym typeface="+mn-ea"/>
              </a:rPr>
              <a:t>D</a:t>
            </a:r>
            <a:r>
              <a:rPr lang="zh-CN" altLang="en-US" sz="1400" dirty="0">
                <a:latin typeface="+mn-ea"/>
                <a:sym typeface="+mn-ea"/>
              </a:rPr>
              <a:t>端强制置</a:t>
            </a:r>
            <a:r>
              <a:rPr lang="en-US" altLang="zh-CN" sz="1400" dirty="0">
                <a:latin typeface="+mn-ea"/>
                <a:sym typeface="+mn-ea"/>
              </a:rPr>
              <a:t>”1“</a:t>
            </a:r>
            <a:r>
              <a:rPr lang="zh-CN" altLang="en-US" sz="1400" dirty="0">
                <a:latin typeface="+mn-ea"/>
                <a:sym typeface="+mn-ea"/>
              </a:rPr>
              <a:t>的方式修改下</a:t>
            </a:r>
            <a:endParaRPr lang="zh-CN" altLang="en-US" sz="1400" dirty="0">
              <a:latin typeface="+mn-ea"/>
              <a:sym typeface="+mn-ea"/>
            </a:endParaRPr>
          </a:p>
          <a:p>
            <a:pPr indent="0" fontAlgn="auto">
              <a:lnSpc>
                <a:spcPct val="100000"/>
              </a:lnSpc>
              <a:buFont typeface="Arial" panose="020B0604020202020204" pitchFamily="34" charset="0"/>
              <a:buNone/>
            </a:pPr>
            <a:r>
              <a:rPr lang="zh-CN" altLang="en-US" sz="1400" dirty="0">
                <a:latin typeface="+mn-ea"/>
                <a:sym typeface="+mn-ea"/>
              </a:rPr>
              <a:t>地址为</a:t>
            </a:r>
            <a:r>
              <a:rPr lang="en-US" altLang="zh-CN" sz="1400" dirty="0">
                <a:latin typeface="+mn-ea"/>
                <a:sym typeface="+mn-ea"/>
              </a:rPr>
              <a:t>0</a:t>
            </a:r>
            <a:r>
              <a:rPr lang="zh-CN" altLang="en-US" sz="1400" dirty="0">
                <a:latin typeface="+mn-ea"/>
                <a:sym typeface="+mn-ea"/>
              </a:rPr>
              <a:t>：</a:t>
            </a:r>
            <a:r>
              <a:rPr lang="en-US" altLang="zh-CN" sz="1400" dirty="0">
                <a:latin typeface="+mn-ea"/>
                <a:sym typeface="+mn-ea"/>
              </a:rPr>
              <a:t>R</a:t>
            </a:r>
            <a:r>
              <a:rPr lang="en-US" altLang="zh-CN" sz="1400" baseline="-25000" dirty="0">
                <a:latin typeface="+mn-ea"/>
                <a:sym typeface="+mn-ea"/>
              </a:rPr>
              <a:t>D </a:t>
            </a:r>
            <a:r>
              <a:rPr lang="en-US" altLang="zh-CN" sz="1400" dirty="0">
                <a:latin typeface="+mn-ea"/>
                <a:sym typeface="+mn-ea"/>
              </a:rPr>
              <a:t>= T3 · P(1) · X1‘</a:t>
            </a:r>
            <a:endParaRPr lang="zh-CN" altLang="en-US" sz="1400" dirty="0">
              <a:solidFill>
                <a:schemeClr val="tx1"/>
              </a:solidFill>
              <a:latin typeface="+mn-ea"/>
            </a:endParaRPr>
          </a:p>
          <a:p>
            <a:pPr indent="0">
              <a:buFont typeface="Arial" panose="020B0604020202020204" pitchFamily="34" charset="0"/>
              <a:buNone/>
            </a:pPr>
            <a:r>
              <a:rPr lang="zh-CN" altLang="en-US" sz="1400" dirty="0">
                <a:solidFill>
                  <a:schemeClr val="tx1"/>
                </a:solidFill>
                <a:latin typeface="+mn-ea"/>
              </a:rPr>
              <a:t>这里要考虑修改</a:t>
            </a:r>
            <a:r>
              <a:rPr lang="en-US" altLang="zh-CN" sz="1400" dirty="0">
                <a:solidFill>
                  <a:schemeClr val="tx1"/>
                </a:solidFill>
                <a:latin typeface="+mn-ea"/>
              </a:rPr>
              <a:t>S3</a:t>
            </a:r>
            <a:r>
              <a:rPr lang="zh-CN" altLang="en-US" sz="1400" dirty="0">
                <a:solidFill>
                  <a:schemeClr val="tx1"/>
                </a:solidFill>
                <a:latin typeface="+mn-ea"/>
              </a:rPr>
              <a:t>阶段的控制信号输出。也就是需要当</a:t>
            </a:r>
            <a:r>
              <a:rPr lang="en-US" altLang="zh-CN" sz="1400" dirty="0">
                <a:solidFill>
                  <a:schemeClr val="tx1"/>
                </a:solidFill>
                <a:latin typeface="+mn-ea"/>
              </a:rPr>
              <a:t>X1X2 =01</a:t>
            </a:r>
            <a:r>
              <a:rPr lang="zh-CN" altLang="en-US" sz="1400" dirty="0">
                <a:solidFill>
                  <a:schemeClr val="tx1"/>
                </a:solidFill>
                <a:latin typeface="+mn-ea"/>
              </a:rPr>
              <a:t>的时候调整</a:t>
            </a:r>
            <a:r>
              <a:rPr lang="en-US" altLang="zh-CN" sz="1400" dirty="0">
                <a:solidFill>
                  <a:schemeClr val="tx1"/>
                </a:solidFill>
                <a:latin typeface="+mn-ea"/>
              </a:rPr>
              <a:t>Y = 1</a:t>
            </a:r>
            <a:r>
              <a:rPr lang="zh-CN" altLang="en-US" sz="1400" dirty="0">
                <a:solidFill>
                  <a:schemeClr val="tx1"/>
                </a:solidFill>
                <a:latin typeface="+mn-ea"/>
              </a:rPr>
              <a:t>；</a:t>
            </a:r>
            <a:endParaRPr lang="zh-CN" altLang="en-US" sz="1400" dirty="0">
              <a:solidFill>
                <a:schemeClr val="tx1"/>
              </a:solidFill>
              <a:latin typeface="+mn-ea"/>
            </a:endParaRPr>
          </a:p>
          <a:p>
            <a:pPr indent="0">
              <a:buFont typeface="Arial" panose="020B0604020202020204" pitchFamily="34" charset="0"/>
              <a:buNone/>
            </a:pPr>
            <a:r>
              <a:rPr lang="zh-CN" altLang="en-US" sz="1400" dirty="0">
                <a:solidFill>
                  <a:schemeClr val="tx1"/>
                </a:solidFill>
                <a:latin typeface="+mn-ea"/>
              </a:rPr>
              <a:t>也就是：</a:t>
            </a:r>
            <a:r>
              <a:rPr lang="en-US" altLang="zh-CN" sz="1400" dirty="0">
                <a:solidFill>
                  <a:schemeClr val="tx1"/>
                </a:solidFill>
                <a:latin typeface="+mn-ea"/>
              </a:rPr>
              <a:t> Y = T2</a:t>
            </a:r>
            <a:r>
              <a:rPr lang="en-US" altLang="zh-CN" sz="1400" dirty="0">
                <a:latin typeface="+mn-ea"/>
                <a:sym typeface="+mn-ea"/>
              </a:rPr>
              <a:t>· P(1)· P(2)· X2</a:t>
            </a:r>
            <a:endParaRPr lang="en-US" altLang="zh-CN" sz="1400" dirty="0">
              <a:solidFill>
                <a:schemeClr val="tx1"/>
              </a:solidFill>
              <a:latin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微控制器</a:t>
            </a:r>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217805" y="1043940"/>
            <a:ext cx="6305550" cy="4679315"/>
          </a:xfrm>
          <a:prstGeom prst="rect">
            <a:avLst/>
          </a:prstGeom>
        </p:spPr>
      </p:pic>
      <p:pic>
        <p:nvPicPr>
          <p:cNvPr id="10" name="图片 9"/>
          <p:cNvPicPr>
            <a:picLocks noChangeAspect="1"/>
          </p:cNvPicPr>
          <p:nvPr/>
        </p:nvPicPr>
        <p:blipFill>
          <a:blip r:embed="rId2"/>
          <a:srcRect b="20002"/>
          <a:stretch>
            <a:fillRect/>
          </a:stretch>
        </p:blipFill>
        <p:spPr>
          <a:xfrm>
            <a:off x="6523355" y="960120"/>
            <a:ext cx="5090795" cy="4302125"/>
          </a:xfrm>
          <a:prstGeom prst="rect">
            <a:avLst/>
          </a:prstGeom>
        </p:spPr>
      </p:pic>
      <p:pic>
        <p:nvPicPr>
          <p:cNvPr id="11" name="图片 10"/>
          <p:cNvPicPr>
            <a:picLocks noChangeAspect="1"/>
          </p:cNvPicPr>
          <p:nvPr/>
        </p:nvPicPr>
        <p:blipFill>
          <a:blip r:embed="rId3"/>
          <a:stretch>
            <a:fillRect/>
          </a:stretch>
        </p:blipFill>
        <p:spPr>
          <a:xfrm>
            <a:off x="544195" y="2771140"/>
            <a:ext cx="5426710" cy="2952115"/>
          </a:xfrm>
          <a:prstGeom prst="rect">
            <a:avLst/>
          </a:prstGeom>
        </p:spPr>
      </p:pic>
      <p:pic>
        <p:nvPicPr>
          <p:cNvPr id="12" name="图片 11"/>
          <p:cNvPicPr>
            <a:picLocks noChangeAspect="1"/>
          </p:cNvPicPr>
          <p:nvPr/>
        </p:nvPicPr>
        <p:blipFill>
          <a:blip r:embed="rId4"/>
          <a:stretch>
            <a:fillRect/>
          </a:stretch>
        </p:blipFill>
        <p:spPr>
          <a:xfrm>
            <a:off x="6165850" y="5439410"/>
            <a:ext cx="5629275" cy="9429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10</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7" name="文本框 6"/>
              <p:cNvSpPr txBox="1"/>
              <p:nvPr/>
            </p:nvSpPr>
            <p:spPr>
              <a:xfrm>
                <a:off x="433705" y="1223010"/>
                <a:ext cx="10433685" cy="3482340"/>
              </a:xfrm>
              <a:prstGeom prst="rect">
                <a:avLst/>
              </a:prstGeom>
              <a:noFill/>
            </p:spPr>
            <p:txBody>
              <a:bodyPr wrap="square" rtlCol="0">
                <a:noAutofit/>
              </a:bodyPr>
              <a:lstStyle/>
              <a:p>
                <a:pPr>
                  <a:lnSpc>
                    <a:spcPct val="130000"/>
                  </a:lnSpc>
                </a:pPr>
                <a:r>
                  <a:rPr lang="zh-CN" altLang="en-US" dirty="0">
                    <a:solidFill>
                      <a:prstClr val="black"/>
                    </a:solidFill>
                    <a:latin typeface="微软雅黑" panose="020B0503020204020204" charset="-122"/>
                    <a:ea typeface="微软雅黑" panose="020B0503020204020204" charset="-122"/>
                  </a:rPr>
                  <a:t>一、施密特触发电路的</a:t>
                </a:r>
                <a14:m>
                  <m:oMath xmlns:m="http://schemas.openxmlformats.org/officeDocument/2006/math">
                    <m:sSub>
                      <m:sSubPr>
                        <m:ctrlPr>
                          <a:rPr lang="en-US" altLang="zh-CN" i="1" dirty="0" smtClean="0">
                            <a:solidFill>
                              <a:prstClr val="black"/>
                            </a:solidFill>
                            <a:latin typeface="Cambria Math" panose="02040503050406030204" pitchFamily="18" charset="0"/>
                            <a:ea typeface="微软雅黑" panose="020B0503020204020204" charset="-122"/>
                          </a:rPr>
                        </m:ctrlPr>
                      </m:sSubPr>
                      <m:e>
                        <m:r>
                          <a:rPr lang="en-US" altLang="zh-CN" b="0" i="1" dirty="0" smtClean="0">
                            <a:solidFill>
                              <a:prstClr val="black"/>
                            </a:solidFill>
                            <a:latin typeface="Cambria Math" panose="02040503050406030204" pitchFamily="18" charset="0"/>
                            <a:ea typeface="微软雅黑" panose="020B0503020204020204" charset="-122"/>
                          </a:rPr>
                          <m:t>𝑉</m:t>
                        </m:r>
                      </m:e>
                      <m:sub>
                        <m:r>
                          <a:rPr lang="en-US" altLang="zh-CN" b="0" i="1" dirty="0" smtClean="0">
                            <a:solidFill>
                              <a:prstClr val="black"/>
                            </a:solidFill>
                            <a:latin typeface="Cambria Math" panose="02040503050406030204" pitchFamily="18" charset="0"/>
                            <a:ea typeface="微软雅黑" panose="020B0503020204020204" charset="-122"/>
                          </a:rPr>
                          <m:t>𝑇</m:t>
                        </m:r>
                        <m:r>
                          <a:rPr lang="en-US" altLang="zh-CN" b="0" i="1" dirty="0" smtClean="0">
                            <a:solidFill>
                              <a:prstClr val="black"/>
                            </a:solidFill>
                            <a:latin typeface="Cambria Math" panose="02040503050406030204" pitchFamily="18" charset="0"/>
                            <a:ea typeface="微软雅黑" panose="020B0503020204020204" charset="-122"/>
                          </a:rPr>
                          <m:t>+</m:t>
                        </m:r>
                      </m:sub>
                    </m:sSub>
                  </m:oMath>
                </a14:m>
                <a:r>
                  <a:rPr lang="zh-CN" altLang="en-US" dirty="0">
                    <a:solidFill>
                      <a:prstClr val="black"/>
                    </a:solidFill>
                    <a:latin typeface="微软雅黑" panose="020B0503020204020204" charset="-122"/>
                    <a:ea typeface="微软雅黑" panose="020B0503020204020204" charset="-122"/>
                  </a:rPr>
                  <a:t>和</a:t>
                </a:r>
                <a14:m>
                  <m:oMath xmlns:m="http://schemas.openxmlformats.org/officeDocument/2006/math">
                    <m:sSub>
                      <m:sSubPr>
                        <m:ctrlPr>
                          <a:rPr lang="en-US" altLang="zh-CN" i="1" dirty="0">
                            <a:solidFill>
                              <a:prstClr val="black"/>
                            </a:solidFill>
                            <a:latin typeface="Cambria Math" panose="02040503050406030204" pitchFamily="18" charset="0"/>
                            <a:ea typeface="微软雅黑" panose="020B0503020204020204" charset="-122"/>
                          </a:rPr>
                        </m:ctrlPr>
                      </m:sSubPr>
                      <m:e>
                        <m:r>
                          <a:rPr lang="en-US" altLang="zh-CN" i="1" dirty="0">
                            <a:solidFill>
                              <a:prstClr val="black"/>
                            </a:solidFill>
                            <a:latin typeface="Cambria Math" panose="02040503050406030204" pitchFamily="18" charset="0"/>
                            <a:ea typeface="微软雅黑" panose="020B0503020204020204" charset="-122"/>
                          </a:rPr>
                          <m:t>𝑉</m:t>
                        </m:r>
                      </m:e>
                      <m:sub>
                        <m:r>
                          <a:rPr lang="en-US" altLang="zh-CN" i="1" dirty="0">
                            <a:solidFill>
                              <a:prstClr val="black"/>
                            </a:solidFill>
                            <a:latin typeface="Cambria Math" panose="02040503050406030204" pitchFamily="18" charset="0"/>
                            <a:ea typeface="微软雅黑" panose="020B0503020204020204" charset="-122"/>
                          </a:rPr>
                          <m:t>𝑇</m:t>
                        </m:r>
                        <m:r>
                          <a:rPr lang="en-US" altLang="zh-CN" i="1" dirty="0" smtClean="0">
                            <a:solidFill>
                              <a:prstClr val="black"/>
                            </a:solidFill>
                            <a:latin typeface="Cambria Math" panose="02040503050406030204" pitchFamily="18" charset="0"/>
                            <a:ea typeface="微软雅黑" panose="020B0503020204020204" charset="-122"/>
                          </a:rPr>
                          <m:t>−</m:t>
                        </m:r>
                      </m:sub>
                    </m:sSub>
                  </m:oMath>
                </a14:m>
                <a:r>
                  <a:rPr lang="zh-CN" altLang="en-US" dirty="0">
                    <a:solidFill>
                      <a:prstClr val="black"/>
                    </a:solidFill>
                    <a:latin typeface="微软雅黑" panose="020B0503020204020204" charset="-122"/>
                    <a:ea typeface="微软雅黑" panose="020B0503020204020204" charset="-122"/>
                  </a:rPr>
                  <a:t>计算</a:t>
                </a:r>
                <a:endParaRPr lang="zh-CN" altLang="en-US" dirty="0">
                  <a:solidFill>
                    <a:prstClr val="black"/>
                  </a:solidFill>
                  <a:latin typeface="微软雅黑" panose="020B0503020204020204" charset="-122"/>
                  <a:ea typeface="微软雅黑" panose="020B0503020204020204" charset="-122"/>
                </a:endParaRPr>
              </a:p>
              <a:p>
                <a:pPr>
                  <a:lnSpc>
                    <a:spcPct val="130000"/>
                  </a:lnSpc>
                </a:pPr>
                <a:r>
                  <a:rPr lang="zh-CN" altLang="en-US" dirty="0">
                    <a:solidFill>
                      <a:prstClr val="black"/>
                    </a:solidFill>
                    <a:latin typeface="微软雅黑" panose="020B0503020204020204" charset="-122"/>
                    <a:ea typeface="微软雅黑" panose="020B0503020204020204" charset="-122"/>
                  </a:rPr>
                  <a:t>      因为在施密特触发电路中，输人电压上升过程中引起电路状态变化的正向阈值电压</a:t>
                </a:r>
                <a14:m>
                  <m:oMath xmlns:m="http://schemas.openxmlformats.org/officeDocument/2006/math">
                    <m:sSub>
                      <m:sSubPr>
                        <m:ctrlPr>
                          <a:rPr lang="en-US" altLang="zh-CN" i="1" dirty="0">
                            <a:solidFill>
                              <a:prstClr val="black"/>
                            </a:solidFill>
                            <a:latin typeface="Cambria Math" panose="02040503050406030204" pitchFamily="18" charset="0"/>
                            <a:ea typeface="微软雅黑" panose="020B0503020204020204" charset="-122"/>
                          </a:rPr>
                        </m:ctrlPr>
                      </m:sSubPr>
                      <m:e>
                        <m:r>
                          <a:rPr lang="en-US" altLang="zh-CN" i="1" dirty="0">
                            <a:solidFill>
                              <a:prstClr val="black"/>
                            </a:solidFill>
                            <a:latin typeface="Cambria Math" panose="02040503050406030204" pitchFamily="18" charset="0"/>
                            <a:ea typeface="微软雅黑" panose="020B0503020204020204" charset="-122"/>
                          </a:rPr>
                          <m:t>𝑉</m:t>
                        </m:r>
                      </m:e>
                      <m:sub>
                        <m:r>
                          <a:rPr lang="en-US" altLang="zh-CN" i="1" dirty="0">
                            <a:solidFill>
                              <a:prstClr val="black"/>
                            </a:solidFill>
                            <a:latin typeface="Cambria Math" panose="02040503050406030204" pitchFamily="18" charset="0"/>
                            <a:ea typeface="微软雅黑" panose="020B0503020204020204" charset="-122"/>
                          </a:rPr>
                          <m:t>𝑇</m:t>
                        </m:r>
                        <m:r>
                          <a:rPr lang="en-US" altLang="zh-CN" i="1" dirty="0">
                            <a:solidFill>
                              <a:prstClr val="black"/>
                            </a:solidFill>
                            <a:latin typeface="Cambria Math" panose="02040503050406030204" pitchFamily="18" charset="0"/>
                            <a:ea typeface="微软雅黑" panose="020B0503020204020204" charset="-122"/>
                          </a:rPr>
                          <m:t>+</m:t>
                        </m:r>
                      </m:sub>
                    </m:sSub>
                  </m:oMath>
                </a14:m>
                <a:r>
                  <a:rPr lang="zh-CN" altLang="en-US" dirty="0">
                    <a:solidFill>
                      <a:prstClr val="black"/>
                    </a:solidFill>
                    <a:latin typeface="微软雅黑" panose="020B0503020204020204" charset="-122"/>
                    <a:ea typeface="微软雅黑" panose="020B0503020204020204" charset="-122"/>
                  </a:rPr>
                  <a:t>和输人电压下降过程中引起电路状态变化的负向阈值电压</a:t>
                </a:r>
                <a14:m>
                  <m:oMath xmlns:m="http://schemas.openxmlformats.org/officeDocument/2006/math">
                    <m:sSub>
                      <m:sSubPr>
                        <m:ctrlPr>
                          <a:rPr lang="en-US" altLang="zh-CN" i="1" dirty="0">
                            <a:solidFill>
                              <a:prstClr val="black"/>
                            </a:solidFill>
                            <a:latin typeface="Cambria Math" panose="02040503050406030204" pitchFamily="18" charset="0"/>
                            <a:ea typeface="微软雅黑" panose="020B0503020204020204" charset="-122"/>
                          </a:rPr>
                        </m:ctrlPr>
                      </m:sSubPr>
                      <m:e>
                        <m:r>
                          <a:rPr lang="en-US" altLang="zh-CN" i="1" dirty="0">
                            <a:solidFill>
                              <a:prstClr val="black"/>
                            </a:solidFill>
                            <a:latin typeface="Cambria Math" panose="02040503050406030204" pitchFamily="18" charset="0"/>
                            <a:ea typeface="微软雅黑" panose="020B0503020204020204" charset="-122"/>
                          </a:rPr>
                          <m:t>𝑉</m:t>
                        </m:r>
                      </m:e>
                      <m:sub>
                        <m:r>
                          <a:rPr lang="en-US" altLang="zh-CN" i="1" dirty="0">
                            <a:solidFill>
                              <a:prstClr val="black"/>
                            </a:solidFill>
                            <a:latin typeface="Cambria Math" panose="02040503050406030204" pitchFamily="18" charset="0"/>
                            <a:ea typeface="微软雅黑" panose="020B0503020204020204" charset="-122"/>
                          </a:rPr>
                          <m:t>𝑇</m:t>
                        </m:r>
                        <m:r>
                          <a:rPr lang="en-US" altLang="zh-CN" i="1" dirty="0">
                            <a:solidFill>
                              <a:prstClr val="black"/>
                            </a:solidFill>
                            <a:latin typeface="Cambria Math" panose="02040503050406030204" pitchFamily="18" charset="0"/>
                            <a:ea typeface="微软雅黑" panose="020B0503020204020204" charset="-122"/>
                          </a:rPr>
                          <m:t>−</m:t>
                        </m:r>
                      </m:sub>
                    </m:sSub>
                  </m:oMath>
                </a14:m>
                <a:r>
                  <a:rPr lang="zh-CN" altLang="en-US" dirty="0">
                    <a:solidFill>
                      <a:prstClr val="black"/>
                    </a:solidFill>
                    <a:latin typeface="微软雅黑" panose="020B0503020204020204" charset="-122"/>
                    <a:ea typeface="微软雅黑" panose="020B0503020204020204" charset="-122"/>
                  </a:rPr>
                  <a:t>是不同的，所以需分别计算出 </a:t>
                </a:r>
                <a14:m>
                  <m:oMath xmlns:m="http://schemas.openxmlformats.org/officeDocument/2006/math">
                    <m:sSub>
                      <m:sSubPr>
                        <m:ctrlPr>
                          <a:rPr lang="en-US" altLang="zh-CN" i="1" dirty="0">
                            <a:solidFill>
                              <a:prstClr val="black"/>
                            </a:solidFill>
                            <a:latin typeface="Cambria Math" panose="02040503050406030204" pitchFamily="18" charset="0"/>
                            <a:ea typeface="微软雅黑" panose="020B0503020204020204" charset="-122"/>
                          </a:rPr>
                        </m:ctrlPr>
                      </m:sSubPr>
                      <m:e>
                        <m:r>
                          <a:rPr lang="en-US" altLang="zh-CN" i="1" dirty="0">
                            <a:solidFill>
                              <a:prstClr val="black"/>
                            </a:solidFill>
                            <a:latin typeface="Cambria Math" panose="02040503050406030204" pitchFamily="18" charset="0"/>
                            <a:ea typeface="微软雅黑" panose="020B0503020204020204" charset="-122"/>
                          </a:rPr>
                          <m:t>𝑉</m:t>
                        </m:r>
                      </m:e>
                      <m:sub>
                        <m:r>
                          <a:rPr lang="en-US" altLang="zh-CN" i="1" dirty="0">
                            <a:solidFill>
                              <a:prstClr val="black"/>
                            </a:solidFill>
                            <a:latin typeface="Cambria Math" panose="02040503050406030204" pitchFamily="18" charset="0"/>
                            <a:ea typeface="微软雅黑" panose="020B0503020204020204" charset="-122"/>
                          </a:rPr>
                          <m:t>𝑇</m:t>
                        </m:r>
                        <m:r>
                          <a:rPr lang="en-US" altLang="zh-CN" i="1" dirty="0">
                            <a:solidFill>
                              <a:prstClr val="black"/>
                            </a:solidFill>
                            <a:latin typeface="Cambria Math" panose="02040503050406030204" pitchFamily="18" charset="0"/>
                            <a:ea typeface="微软雅黑" panose="020B0503020204020204" charset="-122"/>
                          </a:rPr>
                          <m:t>+</m:t>
                        </m:r>
                      </m:sub>
                    </m:sSub>
                  </m:oMath>
                </a14:m>
                <a:r>
                  <a:rPr lang="zh-CN" altLang="en-US" dirty="0">
                    <a:solidFill>
                      <a:prstClr val="black"/>
                    </a:solidFill>
                    <a:latin typeface="微软雅黑" panose="020B0503020204020204" charset="-122"/>
                    <a:ea typeface="微软雅黑" panose="020B0503020204020204" charset="-122"/>
                  </a:rPr>
                  <a:t>和 </a:t>
                </a:r>
                <a14:m>
                  <m:oMath xmlns:m="http://schemas.openxmlformats.org/officeDocument/2006/math">
                    <m:sSub>
                      <m:sSubPr>
                        <m:ctrlPr>
                          <a:rPr lang="en-US" altLang="zh-CN" i="1" dirty="0">
                            <a:solidFill>
                              <a:prstClr val="black"/>
                            </a:solidFill>
                            <a:latin typeface="Cambria Math" panose="02040503050406030204" pitchFamily="18" charset="0"/>
                            <a:ea typeface="微软雅黑" panose="020B0503020204020204" charset="-122"/>
                          </a:rPr>
                        </m:ctrlPr>
                      </m:sSubPr>
                      <m:e>
                        <m:r>
                          <a:rPr lang="en-US" altLang="zh-CN" i="1" dirty="0">
                            <a:solidFill>
                              <a:prstClr val="black"/>
                            </a:solidFill>
                            <a:latin typeface="Cambria Math" panose="02040503050406030204" pitchFamily="18" charset="0"/>
                            <a:ea typeface="微软雅黑" panose="020B0503020204020204" charset="-122"/>
                          </a:rPr>
                          <m:t>𝑉</m:t>
                        </m:r>
                      </m:e>
                      <m:sub>
                        <m:r>
                          <a:rPr lang="en-US" altLang="zh-CN" i="1" dirty="0">
                            <a:solidFill>
                              <a:prstClr val="black"/>
                            </a:solidFill>
                            <a:latin typeface="Cambria Math" panose="02040503050406030204" pitchFamily="18" charset="0"/>
                            <a:ea typeface="微软雅黑" panose="020B0503020204020204" charset="-122"/>
                          </a:rPr>
                          <m:t>𝑇</m:t>
                        </m:r>
                        <m:r>
                          <a:rPr lang="en-US" altLang="zh-CN" i="1" dirty="0">
                            <a:solidFill>
                              <a:prstClr val="black"/>
                            </a:solidFill>
                            <a:latin typeface="Cambria Math" panose="02040503050406030204" pitchFamily="18" charset="0"/>
                            <a:ea typeface="微软雅黑" panose="020B0503020204020204" charset="-122"/>
                          </a:rPr>
                          <m:t>−</m:t>
                        </m:r>
                      </m:sub>
                    </m:sSub>
                  </m:oMath>
                </a14:m>
                <a:r>
                  <a:rPr lang="zh-CN" altLang="en-US" dirty="0">
                    <a:solidFill>
                      <a:prstClr val="black"/>
                    </a:solidFill>
                    <a:latin typeface="微软雅黑" panose="020B0503020204020204" charset="-122"/>
                    <a:ea typeface="微软雅黑" panose="020B0503020204020204" charset="-122"/>
                  </a:rPr>
                  <a:t>。</a:t>
                </a:r>
                <a:endParaRPr lang="en-US" altLang="zh-CN" dirty="0">
                  <a:solidFill>
                    <a:prstClr val="black"/>
                  </a:solidFill>
                  <a:latin typeface="微软雅黑" panose="020B0503020204020204" charset="-122"/>
                  <a:ea typeface="微软雅黑" panose="020B0503020204020204" charset="-122"/>
                </a:endParaRPr>
              </a:p>
              <a:p>
                <a:pPr>
                  <a:lnSpc>
                    <a:spcPct val="130000"/>
                  </a:lnSpc>
                </a:pPr>
                <a:r>
                  <a:rPr lang="en-US" altLang="zh-CN" dirty="0">
                    <a:solidFill>
                      <a:prstClr val="black"/>
                    </a:solidFill>
                    <a:latin typeface="微软雅黑" panose="020B0503020204020204" charset="-122"/>
                    <a:ea typeface="微软雅黑" panose="020B0503020204020204" charset="-122"/>
                  </a:rPr>
                  <a:t>     1</a:t>
                </a:r>
                <a:r>
                  <a:rPr lang="zh-CN" altLang="en-US" dirty="0">
                    <a:solidFill>
                      <a:prstClr val="black"/>
                    </a:solidFill>
                    <a:latin typeface="微软雅黑" panose="020B0503020204020204" charset="-122"/>
                    <a:ea typeface="微软雅黑" panose="020B0503020204020204" charset="-122"/>
                  </a:rPr>
                  <a:t>）分析确定输入为</a:t>
                </a:r>
                <a:r>
                  <a:rPr lang="en-US" altLang="zh-CN" dirty="0">
                    <a:solidFill>
                      <a:prstClr val="black"/>
                    </a:solidFill>
                    <a:latin typeface="微软雅黑" panose="020B0503020204020204" charset="-122"/>
                    <a:ea typeface="微软雅黑" panose="020B0503020204020204" charset="-122"/>
                  </a:rPr>
                  <a:t>0</a:t>
                </a:r>
                <a:r>
                  <a:rPr lang="zh-CN" altLang="en-US" dirty="0">
                    <a:solidFill>
                      <a:prstClr val="black"/>
                    </a:solidFill>
                    <a:latin typeface="微软雅黑" panose="020B0503020204020204" charset="-122"/>
                    <a:ea typeface="微软雅黑" panose="020B0503020204020204" charset="-122"/>
                  </a:rPr>
                  <a:t>时电路的状态（即电路中各点的电压值）。</a:t>
                </a:r>
                <a:endParaRPr lang="en-US" altLang="zh-CN" dirty="0">
                  <a:solidFill>
                    <a:prstClr val="black"/>
                  </a:solidFill>
                  <a:latin typeface="微软雅黑" panose="020B0503020204020204" charset="-122"/>
                  <a:ea typeface="微软雅黑" panose="020B0503020204020204" charset="-122"/>
                </a:endParaRPr>
              </a:p>
              <a:p>
                <a:pPr>
                  <a:lnSpc>
                    <a:spcPct val="130000"/>
                  </a:lnSpc>
                </a:pPr>
                <a:r>
                  <a:rPr lang="en-US" altLang="zh-CN" dirty="0">
                    <a:solidFill>
                      <a:prstClr val="black"/>
                    </a:solidFill>
                    <a:latin typeface="微软雅黑" panose="020B0503020204020204" charset="-122"/>
                    <a:ea typeface="微软雅黑" panose="020B0503020204020204" charset="-122"/>
                  </a:rPr>
                  <a:t>     2</a:t>
                </a:r>
                <a:r>
                  <a:rPr lang="zh-CN" altLang="en-US" dirty="0">
                    <a:solidFill>
                      <a:prstClr val="black"/>
                    </a:solidFill>
                    <a:latin typeface="微软雅黑" panose="020B0503020204020204" charset="-122"/>
                    <a:ea typeface="微软雅黑" panose="020B0503020204020204" charset="-122"/>
                  </a:rPr>
                  <a:t>）找出输入电压上升过程中电路状态发生转换是由哪一点的电压控制的。</a:t>
                </a:r>
                <a:endParaRPr lang="en-US" altLang="zh-CN" dirty="0">
                  <a:solidFill>
                    <a:prstClr val="black"/>
                  </a:solidFill>
                  <a:latin typeface="微软雅黑" panose="020B0503020204020204" charset="-122"/>
                  <a:ea typeface="微软雅黑" panose="020B0503020204020204" charset="-122"/>
                </a:endParaRPr>
              </a:p>
              <a:p>
                <a:pPr>
                  <a:lnSpc>
                    <a:spcPct val="130000"/>
                  </a:lnSpc>
                </a:pPr>
                <a:r>
                  <a:rPr lang="en-US" altLang="zh-CN" dirty="0">
                    <a:solidFill>
                      <a:prstClr val="black"/>
                    </a:solidFill>
                    <a:latin typeface="微软雅黑" panose="020B0503020204020204" charset="-122"/>
                    <a:ea typeface="微软雅黑" panose="020B0503020204020204" charset="-122"/>
                  </a:rPr>
                  <a:t>     3</a:t>
                </a:r>
                <a:r>
                  <a:rPr lang="zh-CN" altLang="en-US" dirty="0">
                    <a:solidFill>
                      <a:prstClr val="black"/>
                    </a:solidFill>
                    <a:latin typeface="微软雅黑" panose="020B0503020204020204" charset="-122"/>
                    <a:ea typeface="微软雅黑" panose="020B0503020204020204" charset="-122"/>
                  </a:rPr>
                  <a:t>）计算出该点电压引起电路状态发生变化时所对应的输入电压值，即得到</a:t>
                </a:r>
                <a14:m>
                  <m:oMath xmlns:m="http://schemas.openxmlformats.org/officeDocument/2006/math">
                    <m:sSub>
                      <m:sSubPr>
                        <m:ctrlPr>
                          <a:rPr lang="en-US" altLang="zh-CN" i="1" dirty="0">
                            <a:solidFill>
                              <a:prstClr val="black"/>
                            </a:solidFill>
                            <a:latin typeface="Cambria Math" panose="02040503050406030204" pitchFamily="18" charset="0"/>
                            <a:ea typeface="微软雅黑" panose="020B0503020204020204" charset="-122"/>
                          </a:rPr>
                        </m:ctrlPr>
                      </m:sSubPr>
                      <m:e>
                        <m:r>
                          <a:rPr lang="en-US" altLang="zh-CN" i="1" dirty="0">
                            <a:solidFill>
                              <a:prstClr val="black"/>
                            </a:solidFill>
                            <a:latin typeface="Cambria Math" panose="02040503050406030204" pitchFamily="18" charset="0"/>
                            <a:ea typeface="微软雅黑" panose="020B0503020204020204" charset="-122"/>
                          </a:rPr>
                          <m:t>𝑉</m:t>
                        </m:r>
                      </m:e>
                      <m:sub>
                        <m:r>
                          <a:rPr lang="en-US" altLang="zh-CN" i="1" dirty="0">
                            <a:solidFill>
                              <a:prstClr val="black"/>
                            </a:solidFill>
                            <a:latin typeface="Cambria Math" panose="02040503050406030204" pitchFamily="18" charset="0"/>
                            <a:ea typeface="微软雅黑" panose="020B0503020204020204" charset="-122"/>
                          </a:rPr>
                          <m:t>𝑇</m:t>
                        </m:r>
                        <m:r>
                          <a:rPr lang="en-US" altLang="zh-CN" i="1" dirty="0">
                            <a:solidFill>
                              <a:prstClr val="black"/>
                            </a:solidFill>
                            <a:latin typeface="Cambria Math" panose="02040503050406030204" pitchFamily="18" charset="0"/>
                            <a:ea typeface="微软雅黑" panose="020B0503020204020204" charset="-122"/>
                          </a:rPr>
                          <m:t>+</m:t>
                        </m:r>
                      </m:sub>
                    </m:sSub>
                    <m:r>
                      <a:rPr lang="en-US" altLang="zh-CN" i="1" dirty="0">
                        <a:solidFill>
                          <a:prstClr val="black"/>
                        </a:solidFill>
                        <a:latin typeface="Cambria Math" panose="02040503050406030204" pitchFamily="18" charset="0"/>
                        <a:ea typeface="微软雅黑" panose="020B0503020204020204" charset="-122"/>
                      </a:rPr>
                      <m:t> </m:t>
                    </m:r>
                  </m:oMath>
                </a14:m>
                <a:r>
                  <a:rPr lang="zh-CN" altLang="en-US" dirty="0">
                    <a:solidFill>
                      <a:prstClr val="black"/>
                    </a:solidFill>
                    <a:latin typeface="微软雅黑" panose="020B0503020204020204" charset="-122"/>
                    <a:ea typeface="微软雅黑" panose="020B0503020204020204" charset="-122"/>
                  </a:rPr>
                  <a:t>。</a:t>
                </a:r>
                <a:endParaRPr lang="en-US" altLang="zh-CN" dirty="0">
                  <a:solidFill>
                    <a:prstClr val="black"/>
                  </a:solidFill>
                  <a:latin typeface="微软雅黑" panose="020B0503020204020204" charset="-122"/>
                  <a:ea typeface="微软雅黑" panose="020B0503020204020204" charset="-122"/>
                </a:endParaRPr>
              </a:p>
              <a:p>
                <a:pPr>
                  <a:lnSpc>
                    <a:spcPct val="130000"/>
                  </a:lnSpc>
                </a:pPr>
                <a:r>
                  <a:rPr lang="en-US" altLang="zh-CN" dirty="0">
                    <a:solidFill>
                      <a:prstClr val="black"/>
                    </a:solidFill>
                    <a:latin typeface="微软雅黑" panose="020B0503020204020204" charset="-122"/>
                    <a:ea typeface="微软雅黑" panose="020B0503020204020204" charset="-122"/>
                  </a:rPr>
                  <a:t>     4</a:t>
                </a:r>
                <a:r>
                  <a:rPr lang="zh-CN" altLang="en-US" dirty="0">
                    <a:solidFill>
                      <a:prstClr val="black"/>
                    </a:solidFill>
                    <a:latin typeface="微软雅黑" panose="020B0503020204020204" charset="-122"/>
                    <a:ea typeface="微软雅黑" panose="020B0503020204020204" charset="-122"/>
                  </a:rPr>
                  <a:t>）分析确定输人高于</a:t>
                </a:r>
                <a14:m>
                  <m:oMath xmlns:m="http://schemas.openxmlformats.org/officeDocument/2006/math">
                    <m:sSub>
                      <m:sSubPr>
                        <m:ctrlPr>
                          <a:rPr lang="en-US" altLang="zh-CN" i="1" dirty="0">
                            <a:solidFill>
                              <a:prstClr val="black"/>
                            </a:solidFill>
                            <a:latin typeface="Cambria Math" panose="02040503050406030204" pitchFamily="18" charset="0"/>
                            <a:ea typeface="微软雅黑" panose="020B0503020204020204" charset="-122"/>
                          </a:rPr>
                        </m:ctrlPr>
                      </m:sSubPr>
                      <m:e>
                        <m:r>
                          <a:rPr lang="en-US" altLang="zh-CN" i="1" dirty="0">
                            <a:solidFill>
                              <a:prstClr val="black"/>
                            </a:solidFill>
                            <a:latin typeface="Cambria Math" panose="02040503050406030204" pitchFamily="18" charset="0"/>
                            <a:ea typeface="微软雅黑" panose="020B0503020204020204" charset="-122"/>
                          </a:rPr>
                          <m:t>𝑉</m:t>
                        </m:r>
                      </m:e>
                      <m:sub>
                        <m:r>
                          <a:rPr lang="en-US" altLang="zh-CN" i="1" dirty="0">
                            <a:solidFill>
                              <a:prstClr val="black"/>
                            </a:solidFill>
                            <a:latin typeface="Cambria Math" panose="02040503050406030204" pitchFamily="18" charset="0"/>
                            <a:ea typeface="微软雅黑" panose="020B0503020204020204" charset="-122"/>
                          </a:rPr>
                          <m:t>𝑇</m:t>
                        </m:r>
                        <m:r>
                          <a:rPr lang="en-US" altLang="zh-CN" i="1" dirty="0">
                            <a:solidFill>
                              <a:prstClr val="black"/>
                            </a:solidFill>
                            <a:latin typeface="Cambria Math" panose="02040503050406030204" pitchFamily="18" charset="0"/>
                            <a:ea typeface="微软雅黑" panose="020B0503020204020204" charset="-122"/>
                          </a:rPr>
                          <m:t>+</m:t>
                        </m:r>
                      </m:sub>
                    </m:sSub>
                  </m:oMath>
                </a14:m>
                <a:r>
                  <a:rPr lang="zh-CN" altLang="en-US" dirty="0">
                    <a:solidFill>
                      <a:prstClr val="black"/>
                    </a:solidFill>
                    <a:latin typeface="微软雅黑" panose="020B0503020204020204" charset="-122"/>
                    <a:ea typeface="微软雅黑" panose="020B0503020204020204" charset="-122"/>
                  </a:rPr>
                  <a:t>以后电路的状态。</a:t>
                </a:r>
                <a:endParaRPr lang="en-US" altLang="zh-CN" dirty="0">
                  <a:solidFill>
                    <a:prstClr val="black"/>
                  </a:solidFill>
                  <a:latin typeface="微软雅黑" panose="020B0503020204020204" charset="-122"/>
                  <a:ea typeface="微软雅黑" panose="020B0503020204020204" charset="-122"/>
                </a:endParaRPr>
              </a:p>
              <a:p>
                <a:pPr>
                  <a:lnSpc>
                    <a:spcPct val="130000"/>
                  </a:lnSpc>
                </a:pPr>
                <a:r>
                  <a:rPr lang="en-US" altLang="zh-CN" dirty="0">
                    <a:solidFill>
                      <a:prstClr val="black"/>
                    </a:solidFill>
                    <a:latin typeface="微软雅黑" panose="020B0503020204020204" charset="-122"/>
                    <a:ea typeface="微软雅黑" panose="020B0503020204020204" charset="-122"/>
                  </a:rPr>
                  <a:t>     5</a:t>
                </a:r>
                <a:r>
                  <a:rPr lang="zh-CN" altLang="en-US" dirty="0">
                    <a:solidFill>
                      <a:prstClr val="black"/>
                    </a:solidFill>
                    <a:latin typeface="微软雅黑" panose="020B0503020204020204" charset="-122"/>
                    <a:ea typeface="微软雅黑" panose="020B0503020204020204" charset="-122"/>
                  </a:rPr>
                  <a:t>）找出输入电压下降过程中电路状态发生转换是由哪一点的电压控制的。</a:t>
                </a:r>
                <a:endParaRPr lang="en-US" altLang="zh-CN" dirty="0">
                  <a:solidFill>
                    <a:prstClr val="black"/>
                  </a:solidFill>
                  <a:latin typeface="微软雅黑" panose="020B0503020204020204" charset="-122"/>
                  <a:ea typeface="微软雅黑" panose="020B0503020204020204" charset="-122"/>
                </a:endParaRPr>
              </a:p>
              <a:p>
                <a:pPr>
                  <a:lnSpc>
                    <a:spcPct val="130000"/>
                  </a:lnSpc>
                </a:pPr>
                <a:r>
                  <a:rPr lang="en-US" altLang="zh-CN" dirty="0">
                    <a:solidFill>
                      <a:prstClr val="black"/>
                    </a:solidFill>
                    <a:latin typeface="微软雅黑" panose="020B0503020204020204" charset="-122"/>
                    <a:ea typeface="微软雅黑" panose="020B0503020204020204" charset="-122"/>
                  </a:rPr>
                  <a:t>     6</a:t>
                </a:r>
                <a:r>
                  <a:rPr lang="zh-CN" altLang="en-US" dirty="0">
                    <a:solidFill>
                      <a:prstClr val="black"/>
                    </a:solidFill>
                    <a:latin typeface="微软雅黑" panose="020B0503020204020204" charset="-122"/>
                    <a:ea typeface="微软雅黑" panose="020B0503020204020204" charset="-122"/>
                  </a:rPr>
                  <a:t>）计算出该点电压引起电路状态发生变化时所对应的输入电压值，即得到</a:t>
                </a:r>
                <a14:m>
                  <m:oMath xmlns:m="http://schemas.openxmlformats.org/officeDocument/2006/math">
                    <m:sSub>
                      <m:sSubPr>
                        <m:ctrlPr>
                          <a:rPr lang="en-US" altLang="zh-CN" i="1" dirty="0">
                            <a:solidFill>
                              <a:prstClr val="black"/>
                            </a:solidFill>
                            <a:latin typeface="Cambria Math" panose="02040503050406030204" pitchFamily="18" charset="0"/>
                            <a:ea typeface="微软雅黑" panose="020B0503020204020204" charset="-122"/>
                          </a:rPr>
                        </m:ctrlPr>
                      </m:sSubPr>
                      <m:e>
                        <m:r>
                          <a:rPr lang="en-US" altLang="zh-CN" i="1" dirty="0">
                            <a:solidFill>
                              <a:prstClr val="black"/>
                            </a:solidFill>
                            <a:latin typeface="Cambria Math" panose="02040503050406030204" pitchFamily="18" charset="0"/>
                            <a:ea typeface="微软雅黑" panose="020B0503020204020204" charset="-122"/>
                          </a:rPr>
                          <m:t>𝑉</m:t>
                        </m:r>
                      </m:e>
                      <m:sub>
                        <m:r>
                          <a:rPr lang="en-US" altLang="zh-CN" i="1" dirty="0">
                            <a:solidFill>
                              <a:prstClr val="black"/>
                            </a:solidFill>
                            <a:latin typeface="Cambria Math" panose="02040503050406030204" pitchFamily="18" charset="0"/>
                            <a:ea typeface="微软雅黑" panose="020B0503020204020204" charset="-122"/>
                          </a:rPr>
                          <m:t>𝑇</m:t>
                        </m:r>
                        <m:r>
                          <a:rPr lang="en-US" altLang="zh-CN" i="1" dirty="0">
                            <a:solidFill>
                              <a:prstClr val="black"/>
                            </a:solidFill>
                            <a:latin typeface="Cambria Math" panose="02040503050406030204" pitchFamily="18" charset="0"/>
                            <a:ea typeface="微软雅黑" panose="020B0503020204020204" charset="-122"/>
                          </a:rPr>
                          <m:t>−</m:t>
                        </m:r>
                      </m:sub>
                    </m:sSub>
                  </m:oMath>
                </a14:m>
                <a:r>
                  <a:rPr lang="zh-CN" altLang="en-US" b="1" dirty="0">
                    <a:solidFill>
                      <a:prstClr val="black"/>
                    </a:solidFill>
                    <a:latin typeface="微软雅黑" panose="020B0503020204020204" charset="-122"/>
                    <a:ea typeface="微软雅黑" panose="020B0503020204020204" charset="-122"/>
                  </a:rPr>
                  <a:t>。</a:t>
                </a:r>
                <a:endParaRPr lang="en-US" altLang="zh-CN" b="1" dirty="0">
                  <a:solidFill>
                    <a:prstClr val="black"/>
                  </a:solidFill>
                  <a:latin typeface="微软雅黑" panose="020B0503020204020204" charset="-122"/>
                  <a:ea typeface="微软雅黑" panose="020B0503020204020204"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433705" y="1223010"/>
                <a:ext cx="10433685" cy="348234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10</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242621" y="1220242"/>
                <a:ext cx="6140348" cy="1708160"/>
              </a:xfrm>
              <a:prstGeom prst="rect">
                <a:avLst/>
              </a:prstGeom>
              <a:noFill/>
            </p:spPr>
            <p:txBody>
              <a:bodyPr wrap="square" rtlCol="0">
                <a:spAutoFit/>
              </a:bodyPr>
              <a:lstStyle/>
              <a:p>
                <a:pPr>
                  <a:lnSpc>
                    <a:spcPct val="150000"/>
                  </a:lnSpc>
                </a:pPr>
                <a:r>
                  <a:rPr lang="en-US" altLang="zh-CN" sz="1400" dirty="0">
                    <a:solidFill>
                      <a:prstClr val="black"/>
                    </a:solidFill>
                  </a:rPr>
                  <a:t>7.3 </a:t>
                </a:r>
                <a:r>
                  <a:rPr lang="zh-CN" altLang="en-US" sz="1400" dirty="0">
                    <a:solidFill>
                      <a:prstClr val="black"/>
                    </a:solidFill>
                  </a:rPr>
                  <a:t>在图</a:t>
                </a:r>
                <a:r>
                  <a:rPr lang="en-US" altLang="zh-CN" sz="1400" dirty="0">
                    <a:solidFill>
                      <a:prstClr val="black"/>
                    </a:solidFill>
                  </a:rPr>
                  <a:t>P7.3(a)</a:t>
                </a:r>
                <a:r>
                  <a:rPr lang="zh-CN" altLang="en-US" sz="1400" dirty="0">
                    <a:solidFill>
                      <a:prstClr val="black"/>
                    </a:solidFill>
                  </a:rPr>
                  <a:t>所示的施密特触发电路中，已知</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𝑅</m:t>
                        </m:r>
                      </m:e>
                      <m:sub>
                        <m:r>
                          <a:rPr lang="en-US" altLang="zh-CN" sz="1400" i="1" smtClean="0">
                            <a:solidFill>
                              <a:prstClr val="black"/>
                            </a:solidFill>
                            <a:latin typeface="Cambria Math" panose="02040503050406030204" pitchFamily="18" charset="0"/>
                            <a:ea typeface="Cambria Math" panose="02040503050406030204" pitchFamily="18" charset="0"/>
                          </a:rPr>
                          <m:t>1</m:t>
                        </m:r>
                      </m:sub>
                    </m:sSub>
                    <m:r>
                      <a:rPr lang="en-US" altLang="zh-CN" sz="1400" i="1" smtClean="0">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1</m:t>
                    </m:r>
                    <m:r>
                      <a:rPr lang="en-US" altLang="zh-CN" sz="1400" i="1" smtClean="0">
                        <a:solidFill>
                          <a:prstClr val="black"/>
                        </a:solidFill>
                        <a:latin typeface="Cambria Math" panose="02040503050406030204" pitchFamily="18" charset="0"/>
                        <a:ea typeface="Cambria Math" panose="02040503050406030204" pitchFamily="18" charset="0"/>
                      </a:rPr>
                      <m:t>0</m:t>
                    </m:r>
                    <m:r>
                      <a:rPr lang="en-US" altLang="zh-CN" sz="1400" i="1">
                        <a:solidFill>
                          <a:prstClr val="black"/>
                        </a:solidFill>
                        <a:latin typeface="Cambria Math" panose="02040503050406030204" pitchFamily="18" charset="0"/>
                        <a:ea typeface="Cambria Math" panose="02040503050406030204" pitchFamily="18" charset="0"/>
                      </a:rPr>
                      <m:t>𝑘</m:t>
                    </m:r>
                    <m:r>
                      <m:rPr>
                        <m:sty m:val="p"/>
                      </m:rPr>
                      <a:rPr lang="el-GR" altLang="zh-CN" sz="1400" i="1">
                        <a:solidFill>
                          <a:prstClr val="black"/>
                        </a:solidFill>
                        <a:latin typeface="Cambria Math" panose="02040503050406030204" pitchFamily="18" charset="0"/>
                        <a:ea typeface="Cambria Math" panose="02040503050406030204" pitchFamily="18" charset="0"/>
                      </a:rPr>
                      <m:t>Ω</m:t>
                    </m:r>
                  </m:oMath>
                </a14:m>
                <a:r>
                  <a:rPr lang="zh-CN" altLang="en-US" sz="1400" dirty="0">
                    <a:solidFill>
                      <a:prstClr val="black"/>
                    </a:solidFill>
                  </a:rPr>
                  <a:t>，</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𝑅</m:t>
                        </m:r>
                      </m:e>
                      <m:sub>
                        <m:r>
                          <a:rPr lang="en-US" altLang="zh-CN" sz="1400" i="1">
                            <a:solidFill>
                              <a:prstClr val="black"/>
                            </a:solidFill>
                            <a:latin typeface="Cambria Math" panose="02040503050406030204" pitchFamily="18" charset="0"/>
                            <a:ea typeface="Cambria Math" panose="02040503050406030204" pitchFamily="18" charset="0"/>
                          </a:rPr>
                          <m:t>2</m:t>
                        </m:r>
                      </m:sub>
                    </m:sSub>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smtClean="0">
                        <a:solidFill>
                          <a:prstClr val="black"/>
                        </a:solidFill>
                        <a:latin typeface="Cambria Math" panose="02040503050406030204" pitchFamily="18" charset="0"/>
                        <a:ea typeface="Cambria Math" panose="02040503050406030204" pitchFamily="18" charset="0"/>
                      </a:rPr>
                      <m:t>3</m:t>
                    </m:r>
                    <m:r>
                      <a:rPr lang="en-US" altLang="zh-CN" sz="1400" i="1">
                        <a:solidFill>
                          <a:prstClr val="black"/>
                        </a:solidFill>
                        <a:latin typeface="Cambria Math" panose="02040503050406030204" pitchFamily="18" charset="0"/>
                        <a:ea typeface="Cambria Math" panose="02040503050406030204" pitchFamily="18" charset="0"/>
                      </a:rPr>
                      <m:t>0</m:t>
                    </m:r>
                    <m:r>
                      <a:rPr lang="en-US" altLang="zh-CN" sz="1400" i="1">
                        <a:solidFill>
                          <a:prstClr val="black"/>
                        </a:solidFill>
                        <a:latin typeface="Cambria Math" panose="02040503050406030204" pitchFamily="18" charset="0"/>
                        <a:ea typeface="Cambria Math" panose="02040503050406030204" pitchFamily="18" charset="0"/>
                      </a:rPr>
                      <m:t>𝑘</m:t>
                    </m:r>
                    <m:r>
                      <m:rPr>
                        <m:sty m:val="p"/>
                      </m:rPr>
                      <a:rPr lang="el-GR" altLang="zh-CN" sz="1400" i="1">
                        <a:solidFill>
                          <a:prstClr val="black"/>
                        </a:solidFill>
                        <a:latin typeface="Cambria Math" panose="02040503050406030204" pitchFamily="18" charset="0"/>
                        <a:ea typeface="Cambria Math" panose="02040503050406030204" pitchFamily="18" charset="0"/>
                      </a:rPr>
                      <m:t>Ω</m:t>
                    </m:r>
                    <m:r>
                      <a:rPr lang="zh-CN" altLang="en-US" sz="1400" i="1">
                        <a:solidFill>
                          <a:prstClr val="black"/>
                        </a:solidFill>
                        <a:latin typeface="Cambria Math" panose="02040503050406030204" pitchFamily="18" charset="0"/>
                        <a:ea typeface="Cambria Math" panose="02040503050406030204" pitchFamily="18" charset="0"/>
                      </a:rPr>
                      <m:t>。</m:t>
                    </m:r>
                  </m:oMath>
                </a14:m>
                <a:r>
                  <a:rPr lang="en-US" altLang="zh-CN" sz="1400" dirty="0">
                    <a:solidFill>
                      <a:prstClr val="black"/>
                    </a:solidFill>
                  </a:rPr>
                  <a:t>G1</a:t>
                </a:r>
                <a:r>
                  <a:rPr lang="zh-CN" altLang="en-US" sz="1400" dirty="0">
                    <a:solidFill>
                      <a:prstClr val="black"/>
                    </a:solidFill>
                  </a:rPr>
                  <a:t>和</a:t>
                </a:r>
                <a:r>
                  <a:rPr lang="en-US" altLang="zh-CN" sz="1400" dirty="0">
                    <a:solidFill>
                      <a:prstClr val="black"/>
                    </a:solidFill>
                  </a:rPr>
                  <a:t>G2</a:t>
                </a:r>
                <a:r>
                  <a:rPr lang="zh-CN" altLang="en-US" sz="1400" dirty="0">
                    <a:solidFill>
                      <a:prstClr val="black"/>
                    </a:solidFill>
                  </a:rPr>
                  <a:t>为</a:t>
                </a:r>
                <a:r>
                  <a:rPr lang="en-US" altLang="zh-CN" sz="1400" dirty="0">
                    <a:solidFill>
                      <a:prstClr val="black"/>
                    </a:solidFill>
                  </a:rPr>
                  <a:t>CMOS</a:t>
                </a:r>
                <a:r>
                  <a:rPr lang="zh-CN" altLang="en-US" sz="1400" dirty="0">
                    <a:solidFill>
                      <a:prstClr val="black"/>
                    </a:solidFill>
                  </a:rPr>
                  <a:t>反相器，</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𝑉</m:t>
                        </m:r>
                      </m:e>
                      <m:sub>
                        <m:r>
                          <a:rPr lang="en-US" altLang="zh-CN" sz="1400" b="0" i="1" smtClean="0">
                            <a:solidFill>
                              <a:prstClr val="black"/>
                            </a:solidFill>
                            <a:latin typeface="Cambria Math" panose="02040503050406030204" pitchFamily="18" charset="0"/>
                            <a:ea typeface="Cambria Math" panose="02040503050406030204" pitchFamily="18" charset="0"/>
                          </a:rPr>
                          <m:t>𝐷𝐷</m:t>
                        </m:r>
                      </m:sub>
                    </m:sSub>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smtClean="0">
                        <a:solidFill>
                          <a:prstClr val="black"/>
                        </a:solidFill>
                        <a:latin typeface="Cambria Math" panose="02040503050406030204" pitchFamily="18" charset="0"/>
                        <a:ea typeface="Cambria Math" panose="02040503050406030204" pitchFamily="18" charset="0"/>
                      </a:rPr>
                      <m:t>1</m:t>
                    </m:r>
                    <m:r>
                      <a:rPr lang="en-US" altLang="zh-CN" sz="1400" i="1">
                        <a:solidFill>
                          <a:prstClr val="black"/>
                        </a:solidFill>
                        <a:latin typeface="Cambria Math" panose="02040503050406030204" pitchFamily="18" charset="0"/>
                        <a:ea typeface="Cambria Math" panose="02040503050406030204" pitchFamily="18" charset="0"/>
                      </a:rPr>
                      <m:t>5</m:t>
                    </m:r>
                    <m:r>
                      <m:rPr>
                        <m:sty m:val="p"/>
                      </m:rPr>
                      <a:rPr lang="en-US" altLang="zh-CN" sz="1400" b="0" i="0" smtClean="0">
                        <a:solidFill>
                          <a:prstClr val="black"/>
                        </a:solidFill>
                        <a:latin typeface="Cambria Math" panose="02040503050406030204" pitchFamily="18" charset="0"/>
                        <a:ea typeface="Cambria Math" panose="02040503050406030204" pitchFamily="18" charset="0"/>
                      </a:rPr>
                      <m:t>V</m:t>
                    </m:r>
                  </m:oMath>
                </a14:m>
                <a:r>
                  <a:rPr lang="zh-CN" altLang="en-US" sz="1400" dirty="0">
                    <a:solidFill>
                      <a:prstClr val="black"/>
                    </a:solidFill>
                  </a:rPr>
                  <a:t>。</a:t>
                </a:r>
                <a:endParaRPr lang="en-US" altLang="zh-CN" sz="1400" dirty="0">
                  <a:solidFill>
                    <a:prstClr val="black"/>
                  </a:solidFill>
                </a:endParaRPr>
              </a:p>
              <a:p>
                <a:pPr>
                  <a:lnSpc>
                    <a:spcPct val="150000"/>
                  </a:lnSpc>
                </a:pPr>
                <a:r>
                  <a:rPr lang="zh-CN" altLang="en-US" sz="1400" dirty="0">
                    <a:solidFill>
                      <a:prstClr val="black"/>
                    </a:solidFill>
                  </a:rPr>
                  <a:t>（</a:t>
                </a:r>
                <a:r>
                  <a:rPr lang="en-US" altLang="zh-CN" sz="1400" dirty="0">
                    <a:solidFill>
                      <a:prstClr val="black"/>
                    </a:solidFill>
                  </a:rPr>
                  <a:t>1</a:t>
                </a:r>
                <a:r>
                  <a:rPr lang="zh-CN" altLang="en-US" sz="1400" dirty="0">
                    <a:solidFill>
                      <a:prstClr val="black"/>
                    </a:solidFill>
                  </a:rPr>
                  <a:t>）试计算电路的正向阈值电压</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b="0" i="1" smtClean="0">
                            <a:solidFill>
                              <a:prstClr val="black"/>
                            </a:solidFill>
                            <a:latin typeface="Cambria Math" panose="02040503050406030204" pitchFamily="18" charset="0"/>
                            <a:ea typeface="Cambria Math" panose="02040503050406030204" pitchFamily="18" charset="0"/>
                          </a:rPr>
                          <m:t>𝑇</m:t>
                        </m:r>
                        <m:r>
                          <a:rPr lang="en-US" altLang="zh-CN" sz="1400" i="1">
                            <a:solidFill>
                              <a:prstClr val="black"/>
                            </a:solidFill>
                            <a:latin typeface="Cambria Math" panose="02040503050406030204" pitchFamily="18" charset="0"/>
                            <a:ea typeface="Cambria Math" panose="02040503050406030204" pitchFamily="18" charset="0"/>
                          </a:rPr>
                          <m:t>+</m:t>
                        </m:r>
                      </m:sub>
                    </m:sSub>
                  </m:oMath>
                </a14:m>
                <a:r>
                  <a:rPr lang="zh-CN" altLang="en-US" sz="1400" dirty="0">
                    <a:solidFill>
                      <a:prstClr val="black"/>
                    </a:solidFill>
                  </a:rPr>
                  <a:t>、负向阈值电压</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m:t>
                        </m:r>
                        <m:r>
                          <a:rPr lang="en-US" altLang="zh-CN" sz="1400" i="1" smtClean="0">
                            <a:solidFill>
                              <a:prstClr val="black"/>
                            </a:solidFill>
                            <a:latin typeface="Cambria Math" panose="02040503050406030204" pitchFamily="18" charset="0"/>
                            <a:ea typeface="Cambria Math" panose="02040503050406030204" pitchFamily="18" charset="0"/>
                          </a:rPr>
                          <m:t>−</m:t>
                        </m:r>
                      </m:sub>
                    </m:sSub>
                    <m:r>
                      <a:rPr lang="zh-CN" altLang="en-US" sz="1400" i="1">
                        <a:solidFill>
                          <a:prstClr val="black"/>
                        </a:solidFill>
                        <a:latin typeface="Cambria Math" panose="02040503050406030204" pitchFamily="18" charset="0"/>
                        <a:ea typeface="Cambria Math" panose="02040503050406030204" pitchFamily="18" charset="0"/>
                      </a:rPr>
                      <m:t>和</m:t>
                    </m:r>
                  </m:oMath>
                </a14:m>
                <a:r>
                  <a:rPr lang="zh-CN" altLang="en-US" sz="1400" dirty="0">
                    <a:solidFill>
                      <a:prstClr val="black"/>
                    </a:solidFill>
                  </a:rPr>
                  <a:t>回差电压</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l-GR" altLang="zh-CN" sz="1400" i="1" smtClean="0">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m:t>
                        </m:r>
                      </m:sub>
                    </m:sSub>
                  </m:oMath>
                </a14:m>
                <a:r>
                  <a:rPr lang="zh-CN" altLang="en-US" sz="1400" dirty="0">
                    <a:solidFill>
                      <a:prstClr val="black"/>
                    </a:solidFill>
                  </a:rPr>
                  <a:t>。</a:t>
                </a:r>
                <a:endParaRPr lang="en-US" altLang="zh-CN" sz="1400" dirty="0">
                  <a:solidFill>
                    <a:prstClr val="black"/>
                  </a:solidFill>
                </a:endParaRPr>
              </a:p>
              <a:p>
                <a:pPr>
                  <a:lnSpc>
                    <a:spcPct val="150000"/>
                  </a:lnSpc>
                </a:pPr>
                <a:r>
                  <a:rPr lang="zh-CN" altLang="en-US" sz="1400" dirty="0">
                    <a:solidFill>
                      <a:prstClr val="black"/>
                    </a:solidFill>
                  </a:rPr>
                  <a:t>（</a:t>
                </a:r>
                <a:r>
                  <a:rPr lang="en-US" altLang="zh-CN" sz="1400" dirty="0">
                    <a:solidFill>
                      <a:prstClr val="black"/>
                    </a:solidFill>
                  </a:rPr>
                  <a:t>2</a:t>
                </a:r>
                <a:r>
                  <a:rPr lang="zh-CN" altLang="en-US" sz="1400" dirty="0">
                    <a:solidFill>
                      <a:prstClr val="black"/>
                    </a:solidFill>
                  </a:rPr>
                  <a:t>）若将图</a:t>
                </a:r>
                <a:r>
                  <a:rPr lang="en-US" altLang="zh-CN" sz="1400" dirty="0">
                    <a:solidFill>
                      <a:prstClr val="black"/>
                    </a:solidFill>
                  </a:rPr>
                  <a:t>P7.3(b)</a:t>
                </a:r>
                <a:r>
                  <a:rPr lang="zh-CN" altLang="en-US" sz="1400" dirty="0">
                    <a:solidFill>
                      <a:prstClr val="black"/>
                    </a:solidFill>
                  </a:rPr>
                  <a:t>给出的电压信号加到图</a:t>
                </a:r>
                <a:r>
                  <a:rPr lang="en-US" altLang="zh-CN" sz="1400" dirty="0">
                    <a:solidFill>
                      <a:prstClr val="black"/>
                    </a:solidFill>
                  </a:rPr>
                  <a:t>P7.3(a)</a:t>
                </a:r>
                <a:r>
                  <a:rPr lang="zh-CN" altLang="en-US" sz="1400" dirty="0">
                    <a:solidFill>
                      <a:prstClr val="black"/>
                    </a:solidFill>
                  </a:rPr>
                  <a:t>电路的输入端，试画出输出电压的波形。</a:t>
                </a:r>
                <a:endParaRPr lang="en-US" altLang="zh-CN" sz="1400" dirty="0">
                  <a:solidFill>
                    <a:prstClr val="black"/>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242621" y="1220242"/>
                <a:ext cx="6140348" cy="1708160"/>
              </a:xfrm>
              <a:prstGeom prst="rect">
                <a:avLst/>
              </a:prstGeom>
              <a:blipFill rotWithShape="1">
                <a:blip r:embed="rId1"/>
                <a:stretch>
                  <a:fillRect l="-1" t="-24" r="10" b="24"/>
                </a:stretch>
              </a:blipFill>
            </p:spPr>
            <p:txBody>
              <a:bodyPr/>
              <a:lstStyle/>
              <a:p>
                <a:r>
                  <a:rPr lang="zh-CN" altLang="en-US">
                    <a:noFill/>
                  </a:rPr>
                  <a:t> </a:t>
                </a:r>
              </a:p>
            </p:txBody>
          </p:sp>
        </mc:Fallback>
      </mc:AlternateContent>
      <p:pic>
        <p:nvPicPr>
          <p:cNvPr id="4" name="图片 3"/>
          <p:cNvPicPr/>
          <p:nvPr/>
        </p:nvPicPr>
        <p:blipFill rotWithShape="1">
          <a:blip r:embed="rId2">
            <a:biLevel thresh="75000"/>
            <a:extLst>
              <a:ext uri="{BEBA8EAE-BF5A-486C-A8C5-ECC9F3942E4B}">
                <a14:imgProps xmlns:a14="http://schemas.microsoft.com/office/drawing/2010/main">
                  <a14:imgLayer r:embed="rId3">
                    <a14:imgEffect>
                      <a14:brightnessContrast contrast="20000"/>
                    </a14:imgEffect>
                    <a14:imgEffect>
                      <a14:sharpenSoften amount="50000"/>
                    </a14:imgEffect>
                  </a14:imgLayer>
                </a14:imgProps>
              </a:ext>
            </a:extLst>
          </a:blip>
          <a:srcRect l="10797" t="23645" r="14708"/>
          <a:stretch>
            <a:fillRect/>
          </a:stretch>
        </p:blipFill>
        <p:spPr>
          <a:xfrm>
            <a:off x="125921" y="3336072"/>
            <a:ext cx="6373748" cy="2016224"/>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6536055" y="1376680"/>
                <a:ext cx="5655945" cy="1833880"/>
              </a:xfrm>
              <a:prstGeom prst="rect">
                <a:avLst/>
              </a:prstGeom>
              <a:noFill/>
            </p:spPr>
            <p:txBody>
              <a:bodyPr wrap="square" rtlCol="0">
                <a:spAutoFit/>
              </a:bodyPr>
              <a:lstStyle/>
              <a:p>
                <a:r>
                  <a:rPr lang="zh-CN" altLang="en-US" sz="1400" dirty="0">
                    <a:solidFill>
                      <a:prstClr val="black"/>
                    </a:solidFill>
                  </a:rPr>
                  <a:t>（</a:t>
                </a:r>
                <a:r>
                  <a:rPr lang="en-US" altLang="zh-CN" sz="1400" dirty="0">
                    <a:solidFill>
                      <a:prstClr val="black"/>
                    </a:solidFill>
                  </a:rPr>
                  <a:t>1</a:t>
                </a:r>
                <a:r>
                  <a:rPr lang="zh-CN" altLang="en-US" sz="1400" dirty="0">
                    <a:solidFill>
                      <a:prstClr val="black"/>
                    </a:solidFill>
                  </a:rPr>
                  <a:t>）根据教材式</a:t>
                </a:r>
                <a:r>
                  <a:rPr lang="en-US" altLang="zh-CN" sz="1400" dirty="0">
                    <a:solidFill>
                      <a:prstClr val="black"/>
                    </a:solidFill>
                  </a:rPr>
                  <a:t>(7.2.5)</a:t>
                </a:r>
                <a:r>
                  <a:rPr lang="zh-CN" altLang="en-US" sz="1400" dirty="0">
                    <a:solidFill>
                      <a:prstClr val="black"/>
                    </a:solidFill>
                  </a:rPr>
                  <a:t>、</a:t>
                </a:r>
                <a:r>
                  <a:rPr lang="en-US" altLang="zh-CN" sz="1400" dirty="0">
                    <a:solidFill>
                      <a:prstClr val="black"/>
                    </a:solidFill>
                  </a:rPr>
                  <a:t>(7.2.6)</a:t>
                </a:r>
                <a:r>
                  <a:rPr lang="zh-CN" altLang="en-US" sz="1400" dirty="0">
                    <a:solidFill>
                      <a:prstClr val="black"/>
                    </a:solidFill>
                  </a:rPr>
                  <a:t>、</a:t>
                </a:r>
                <a:r>
                  <a:rPr lang="en-US" altLang="zh-CN" sz="1400" dirty="0">
                    <a:solidFill>
                      <a:prstClr val="black"/>
                    </a:solidFill>
                  </a:rPr>
                  <a:t>(7.2.7)</a:t>
                </a:r>
                <a:r>
                  <a:rPr lang="zh-CN" altLang="en-US" sz="1400" dirty="0">
                    <a:solidFill>
                      <a:prstClr val="black"/>
                    </a:solidFill>
                  </a:rPr>
                  <a:t>可知</a:t>
                </a:r>
                <a:endParaRPr lang="en-US" altLang="zh-CN" sz="1400" dirty="0">
                  <a:solidFill>
                    <a:prstClr val="black"/>
                  </a:solidFill>
                </a:endParaRPr>
              </a:p>
              <a:p>
                <a14:m>
                  <m:oMathPara xmlns:m="http://schemas.openxmlformats.org/officeDocument/2006/math">
                    <m:oMathParaPr>
                      <m:jc m:val="centerGroup"/>
                    </m:oMathParaPr>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m:t>
                          </m:r>
                          <m:r>
                            <a:rPr lang="en-US" altLang="zh-CN" sz="1400" i="1">
                              <a:solidFill>
                                <a:prstClr val="black"/>
                              </a:solidFill>
                              <a:latin typeface="Cambria Math" panose="02040503050406030204" pitchFamily="18" charset="0"/>
                              <a:ea typeface="Cambria Math" panose="02040503050406030204" pitchFamily="18" charset="0"/>
                            </a:rPr>
                            <m:t>+</m:t>
                          </m:r>
                        </m:sub>
                      </m:sSub>
                      <m:r>
                        <a:rPr lang="en-US" altLang="zh-CN" sz="1400" i="1">
                          <a:solidFill>
                            <a:prstClr val="black"/>
                          </a:solidFill>
                          <a:latin typeface="Cambria Math" panose="02040503050406030204" pitchFamily="18" charset="0"/>
                          <a:ea typeface="Cambria Math" panose="02040503050406030204" pitchFamily="18" charset="0"/>
                        </a:rPr>
                        <m:t>=</m:t>
                      </m:r>
                      <m:d>
                        <m:dPr>
                          <m:ctrlPr>
                            <a:rPr lang="en-US" altLang="zh-CN" sz="1400" b="0" i="1" smtClean="0">
                              <a:solidFill>
                                <a:prstClr val="black"/>
                              </a:solidFill>
                              <a:latin typeface="Cambria Math" panose="02040503050406030204" pitchFamily="18" charset="0"/>
                              <a:ea typeface="Cambria Math" panose="02040503050406030204" pitchFamily="18" charset="0"/>
                            </a:rPr>
                          </m:ctrlPr>
                        </m:dPr>
                        <m:e>
                          <m:r>
                            <a:rPr lang="en-US" altLang="zh-CN" sz="1400" b="0" i="1" smtClean="0">
                              <a:solidFill>
                                <a:prstClr val="black"/>
                              </a:solidFill>
                              <a:latin typeface="Cambria Math" panose="02040503050406030204" pitchFamily="18" charset="0"/>
                              <a:ea typeface="Cambria Math" panose="02040503050406030204" pitchFamily="18" charset="0"/>
                            </a:rPr>
                            <m:t>1</m:t>
                          </m:r>
                          <m:r>
                            <a:rPr lang="en-US" altLang="zh-CN" sz="1400" b="0" i="1" smtClean="0">
                              <a:solidFill>
                                <a:prstClr val="black"/>
                              </a:solidFill>
                              <a:latin typeface="Cambria Math" panose="02040503050406030204" pitchFamily="18" charset="0"/>
                              <a:ea typeface="Cambria Math" panose="02040503050406030204" pitchFamily="18" charset="0"/>
                            </a:rPr>
                            <m:t>+</m:t>
                          </m:r>
                          <m:f>
                            <m:fPr>
                              <m:ctrlPr>
                                <a:rPr lang="en-US" altLang="zh-CN" sz="1400" b="0" i="1" smtClean="0">
                                  <a:solidFill>
                                    <a:prstClr val="black"/>
                                  </a:solidFill>
                                  <a:latin typeface="Cambria Math" panose="02040503050406030204" pitchFamily="18" charset="0"/>
                                  <a:ea typeface="Cambria Math" panose="02040503050406030204" pitchFamily="18" charset="0"/>
                                </a:rPr>
                              </m:ctrlPr>
                            </m:fPr>
                            <m:num>
                              <m:sSub>
                                <m:sSubPr>
                                  <m:ctrlPr>
                                    <a:rPr lang="en-US" altLang="zh-CN" sz="1400" b="0" i="1" smtClean="0">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𝑅</m:t>
                                  </m:r>
                                </m:e>
                                <m:sub>
                                  <m:r>
                                    <a:rPr lang="en-US" altLang="zh-CN" sz="1400" b="0" i="1" smtClean="0">
                                      <a:solidFill>
                                        <a:prstClr val="black"/>
                                      </a:solidFill>
                                      <a:latin typeface="Cambria Math" panose="02040503050406030204" pitchFamily="18" charset="0"/>
                                      <a:ea typeface="Cambria Math" panose="02040503050406030204" pitchFamily="18" charset="0"/>
                                    </a:rPr>
                                    <m:t>1</m:t>
                                  </m:r>
                                </m:sub>
                              </m:sSub>
                            </m:num>
                            <m:den>
                              <m:sSub>
                                <m:sSubPr>
                                  <m:ctrlPr>
                                    <a:rPr lang="en-US" altLang="zh-CN" sz="1400" b="0" i="1" smtClean="0">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𝑅</m:t>
                                  </m:r>
                                </m:e>
                                <m:sub>
                                  <m:r>
                                    <a:rPr lang="en-US" altLang="zh-CN" sz="1400" b="0" i="1" smtClean="0">
                                      <a:solidFill>
                                        <a:prstClr val="black"/>
                                      </a:solidFill>
                                      <a:latin typeface="Cambria Math" panose="02040503050406030204" pitchFamily="18" charset="0"/>
                                      <a:ea typeface="Cambria Math" panose="02040503050406030204" pitchFamily="18" charset="0"/>
                                    </a:rPr>
                                    <m:t>2</m:t>
                                  </m:r>
                                </m:sub>
                              </m:sSub>
                            </m:den>
                          </m:f>
                        </m:e>
                      </m:d>
                      <m:sSub>
                        <m:sSubPr>
                          <m:ctrlPr>
                            <a:rPr lang="en-US" altLang="zh-CN" sz="1400" b="0" i="1" smtClean="0">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𝑉</m:t>
                          </m:r>
                        </m:e>
                        <m:sub>
                          <m:r>
                            <a:rPr lang="en-US" altLang="zh-CN" sz="1400" b="0" i="1" smtClean="0">
                              <a:solidFill>
                                <a:prstClr val="black"/>
                              </a:solidFill>
                              <a:latin typeface="Cambria Math" panose="02040503050406030204" pitchFamily="18" charset="0"/>
                              <a:ea typeface="Cambria Math" panose="02040503050406030204" pitchFamily="18" charset="0"/>
                            </a:rPr>
                            <m:t>𝑇𝐻</m:t>
                          </m:r>
                        </m:sub>
                      </m:sSub>
                      <m:r>
                        <a:rPr lang="en-US" altLang="zh-CN" sz="1400" b="0" i="1" smtClean="0">
                          <a:solidFill>
                            <a:prstClr val="black"/>
                          </a:solidFill>
                          <a:latin typeface="Cambria Math" panose="02040503050406030204" pitchFamily="18" charset="0"/>
                          <a:ea typeface="Cambria Math" panose="02040503050406030204" pitchFamily="18" charset="0"/>
                        </a:rPr>
                        <m:t>=</m:t>
                      </m:r>
                      <m:d>
                        <m:dPr>
                          <m:ctrlPr>
                            <a:rPr lang="en-US" altLang="zh-CN" sz="1400" b="0" i="1" smtClean="0">
                              <a:solidFill>
                                <a:prstClr val="black"/>
                              </a:solidFill>
                              <a:latin typeface="Cambria Math" panose="02040503050406030204" pitchFamily="18" charset="0"/>
                              <a:ea typeface="Cambria Math" panose="02040503050406030204" pitchFamily="18" charset="0"/>
                            </a:rPr>
                          </m:ctrlPr>
                        </m:dPr>
                        <m:e>
                          <m:r>
                            <a:rPr lang="en-US" altLang="zh-CN" sz="1400" b="0" i="1" smtClean="0">
                              <a:solidFill>
                                <a:prstClr val="black"/>
                              </a:solidFill>
                              <a:latin typeface="Cambria Math" panose="02040503050406030204" pitchFamily="18" charset="0"/>
                              <a:ea typeface="Cambria Math" panose="02040503050406030204" pitchFamily="18" charset="0"/>
                            </a:rPr>
                            <m:t>1</m:t>
                          </m:r>
                          <m:r>
                            <a:rPr lang="en-US" altLang="zh-CN" sz="1400" b="0" i="1" smtClean="0">
                              <a:solidFill>
                                <a:prstClr val="black"/>
                              </a:solidFill>
                              <a:latin typeface="Cambria Math" panose="02040503050406030204" pitchFamily="18" charset="0"/>
                              <a:ea typeface="Cambria Math" panose="02040503050406030204" pitchFamily="18" charset="0"/>
                            </a:rPr>
                            <m:t>+</m:t>
                          </m:r>
                          <m:f>
                            <m:fPr>
                              <m:ctrlPr>
                                <a:rPr lang="en-US" altLang="zh-CN" sz="1400" b="0" i="1" smtClean="0">
                                  <a:solidFill>
                                    <a:prstClr val="black"/>
                                  </a:solidFill>
                                  <a:latin typeface="Cambria Math" panose="02040503050406030204" pitchFamily="18" charset="0"/>
                                  <a:ea typeface="Cambria Math" panose="02040503050406030204" pitchFamily="18" charset="0"/>
                                </a:rPr>
                              </m:ctrlPr>
                            </m:fPr>
                            <m:num>
                              <m:r>
                                <a:rPr lang="en-US" altLang="zh-CN" sz="1400" b="0" i="1" smtClean="0">
                                  <a:solidFill>
                                    <a:prstClr val="black"/>
                                  </a:solidFill>
                                  <a:latin typeface="Cambria Math" panose="02040503050406030204" pitchFamily="18" charset="0"/>
                                  <a:ea typeface="Cambria Math" panose="02040503050406030204" pitchFamily="18" charset="0"/>
                                </a:rPr>
                                <m:t>10</m:t>
                              </m:r>
                            </m:num>
                            <m:den>
                              <m:r>
                                <a:rPr lang="en-US" altLang="zh-CN" sz="1400" b="0" i="1" smtClean="0">
                                  <a:solidFill>
                                    <a:prstClr val="black"/>
                                  </a:solidFill>
                                  <a:latin typeface="Cambria Math" panose="02040503050406030204" pitchFamily="18" charset="0"/>
                                  <a:ea typeface="Cambria Math" panose="02040503050406030204" pitchFamily="18" charset="0"/>
                                </a:rPr>
                                <m:t>30</m:t>
                              </m:r>
                            </m:den>
                          </m:f>
                        </m:e>
                      </m:d>
                      <m:r>
                        <a:rPr lang="en-US" altLang="zh-CN" sz="1400" b="0" i="1" smtClean="0">
                          <a:solidFill>
                            <a:prstClr val="black"/>
                          </a:solidFill>
                          <a:latin typeface="Cambria Math" panose="02040503050406030204" pitchFamily="18" charset="0"/>
                          <a:ea typeface="Cambria Math" panose="02040503050406030204" pitchFamily="18" charset="0"/>
                        </a:rPr>
                        <m:t>∗</m:t>
                      </m:r>
                      <m:f>
                        <m:fPr>
                          <m:ctrlPr>
                            <a:rPr lang="en-US" altLang="zh-CN" sz="1400" b="0" i="1" smtClean="0">
                              <a:solidFill>
                                <a:prstClr val="black"/>
                              </a:solidFill>
                              <a:latin typeface="Cambria Math" panose="02040503050406030204" pitchFamily="18" charset="0"/>
                              <a:ea typeface="Cambria Math" panose="02040503050406030204" pitchFamily="18" charset="0"/>
                            </a:rPr>
                          </m:ctrlPr>
                        </m:fPr>
                        <m:num>
                          <m:r>
                            <a:rPr lang="en-US" altLang="zh-CN" sz="1400" b="0" i="1" smtClean="0">
                              <a:solidFill>
                                <a:prstClr val="black"/>
                              </a:solidFill>
                              <a:latin typeface="Cambria Math" panose="02040503050406030204" pitchFamily="18" charset="0"/>
                              <a:ea typeface="Cambria Math" panose="02040503050406030204" pitchFamily="18" charset="0"/>
                            </a:rPr>
                            <m:t>15</m:t>
                          </m:r>
                        </m:num>
                        <m:den>
                          <m:r>
                            <a:rPr lang="en-US" altLang="zh-CN" sz="1400" b="0" i="1" smtClean="0">
                              <a:solidFill>
                                <a:prstClr val="black"/>
                              </a:solidFill>
                              <a:latin typeface="Cambria Math" panose="02040503050406030204" pitchFamily="18" charset="0"/>
                              <a:ea typeface="Cambria Math" panose="02040503050406030204" pitchFamily="18" charset="0"/>
                            </a:rPr>
                            <m:t>2</m:t>
                          </m:r>
                        </m:den>
                      </m:f>
                      <m:r>
                        <a:rPr lang="en-US" altLang="zh-CN" sz="1400" b="0" i="1" smtClean="0">
                          <a:solidFill>
                            <a:prstClr val="black"/>
                          </a:solidFill>
                          <a:latin typeface="Cambria Math" panose="02040503050406030204" pitchFamily="18" charset="0"/>
                          <a:ea typeface="Cambria Math" panose="02040503050406030204" pitchFamily="18" charset="0"/>
                        </a:rPr>
                        <m:t>𝑉</m:t>
                      </m:r>
                      <m:r>
                        <a:rPr lang="en-US" altLang="zh-CN" sz="1400" b="0" i="1" smtClean="0">
                          <a:solidFill>
                            <a:prstClr val="black"/>
                          </a:solidFill>
                          <a:latin typeface="Cambria Math" panose="02040503050406030204" pitchFamily="18" charset="0"/>
                          <a:ea typeface="Cambria Math" panose="02040503050406030204" pitchFamily="18" charset="0"/>
                        </a:rPr>
                        <m:t>=</m:t>
                      </m:r>
                      <m:r>
                        <a:rPr lang="en-US" altLang="zh-CN" sz="1400" b="0" i="1" smtClean="0">
                          <a:solidFill>
                            <a:prstClr val="black"/>
                          </a:solidFill>
                          <a:latin typeface="Cambria Math" panose="02040503050406030204" pitchFamily="18" charset="0"/>
                          <a:ea typeface="Cambria Math" panose="02040503050406030204" pitchFamily="18" charset="0"/>
                        </a:rPr>
                        <m:t>10</m:t>
                      </m:r>
                      <m:r>
                        <a:rPr lang="en-US" altLang="zh-CN" sz="1400" b="0" i="1" smtClean="0">
                          <a:solidFill>
                            <a:prstClr val="black"/>
                          </a:solidFill>
                          <a:latin typeface="Cambria Math" panose="02040503050406030204" pitchFamily="18" charset="0"/>
                          <a:ea typeface="Cambria Math" panose="02040503050406030204" pitchFamily="18" charset="0"/>
                        </a:rPr>
                        <m:t>𝑉</m:t>
                      </m:r>
                    </m:oMath>
                  </m:oMathPara>
                </a14:m>
                <a:endParaRPr lang="en-US" altLang="zh-CN" sz="1400" dirty="0">
                  <a:solidFill>
                    <a:prstClr val="black"/>
                  </a:solidFill>
                </a:endParaRPr>
              </a:p>
              <a:p>
                <a14:m>
                  <m:oMathPara xmlns:m="http://schemas.openxmlformats.org/officeDocument/2006/math">
                    <m:oMathParaPr>
                      <m:jc m:val="centerGroup"/>
                    </m:oMathParaPr>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m:t>
                          </m:r>
                          <m:r>
                            <a:rPr lang="en-US" altLang="zh-CN" sz="1400" b="0" i="1" smtClean="0">
                              <a:solidFill>
                                <a:prstClr val="black"/>
                              </a:solidFill>
                              <a:latin typeface="Cambria Math" panose="02040503050406030204" pitchFamily="18" charset="0"/>
                              <a:ea typeface="Cambria Math" panose="02040503050406030204" pitchFamily="18" charset="0"/>
                            </a:rPr>
                            <m:t>−</m:t>
                          </m:r>
                        </m:sub>
                      </m:sSub>
                      <m:r>
                        <a:rPr lang="en-US" altLang="zh-CN" sz="1400" i="1">
                          <a:solidFill>
                            <a:prstClr val="black"/>
                          </a:solidFill>
                          <a:latin typeface="Cambria Math" panose="02040503050406030204" pitchFamily="18" charset="0"/>
                          <a:ea typeface="Cambria Math" panose="02040503050406030204" pitchFamily="18" charset="0"/>
                        </a:rPr>
                        <m:t>=</m:t>
                      </m:r>
                      <m:d>
                        <m:dPr>
                          <m:ctrlPr>
                            <a:rPr lang="en-US" altLang="zh-CN" sz="1400" i="1">
                              <a:solidFill>
                                <a:prstClr val="black"/>
                              </a:solidFill>
                              <a:latin typeface="Cambria Math" panose="02040503050406030204" pitchFamily="18" charset="0"/>
                              <a:ea typeface="Cambria Math" panose="02040503050406030204" pitchFamily="18" charset="0"/>
                            </a:rPr>
                          </m:ctrlPr>
                        </m:dPr>
                        <m:e>
                          <m:r>
                            <a:rPr lang="en-US" altLang="zh-CN" sz="1400" i="1">
                              <a:solidFill>
                                <a:prstClr val="black"/>
                              </a:solidFill>
                              <a:latin typeface="Cambria Math" panose="02040503050406030204" pitchFamily="18" charset="0"/>
                              <a:ea typeface="Cambria Math" panose="02040503050406030204" pitchFamily="18" charset="0"/>
                            </a:rPr>
                            <m:t>1</m:t>
                          </m:r>
                          <m:r>
                            <a:rPr lang="en-US" altLang="zh-CN" sz="1400" b="0" i="1" smtClean="0">
                              <a:solidFill>
                                <a:prstClr val="black"/>
                              </a:solidFill>
                              <a:latin typeface="Cambria Math" panose="02040503050406030204" pitchFamily="18" charset="0"/>
                              <a:ea typeface="Cambria Math" panose="02040503050406030204" pitchFamily="18" charset="0"/>
                            </a:rPr>
                            <m:t>−</m:t>
                          </m:r>
                          <m:f>
                            <m:fPr>
                              <m:ctrlPr>
                                <a:rPr lang="en-US" altLang="zh-CN" sz="1400" i="1">
                                  <a:solidFill>
                                    <a:prstClr val="black"/>
                                  </a:solidFill>
                                  <a:latin typeface="Cambria Math" panose="02040503050406030204" pitchFamily="18" charset="0"/>
                                  <a:ea typeface="Cambria Math" panose="02040503050406030204" pitchFamily="18" charset="0"/>
                                </a:rPr>
                              </m:ctrlPr>
                            </m:fPr>
                            <m:num>
                              <m:sSub>
                                <m:sSubPr>
                                  <m:ctrlPr>
                                    <a:rPr lang="en-US"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𝑅</m:t>
                                  </m:r>
                                </m:e>
                                <m:sub>
                                  <m:r>
                                    <a:rPr lang="en-US" altLang="zh-CN" sz="1400" i="1">
                                      <a:solidFill>
                                        <a:prstClr val="black"/>
                                      </a:solidFill>
                                      <a:latin typeface="Cambria Math" panose="02040503050406030204" pitchFamily="18" charset="0"/>
                                      <a:ea typeface="Cambria Math" panose="02040503050406030204" pitchFamily="18" charset="0"/>
                                    </a:rPr>
                                    <m:t>1</m:t>
                                  </m:r>
                                </m:sub>
                              </m:sSub>
                            </m:num>
                            <m:den>
                              <m:sSub>
                                <m:sSubPr>
                                  <m:ctrlPr>
                                    <a:rPr lang="en-US"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𝑅</m:t>
                                  </m:r>
                                </m:e>
                                <m:sub>
                                  <m:r>
                                    <a:rPr lang="en-US" altLang="zh-CN" sz="1400" i="1">
                                      <a:solidFill>
                                        <a:prstClr val="black"/>
                                      </a:solidFill>
                                      <a:latin typeface="Cambria Math" panose="02040503050406030204" pitchFamily="18" charset="0"/>
                                      <a:ea typeface="Cambria Math" panose="02040503050406030204" pitchFamily="18" charset="0"/>
                                    </a:rPr>
                                    <m:t>2</m:t>
                                  </m:r>
                                </m:sub>
                              </m:sSub>
                            </m:den>
                          </m:f>
                        </m:e>
                      </m:d>
                      <m:sSub>
                        <m:sSubPr>
                          <m:ctrlPr>
                            <a:rPr lang="en-US"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𝑇𝐻</m:t>
                          </m:r>
                        </m:sub>
                      </m:sSub>
                      <m:r>
                        <a:rPr lang="en-US" altLang="zh-CN" sz="1400" i="1">
                          <a:solidFill>
                            <a:prstClr val="black"/>
                          </a:solidFill>
                          <a:latin typeface="Cambria Math" panose="02040503050406030204" pitchFamily="18" charset="0"/>
                          <a:ea typeface="Cambria Math" panose="02040503050406030204" pitchFamily="18" charset="0"/>
                        </a:rPr>
                        <m:t>=</m:t>
                      </m:r>
                      <m:d>
                        <m:dPr>
                          <m:ctrlPr>
                            <a:rPr lang="en-US" altLang="zh-CN" sz="1400" i="1">
                              <a:solidFill>
                                <a:prstClr val="black"/>
                              </a:solidFill>
                              <a:latin typeface="Cambria Math" panose="02040503050406030204" pitchFamily="18" charset="0"/>
                              <a:ea typeface="Cambria Math" panose="02040503050406030204" pitchFamily="18" charset="0"/>
                            </a:rPr>
                          </m:ctrlPr>
                        </m:dPr>
                        <m:e>
                          <m:r>
                            <a:rPr lang="en-US" altLang="zh-CN" sz="1400" i="1">
                              <a:solidFill>
                                <a:prstClr val="black"/>
                              </a:solidFill>
                              <a:latin typeface="Cambria Math" panose="02040503050406030204" pitchFamily="18" charset="0"/>
                              <a:ea typeface="Cambria Math" panose="02040503050406030204" pitchFamily="18" charset="0"/>
                            </a:rPr>
                            <m:t>1</m:t>
                          </m:r>
                          <m:r>
                            <a:rPr lang="en-US" altLang="zh-CN" sz="1400" b="0" i="1" smtClean="0">
                              <a:solidFill>
                                <a:prstClr val="black"/>
                              </a:solidFill>
                              <a:latin typeface="Cambria Math" panose="02040503050406030204" pitchFamily="18" charset="0"/>
                              <a:ea typeface="Cambria Math" panose="02040503050406030204" pitchFamily="18" charset="0"/>
                            </a:rPr>
                            <m:t>−</m:t>
                          </m:r>
                          <m:f>
                            <m:fPr>
                              <m:ctrlPr>
                                <a:rPr lang="en-US" altLang="zh-CN" sz="1400" i="1">
                                  <a:solidFill>
                                    <a:prstClr val="black"/>
                                  </a:solidFill>
                                  <a:latin typeface="Cambria Math" panose="02040503050406030204" pitchFamily="18" charset="0"/>
                                  <a:ea typeface="Cambria Math" panose="02040503050406030204" pitchFamily="18" charset="0"/>
                                </a:rPr>
                              </m:ctrlPr>
                            </m:fPr>
                            <m:num>
                              <m:r>
                                <a:rPr lang="en-US" altLang="zh-CN" sz="1400" i="1">
                                  <a:solidFill>
                                    <a:prstClr val="black"/>
                                  </a:solidFill>
                                  <a:latin typeface="Cambria Math" panose="02040503050406030204" pitchFamily="18" charset="0"/>
                                  <a:ea typeface="Cambria Math" panose="02040503050406030204" pitchFamily="18" charset="0"/>
                                </a:rPr>
                                <m:t>10</m:t>
                              </m:r>
                            </m:num>
                            <m:den>
                              <m:r>
                                <a:rPr lang="en-US" altLang="zh-CN" sz="1400" i="1">
                                  <a:solidFill>
                                    <a:prstClr val="black"/>
                                  </a:solidFill>
                                  <a:latin typeface="Cambria Math" panose="02040503050406030204" pitchFamily="18" charset="0"/>
                                  <a:ea typeface="Cambria Math" panose="02040503050406030204" pitchFamily="18" charset="0"/>
                                </a:rPr>
                                <m:t>30</m:t>
                              </m:r>
                            </m:den>
                          </m:f>
                        </m:e>
                      </m:d>
                      <m:r>
                        <a:rPr lang="en-US" altLang="zh-CN" sz="1400" i="1">
                          <a:solidFill>
                            <a:prstClr val="black"/>
                          </a:solidFill>
                          <a:latin typeface="Cambria Math" panose="02040503050406030204" pitchFamily="18" charset="0"/>
                          <a:ea typeface="Cambria Math" panose="02040503050406030204" pitchFamily="18" charset="0"/>
                        </a:rPr>
                        <m:t>∗</m:t>
                      </m:r>
                      <m:f>
                        <m:fPr>
                          <m:ctrlPr>
                            <a:rPr lang="en-US" altLang="zh-CN" sz="1400" i="1">
                              <a:solidFill>
                                <a:prstClr val="black"/>
                              </a:solidFill>
                              <a:latin typeface="Cambria Math" panose="02040503050406030204" pitchFamily="18" charset="0"/>
                              <a:ea typeface="Cambria Math" panose="02040503050406030204" pitchFamily="18" charset="0"/>
                            </a:rPr>
                          </m:ctrlPr>
                        </m:fPr>
                        <m:num>
                          <m:r>
                            <a:rPr lang="en-US" altLang="zh-CN" sz="1400" i="1">
                              <a:solidFill>
                                <a:prstClr val="black"/>
                              </a:solidFill>
                              <a:latin typeface="Cambria Math" panose="02040503050406030204" pitchFamily="18" charset="0"/>
                              <a:ea typeface="Cambria Math" panose="02040503050406030204" pitchFamily="18" charset="0"/>
                            </a:rPr>
                            <m:t>15</m:t>
                          </m:r>
                        </m:num>
                        <m:den>
                          <m:r>
                            <a:rPr lang="en-US" altLang="zh-CN" sz="1400" i="1">
                              <a:solidFill>
                                <a:prstClr val="black"/>
                              </a:solidFill>
                              <a:latin typeface="Cambria Math" panose="02040503050406030204" pitchFamily="18" charset="0"/>
                              <a:ea typeface="Cambria Math" panose="02040503050406030204" pitchFamily="18" charset="0"/>
                            </a:rPr>
                            <m:t>2</m:t>
                          </m:r>
                        </m:den>
                      </m:f>
                      <m:r>
                        <a:rPr lang="en-US" altLang="zh-CN" sz="1400" i="1">
                          <a:solidFill>
                            <a:prstClr val="black"/>
                          </a:solidFill>
                          <a:latin typeface="Cambria Math" panose="02040503050406030204" pitchFamily="18" charset="0"/>
                          <a:ea typeface="Cambria Math" panose="02040503050406030204" pitchFamily="18" charset="0"/>
                        </a:rPr>
                        <m:t>𝑉</m:t>
                      </m:r>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5</m:t>
                      </m:r>
                      <m:r>
                        <a:rPr lang="en-US" altLang="zh-CN" sz="1400" i="1">
                          <a:solidFill>
                            <a:prstClr val="black"/>
                          </a:solidFill>
                          <a:latin typeface="Cambria Math" panose="02040503050406030204" pitchFamily="18" charset="0"/>
                          <a:ea typeface="Cambria Math" panose="02040503050406030204" pitchFamily="18" charset="0"/>
                        </a:rPr>
                        <m:t>𝑉</m:t>
                      </m:r>
                    </m:oMath>
                  </m:oMathPara>
                </a14:m>
                <a:endParaRPr lang="en-US" altLang="zh-CN" sz="1400" dirty="0">
                  <a:solidFill>
                    <a:prstClr val="black"/>
                  </a:solidFill>
                </a:endParaRPr>
              </a:p>
              <a:p>
                <a:pPr>
                  <a:lnSpc>
                    <a:spcPct val="150000"/>
                  </a:lnSpc>
                </a:pPr>
                <a14:m>
                  <m:oMathPara xmlns:m="http://schemas.openxmlformats.org/officeDocument/2006/math">
                    <m:oMathParaPr>
                      <m:jc m:val="centerGroup"/>
                    </m:oMathParaPr>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l-GR"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m:t>
                          </m:r>
                        </m:sub>
                      </m:sSub>
                      <m:r>
                        <a:rPr lang="en-US" altLang="zh-CN" sz="1400" b="0" i="1" smtClean="0">
                          <a:solidFill>
                            <a:prstClr val="black"/>
                          </a:solidFill>
                          <a:latin typeface="Cambria Math" panose="02040503050406030204" pitchFamily="18" charset="0"/>
                          <a:ea typeface="Cambria Math" panose="02040503050406030204" pitchFamily="18" charset="0"/>
                        </a:rPr>
                        <m:t>=</m:t>
                      </m:r>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m:t>
                          </m:r>
                          <m:r>
                            <a:rPr lang="en-US" altLang="zh-CN" sz="1400" i="1">
                              <a:solidFill>
                                <a:prstClr val="black"/>
                              </a:solidFill>
                              <a:latin typeface="Cambria Math" panose="02040503050406030204" pitchFamily="18" charset="0"/>
                              <a:ea typeface="Cambria Math" panose="02040503050406030204" pitchFamily="18" charset="0"/>
                            </a:rPr>
                            <m:t>+</m:t>
                          </m:r>
                        </m:sub>
                      </m:sSub>
                      <m:r>
                        <a:rPr lang="en-US" altLang="zh-CN" sz="1400" b="0" i="1" smtClean="0">
                          <a:solidFill>
                            <a:prstClr val="black"/>
                          </a:solidFill>
                          <a:latin typeface="Cambria Math" panose="02040503050406030204" pitchFamily="18" charset="0"/>
                          <a:ea typeface="Cambria Math" panose="02040503050406030204" pitchFamily="18" charset="0"/>
                        </a:rPr>
                        <m:t>−</m:t>
                      </m:r>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m:t>
                          </m:r>
                          <m:r>
                            <a:rPr lang="en-US" altLang="zh-CN" sz="1400" i="1">
                              <a:solidFill>
                                <a:prstClr val="black"/>
                              </a:solidFill>
                              <a:latin typeface="Cambria Math" panose="02040503050406030204" pitchFamily="18" charset="0"/>
                              <a:ea typeface="Cambria Math" panose="02040503050406030204" pitchFamily="18" charset="0"/>
                            </a:rPr>
                            <m:t>−</m:t>
                          </m:r>
                        </m:sub>
                      </m:sSub>
                      <m:r>
                        <a:rPr lang="en-US" altLang="zh-CN" sz="1400" b="0" i="1" smtClean="0">
                          <a:solidFill>
                            <a:prstClr val="black"/>
                          </a:solidFill>
                          <a:latin typeface="Cambria Math" panose="02040503050406030204" pitchFamily="18" charset="0"/>
                          <a:ea typeface="Cambria Math" panose="02040503050406030204" pitchFamily="18" charset="0"/>
                        </a:rPr>
                        <m:t>=</m:t>
                      </m:r>
                      <m:r>
                        <a:rPr lang="en-US" altLang="zh-CN" sz="1400" b="0" i="1" smtClean="0">
                          <a:solidFill>
                            <a:prstClr val="black"/>
                          </a:solidFill>
                          <a:latin typeface="Cambria Math" panose="02040503050406030204" pitchFamily="18" charset="0"/>
                          <a:ea typeface="Cambria Math" panose="02040503050406030204" pitchFamily="18" charset="0"/>
                        </a:rPr>
                        <m:t>5</m:t>
                      </m:r>
                      <m:r>
                        <a:rPr lang="en-US" altLang="zh-CN" sz="1400" b="0" i="1" smtClean="0">
                          <a:solidFill>
                            <a:prstClr val="black"/>
                          </a:solidFill>
                          <a:latin typeface="Cambria Math" panose="02040503050406030204" pitchFamily="18" charset="0"/>
                          <a:ea typeface="Cambria Math" panose="02040503050406030204" pitchFamily="18" charset="0"/>
                        </a:rPr>
                        <m:t>𝑉</m:t>
                      </m:r>
                    </m:oMath>
                  </m:oMathPara>
                </a14:m>
                <a:endParaRPr lang="en-US" altLang="zh-CN" sz="1400" dirty="0">
                  <a:solidFill>
                    <a:prstClr val="black"/>
                  </a:solidFill>
                </a:endParaRPr>
              </a:p>
              <a:p>
                <a:pPr>
                  <a:lnSpc>
                    <a:spcPct val="150000"/>
                  </a:lnSpc>
                </a:pPr>
                <a:r>
                  <a:rPr lang="zh-CN" altLang="en-US" sz="1400" dirty="0">
                    <a:solidFill>
                      <a:prstClr val="black"/>
                    </a:solidFill>
                  </a:rPr>
                  <a:t>（</a:t>
                </a:r>
                <a:r>
                  <a:rPr lang="en-US" altLang="zh-CN" sz="1400" dirty="0">
                    <a:solidFill>
                      <a:prstClr val="black"/>
                    </a:solidFill>
                  </a:rPr>
                  <a:t>2</a:t>
                </a:r>
                <a:r>
                  <a:rPr lang="zh-CN" altLang="en-US" sz="1400" dirty="0">
                    <a:solidFill>
                      <a:prstClr val="black"/>
                    </a:solidFill>
                  </a:rPr>
                  <a:t>）</a:t>
                </a:r>
                <a:endParaRPr lang="en-US" altLang="zh-CN" sz="1400" dirty="0">
                  <a:solidFill>
                    <a:prstClr val="black"/>
                  </a:solidFill>
                </a:endParaRPr>
              </a:p>
            </p:txBody>
          </p:sp>
        </mc:Choice>
        <mc:Fallback>
          <p:sp>
            <p:nvSpPr>
              <p:cNvPr id="5" name="文本框 4"/>
              <p:cNvSpPr txBox="1">
                <a:spLocks noRot="1" noChangeAspect="1" noMove="1" noResize="1" noEditPoints="1" noAdjustHandles="1" noChangeArrowheads="1" noChangeShapeType="1" noTextEdit="1"/>
              </p:cNvSpPr>
              <p:nvPr/>
            </p:nvSpPr>
            <p:spPr>
              <a:xfrm>
                <a:off x="6536055" y="1376680"/>
                <a:ext cx="5655945" cy="1833880"/>
              </a:xfrm>
              <a:prstGeom prst="rect">
                <a:avLst/>
              </a:prstGeom>
              <a:blipFill rotWithShape="1">
                <a:blip r:embed="rId4"/>
                <a:stretch>
                  <a:fillRect/>
                </a:stretch>
              </a:blipFill>
            </p:spPr>
            <p:txBody>
              <a:bodyPr/>
              <a:lstStyle/>
              <a:p>
                <a:r>
                  <a:rPr lang="zh-CN" altLang="en-US">
                    <a:noFill/>
                  </a:rPr>
                  <a:t> </a:t>
                </a:r>
              </a:p>
            </p:txBody>
          </p:sp>
        </mc:Fallback>
      </mc:AlternateContent>
      <p:pic>
        <p:nvPicPr>
          <p:cNvPr id="6" name="图片 5"/>
          <p:cNvPicPr/>
          <p:nvPr/>
        </p:nvPicPr>
        <p:blipFill rotWithShape="1">
          <a:blip r:embed="rId5">
            <a:biLevel thresh="75000"/>
            <a:extLst>
              <a:ext uri="{BEBA8EAE-BF5A-486C-A8C5-ECC9F3942E4B}">
                <a14:imgProps xmlns:a14="http://schemas.microsoft.com/office/drawing/2010/main">
                  <a14:imgLayer r:embed="rId6">
                    <a14:imgEffect>
                      <a14:brightnessContrast contrast="20000"/>
                    </a14:imgEffect>
                    <a14:imgEffect>
                      <a14:sharpenSoften amount="50000"/>
                    </a14:imgEffect>
                  </a14:imgLayer>
                </a14:imgProps>
              </a:ext>
            </a:extLst>
          </a:blip>
          <a:srcRect b="16301"/>
          <a:stretch>
            <a:fillRect/>
          </a:stretch>
        </p:blipFill>
        <p:spPr>
          <a:xfrm>
            <a:off x="7036435" y="3009900"/>
            <a:ext cx="4159885" cy="23431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作业</a:t>
            </a:r>
            <a:r>
              <a:rPr lang="en-US" altLang="zh-CN" dirty="0">
                <a:sym typeface="+mn-ea"/>
              </a:rPr>
              <a:t>10</a:t>
            </a:r>
            <a:endParaRPr lang="en-US" altLang="zh-CN"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197485" y="1073785"/>
                <a:ext cx="10880090" cy="3321685"/>
              </a:xfrm>
              <a:prstGeom prst="rect">
                <a:avLst/>
              </a:prstGeom>
              <a:noFill/>
            </p:spPr>
            <p:txBody>
              <a:bodyPr wrap="square" rtlCol="0">
                <a:spAutoFit/>
              </a:bodyPr>
              <a:lstStyle/>
              <a:p>
                <a:pPr>
                  <a:lnSpc>
                    <a:spcPct val="150000"/>
                  </a:lnSpc>
                </a:pPr>
                <a:r>
                  <a:rPr lang="en-US" altLang="zh-CN" sz="1400" dirty="0">
                    <a:solidFill>
                      <a:prstClr val="black"/>
                    </a:solidFill>
                  </a:rPr>
                  <a:t>7.5 </a:t>
                </a:r>
                <a:r>
                  <a:rPr lang="zh-CN" altLang="en-US" sz="1400" dirty="0">
                    <a:solidFill>
                      <a:prstClr val="black"/>
                    </a:solidFill>
                  </a:rPr>
                  <a:t>在图</a:t>
                </a:r>
                <a:r>
                  <a:rPr lang="en-US" altLang="zh-CN" sz="1400" dirty="0">
                    <a:solidFill>
                      <a:prstClr val="black"/>
                    </a:solidFill>
                  </a:rPr>
                  <a:t>P7.2</a:t>
                </a:r>
                <a:r>
                  <a:rPr lang="zh-CN" altLang="en-US" sz="1400" dirty="0">
                    <a:solidFill>
                      <a:prstClr val="black"/>
                    </a:solidFill>
                  </a:rPr>
                  <a:t>的施密特触发电路中，已知电源电压</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𝐷𝐷</m:t>
                        </m:r>
                      </m:sub>
                    </m:sSub>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5</m:t>
                    </m:r>
                    <m:r>
                      <m:rPr>
                        <m:sty m:val="p"/>
                      </m:rPr>
                      <a:rPr lang="en-US" altLang="zh-CN" sz="1400">
                        <a:solidFill>
                          <a:prstClr val="black"/>
                        </a:solidFill>
                        <a:latin typeface="Cambria Math" panose="02040503050406030204" pitchFamily="18" charset="0"/>
                        <a:ea typeface="Cambria Math" panose="02040503050406030204" pitchFamily="18" charset="0"/>
                      </a:rPr>
                      <m:t>V</m:t>
                    </m:r>
                    <m:r>
                      <a:rPr lang="zh-CN" altLang="en-US" sz="1400" i="1" smtClean="0">
                        <a:solidFill>
                          <a:prstClr val="black"/>
                        </a:solidFill>
                        <a:latin typeface="Cambria Math" panose="02040503050406030204" pitchFamily="18" charset="0"/>
                        <a:ea typeface="Cambria Math" panose="02040503050406030204" pitchFamily="18" charset="0"/>
                      </a:rPr>
                      <m:t>。</m:t>
                    </m:r>
                  </m:oMath>
                </a14:m>
                <a:r>
                  <a:rPr lang="zh-CN" altLang="en-US" sz="1400" dirty="0">
                    <a:solidFill>
                      <a:prstClr val="black"/>
                    </a:solidFill>
                  </a:rPr>
                  <a:t>若要求回差电压</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l-GR"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m:t>
                        </m:r>
                      </m:sub>
                    </m:sSub>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2</m:t>
                    </m:r>
                    <m:r>
                      <a:rPr lang="en-US" altLang="zh-CN" sz="1400" b="0" i="1" smtClean="0">
                        <a:solidFill>
                          <a:prstClr val="black"/>
                        </a:solidFill>
                        <a:latin typeface="Cambria Math" panose="02040503050406030204" pitchFamily="18" charset="0"/>
                        <a:ea typeface="Cambria Math" panose="02040503050406030204" pitchFamily="18" charset="0"/>
                      </a:rPr>
                      <m:t>𝑉</m:t>
                    </m:r>
                  </m:oMath>
                </a14:m>
                <a:r>
                  <a:rPr lang="zh-CN" altLang="en-US" sz="1400" dirty="0">
                    <a:solidFill>
                      <a:prstClr val="black"/>
                    </a:solidFill>
                  </a:rPr>
                  <a:t>，试为</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𝑅</m:t>
                        </m:r>
                      </m:e>
                      <m:sub>
                        <m:r>
                          <a:rPr lang="en-US" altLang="zh-CN" sz="1400" i="1">
                            <a:solidFill>
                              <a:prstClr val="black"/>
                            </a:solidFill>
                            <a:latin typeface="Cambria Math" panose="02040503050406030204" pitchFamily="18" charset="0"/>
                            <a:ea typeface="Cambria Math" panose="02040503050406030204" pitchFamily="18" charset="0"/>
                          </a:rPr>
                          <m:t>1</m:t>
                        </m:r>
                      </m:sub>
                    </m:sSub>
                  </m:oMath>
                </a14:m>
                <a:r>
                  <a:rPr lang="zh-CN" altLang="en-US" sz="1400" dirty="0">
                    <a:solidFill>
                      <a:prstClr val="black"/>
                    </a:solidFill>
                  </a:rPr>
                  <a:t>和</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𝑅</m:t>
                        </m:r>
                      </m:e>
                      <m:sub>
                        <m:r>
                          <a:rPr lang="en-US" altLang="zh-CN" sz="1400" i="1">
                            <a:solidFill>
                              <a:prstClr val="black"/>
                            </a:solidFill>
                            <a:latin typeface="Cambria Math" panose="02040503050406030204" pitchFamily="18" charset="0"/>
                            <a:ea typeface="Cambria Math" panose="02040503050406030204" pitchFamily="18" charset="0"/>
                          </a:rPr>
                          <m:t>2</m:t>
                        </m:r>
                      </m:sub>
                    </m:sSub>
                  </m:oMath>
                </a14:m>
                <a:r>
                  <a:rPr lang="zh-CN" altLang="en-US" sz="1400" dirty="0">
                    <a:solidFill>
                      <a:prstClr val="black"/>
                    </a:solidFill>
                  </a:rPr>
                  <a:t>选定合适的电阻阻值，并说明</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𝑅</m:t>
                        </m:r>
                      </m:e>
                      <m:sub>
                        <m:r>
                          <a:rPr lang="en-US" altLang="zh-CN" sz="1400" i="1">
                            <a:solidFill>
                              <a:prstClr val="black"/>
                            </a:solidFill>
                            <a:latin typeface="Cambria Math" panose="02040503050406030204" pitchFamily="18" charset="0"/>
                            <a:ea typeface="Cambria Math" panose="02040503050406030204" pitchFamily="18" charset="0"/>
                          </a:rPr>
                          <m:t>1</m:t>
                        </m:r>
                      </m:sub>
                    </m:sSub>
                  </m:oMath>
                </a14:m>
                <a:r>
                  <a:rPr lang="zh-CN" altLang="en-US" sz="1400" dirty="0">
                    <a:solidFill>
                      <a:prstClr val="black"/>
                    </a:solidFill>
                  </a:rPr>
                  <a:t>和</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𝑅</m:t>
                        </m:r>
                      </m:e>
                      <m:sub>
                        <m:r>
                          <a:rPr lang="en-US" altLang="zh-CN" sz="1400" i="1">
                            <a:solidFill>
                              <a:prstClr val="black"/>
                            </a:solidFill>
                            <a:latin typeface="Cambria Math" panose="02040503050406030204" pitchFamily="18" charset="0"/>
                            <a:ea typeface="Cambria Math" panose="02040503050406030204" pitchFamily="18" charset="0"/>
                          </a:rPr>
                          <m:t>2</m:t>
                        </m:r>
                      </m:sub>
                    </m:sSub>
                  </m:oMath>
                </a14:m>
                <a:r>
                  <a:rPr lang="zh-CN" altLang="en-US" sz="1400" dirty="0">
                    <a:solidFill>
                      <a:prstClr val="black"/>
                    </a:solidFill>
                  </a:rPr>
                  <a:t>取值的允许范围。反相器高电平输出电流的最大允许值为</a:t>
                </a:r>
                <a:r>
                  <a:rPr lang="en-US" altLang="zh-CN" sz="1400" dirty="0">
                    <a:solidFill>
                      <a:prstClr val="black"/>
                    </a:solidFill>
                  </a:rPr>
                  <a:t>4mA</a:t>
                </a:r>
                <a:r>
                  <a:rPr lang="zh-CN" altLang="en-US" sz="1400" dirty="0">
                    <a:solidFill>
                      <a:prstClr val="black"/>
                    </a:solidFill>
                  </a:rPr>
                  <a:t>，这时输出的高电平为</a:t>
                </a:r>
                <a:r>
                  <a:rPr lang="en-US" altLang="zh-CN" sz="1400" dirty="0">
                    <a:solidFill>
                      <a:prstClr val="black"/>
                    </a:solidFill>
                  </a:rPr>
                  <a:t>4.85V</a:t>
                </a:r>
                <a:r>
                  <a:rPr lang="zh-CN" altLang="en-US" sz="1400" dirty="0">
                    <a:solidFill>
                      <a:prstClr val="black"/>
                    </a:solidFill>
                  </a:rPr>
                  <a:t>。</a:t>
                </a:r>
                <a:endParaRPr lang="en-US" altLang="zh-CN" sz="1400" dirty="0">
                  <a:solidFill>
                    <a:prstClr val="black"/>
                  </a:solidFill>
                </a:endParaRPr>
              </a:p>
              <a:p>
                <a:pPr>
                  <a:lnSpc>
                    <a:spcPct val="150000"/>
                  </a:lnSpc>
                </a:pPr>
                <a:r>
                  <a:rPr lang="zh-CN" altLang="en-US" sz="1400" dirty="0">
                    <a:solidFill>
                      <a:prstClr val="black"/>
                    </a:solidFill>
                  </a:rPr>
                  <a:t>解：由教材式</a:t>
                </a:r>
                <a:r>
                  <a:rPr lang="en-US" altLang="zh-CN" sz="1400" dirty="0">
                    <a:solidFill>
                      <a:prstClr val="black"/>
                    </a:solidFill>
                  </a:rPr>
                  <a:t>(7.2.7)</a:t>
                </a:r>
                <a:r>
                  <a:rPr lang="zh-CN" altLang="en-US" sz="1400" dirty="0">
                    <a:solidFill>
                      <a:prstClr val="black"/>
                    </a:solidFill>
                  </a:rPr>
                  <a:t>可知，回差电压的计算公式为</a:t>
                </a:r>
                <a:endParaRPr lang="en-US" altLang="zh-CN" sz="1400" dirty="0">
                  <a:solidFill>
                    <a:prstClr val="black"/>
                  </a:solidFill>
                </a:endParaRPr>
              </a:p>
              <a:p>
                <a:pPr>
                  <a:lnSpc>
                    <a:spcPct val="150000"/>
                  </a:lnSpc>
                </a:pPr>
                <a14:m>
                  <m:oMathPara xmlns:m="http://schemas.openxmlformats.org/officeDocument/2006/math">
                    <m:oMathParaPr>
                      <m:jc m:val="centerGroup"/>
                    </m:oMathParaPr>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l-GR"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m:t>
                          </m:r>
                        </m:sub>
                      </m:sSub>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2</m:t>
                      </m:r>
                      <m:r>
                        <a:rPr lang="en-US" altLang="zh-CN" sz="1400" b="0" i="1" smtClean="0">
                          <a:solidFill>
                            <a:prstClr val="black"/>
                          </a:solidFill>
                          <a:latin typeface="Cambria Math" panose="02040503050406030204" pitchFamily="18" charset="0"/>
                          <a:ea typeface="Cambria Math" panose="02040503050406030204" pitchFamily="18" charset="0"/>
                        </a:rPr>
                        <m:t>(</m:t>
                      </m:r>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𝑅</m:t>
                          </m:r>
                        </m:e>
                        <m:sub>
                          <m:r>
                            <a:rPr lang="en-US" altLang="zh-CN" sz="1400" i="1">
                              <a:solidFill>
                                <a:prstClr val="black"/>
                              </a:solidFill>
                              <a:latin typeface="Cambria Math" panose="02040503050406030204" pitchFamily="18" charset="0"/>
                              <a:ea typeface="Cambria Math" panose="02040503050406030204" pitchFamily="18" charset="0"/>
                            </a:rPr>
                            <m:t>1</m:t>
                          </m:r>
                        </m:sub>
                      </m:sSub>
                      <m:r>
                        <m:rPr>
                          <m:nor/>
                        </m:rPr>
                        <a:rPr lang="en-US" altLang="zh-CN" sz="1400" b="0" i="0" smtClean="0">
                          <a:solidFill>
                            <a:prstClr val="black"/>
                          </a:solidFill>
                          <a:latin typeface="Cambria Math" panose="02040503050406030204" pitchFamily="18" charset="0"/>
                          <a:ea typeface="Cambria Math" panose="02040503050406030204" pitchFamily="18" charset="0"/>
                        </a:rPr>
                        <m:t>/</m:t>
                      </m:r>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𝑅</m:t>
                          </m:r>
                        </m:e>
                        <m:sub>
                          <m:r>
                            <a:rPr lang="en-US" altLang="zh-CN" sz="1400" i="1">
                              <a:solidFill>
                                <a:prstClr val="black"/>
                              </a:solidFill>
                              <a:latin typeface="Cambria Math" panose="02040503050406030204" pitchFamily="18" charset="0"/>
                              <a:ea typeface="Cambria Math" panose="02040503050406030204" pitchFamily="18" charset="0"/>
                            </a:rPr>
                            <m:t>2</m:t>
                          </m:r>
                        </m:sub>
                      </m:sSub>
                      <m:r>
                        <a:rPr lang="en-US" altLang="zh-CN" sz="1400" b="0" i="1" smtClean="0">
                          <a:solidFill>
                            <a:prstClr val="black"/>
                          </a:solidFill>
                          <a:latin typeface="Cambria Math" panose="02040503050406030204" pitchFamily="18" charset="0"/>
                          <a:ea typeface="Cambria Math" panose="02040503050406030204" pitchFamily="18" charset="0"/>
                        </a:rPr>
                        <m:t>)</m:t>
                      </m:r>
                      <m:sSub>
                        <m:sSubPr>
                          <m:ctrlPr>
                            <a:rPr lang="en-US"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𝑇𝐻</m:t>
                          </m:r>
                        </m:sub>
                      </m:sSub>
                    </m:oMath>
                  </m:oMathPara>
                </a14:m>
                <a:endParaRPr lang="en-US" altLang="zh-CN" sz="1400" dirty="0">
                  <a:solidFill>
                    <a:prstClr val="black"/>
                  </a:solidFill>
                </a:endParaRPr>
              </a:p>
              <a:p>
                <a:pPr>
                  <a:lnSpc>
                    <a:spcPct val="150000"/>
                  </a:lnSpc>
                </a:pPr>
                <a:r>
                  <a:rPr lang="zh-CN" altLang="en-US" sz="1400" dirty="0">
                    <a:solidFill>
                      <a:prstClr val="black"/>
                    </a:solidFill>
                  </a:rPr>
                  <a:t>将</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l-GR"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m:t>
                        </m:r>
                      </m:sub>
                    </m:sSub>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2</m:t>
                    </m:r>
                    <m:r>
                      <a:rPr lang="en-US" altLang="zh-CN" sz="1400" i="1">
                        <a:solidFill>
                          <a:prstClr val="black"/>
                        </a:solidFill>
                        <a:latin typeface="Cambria Math" panose="02040503050406030204" pitchFamily="18" charset="0"/>
                        <a:ea typeface="Cambria Math" panose="02040503050406030204" pitchFamily="18" charset="0"/>
                      </a:rPr>
                      <m:t>𝑉</m:t>
                    </m:r>
                  </m:oMath>
                </a14:m>
                <a:r>
                  <a:rPr lang="zh-CN" altLang="en-US" sz="1400" dirty="0">
                    <a:solidFill>
                      <a:prstClr val="black"/>
                    </a:solidFill>
                  </a:rPr>
                  <a:t>，</a:t>
                </a:r>
                <a14:m>
                  <m:oMath xmlns:m="http://schemas.openxmlformats.org/officeDocument/2006/math">
                    <m:sSub>
                      <m:sSubPr>
                        <m:ctrlPr>
                          <a:rPr lang="en-US"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𝑇𝐻</m:t>
                        </m:r>
                      </m:sub>
                    </m:sSub>
                    <m:r>
                      <a:rPr lang="en-US" altLang="zh-CN" sz="1400" i="1">
                        <a:solidFill>
                          <a:prstClr val="black"/>
                        </a:solidFill>
                        <a:latin typeface="Cambria Math" panose="02040503050406030204" pitchFamily="18" charset="0"/>
                        <a:ea typeface="Cambria Math" panose="02040503050406030204" pitchFamily="18" charset="0"/>
                      </a:rPr>
                      <m:t>=</m:t>
                    </m:r>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𝐷𝐷</m:t>
                        </m:r>
                      </m:sub>
                    </m:sSub>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2</m:t>
                    </m:r>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2</m:t>
                    </m:r>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5</m:t>
                    </m:r>
                    <m:r>
                      <a:rPr lang="en-US" altLang="zh-CN" sz="1400" b="0" i="1" smtClean="0">
                        <a:solidFill>
                          <a:prstClr val="black"/>
                        </a:solidFill>
                        <a:latin typeface="Cambria Math" panose="02040503050406030204" pitchFamily="18" charset="0"/>
                        <a:ea typeface="Cambria Math" panose="02040503050406030204" pitchFamily="18" charset="0"/>
                      </a:rPr>
                      <m:t>𝑉</m:t>
                    </m:r>
                  </m:oMath>
                </a14:m>
                <a:r>
                  <a:rPr lang="zh-CN" altLang="en-US" sz="1400" dirty="0">
                    <a:solidFill>
                      <a:prstClr val="black"/>
                    </a:solidFill>
                  </a:rPr>
                  <a:t>代入上式得到</a:t>
                </a:r>
                <a:r>
                  <a:rPr lang="en-US" altLang="zh-CN" sz="1400" dirty="0">
                    <a:solidFill>
                      <a:prstClr val="black"/>
                    </a:solidFill>
                  </a:rPr>
                  <a:t>       </a:t>
                </a:r>
                <a14:m>
                  <m:oMath xmlns:m="http://schemas.openxmlformats.org/officeDocument/2006/math">
                    <m:sSub>
                      <m:sSubPr>
                        <m:ctrlPr>
                          <a:rPr lang="el-GR" altLang="zh-CN" sz="1400" b="1" i="1">
                            <a:solidFill>
                              <a:prstClr val="black"/>
                            </a:solidFill>
                            <a:latin typeface="Cambria Math" panose="02040503050406030204" pitchFamily="18" charset="0"/>
                            <a:ea typeface="Cambria Math" panose="02040503050406030204" pitchFamily="18" charset="0"/>
                          </a:rPr>
                        </m:ctrlPr>
                      </m:sSubPr>
                      <m:e>
                        <m:r>
                          <a:rPr lang="en-US" altLang="zh-CN" sz="1400" b="1" i="1">
                            <a:solidFill>
                              <a:prstClr val="black"/>
                            </a:solidFill>
                            <a:latin typeface="Cambria Math" panose="02040503050406030204" pitchFamily="18" charset="0"/>
                            <a:ea typeface="Cambria Math" panose="02040503050406030204" pitchFamily="18" charset="0"/>
                          </a:rPr>
                          <m:t>𝑹</m:t>
                        </m:r>
                      </m:e>
                      <m:sub>
                        <m:r>
                          <a:rPr lang="en-US" altLang="zh-CN" sz="1400" b="1" i="1">
                            <a:solidFill>
                              <a:prstClr val="black"/>
                            </a:solidFill>
                            <a:latin typeface="Cambria Math" panose="02040503050406030204" pitchFamily="18" charset="0"/>
                            <a:ea typeface="Cambria Math" panose="02040503050406030204" pitchFamily="18" charset="0"/>
                          </a:rPr>
                          <m:t>𝟐</m:t>
                        </m:r>
                      </m:sub>
                    </m:sSub>
                    <m:r>
                      <a:rPr lang="en-US" altLang="zh-CN" sz="1400" b="1" i="1">
                        <a:solidFill>
                          <a:prstClr val="black"/>
                        </a:solidFill>
                        <a:latin typeface="Cambria Math" panose="02040503050406030204" pitchFamily="18" charset="0"/>
                        <a:ea typeface="Cambria Math" panose="02040503050406030204" pitchFamily="18" charset="0"/>
                      </a:rPr>
                      <m:t>=</m:t>
                    </m:r>
                    <m:r>
                      <a:rPr lang="en-US" altLang="zh-CN" sz="1400" b="1" i="1">
                        <a:solidFill>
                          <a:prstClr val="black"/>
                        </a:solidFill>
                        <a:latin typeface="Cambria Math" panose="02040503050406030204" pitchFamily="18" charset="0"/>
                        <a:ea typeface="Cambria Math" panose="02040503050406030204" pitchFamily="18" charset="0"/>
                      </a:rPr>
                      <m:t>𝟐</m:t>
                    </m:r>
                    <m:r>
                      <a:rPr lang="en-US" altLang="zh-CN" sz="1400" b="1" i="0" smtClean="0">
                        <a:solidFill>
                          <a:prstClr val="black"/>
                        </a:solidFill>
                        <a:latin typeface="Cambria Math" panose="02040503050406030204" pitchFamily="18" charset="0"/>
                        <a:ea typeface="Cambria Math" panose="02040503050406030204" pitchFamily="18" charset="0"/>
                      </a:rPr>
                      <m:t>.</m:t>
                    </m:r>
                    <m:r>
                      <a:rPr lang="en-US" altLang="zh-CN" sz="1400" b="1" i="0" smtClean="0">
                        <a:solidFill>
                          <a:prstClr val="black"/>
                        </a:solidFill>
                        <a:latin typeface="Cambria Math" panose="02040503050406030204" pitchFamily="18" charset="0"/>
                        <a:ea typeface="Cambria Math" panose="02040503050406030204" pitchFamily="18" charset="0"/>
                      </a:rPr>
                      <m:t>𝟓</m:t>
                    </m:r>
                    <m:sSub>
                      <m:sSubPr>
                        <m:ctrlPr>
                          <a:rPr lang="el-GR" altLang="zh-CN" sz="1400" b="1" i="1">
                            <a:solidFill>
                              <a:prstClr val="black"/>
                            </a:solidFill>
                            <a:latin typeface="Cambria Math" panose="02040503050406030204" pitchFamily="18" charset="0"/>
                            <a:ea typeface="Cambria Math" panose="02040503050406030204" pitchFamily="18" charset="0"/>
                          </a:rPr>
                        </m:ctrlPr>
                      </m:sSubPr>
                      <m:e>
                        <m:r>
                          <a:rPr lang="en-US" altLang="zh-CN" sz="1400" b="1" i="1">
                            <a:solidFill>
                              <a:prstClr val="black"/>
                            </a:solidFill>
                            <a:latin typeface="Cambria Math" panose="02040503050406030204" pitchFamily="18" charset="0"/>
                            <a:ea typeface="Cambria Math" panose="02040503050406030204" pitchFamily="18" charset="0"/>
                          </a:rPr>
                          <m:t>𝑹</m:t>
                        </m:r>
                      </m:e>
                      <m:sub>
                        <m:r>
                          <a:rPr lang="en-US" altLang="zh-CN" sz="1400" b="1" i="1">
                            <a:solidFill>
                              <a:prstClr val="black"/>
                            </a:solidFill>
                            <a:latin typeface="Cambria Math" panose="02040503050406030204" pitchFamily="18" charset="0"/>
                            <a:ea typeface="Cambria Math" panose="02040503050406030204" pitchFamily="18" charset="0"/>
                          </a:rPr>
                          <m:t>𝟏</m:t>
                        </m:r>
                      </m:sub>
                    </m:sSub>
                    <m:r>
                      <a:rPr lang="zh-CN" altLang="en-US" sz="1400" i="1">
                        <a:solidFill>
                          <a:prstClr val="black"/>
                        </a:solidFill>
                        <a:latin typeface="Cambria Math" panose="02040503050406030204" pitchFamily="18" charset="0"/>
                        <a:ea typeface="Cambria Math" panose="02040503050406030204" pitchFamily="18" charset="0"/>
                      </a:rPr>
                      <m:t>。</m:t>
                    </m:r>
                  </m:oMath>
                </a14:m>
                <a:endParaRPr lang="en-US" altLang="zh-CN" sz="1400" dirty="0">
                  <a:solidFill>
                    <a:prstClr val="black"/>
                  </a:solidFill>
                </a:endParaRPr>
              </a:p>
              <a:p>
                <a:pPr>
                  <a:lnSpc>
                    <a:spcPct val="150000"/>
                  </a:lnSpc>
                </a:pPr>
                <a:r>
                  <a:rPr lang="zh-CN" altLang="en-US" sz="1400" dirty="0">
                    <a:solidFill>
                      <a:prstClr val="black"/>
                    </a:solidFill>
                  </a:rPr>
                  <a:t>又从式</a:t>
                </a:r>
                <a:r>
                  <a:rPr lang="en-US" altLang="zh-CN" sz="1400" dirty="0">
                    <a:solidFill>
                      <a:prstClr val="black"/>
                    </a:solidFill>
                  </a:rPr>
                  <a:t>(7.2.8)</a:t>
                </a:r>
                <a:r>
                  <a:rPr lang="zh-CN" altLang="en-US" sz="1400" dirty="0">
                    <a:solidFill>
                      <a:prstClr val="black"/>
                    </a:solidFill>
                  </a:rPr>
                  <a:t>可知，为保证反相器</a:t>
                </a:r>
                <a:r>
                  <a:rPr lang="en-US" altLang="zh-CN" sz="1400" dirty="0">
                    <a:solidFill>
                      <a:prstClr val="black"/>
                    </a:solidFill>
                  </a:rPr>
                  <a:t>G2</a:t>
                </a:r>
                <a:r>
                  <a:rPr lang="zh-CN" altLang="en-US" sz="1400" dirty="0">
                    <a:solidFill>
                      <a:prstClr val="black"/>
                    </a:solidFill>
                  </a:rPr>
                  <a:t>输出高电平时的负载电流不超过最大允许值，应满足</a:t>
                </a:r>
                <a:endParaRPr lang="en-US" altLang="zh-CN" sz="1400" dirty="0">
                  <a:solidFill>
                    <a:prstClr val="black"/>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400" b="0" i="1" smtClean="0">
                          <a:solidFill>
                            <a:prstClr val="black"/>
                          </a:solidFill>
                          <a:latin typeface="Cambria Math" panose="02040503050406030204" pitchFamily="18" charset="0"/>
                        </a:rPr>
                        <m:t>(</m:t>
                      </m:r>
                      <m:sSub>
                        <m:sSubPr>
                          <m:ctrlPr>
                            <a:rPr lang="en-US" altLang="zh-CN" sz="1400" b="0" i="1" smtClean="0">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𝑉</m:t>
                          </m:r>
                        </m:e>
                        <m:sub>
                          <m:r>
                            <a:rPr lang="en-US" altLang="zh-CN" sz="1400" b="0" i="1" smtClean="0">
                              <a:solidFill>
                                <a:prstClr val="black"/>
                              </a:solidFill>
                              <a:latin typeface="Cambria Math" panose="02040503050406030204" pitchFamily="18" charset="0"/>
                            </a:rPr>
                            <m:t>𝑂𝐻</m:t>
                          </m:r>
                        </m:sub>
                      </m:sSub>
                      <m:r>
                        <a:rPr lang="en-US" altLang="zh-CN" sz="1400" b="0" i="1" smtClean="0">
                          <a:solidFill>
                            <a:prstClr val="black"/>
                          </a:solidFill>
                          <a:latin typeface="Cambria Math" panose="02040503050406030204" pitchFamily="18" charset="0"/>
                        </a:rPr>
                        <m:t>−</m:t>
                      </m:r>
                      <m:sSub>
                        <m:sSubPr>
                          <m:ctrlPr>
                            <a:rPr lang="en-US" altLang="zh-CN" sz="1400" b="0" i="1" smtClean="0">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𝑉</m:t>
                          </m:r>
                        </m:e>
                        <m:sub>
                          <m:r>
                            <a:rPr lang="en-US" altLang="zh-CN" sz="1400" b="0" i="1" smtClean="0">
                              <a:solidFill>
                                <a:prstClr val="black"/>
                              </a:solidFill>
                              <a:latin typeface="Cambria Math" panose="02040503050406030204" pitchFamily="18" charset="0"/>
                            </a:rPr>
                            <m:t>𝑇𝐻</m:t>
                          </m:r>
                        </m:sub>
                      </m:sSub>
                      <m:r>
                        <a:rPr lang="en-US" altLang="zh-CN" sz="1400" b="0" i="1" smtClean="0">
                          <a:solidFill>
                            <a:prstClr val="black"/>
                          </a:solidFill>
                          <a:latin typeface="Cambria Math" panose="02040503050406030204" pitchFamily="18" charset="0"/>
                        </a:rPr>
                        <m:t>)/</m:t>
                      </m:r>
                      <m:sSub>
                        <m:sSubPr>
                          <m:ctrlPr>
                            <a:rPr lang="en-US" altLang="zh-CN" sz="1400" b="0" i="1" smtClean="0">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𝑅</m:t>
                          </m:r>
                        </m:e>
                        <m:sub>
                          <m:r>
                            <a:rPr lang="en-US" altLang="zh-CN" sz="1400" b="0" i="1" smtClean="0">
                              <a:solidFill>
                                <a:prstClr val="black"/>
                              </a:solidFill>
                              <a:latin typeface="Cambria Math" panose="02040503050406030204" pitchFamily="18" charset="0"/>
                            </a:rPr>
                            <m:t>2</m:t>
                          </m:r>
                        </m:sub>
                      </m:sSub>
                      <m:r>
                        <a:rPr lang="en-US" altLang="zh-CN" sz="1400" b="0" i="1" smtClean="0">
                          <a:solidFill>
                            <a:prstClr val="black"/>
                          </a:solidFill>
                          <a:latin typeface="Cambria Math" panose="02040503050406030204" pitchFamily="18" charset="0"/>
                          <a:ea typeface="Cambria Math" panose="02040503050406030204" pitchFamily="18" charset="0"/>
                        </a:rPr>
                        <m:t>&lt;|</m:t>
                      </m:r>
                      <m:sSub>
                        <m:sSubPr>
                          <m:ctrlPr>
                            <a:rPr lang="en-US" altLang="zh-CN" sz="1400" b="0" i="1" smtClean="0">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𝐼</m:t>
                          </m:r>
                        </m:e>
                        <m:sub>
                          <m:r>
                            <a:rPr lang="en-US" altLang="zh-CN" sz="1400" b="0" i="1" smtClean="0">
                              <a:solidFill>
                                <a:prstClr val="black"/>
                              </a:solidFill>
                              <a:latin typeface="Cambria Math" panose="02040503050406030204" pitchFamily="18" charset="0"/>
                              <a:ea typeface="Cambria Math" panose="02040503050406030204" pitchFamily="18" charset="0"/>
                            </a:rPr>
                            <m:t>𝑂𝐻</m:t>
                          </m:r>
                          <m:r>
                            <a:rPr lang="en-US" altLang="zh-CN" sz="1400" b="0" i="1" smtClean="0">
                              <a:solidFill>
                                <a:prstClr val="black"/>
                              </a:solidFill>
                              <a:latin typeface="Cambria Math" panose="02040503050406030204" pitchFamily="18" charset="0"/>
                              <a:ea typeface="Cambria Math" panose="02040503050406030204" pitchFamily="18" charset="0"/>
                            </a:rPr>
                            <m:t>(</m:t>
                          </m:r>
                          <m:r>
                            <a:rPr lang="en-US" altLang="zh-CN" sz="1400" b="0" i="1" smtClean="0">
                              <a:solidFill>
                                <a:prstClr val="black"/>
                              </a:solidFill>
                              <a:latin typeface="Cambria Math" panose="02040503050406030204" pitchFamily="18" charset="0"/>
                              <a:ea typeface="Cambria Math" panose="02040503050406030204" pitchFamily="18" charset="0"/>
                            </a:rPr>
                            <m:t>𝑚𝑎𝑥</m:t>
                          </m:r>
                          <m:r>
                            <a:rPr lang="en-US" altLang="zh-CN" sz="1400" b="0" i="1" smtClean="0">
                              <a:solidFill>
                                <a:prstClr val="black"/>
                              </a:solidFill>
                              <a:latin typeface="Cambria Math" panose="02040503050406030204" pitchFamily="18" charset="0"/>
                              <a:ea typeface="Cambria Math" panose="02040503050406030204" pitchFamily="18" charset="0"/>
                            </a:rPr>
                            <m:t>)</m:t>
                          </m:r>
                        </m:sub>
                      </m:sSub>
                      <m:r>
                        <a:rPr lang="en-US" altLang="zh-CN" sz="1400" b="0" i="1" smtClean="0">
                          <a:solidFill>
                            <a:prstClr val="black"/>
                          </a:solidFill>
                          <a:latin typeface="Cambria Math" panose="02040503050406030204" pitchFamily="18" charset="0"/>
                          <a:ea typeface="Cambria Math" panose="02040503050406030204" pitchFamily="18" charset="0"/>
                        </a:rPr>
                        <m:t>|</m:t>
                      </m:r>
                    </m:oMath>
                  </m:oMathPara>
                </a14:m>
                <a:endParaRPr lang="en-US" altLang="zh-CN" sz="1400" b="0" dirty="0">
                  <a:solidFill>
                    <a:prstClr val="black"/>
                  </a:solidFill>
                  <a:ea typeface="Cambria Math" panose="02040503050406030204" pitchFamily="18" charset="0"/>
                </a:endParaRPr>
              </a:p>
              <a:p>
                <a:pPr>
                  <a:lnSpc>
                    <a:spcPct val="150000"/>
                  </a:lnSpc>
                </a:pPr>
                <a:r>
                  <a:rPr lang="zh-CN" altLang="en-US" sz="1400" dirty="0">
                    <a:solidFill>
                      <a:prstClr val="black"/>
                    </a:solidFill>
                  </a:rPr>
                  <a:t>于是得到</a:t>
                </a:r>
                <a:endParaRPr lang="en-US" altLang="zh-CN" sz="1400" dirty="0">
                  <a:solidFill>
                    <a:prstClr val="black"/>
                  </a:solidFill>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400" i="1" smtClean="0">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𝑅</m:t>
                          </m:r>
                        </m:e>
                        <m:sub>
                          <m:r>
                            <a:rPr lang="en-US" altLang="zh-CN" sz="1400" b="0" i="1" smtClean="0">
                              <a:solidFill>
                                <a:prstClr val="black"/>
                              </a:solidFill>
                              <a:latin typeface="Cambria Math" panose="02040503050406030204" pitchFamily="18" charset="0"/>
                            </a:rPr>
                            <m:t>2</m:t>
                          </m:r>
                        </m:sub>
                      </m:sSub>
                      <m:r>
                        <a:rPr lang="en-US" altLang="zh-CN" sz="1400" i="1" smtClean="0">
                          <a:solidFill>
                            <a:prstClr val="black"/>
                          </a:solidFill>
                          <a:latin typeface="Cambria Math" panose="02040503050406030204" pitchFamily="18" charset="0"/>
                          <a:ea typeface="Cambria Math" panose="02040503050406030204" pitchFamily="18" charset="0"/>
                        </a:rPr>
                        <m:t>&gt;</m:t>
                      </m:r>
                      <m:r>
                        <a:rPr lang="en-US" altLang="zh-CN" sz="1400" i="1">
                          <a:solidFill>
                            <a:prstClr val="black"/>
                          </a:solidFill>
                          <a:latin typeface="Cambria Math" panose="02040503050406030204" pitchFamily="18" charset="0"/>
                        </a:rPr>
                        <m:t>(</m:t>
                      </m:r>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𝑉</m:t>
                          </m:r>
                        </m:e>
                        <m:sub>
                          <m:r>
                            <a:rPr lang="en-US" altLang="zh-CN" sz="1400" i="1">
                              <a:solidFill>
                                <a:prstClr val="black"/>
                              </a:solidFill>
                              <a:latin typeface="Cambria Math" panose="02040503050406030204" pitchFamily="18" charset="0"/>
                            </a:rPr>
                            <m:t>𝑂𝐻</m:t>
                          </m:r>
                        </m:sub>
                      </m:sSub>
                      <m:r>
                        <a:rPr lang="en-US" altLang="zh-CN" sz="1400" i="1">
                          <a:solidFill>
                            <a:prstClr val="black"/>
                          </a:solidFill>
                          <a:latin typeface="Cambria Math" panose="02040503050406030204" pitchFamily="18" charset="0"/>
                        </a:rPr>
                        <m:t>−</m:t>
                      </m:r>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𝑉</m:t>
                          </m:r>
                        </m:e>
                        <m:sub>
                          <m:r>
                            <a:rPr lang="en-US" altLang="zh-CN" sz="1400" i="1">
                              <a:solidFill>
                                <a:prstClr val="black"/>
                              </a:solidFill>
                              <a:latin typeface="Cambria Math" panose="02040503050406030204" pitchFamily="18" charset="0"/>
                            </a:rPr>
                            <m:t>𝑇𝐻</m:t>
                          </m:r>
                        </m:sub>
                      </m:sSub>
                      <m:r>
                        <a:rPr lang="en-US" altLang="zh-CN" sz="1400" i="1">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m:t>
                      </m:r>
                      <m:sSub>
                        <m:sSubPr>
                          <m:ctrlPr>
                            <a:rPr lang="en-US"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𝐼</m:t>
                          </m:r>
                        </m:e>
                        <m:sub>
                          <m:r>
                            <a:rPr lang="en-US" altLang="zh-CN" sz="1400" i="1">
                              <a:solidFill>
                                <a:prstClr val="black"/>
                              </a:solidFill>
                              <a:latin typeface="Cambria Math" panose="02040503050406030204" pitchFamily="18" charset="0"/>
                              <a:ea typeface="Cambria Math" panose="02040503050406030204" pitchFamily="18" charset="0"/>
                            </a:rPr>
                            <m:t>𝑂𝐻</m:t>
                          </m:r>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𝑚𝑎𝑥</m:t>
                          </m:r>
                          <m:r>
                            <a:rPr lang="en-US" altLang="zh-CN" sz="1400" i="1">
                              <a:solidFill>
                                <a:prstClr val="black"/>
                              </a:solidFill>
                              <a:latin typeface="Cambria Math" panose="02040503050406030204" pitchFamily="18" charset="0"/>
                              <a:ea typeface="Cambria Math" panose="02040503050406030204" pitchFamily="18" charset="0"/>
                            </a:rPr>
                            <m:t>)</m:t>
                          </m:r>
                        </m:sub>
                      </m:sSub>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b="0" i="1" smtClean="0">
                          <a:solidFill>
                            <a:prstClr val="black"/>
                          </a:solidFill>
                          <a:latin typeface="Cambria Math" panose="02040503050406030204" pitchFamily="18" charset="0"/>
                          <a:ea typeface="Cambria Math" panose="02040503050406030204" pitchFamily="18" charset="0"/>
                        </a:rPr>
                        <m:t>=(</m:t>
                      </m:r>
                      <m:r>
                        <a:rPr lang="en-US" altLang="zh-CN" sz="1400" b="0" i="1" smtClean="0">
                          <a:solidFill>
                            <a:prstClr val="black"/>
                          </a:solidFill>
                          <a:latin typeface="Cambria Math" panose="02040503050406030204" pitchFamily="18" charset="0"/>
                          <a:ea typeface="Cambria Math" panose="02040503050406030204" pitchFamily="18" charset="0"/>
                        </a:rPr>
                        <m:t>4</m:t>
                      </m:r>
                      <m:r>
                        <a:rPr lang="en-US" altLang="zh-CN" sz="1400" b="0" i="1" smtClean="0">
                          <a:solidFill>
                            <a:prstClr val="black"/>
                          </a:solidFill>
                          <a:latin typeface="Cambria Math" panose="02040503050406030204" pitchFamily="18" charset="0"/>
                          <a:ea typeface="Cambria Math" panose="02040503050406030204" pitchFamily="18" charset="0"/>
                        </a:rPr>
                        <m:t>.</m:t>
                      </m:r>
                      <m:r>
                        <a:rPr lang="en-US" altLang="zh-CN" sz="1400" b="0" i="1" smtClean="0">
                          <a:solidFill>
                            <a:prstClr val="black"/>
                          </a:solidFill>
                          <a:latin typeface="Cambria Math" panose="02040503050406030204" pitchFamily="18" charset="0"/>
                          <a:ea typeface="Cambria Math" panose="02040503050406030204" pitchFamily="18" charset="0"/>
                        </a:rPr>
                        <m:t>85</m:t>
                      </m:r>
                      <m:r>
                        <a:rPr lang="en-US" altLang="zh-CN" sz="1400" b="0" i="1" smtClean="0">
                          <a:solidFill>
                            <a:prstClr val="black"/>
                          </a:solidFill>
                          <a:latin typeface="Cambria Math" panose="02040503050406030204" pitchFamily="18" charset="0"/>
                          <a:ea typeface="Cambria Math" panose="02040503050406030204" pitchFamily="18" charset="0"/>
                        </a:rPr>
                        <m:t>−</m:t>
                      </m:r>
                      <m:r>
                        <a:rPr lang="en-US" altLang="zh-CN" sz="1400" b="0" i="1" smtClean="0">
                          <a:solidFill>
                            <a:prstClr val="black"/>
                          </a:solidFill>
                          <a:latin typeface="Cambria Math" panose="02040503050406030204" pitchFamily="18" charset="0"/>
                          <a:ea typeface="Cambria Math" panose="02040503050406030204" pitchFamily="18" charset="0"/>
                        </a:rPr>
                        <m:t>2</m:t>
                      </m:r>
                      <m:r>
                        <a:rPr lang="en-US" altLang="zh-CN" sz="1400" b="0" i="1" smtClean="0">
                          <a:solidFill>
                            <a:prstClr val="black"/>
                          </a:solidFill>
                          <a:latin typeface="Cambria Math" panose="02040503050406030204" pitchFamily="18" charset="0"/>
                          <a:ea typeface="Cambria Math" panose="02040503050406030204" pitchFamily="18" charset="0"/>
                        </a:rPr>
                        <m:t>.</m:t>
                      </m:r>
                      <m:r>
                        <a:rPr lang="en-US" altLang="zh-CN" sz="1400" b="0" i="1" smtClean="0">
                          <a:solidFill>
                            <a:prstClr val="black"/>
                          </a:solidFill>
                          <a:latin typeface="Cambria Math" panose="02040503050406030204" pitchFamily="18" charset="0"/>
                          <a:ea typeface="Cambria Math" panose="02040503050406030204" pitchFamily="18" charset="0"/>
                        </a:rPr>
                        <m:t>5</m:t>
                      </m:r>
                      <m:r>
                        <a:rPr lang="en-US" altLang="zh-CN" sz="1400" b="0" i="1" smtClean="0">
                          <a:solidFill>
                            <a:prstClr val="black"/>
                          </a:solidFill>
                          <a:latin typeface="Cambria Math" panose="02040503050406030204" pitchFamily="18" charset="0"/>
                          <a:ea typeface="Cambria Math" panose="02040503050406030204" pitchFamily="18" charset="0"/>
                        </a:rPr>
                        <m:t>)/</m:t>
                      </m:r>
                      <m:r>
                        <a:rPr lang="en-US" altLang="zh-CN" sz="1400" b="0" i="1" smtClean="0">
                          <a:solidFill>
                            <a:prstClr val="black"/>
                          </a:solidFill>
                          <a:latin typeface="Cambria Math" panose="02040503050406030204" pitchFamily="18" charset="0"/>
                          <a:ea typeface="Cambria Math" panose="02040503050406030204" pitchFamily="18" charset="0"/>
                        </a:rPr>
                        <m:t>4</m:t>
                      </m:r>
                      <m:r>
                        <a:rPr lang="en-US" altLang="zh-CN" sz="1400" b="0" i="1" smtClean="0">
                          <a:solidFill>
                            <a:prstClr val="black"/>
                          </a:solidFill>
                          <a:latin typeface="Cambria Math" panose="02040503050406030204" pitchFamily="18" charset="0"/>
                          <a:ea typeface="Cambria Math" panose="02040503050406030204" pitchFamily="18" charset="0"/>
                        </a:rPr>
                        <m:t>𝑘</m:t>
                      </m:r>
                      <m:r>
                        <m:rPr>
                          <m:sty m:val="p"/>
                        </m:rPr>
                        <a:rPr lang="el-GR" altLang="zh-CN" sz="1400" b="0" i="1" smtClean="0">
                          <a:solidFill>
                            <a:prstClr val="black"/>
                          </a:solidFill>
                          <a:latin typeface="Cambria Math" panose="02040503050406030204" pitchFamily="18" charset="0"/>
                          <a:ea typeface="Cambria Math" panose="02040503050406030204" pitchFamily="18" charset="0"/>
                        </a:rPr>
                        <m:t>Ω</m:t>
                      </m:r>
                      <m:r>
                        <a:rPr lang="en-US" altLang="zh-CN" sz="1400" b="0" i="1" smtClean="0">
                          <a:solidFill>
                            <a:prstClr val="black"/>
                          </a:solidFill>
                          <a:latin typeface="Cambria Math" panose="02040503050406030204" pitchFamily="18" charset="0"/>
                          <a:ea typeface="Cambria Math" panose="02040503050406030204" pitchFamily="18" charset="0"/>
                        </a:rPr>
                        <m:t>=</m:t>
                      </m:r>
                      <m:r>
                        <a:rPr lang="en-US" altLang="zh-CN" sz="1400" b="0" i="1" smtClean="0">
                          <a:solidFill>
                            <a:prstClr val="black"/>
                          </a:solidFill>
                          <a:latin typeface="Cambria Math" panose="02040503050406030204" pitchFamily="18" charset="0"/>
                          <a:ea typeface="Cambria Math" panose="02040503050406030204" pitchFamily="18" charset="0"/>
                        </a:rPr>
                        <m:t>587</m:t>
                      </m:r>
                      <m:r>
                        <a:rPr lang="en-US" altLang="zh-CN" sz="1400" b="0" i="1" smtClean="0">
                          <a:solidFill>
                            <a:prstClr val="black"/>
                          </a:solidFill>
                          <a:latin typeface="Cambria Math" panose="02040503050406030204" pitchFamily="18" charset="0"/>
                          <a:ea typeface="Cambria Math" panose="02040503050406030204" pitchFamily="18" charset="0"/>
                        </a:rPr>
                        <m:t>.</m:t>
                      </m:r>
                      <m:r>
                        <a:rPr lang="en-US" altLang="zh-CN" sz="1400" b="0" i="1" smtClean="0">
                          <a:solidFill>
                            <a:prstClr val="black"/>
                          </a:solidFill>
                          <a:latin typeface="Cambria Math" panose="02040503050406030204" pitchFamily="18" charset="0"/>
                          <a:ea typeface="Cambria Math" panose="02040503050406030204" pitchFamily="18" charset="0"/>
                        </a:rPr>
                        <m:t>5</m:t>
                      </m:r>
                      <m:r>
                        <m:rPr>
                          <m:sty m:val="p"/>
                        </m:rPr>
                        <a:rPr lang="el-GR" altLang="zh-CN" sz="1400" b="0" i="1" smtClean="0">
                          <a:solidFill>
                            <a:prstClr val="black"/>
                          </a:solidFill>
                          <a:latin typeface="Cambria Math" panose="02040503050406030204" pitchFamily="18" charset="0"/>
                          <a:ea typeface="Cambria Math" panose="02040503050406030204" pitchFamily="18" charset="0"/>
                        </a:rPr>
                        <m:t>Ω</m:t>
                      </m:r>
                    </m:oMath>
                  </m:oMathPara>
                </a14:m>
                <a:endParaRPr lang="en-US" altLang="zh-CN" sz="1400" dirty="0">
                  <a:solidFill>
                    <a:prstClr val="black"/>
                  </a:solidFill>
                  <a:ea typeface="Cambria Math" panose="02040503050406030204" pitchFamily="18" charset="0"/>
                </a:endParaRPr>
              </a:p>
              <a:p>
                <a:pPr>
                  <a:lnSpc>
                    <a:spcPct val="150000"/>
                  </a:lnSpc>
                </a:pPr>
                <a:r>
                  <a:rPr lang="zh-CN" altLang="en-US" sz="1400" dirty="0">
                    <a:solidFill>
                      <a:prstClr val="black"/>
                    </a:solidFill>
                  </a:rPr>
                  <a:t>故</a:t>
                </a:r>
                <a14:m>
                  <m:oMath xmlns:m="http://schemas.openxmlformats.org/officeDocument/2006/math">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𝑅</m:t>
                        </m:r>
                      </m:e>
                      <m:sub>
                        <m:r>
                          <a:rPr lang="en-US" altLang="zh-CN" sz="1400" i="1">
                            <a:solidFill>
                              <a:prstClr val="black"/>
                            </a:solidFill>
                            <a:latin typeface="Cambria Math" panose="02040503050406030204" pitchFamily="18" charset="0"/>
                          </a:rPr>
                          <m:t>2</m:t>
                        </m:r>
                      </m:sub>
                    </m:sSub>
                  </m:oMath>
                </a14:m>
                <a:r>
                  <a:rPr lang="zh-CN" altLang="en-US" sz="1400" dirty="0">
                    <a:solidFill>
                      <a:prstClr val="black"/>
                    </a:solidFill>
                  </a:rPr>
                  <a:t>的取值范围为大于</a:t>
                </a:r>
                <a14:m>
                  <m:oMath xmlns:m="http://schemas.openxmlformats.org/officeDocument/2006/math">
                    <m:r>
                      <a:rPr lang="en-US" altLang="zh-CN" sz="1400" i="1">
                        <a:solidFill>
                          <a:prstClr val="black"/>
                        </a:solidFill>
                        <a:latin typeface="Cambria Math" panose="02040503050406030204" pitchFamily="18" charset="0"/>
                        <a:ea typeface="Cambria Math" panose="02040503050406030204" pitchFamily="18" charset="0"/>
                      </a:rPr>
                      <m:t>587</m:t>
                    </m:r>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5</m:t>
                    </m:r>
                    <m:r>
                      <m:rPr>
                        <m:sty m:val="p"/>
                      </m:rPr>
                      <a:rPr lang="el-GR" altLang="zh-CN" sz="1400" i="1">
                        <a:solidFill>
                          <a:prstClr val="black"/>
                        </a:solidFill>
                        <a:latin typeface="Cambria Math" panose="02040503050406030204" pitchFamily="18" charset="0"/>
                        <a:ea typeface="Cambria Math" panose="02040503050406030204" pitchFamily="18" charset="0"/>
                      </a:rPr>
                      <m:t>Ω</m:t>
                    </m:r>
                  </m:oMath>
                </a14:m>
                <a:r>
                  <a:rPr lang="zh-CN" altLang="en-US" sz="1400" dirty="0">
                    <a:solidFill>
                      <a:prstClr val="black"/>
                    </a:solidFill>
                  </a:rPr>
                  <a:t>。若取</a:t>
                </a:r>
                <a14:m>
                  <m:oMath xmlns:m="http://schemas.openxmlformats.org/officeDocument/2006/math">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𝑅</m:t>
                        </m:r>
                      </m:e>
                      <m:sub>
                        <m:r>
                          <a:rPr lang="en-US" altLang="zh-CN" sz="1400" i="1">
                            <a:solidFill>
                              <a:prstClr val="black"/>
                            </a:solidFill>
                            <a:latin typeface="Cambria Math" panose="02040503050406030204" pitchFamily="18" charset="0"/>
                          </a:rPr>
                          <m:t>2</m:t>
                        </m:r>
                      </m:sub>
                    </m:sSub>
                    <m:r>
                      <a:rPr lang="en-US" altLang="zh-CN" sz="1400" i="1">
                        <a:solidFill>
                          <a:prstClr val="black"/>
                        </a:solidFill>
                        <a:latin typeface="Cambria Math" panose="02040503050406030204" pitchFamily="18" charset="0"/>
                      </a:rPr>
                      <m:t>=</m:t>
                    </m:r>
                    <m:r>
                      <a:rPr lang="en-US" altLang="zh-CN" sz="1400" i="1">
                        <a:solidFill>
                          <a:prstClr val="black"/>
                        </a:solidFill>
                        <a:latin typeface="Cambria Math" panose="02040503050406030204" pitchFamily="18" charset="0"/>
                      </a:rPr>
                      <m:t>2</m:t>
                    </m:r>
                    <m:r>
                      <a:rPr lang="en-US" altLang="zh-CN" sz="1400" b="0" i="0" smtClean="0">
                        <a:solidFill>
                          <a:prstClr val="black"/>
                        </a:solidFill>
                        <a:latin typeface="Cambria Math" panose="02040503050406030204" pitchFamily="18" charset="0"/>
                      </a:rPr>
                      <m:t>5</m:t>
                    </m:r>
                    <m:r>
                      <m:rPr>
                        <m:sty m:val="p"/>
                      </m:rPr>
                      <a:rPr lang="en-US" altLang="zh-CN" sz="1400" b="0" i="0" smtClean="0">
                        <a:solidFill>
                          <a:prstClr val="black"/>
                        </a:solidFill>
                        <a:latin typeface="Cambria Math" panose="02040503050406030204" pitchFamily="18" charset="0"/>
                      </a:rPr>
                      <m:t>k</m:t>
                    </m:r>
                    <m:r>
                      <m:rPr>
                        <m:sty m:val="p"/>
                      </m:rPr>
                      <a:rPr lang="el-GR" altLang="zh-CN" sz="1400" b="0" i="1" smtClean="0">
                        <a:solidFill>
                          <a:prstClr val="black"/>
                        </a:solidFill>
                        <a:latin typeface="Cambria Math" panose="02040503050406030204" pitchFamily="18" charset="0"/>
                        <a:ea typeface="Cambria Math" panose="02040503050406030204" pitchFamily="18" charset="0"/>
                      </a:rPr>
                      <m:t>Ω</m:t>
                    </m:r>
                    <m:r>
                      <a:rPr lang="zh-CN" altLang="en-US" sz="1400" i="1">
                        <a:solidFill>
                          <a:prstClr val="black"/>
                        </a:solidFill>
                        <a:latin typeface="Cambria Math" panose="02040503050406030204" pitchFamily="18" charset="0"/>
                        <a:ea typeface="Cambria Math" panose="02040503050406030204" pitchFamily="18" charset="0"/>
                      </a:rPr>
                      <m:t>，</m:t>
                    </m:r>
                  </m:oMath>
                </a14:m>
                <a:r>
                  <a:rPr lang="zh-CN" altLang="en-US" sz="1400" dirty="0">
                    <a:solidFill>
                      <a:prstClr val="black"/>
                    </a:solidFill>
                  </a:rPr>
                  <a:t>则</a:t>
                </a:r>
                <a14:m>
                  <m:oMath xmlns:m="http://schemas.openxmlformats.org/officeDocument/2006/math">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𝑅</m:t>
                        </m:r>
                      </m:e>
                      <m:sub>
                        <m:r>
                          <a:rPr lang="en-US" altLang="zh-CN" sz="1400" i="1">
                            <a:solidFill>
                              <a:prstClr val="black"/>
                            </a:solidFill>
                            <a:latin typeface="Cambria Math" panose="02040503050406030204" pitchFamily="18" charset="0"/>
                          </a:rPr>
                          <m:t>1</m:t>
                        </m:r>
                      </m:sub>
                    </m:sSub>
                    <m:r>
                      <a:rPr lang="en-US" altLang="zh-CN" sz="1400" i="1">
                        <a:solidFill>
                          <a:prstClr val="black"/>
                        </a:solidFill>
                        <a:latin typeface="Cambria Math" panose="02040503050406030204" pitchFamily="18" charset="0"/>
                      </a:rPr>
                      <m:t>=</m:t>
                    </m:r>
                    <m:r>
                      <a:rPr lang="en-US" altLang="zh-CN" sz="1400" i="1">
                        <a:solidFill>
                          <a:prstClr val="black"/>
                        </a:solidFill>
                        <a:latin typeface="Cambria Math" panose="02040503050406030204" pitchFamily="18" charset="0"/>
                      </a:rPr>
                      <m:t>10</m:t>
                    </m:r>
                    <m:r>
                      <m:rPr>
                        <m:sty m:val="p"/>
                      </m:rPr>
                      <a:rPr lang="en-US" altLang="zh-CN" sz="1400">
                        <a:solidFill>
                          <a:prstClr val="black"/>
                        </a:solidFill>
                        <a:latin typeface="Cambria Math" panose="02040503050406030204" pitchFamily="18" charset="0"/>
                      </a:rPr>
                      <m:t>k</m:t>
                    </m:r>
                    <m:r>
                      <m:rPr>
                        <m:sty m:val="p"/>
                      </m:rPr>
                      <a:rPr lang="el-GR" altLang="zh-CN" sz="1400" i="1">
                        <a:solidFill>
                          <a:prstClr val="black"/>
                        </a:solidFill>
                        <a:latin typeface="Cambria Math" panose="02040503050406030204" pitchFamily="18" charset="0"/>
                        <a:ea typeface="Cambria Math" panose="02040503050406030204" pitchFamily="18" charset="0"/>
                      </a:rPr>
                      <m:t>Ω</m:t>
                    </m:r>
                    <m:r>
                      <a:rPr lang="zh-CN" altLang="en-US" sz="1400" i="1" smtClean="0">
                        <a:solidFill>
                          <a:prstClr val="black"/>
                        </a:solidFill>
                        <a:latin typeface="Cambria Math" panose="02040503050406030204" pitchFamily="18" charset="0"/>
                        <a:ea typeface="Cambria Math" panose="02040503050406030204" pitchFamily="18" charset="0"/>
                      </a:rPr>
                      <m:t>。</m:t>
                    </m:r>
                  </m:oMath>
                </a14:m>
                <a:endParaRPr lang="en-US" altLang="zh-CN" sz="1400" dirty="0">
                  <a:solidFill>
                    <a:prstClr val="black"/>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197485" y="1073785"/>
                <a:ext cx="10880090" cy="3321685"/>
              </a:xfrm>
              <a:prstGeom prst="rect">
                <a:avLst/>
              </a:prstGeom>
              <a:blipFill rotWithShape="1">
                <a:blip r:embed="rId1"/>
                <a:stretch>
                  <a:fillRect/>
                </a:stretch>
              </a:blipFill>
            </p:spPr>
            <p:txBody>
              <a:bodyPr/>
              <a:lstStyle/>
              <a:p>
                <a:r>
                  <a:rPr lang="zh-CN" altLang="en-US">
                    <a:noFill/>
                  </a:rPr>
                  <a:t> </a:t>
                </a:r>
              </a:p>
            </p:txBody>
          </p:sp>
        </mc:Fallback>
      </mc:AlternateContent>
      <p:pic>
        <p:nvPicPr>
          <p:cNvPr id="6" name="图片 5"/>
          <p:cNvPicPr>
            <a:picLocks noChangeAspect="1"/>
          </p:cNvPicPr>
          <p:nvPr/>
        </p:nvPicPr>
        <p:blipFill>
          <a:blip r:embed="rId2"/>
          <a:stretch>
            <a:fillRect/>
          </a:stretch>
        </p:blipFill>
        <p:spPr>
          <a:xfrm>
            <a:off x="6502400" y="4035425"/>
            <a:ext cx="4662805" cy="21247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10</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920115" y="812800"/>
                <a:ext cx="10351770" cy="6402070"/>
              </a:xfrm>
              <a:prstGeom prst="rect">
                <a:avLst/>
              </a:prstGeom>
              <a:noFill/>
            </p:spPr>
            <p:txBody>
              <a:bodyPr wrap="square" rtlCol="0">
                <a:spAutoFit/>
              </a:bodyPr>
              <a:lstStyle/>
              <a:p>
                <a:pPr>
                  <a:lnSpc>
                    <a:spcPct val="130000"/>
                  </a:lnSpc>
                </a:pPr>
                <a:r>
                  <a:rPr lang="zh-CN" altLang="en-US" sz="1400" dirty="0">
                    <a:solidFill>
                      <a:prstClr val="black"/>
                    </a:solidFill>
                    <a:latin typeface="微软雅黑" panose="020B0503020204020204" charset="-122"/>
                    <a:ea typeface="微软雅黑" panose="020B0503020204020204" charset="-122"/>
                  </a:rPr>
                  <a:t>二、单稳态电路的分析计算</a:t>
                </a:r>
                <a:endParaRPr lang="zh-CN" altLang="en-US" sz="1400" dirty="0">
                  <a:solidFill>
                    <a:prstClr val="black"/>
                  </a:solidFill>
                  <a:latin typeface="微软雅黑" panose="020B0503020204020204" charset="-122"/>
                  <a:ea typeface="微软雅黑" panose="020B0503020204020204" charset="-122"/>
                </a:endParaRPr>
              </a:p>
              <a:p>
                <a:pPr>
                  <a:lnSpc>
                    <a:spcPct val="130000"/>
                  </a:lnSpc>
                </a:pPr>
                <a:r>
                  <a:rPr lang="zh-CN" altLang="en-US" sz="1400" dirty="0">
                    <a:solidFill>
                      <a:prstClr val="black"/>
                    </a:solidFill>
                    <a:latin typeface="微软雅黑" panose="020B0503020204020204" charset="-122"/>
                    <a:ea typeface="微软雅黑" panose="020B0503020204020204" charset="-122"/>
                  </a:rPr>
                  <a:t>      单稳态电路的性能通常用输出脉冲宽度</a:t>
                </a:r>
                <a14:m>
                  <m:oMath xmlns:m="http://schemas.openxmlformats.org/officeDocument/2006/math">
                    <m:sSub>
                      <m:sSubPr>
                        <m:ctrlPr>
                          <a:rPr lang="en-US" altLang="zh-CN" sz="1400" i="1" dirty="0">
                            <a:solidFill>
                              <a:prstClr val="black"/>
                            </a:solidFill>
                            <a:latin typeface="Cambria Math" panose="02040503050406030204" pitchFamily="18" charset="0"/>
                            <a:ea typeface="微软雅黑" panose="020B0503020204020204" charset="-122"/>
                          </a:rPr>
                        </m:ctrlPr>
                      </m:sSubPr>
                      <m:e>
                        <m:r>
                          <a:rPr lang="en-US" altLang="zh-CN" sz="1400" b="0" i="1" dirty="0" smtClean="0">
                            <a:solidFill>
                              <a:prstClr val="black"/>
                            </a:solidFill>
                            <a:latin typeface="Cambria Math" panose="02040503050406030204" pitchFamily="18" charset="0"/>
                            <a:ea typeface="微软雅黑" panose="020B0503020204020204" charset="-122"/>
                          </a:rPr>
                          <m:t>𝑡</m:t>
                        </m:r>
                      </m:e>
                      <m:sub>
                        <m:r>
                          <a:rPr lang="en-US" altLang="zh-CN" sz="1400" b="0" i="1" dirty="0" smtClean="0">
                            <a:solidFill>
                              <a:prstClr val="black"/>
                            </a:solidFill>
                            <a:latin typeface="Cambria Math" panose="02040503050406030204" pitchFamily="18" charset="0"/>
                            <a:ea typeface="微软雅黑" panose="020B0503020204020204" charset="-122"/>
                          </a:rPr>
                          <m:t>𝑊</m:t>
                        </m:r>
                      </m:sub>
                    </m:sSub>
                  </m:oMath>
                </a14:m>
                <a:r>
                  <a:rPr lang="zh-CN" altLang="en-US" sz="1400" dirty="0">
                    <a:solidFill>
                      <a:prstClr val="black"/>
                    </a:solidFill>
                    <a:latin typeface="微软雅黑" panose="020B0503020204020204" charset="-122"/>
                    <a:ea typeface="微软雅黑" panose="020B0503020204020204" charset="-122"/>
                  </a:rPr>
                  <a:t>，输出脉冲幅度</a:t>
                </a:r>
                <a14:m>
                  <m:oMath xmlns:m="http://schemas.openxmlformats.org/officeDocument/2006/math">
                    <m:sSub>
                      <m:sSubPr>
                        <m:ctrlPr>
                          <a:rPr lang="en-US" altLang="zh-CN" sz="1400" i="1" dirty="0">
                            <a:solidFill>
                              <a:prstClr val="black"/>
                            </a:solidFill>
                            <a:latin typeface="Cambria Math" panose="02040503050406030204" pitchFamily="18" charset="0"/>
                            <a:ea typeface="微软雅黑" panose="020B0503020204020204" charset="-122"/>
                          </a:rPr>
                        </m:ctrlPr>
                      </m:sSubPr>
                      <m:e>
                        <m:r>
                          <a:rPr lang="en-US" altLang="zh-CN" sz="1400" i="1" dirty="0">
                            <a:solidFill>
                              <a:prstClr val="black"/>
                            </a:solidFill>
                            <a:latin typeface="Cambria Math" panose="02040503050406030204" pitchFamily="18" charset="0"/>
                            <a:ea typeface="微软雅黑" panose="020B0503020204020204" charset="-122"/>
                          </a:rPr>
                          <m:t>𝑉</m:t>
                        </m:r>
                      </m:e>
                      <m:sub>
                        <m:r>
                          <a:rPr lang="en-US" altLang="zh-CN" sz="1400" b="0" i="1" dirty="0" smtClean="0">
                            <a:solidFill>
                              <a:prstClr val="black"/>
                            </a:solidFill>
                            <a:latin typeface="Cambria Math" panose="02040503050406030204" pitchFamily="18" charset="0"/>
                            <a:ea typeface="微软雅黑" panose="020B0503020204020204" charset="-122"/>
                          </a:rPr>
                          <m:t>𝑂𝑚</m:t>
                        </m:r>
                      </m:sub>
                    </m:sSub>
                  </m:oMath>
                </a14:m>
                <a:r>
                  <a:rPr lang="zh-CN" altLang="en-US" sz="1400" dirty="0">
                    <a:solidFill>
                      <a:prstClr val="black"/>
                    </a:solidFill>
                    <a:latin typeface="微软雅黑" panose="020B0503020204020204" charset="-122"/>
                    <a:ea typeface="微软雅黑" panose="020B0503020204020204" charset="-122"/>
                  </a:rPr>
                  <a:t>和恢复时间</a:t>
                </a:r>
                <a14:m>
                  <m:oMath xmlns:m="http://schemas.openxmlformats.org/officeDocument/2006/math">
                    <m:sSub>
                      <m:sSubPr>
                        <m:ctrlPr>
                          <a:rPr lang="en-US" altLang="zh-CN" sz="1400" i="1" dirty="0">
                            <a:solidFill>
                              <a:prstClr val="black"/>
                            </a:solidFill>
                            <a:latin typeface="Cambria Math" panose="02040503050406030204" pitchFamily="18" charset="0"/>
                            <a:ea typeface="微软雅黑" panose="020B0503020204020204" charset="-122"/>
                          </a:rPr>
                        </m:ctrlPr>
                      </m:sSubPr>
                      <m:e>
                        <m:r>
                          <a:rPr lang="en-US" altLang="zh-CN" sz="1400" b="0" i="1" dirty="0" smtClean="0">
                            <a:solidFill>
                              <a:prstClr val="black"/>
                            </a:solidFill>
                            <a:latin typeface="Cambria Math" panose="02040503050406030204" pitchFamily="18" charset="0"/>
                            <a:ea typeface="微软雅黑" panose="020B0503020204020204" charset="-122"/>
                          </a:rPr>
                          <m:t>𝑡</m:t>
                        </m:r>
                      </m:e>
                      <m:sub>
                        <m:r>
                          <a:rPr lang="en-US" altLang="zh-CN" sz="1400" b="0" i="1" dirty="0" smtClean="0">
                            <a:solidFill>
                              <a:prstClr val="black"/>
                            </a:solidFill>
                            <a:latin typeface="Cambria Math" panose="02040503050406030204" pitchFamily="18" charset="0"/>
                            <a:ea typeface="微软雅黑" panose="020B0503020204020204" charset="-122"/>
                          </a:rPr>
                          <m:t>𝑟𝑒</m:t>
                        </m:r>
                      </m:sub>
                    </m:sSub>
                  </m:oMath>
                </a14:m>
                <a:r>
                  <a:rPr lang="zh-CN" altLang="en-US" sz="1400" dirty="0">
                    <a:solidFill>
                      <a:prstClr val="black"/>
                    </a:solidFill>
                    <a:latin typeface="微软雅黑" panose="020B0503020204020204" charset="-122"/>
                    <a:ea typeface="微软雅黑" panose="020B0503020204020204" charset="-122"/>
                  </a:rPr>
                  <a:t>等几个主要参数描述。因此，分析计算的任务就是要算出这几个参数。</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r>
                  <a:rPr lang="en-US" altLang="zh-CN" sz="1400" dirty="0">
                    <a:solidFill>
                      <a:prstClr val="black"/>
                    </a:solidFill>
                    <a:latin typeface="微软雅黑" panose="020B0503020204020204" charset="-122"/>
                    <a:ea typeface="微软雅黑" panose="020B0503020204020204" charset="-122"/>
                  </a:rPr>
                  <a:t>1</a:t>
                </a:r>
                <a:r>
                  <a:rPr lang="zh-CN" altLang="en-US" sz="1400" dirty="0">
                    <a:solidFill>
                      <a:prstClr val="black"/>
                    </a:solidFill>
                    <a:latin typeface="微软雅黑" panose="020B0503020204020204" charset="-122"/>
                    <a:ea typeface="微软雅黑" panose="020B0503020204020204" charset="-122"/>
                  </a:rPr>
                  <a:t>）输出脉冲幅度的计算</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r>
                  <a:rPr lang="zh-CN" altLang="en-US" sz="1400" dirty="0">
                    <a:solidFill>
                      <a:prstClr val="black"/>
                    </a:solidFill>
                    <a:latin typeface="微软雅黑" panose="020B0503020204020204" charset="-122"/>
                    <a:ea typeface="微软雅黑" panose="020B0503020204020204" charset="-122"/>
                  </a:rPr>
                  <a:t>     若输出电压的高、低电平分别为</a:t>
                </a:r>
                <a14:m>
                  <m:oMath xmlns:m="http://schemas.openxmlformats.org/officeDocument/2006/math">
                    <m:sSub>
                      <m:sSubPr>
                        <m:ctrlPr>
                          <a:rPr lang="en-US" altLang="zh-CN" sz="1400" i="1" dirty="0">
                            <a:solidFill>
                              <a:prstClr val="black"/>
                            </a:solidFill>
                            <a:latin typeface="Cambria Math" panose="02040503050406030204" pitchFamily="18" charset="0"/>
                            <a:ea typeface="微软雅黑" panose="020B0503020204020204" charset="-122"/>
                          </a:rPr>
                        </m:ctrlPr>
                      </m:sSubPr>
                      <m:e>
                        <m:r>
                          <a:rPr lang="en-US" altLang="zh-CN" sz="1400" i="1" dirty="0">
                            <a:solidFill>
                              <a:prstClr val="black"/>
                            </a:solidFill>
                            <a:latin typeface="Cambria Math" panose="02040503050406030204" pitchFamily="18" charset="0"/>
                            <a:ea typeface="微软雅黑" panose="020B0503020204020204" charset="-122"/>
                          </a:rPr>
                          <m:t>𝑉</m:t>
                        </m:r>
                      </m:e>
                      <m:sub>
                        <m:r>
                          <a:rPr lang="en-US" altLang="zh-CN" sz="1400" b="0" i="1" dirty="0" smtClean="0">
                            <a:solidFill>
                              <a:prstClr val="black"/>
                            </a:solidFill>
                            <a:latin typeface="Cambria Math" panose="02040503050406030204" pitchFamily="18" charset="0"/>
                            <a:ea typeface="微软雅黑" panose="020B0503020204020204" charset="-122"/>
                          </a:rPr>
                          <m:t>𝑂𝐻</m:t>
                        </m:r>
                      </m:sub>
                    </m:sSub>
                  </m:oMath>
                </a14:m>
                <a:r>
                  <a:rPr lang="zh-CN" altLang="en-US" sz="1400" dirty="0">
                    <a:solidFill>
                      <a:prstClr val="black"/>
                    </a:solidFill>
                    <a:latin typeface="微软雅黑" panose="020B0503020204020204" charset="-122"/>
                    <a:ea typeface="微软雅黑" panose="020B0503020204020204" charset="-122"/>
                  </a:rPr>
                  <a:t>和</a:t>
                </a:r>
                <a14:m>
                  <m:oMath xmlns:m="http://schemas.openxmlformats.org/officeDocument/2006/math">
                    <m:sSub>
                      <m:sSubPr>
                        <m:ctrlPr>
                          <a:rPr lang="en-US" altLang="zh-CN" sz="1400" i="1" dirty="0">
                            <a:solidFill>
                              <a:prstClr val="black"/>
                            </a:solidFill>
                            <a:latin typeface="Cambria Math" panose="02040503050406030204" pitchFamily="18" charset="0"/>
                            <a:ea typeface="微软雅黑" panose="020B0503020204020204" charset="-122"/>
                          </a:rPr>
                        </m:ctrlPr>
                      </m:sSubPr>
                      <m:e>
                        <m:r>
                          <a:rPr lang="en-US" altLang="zh-CN" sz="1400" i="1" dirty="0">
                            <a:solidFill>
                              <a:prstClr val="black"/>
                            </a:solidFill>
                            <a:latin typeface="Cambria Math" panose="02040503050406030204" pitchFamily="18" charset="0"/>
                            <a:ea typeface="微软雅黑" panose="020B0503020204020204" charset="-122"/>
                          </a:rPr>
                          <m:t>𝑉</m:t>
                        </m:r>
                      </m:e>
                      <m:sub>
                        <m:r>
                          <a:rPr lang="en-US" altLang="zh-CN" sz="1400" b="0" i="1" dirty="0" smtClean="0">
                            <a:solidFill>
                              <a:prstClr val="black"/>
                            </a:solidFill>
                            <a:latin typeface="Cambria Math" panose="02040503050406030204" pitchFamily="18" charset="0"/>
                            <a:ea typeface="微软雅黑" panose="020B0503020204020204" charset="-122"/>
                          </a:rPr>
                          <m:t>𝑂𝐿</m:t>
                        </m:r>
                      </m:sub>
                    </m:sSub>
                  </m:oMath>
                </a14:m>
                <a:r>
                  <a:rPr lang="zh-CN" altLang="en-US" sz="1400" dirty="0">
                    <a:solidFill>
                      <a:prstClr val="black"/>
                    </a:solidFill>
                    <a:latin typeface="微软雅黑" panose="020B0503020204020204" charset="-122"/>
                    <a:ea typeface="微软雅黑" panose="020B0503020204020204" charset="-122"/>
                  </a:rPr>
                  <a:t>，则输出脉冲幅度为</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14:m>
                  <m:oMathPara xmlns:m="http://schemas.openxmlformats.org/officeDocument/2006/math">
                    <m:oMathParaPr>
                      <m:jc m:val="centerGroup"/>
                    </m:oMathParaPr>
                    <m:oMath xmlns:m="http://schemas.openxmlformats.org/officeDocument/2006/math">
                      <m:sSub>
                        <m:sSubPr>
                          <m:ctrlPr>
                            <a:rPr lang="en-US" altLang="zh-CN" sz="1400" i="1" dirty="0">
                              <a:solidFill>
                                <a:prstClr val="black"/>
                              </a:solidFill>
                              <a:latin typeface="Cambria Math" panose="02040503050406030204" pitchFamily="18" charset="0"/>
                              <a:ea typeface="微软雅黑" panose="020B0503020204020204" charset="-122"/>
                            </a:rPr>
                          </m:ctrlPr>
                        </m:sSubPr>
                        <m:e>
                          <m:r>
                            <a:rPr lang="en-US" altLang="zh-CN" sz="1400" i="1" dirty="0">
                              <a:solidFill>
                                <a:prstClr val="black"/>
                              </a:solidFill>
                              <a:latin typeface="Cambria Math" panose="02040503050406030204" pitchFamily="18" charset="0"/>
                              <a:ea typeface="微软雅黑" panose="020B0503020204020204" charset="-122"/>
                            </a:rPr>
                            <m:t>𝑉</m:t>
                          </m:r>
                        </m:e>
                        <m:sub>
                          <m:r>
                            <a:rPr lang="en-US" altLang="zh-CN" sz="1400" i="1" dirty="0">
                              <a:solidFill>
                                <a:prstClr val="black"/>
                              </a:solidFill>
                              <a:latin typeface="Cambria Math" panose="02040503050406030204" pitchFamily="18" charset="0"/>
                              <a:ea typeface="微软雅黑" panose="020B0503020204020204" charset="-122"/>
                            </a:rPr>
                            <m:t>𝑂𝑚</m:t>
                          </m:r>
                        </m:sub>
                      </m:sSub>
                      <m:r>
                        <a:rPr lang="en-US" altLang="zh-CN" sz="1400" b="0" i="1" dirty="0" smtClean="0">
                          <a:solidFill>
                            <a:prstClr val="black"/>
                          </a:solidFill>
                          <a:latin typeface="Cambria Math" panose="02040503050406030204" pitchFamily="18" charset="0"/>
                          <a:ea typeface="微软雅黑" panose="020B0503020204020204" charset="-122"/>
                        </a:rPr>
                        <m:t>=</m:t>
                      </m:r>
                      <m:sSub>
                        <m:sSubPr>
                          <m:ctrlPr>
                            <a:rPr lang="en-US" altLang="zh-CN" sz="1400" i="1" dirty="0">
                              <a:solidFill>
                                <a:prstClr val="black"/>
                              </a:solidFill>
                              <a:latin typeface="Cambria Math" panose="02040503050406030204" pitchFamily="18" charset="0"/>
                              <a:ea typeface="微软雅黑" panose="020B0503020204020204" charset="-122"/>
                            </a:rPr>
                          </m:ctrlPr>
                        </m:sSubPr>
                        <m:e>
                          <m:r>
                            <a:rPr lang="en-US" altLang="zh-CN" sz="1400" i="1" dirty="0">
                              <a:solidFill>
                                <a:prstClr val="black"/>
                              </a:solidFill>
                              <a:latin typeface="Cambria Math" panose="02040503050406030204" pitchFamily="18" charset="0"/>
                              <a:ea typeface="微软雅黑" panose="020B0503020204020204" charset="-122"/>
                            </a:rPr>
                            <m:t>𝑉</m:t>
                          </m:r>
                        </m:e>
                        <m:sub>
                          <m:r>
                            <a:rPr lang="en-US" altLang="zh-CN" sz="1400" i="1" dirty="0">
                              <a:solidFill>
                                <a:prstClr val="black"/>
                              </a:solidFill>
                              <a:latin typeface="Cambria Math" panose="02040503050406030204" pitchFamily="18" charset="0"/>
                              <a:ea typeface="微软雅黑" panose="020B0503020204020204" charset="-122"/>
                            </a:rPr>
                            <m:t>𝑂𝐻</m:t>
                          </m:r>
                        </m:sub>
                      </m:sSub>
                      <m:r>
                        <a:rPr lang="en-US" altLang="zh-CN" sz="1400" b="0" i="1" dirty="0" smtClean="0">
                          <a:solidFill>
                            <a:prstClr val="black"/>
                          </a:solidFill>
                          <a:latin typeface="Cambria Math" panose="02040503050406030204" pitchFamily="18" charset="0"/>
                          <a:ea typeface="微软雅黑" panose="020B0503020204020204" charset="-122"/>
                        </a:rPr>
                        <m:t>−</m:t>
                      </m:r>
                      <m:sSub>
                        <m:sSubPr>
                          <m:ctrlPr>
                            <a:rPr lang="en-US" altLang="zh-CN" sz="1400" i="1" dirty="0">
                              <a:solidFill>
                                <a:prstClr val="black"/>
                              </a:solidFill>
                              <a:latin typeface="Cambria Math" panose="02040503050406030204" pitchFamily="18" charset="0"/>
                              <a:ea typeface="微软雅黑" panose="020B0503020204020204" charset="-122"/>
                            </a:rPr>
                          </m:ctrlPr>
                        </m:sSubPr>
                        <m:e>
                          <m:r>
                            <a:rPr lang="en-US" altLang="zh-CN" sz="1400" i="1" dirty="0">
                              <a:solidFill>
                                <a:prstClr val="black"/>
                              </a:solidFill>
                              <a:latin typeface="Cambria Math" panose="02040503050406030204" pitchFamily="18" charset="0"/>
                              <a:ea typeface="微软雅黑" panose="020B0503020204020204" charset="-122"/>
                            </a:rPr>
                            <m:t>𝑉</m:t>
                          </m:r>
                        </m:e>
                        <m:sub>
                          <m:r>
                            <a:rPr lang="en-US" altLang="zh-CN" sz="1400" i="1" dirty="0">
                              <a:solidFill>
                                <a:prstClr val="black"/>
                              </a:solidFill>
                              <a:latin typeface="Cambria Math" panose="02040503050406030204" pitchFamily="18" charset="0"/>
                              <a:ea typeface="微软雅黑" panose="020B0503020204020204" charset="-122"/>
                            </a:rPr>
                            <m:t>𝑂𝐿</m:t>
                          </m:r>
                        </m:sub>
                      </m:sSub>
                    </m:oMath>
                  </m:oMathPara>
                </a14:m>
                <a:endParaRPr lang="en-US" altLang="zh-CN" sz="1400" dirty="0">
                  <a:solidFill>
                    <a:prstClr val="black"/>
                  </a:solidFill>
                  <a:latin typeface="微软雅黑" panose="020B0503020204020204" charset="-122"/>
                  <a:ea typeface="微软雅黑" panose="020B0503020204020204" charset="-122"/>
                </a:endParaRPr>
              </a:p>
              <a:p>
                <a:pPr>
                  <a:lnSpc>
                    <a:spcPct val="130000"/>
                  </a:lnSpc>
                </a:pPr>
                <a:r>
                  <a:rPr lang="en-US" altLang="zh-CN" sz="1400" dirty="0">
                    <a:solidFill>
                      <a:prstClr val="black"/>
                    </a:solidFill>
                    <a:latin typeface="微软雅黑" panose="020B0503020204020204" charset="-122"/>
                    <a:ea typeface="微软雅黑" panose="020B0503020204020204" charset="-122"/>
                  </a:rPr>
                  <a:t>2</a:t>
                </a:r>
                <a:r>
                  <a:rPr lang="zh-CN" altLang="en-US" sz="1400" dirty="0">
                    <a:solidFill>
                      <a:prstClr val="black"/>
                    </a:solidFill>
                    <a:latin typeface="微软雅黑" panose="020B0503020204020204" charset="-122"/>
                    <a:ea typeface="微软雅黑" panose="020B0503020204020204" charset="-122"/>
                  </a:rPr>
                  <a:t>）恢复时间的计算</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r>
                  <a:rPr lang="zh-CN" altLang="en-US" sz="1400" dirty="0">
                    <a:solidFill>
                      <a:prstClr val="black"/>
                    </a:solidFill>
                    <a:latin typeface="微软雅黑" panose="020B0503020204020204" charset="-122"/>
                    <a:ea typeface="微软雅黑" panose="020B0503020204020204" charset="-122"/>
                  </a:rPr>
                  <a:t>     恢复时间</a:t>
                </a:r>
                <a14:m>
                  <m:oMath xmlns:m="http://schemas.openxmlformats.org/officeDocument/2006/math">
                    <m:sSub>
                      <m:sSubPr>
                        <m:ctrlPr>
                          <a:rPr lang="en-US" altLang="zh-CN" sz="1400" i="1" dirty="0">
                            <a:solidFill>
                              <a:prstClr val="black"/>
                            </a:solidFill>
                            <a:latin typeface="Cambria Math" panose="02040503050406030204" pitchFamily="18" charset="0"/>
                            <a:ea typeface="微软雅黑" panose="020B0503020204020204" charset="-122"/>
                          </a:rPr>
                        </m:ctrlPr>
                      </m:sSubPr>
                      <m:e>
                        <m:r>
                          <a:rPr lang="en-US" altLang="zh-CN" sz="1400" i="1" dirty="0">
                            <a:solidFill>
                              <a:prstClr val="black"/>
                            </a:solidFill>
                            <a:latin typeface="Cambria Math" panose="02040503050406030204" pitchFamily="18" charset="0"/>
                            <a:ea typeface="微软雅黑" panose="020B0503020204020204" charset="-122"/>
                          </a:rPr>
                          <m:t>𝑡</m:t>
                        </m:r>
                      </m:e>
                      <m:sub>
                        <m:r>
                          <a:rPr lang="en-US" altLang="zh-CN" sz="1400" i="1" dirty="0">
                            <a:solidFill>
                              <a:prstClr val="black"/>
                            </a:solidFill>
                            <a:latin typeface="Cambria Math" panose="02040503050406030204" pitchFamily="18" charset="0"/>
                            <a:ea typeface="微软雅黑" panose="020B0503020204020204" charset="-122"/>
                          </a:rPr>
                          <m:t>𝑟𝑒</m:t>
                        </m:r>
                      </m:sub>
                    </m:sSub>
                  </m:oMath>
                </a14:m>
                <a:r>
                  <a:rPr lang="zh-CN" altLang="en-US" sz="1400" dirty="0">
                    <a:solidFill>
                      <a:prstClr val="black"/>
                    </a:solidFill>
                    <a:latin typeface="微软雅黑" panose="020B0503020204020204" charset="-122"/>
                    <a:ea typeface="微软雅黑" panose="020B0503020204020204" charset="-122"/>
                  </a:rPr>
                  <a:t>是指电路从暂稳态结束到恢复为触发前稳定状态所需要的时间。一般认为经过</a:t>
                </a:r>
                <a:r>
                  <a:rPr lang="en-US" altLang="zh-CN" sz="1400" dirty="0">
                    <a:solidFill>
                      <a:prstClr val="black"/>
                    </a:solidFill>
                    <a:latin typeface="微软雅黑" panose="020B0503020204020204" charset="-122"/>
                    <a:ea typeface="微软雅黑" panose="020B0503020204020204" charset="-122"/>
                  </a:rPr>
                  <a:t>RC</a:t>
                </a:r>
                <a:r>
                  <a:rPr lang="zh-CN" altLang="en-US" sz="1400" dirty="0">
                    <a:solidFill>
                      <a:prstClr val="black"/>
                    </a:solidFill>
                    <a:latin typeface="微软雅黑" panose="020B0503020204020204" charset="-122"/>
                    <a:ea typeface="微软雅黑" panose="020B0503020204020204" charset="-122"/>
                  </a:rPr>
                  <a:t>电路时间常数</a:t>
                </a:r>
                <a:r>
                  <a:rPr lang="en-US" altLang="zh-CN" sz="1400" dirty="0">
                    <a:solidFill>
                      <a:prstClr val="black"/>
                    </a:solidFill>
                    <a:latin typeface="微软雅黑" panose="020B0503020204020204" charset="-122"/>
                    <a:ea typeface="微软雅黑" panose="020B0503020204020204" charset="-122"/>
                  </a:rPr>
                  <a:t>3~5</a:t>
                </a:r>
                <a:r>
                  <a:rPr lang="zh-CN" altLang="en-US" sz="1400" dirty="0">
                    <a:solidFill>
                      <a:prstClr val="black"/>
                    </a:solidFill>
                    <a:latin typeface="微软雅黑" panose="020B0503020204020204" charset="-122"/>
                    <a:ea typeface="微软雅黑" panose="020B0503020204020204" charset="-122"/>
                  </a:rPr>
                  <a:t>倍的时间以后，电路基本上可以到达稳态，故得到</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14:m>
                  <m:oMathPara xmlns:m="http://schemas.openxmlformats.org/officeDocument/2006/math">
                    <m:oMathParaPr>
                      <m:jc m:val="centerGroup"/>
                    </m:oMathParaPr>
                    <m:oMath xmlns:m="http://schemas.openxmlformats.org/officeDocument/2006/math">
                      <m:sSub>
                        <m:sSubPr>
                          <m:ctrlPr>
                            <a:rPr lang="en-US" altLang="zh-CN" sz="1400" i="1" dirty="0">
                              <a:solidFill>
                                <a:prstClr val="black"/>
                              </a:solidFill>
                              <a:latin typeface="Cambria Math" panose="02040503050406030204" pitchFamily="18" charset="0"/>
                              <a:ea typeface="微软雅黑" panose="020B0503020204020204" charset="-122"/>
                            </a:rPr>
                          </m:ctrlPr>
                        </m:sSubPr>
                        <m:e>
                          <m:r>
                            <a:rPr lang="en-US" altLang="zh-CN" sz="1400" i="1" dirty="0">
                              <a:solidFill>
                                <a:prstClr val="black"/>
                              </a:solidFill>
                              <a:latin typeface="Cambria Math" panose="02040503050406030204" pitchFamily="18" charset="0"/>
                              <a:ea typeface="微软雅黑" panose="020B0503020204020204" charset="-122"/>
                            </a:rPr>
                            <m:t>𝑡</m:t>
                          </m:r>
                        </m:e>
                        <m:sub>
                          <m:r>
                            <a:rPr lang="en-US" altLang="zh-CN" sz="1400" i="1" dirty="0">
                              <a:solidFill>
                                <a:prstClr val="black"/>
                              </a:solidFill>
                              <a:latin typeface="Cambria Math" panose="02040503050406030204" pitchFamily="18" charset="0"/>
                              <a:ea typeface="微软雅黑" panose="020B0503020204020204" charset="-122"/>
                            </a:rPr>
                            <m:t>𝑟𝑒</m:t>
                          </m:r>
                        </m:sub>
                      </m:sSub>
                      <m:r>
                        <a:rPr lang="en-US" altLang="zh-CN" sz="1400" i="1" dirty="0" smtClean="0">
                          <a:solidFill>
                            <a:prstClr val="black"/>
                          </a:solidFill>
                          <a:latin typeface="Cambria Math" panose="02040503050406030204" pitchFamily="18" charset="0"/>
                          <a:ea typeface="微软雅黑" panose="020B0503020204020204" charset="-122"/>
                        </a:rPr>
                        <m:t>=</m:t>
                      </m:r>
                      <m:d>
                        <m:dPr>
                          <m:ctrlPr>
                            <a:rPr lang="en-US" altLang="zh-CN" sz="1400" i="1" dirty="0" smtClean="0">
                              <a:solidFill>
                                <a:prstClr val="black"/>
                              </a:solidFill>
                              <a:latin typeface="Cambria Math" panose="02040503050406030204" pitchFamily="18" charset="0"/>
                              <a:ea typeface="微软雅黑" panose="020B0503020204020204" charset="-122"/>
                            </a:rPr>
                          </m:ctrlPr>
                        </m:dPr>
                        <m:e>
                          <m:r>
                            <a:rPr lang="en-US" altLang="zh-CN" sz="1400" i="1" dirty="0">
                              <a:solidFill>
                                <a:prstClr val="black"/>
                              </a:solidFill>
                              <a:latin typeface="Cambria Math" panose="02040503050406030204" pitchFamily="18" charset="0"/>
                              <a:ea typeface="微软雅黑" panose="020B0503020204020204" charset="-122"/>
                            </a:rPr>
                            <m:t>3</m:t>
                          </m:r>
                          <m:r>
                            <a:rPr lang="en-US" altLang="zh-CN" sz="1400" i="1" dirty="0">
                              <a:solidFill>
                                <a:prstClr val="black"/>
                              </a:solidFill>
                              <a:latin typeface="Cambria Math" panose="02040503050406030204" pitchFamily="18" charset="0"/>
                              <a:ea typeface="微软雅黑" panose="020B0503020204020204" charset="-122"/>
                            </a:rPr>
                            <m:t>~</m:t>
                          </m:r>
                          <m:r>
                            <a:rPr lang="en-US" altLang="zh-CN" sz="1400" i="1" dirty="0">
                              <a:solidFill>
                                <a:prstClr val="black"/>
                              </a:solidFill>
                              <a:latin typeface="Cambria Math" panose="02040503050406030204" pitchFamily="18" charset="0"/>
                              <a:ea typeface="微软雅黑" panose="020B0503020204020204" charset="-122"/>
                            </a:rPr>
                            <m:t>5</m:t>
                          </m:r>
                        </m:e>
                      </m:d>
                      <m:r>
                        <a:rPr lang="en-US" altLang="zh-CN" sz="1400" i="1" dirty="0">
                          <a:solidFill>
                            <a:prstClr val="black"/>
                          </a:solidFill>
                          <a:latin typeface="Cambria Math" panose="02040503050406030204" pitchFamily="18" charset="0"/>
                          <a:ea typeface="微软雅黑" panose="020B0503020204020204" charset="-122"/>
                        </a:rPr>
                        <m:t>𝑅𝐶</m:t>
                      </m:r>
                    </m:oMath>
                  </m:oMathPara>
                </a14:m>
                <a:endParaRPr lang="en-US" altLang="zh-CN" sz="1400" dirty="0">
                  <a:solidFill>
                    <a:prstClr val="black"/>
                  </a:solidFill>
                  <a:latin typeface="微软雅黑" panose="020B0503020204020204" charset="-122"/>
                  <a:ea typeface="微软雅黑" panose="020B0503020204020204" charset="-122"/>
                </a:endParaRPr>
              </a:p>
              <a:p>
                <a:pPr>
                  <a:lnSpc>
                    <a:spcPct val="130000"/>
                  </a:lnSpc>
                </a:pPr>
                <a:r>
                  <a:rPr lang="zh-CN" altLang="en-US" sz="1400" dirty="0">
                    <a:solidFill>
                      <a:prstClr val="black"/>
                    </a:solidFill>
                    <a:latin typeface="微软雅黑" panose="020B0503020204020204" charset="-122"/>
                    <a:ea typeface="微软雅黑" panose="020B0503020204020204" charset="-122"/>
                  </a:rPr>
                  <a:t>式中的</a:t>
                </a:r>
                <a:r>
                  <a:rPr lang="en-US" altLang="zh-CN" sz="1400" dirty="0">
                    <a:solidFill>
                      <a:prstClr val="black"/>
                    </a:solidFill>
                    <a:latin typeface="微软雅黑" panose="020B0503020204020204" charset="-122"/>
                    <a:ea typeface="微软雅黑" panose="020B0503020204020204" charset="-122"/>
                  </a:rPr>
                  <a:t>RC</a:t>
                </a:r>
                <a:r>
                  <a:rPr lang="zh-CN" altLang="en-US" sz="1400" dirty="0">
                    <a:solidFill>
                      <a:prstClr val="black"/>
                    </a:solidFill>
                    <a:latin typeface="微软雅黑" panose="020B0503020204020204" charset="-122"/>
                    <a:ea typeface="微软雅黑" panose="020B0503020204020204" charset="-122"/>
                  </a:rPr>
                  <a:t>为所讨论的充、放电回路的时间常数。</a:t>
                </a:r>
                <a:endParaRPr lang="zh-CN" altLang="en-US" sz="1400" dirty="0">
                  <a:solidFill>
                    <a:prstClr val="black"/>
                  </a:solidFill>
                  <a:latin typeface="微软雅黑" panose="020B0503020204020204" charset="-122"/>
                  <a:ea typeface="微软雅黑" panose="020B0503020204020204" charset="-122"/>
                </a:endParaRPr>
              </a:p>
              <a:p>
                <a:pPr>
                  <a:lnSpc>
                    <a:spcPct val="130000"/>
                  </a:lnSpc>
                </a:pPr>
                <a:r>
                  <a:rPr lang="en-US" altLang="zh-CN" sz="1400" dirty="0">
                    <a:solidFill>
                      <a:prstClr val="black"/>
                    </a:solidFill>
                    <a:latin typeface="微软雅黑" panose="020B0503020204020204" charset="-122"/>
                    <a:ea typeface="微软雅黑" panose="020B0503020204020204" charset="-122"/>
                    <a:sym typeface="+mn-ea"/>
                  </a:rPr>
                  <a:t>3</a:t>
                </a:r>
                <a:r>
                  <a:rPr lang="zh-CN" altLang="en-US" sz="1400" dirty="0">
                    <a:solidFill>
                      <a:prstClr val="black"/>
                    </a:solidFill>
                    <a:latin typeface="微软雅黑" panose="020B0503020204020204" charset="-122"/>
                    <a:ea typeface="微软雅黑" panose="020B0503020204020204" charset="-122"/>
                    <a:sym typeface="+mn-ea"/>
                  </a:rPr>
                  <a:t>）</a:t>
                </a:r>
                <a:r>
                  <a:rPr lang="zh-CN" altLang="en-US" sz="1400" b="1" dirty="0">
                    <a:solidFill>
                      <a:prstClr val="black"/>
                    </a:solidFill>
                    <a:latin typeface="微软雅黑" panose="020B0503020204020204" charset="-122"/>
                    <a:ea typeface="微软雅黑" panose="020B0503020204020204" charset="-122"/>
                    <a:sym typeface="+mn-ea"/>
                  </a:rPr>
                  <a:t>输出脉冲宽度的计算</a:t>
                </a:r>
                <a:endParaRPr lang="en-US" altLang="zh-CN" sz="1400" b="1" dirty="0">
                  <a:solidFill>
                    <a:prstClr val="black"/>
                  </a:solidFill>
                  <a:latin typeface="微软雅黑" panose="020B0503020204020204" charset="-122"/>
                  <a:ea typeface="微软雅黑" panose="020B0503020204020204" charset="-122"/>
                </a:endParaRPr>
              </a:p>
              <a:p>
                <a:pPr>
                  <a:lnSpc>
                    <a:spcPct val="130000"/>
                  </a:lnSpc>
                </a:pPr>
                <a:r>
                  <a:rPr lang="en-US" altLang="zh-CN" sz="1400" dirty="0">
                    <a:solidFill>
                      <a:prstClr val="black"/>
                    </a:solidFill>
                    <a:latin typeface="微软雅黑" panose="020B0503020204020204" charset="-122"/>
                    <a:ea typeface="微软雅黑" panose="020B0503020204020204" charset="-122"/>
                    <a:sym typeface="+mn-ea"/>
                  </a:rPr>
                  <a:t>     </a:t>
                </a:r>
                <a:r>
                  <a:rPr lang="zh-CN" altLang="en-US" sz="1400" dirty="0">
                    <a:solidFill>
                      <a:prstClr val="black"/>
                    </a:solidFill>
                    <a:latin typeface="微软雅黑" panose="020B0503020204020204" charset="-122"/>
                    <a:ea typeface="微软雅黑" panose="020B0503020204020204" charset="-122"/>
                    <a:sym typeface="+mn-ea"/>
                  </a:rPr>
                  <a:t>我们已经知道单稳态电路有一个稳态和一个暂稳态，在外界触发信号作用下将从稳态进人到暂稳态，经过一定时间以后能自动返回稳态。暂稳态持续时间的长短取决于电路内部的时间常数，与触发信号无关。而输出脉冲的宽度就等于暂稳态的持续时间，因此计算输出脉冲的宽度实际上也就是计算电路的暂稳态持续时间。这里需要用到</a:t>
                </a:r>
                <a:r>
                  <a:rPr lang="en-US" altLang="zh-CN" sz="1400" dirty="0">
                    <a:solidFill>
                      <a:prstClr val="black"/>
                    </a:solidFill>
                    <a:latin typeface="微软雅黑" panose="020B0503020204020204" charset="-122"/>
                    <a:ea typeface="微软雅黑" panose="020B0503020204020204" charset="-122"/>
                    <a:sym typeface="+mn-ea"/>
                  </a:rPr>
                  <a:t>RC</a:t>
                </a:r>
                <a:r>
                  <a:rPr lang="zh-CN" altLang="en-US" sz="1400" dirty="0">
                    <a:solidFill>
                      <a:prstClr val="black"/>
                    </a:solidFill>
                    <a:latin typeface="微软雅黑" panose="020B0503020204020204" charset="-122"/>
                    <a:ea typeface="微软雅黑" panose="020B0503020204020204" charset="-122"/>
                    <a:sym typeface="+mn-ea"/>
                  </a:rPr>
                  <a:t>电路过渡过程的计算方法，具体地可按如下步骤进行：</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r>
                  <a:rPr lang="en-US" altLang="zh-CN" sz="1400" dirty="0">
                    <a:solidFill>
                      <a:prstClr val="black"/>
                    </a:solidFill>
                    <a:latin typeface="微软雅黑" panose="020B0503020204020204" charset="-122"/>
                    <a:ea typeface="微软雅黑" panose="020B0503020204020204" charset="-122"/>
                    <a:sym typeface="+mn-ea"/>
                  </a:rPr>
                  <a:t>     (1</a:t>
                </a:r>
                <a:r>
                  <a:rPr lang="zh-CN" altLang="en-US" sz="1400" dirty="0">
                    <a:solidFill>
                      <a:prstClr val="black"/>
                    </a:solidFill>
                    <a:latin typeface="微软雅黑" panose="020B0503020204020204" charset="-122"/>
                    <a:ea typeface="微软雅黑" panose="020B0503020204020204" charset="-122"/>
                    <a:sym typeface="+mn-ea"/>
                  </a:rPr>
                  <a:t>）分析电路的工作过程，定性地画出电路中各点电压的波形，找出决定电路状态发生转换的控制电压。</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r>
                  <a:rPr lang="en-US" altLang="zh-CN" sz="1400" dirty="0">
                    <a:solidFill>
                      <a:prstClr val="black"/>
                    </a:solidFill>
                    <a:latin typeface="微软雅黑" panose="020B0503020204020204" charset="-122"/>
                    <a:ea typeface="微软雅黑" panose="020B0503020204020204" charset="-122"/>
                    <a:sym typeface="+mn-ea"/>
                  </a:rPr>
                  <a:t>     (2</a:t>
                </a:r>
                <a:r>
                  <a:rPr lang="zh-CN" altLang="en-US" sz="1400" dirty="0">
                    <a:solidFill>
                      <a:prstClr val="black"/>
                    </a:solidFill>
                    <a:latin typeface="微软雅黑" panose="020B0503020204020204" charset="-122"/>
                    <a:ea typeface="微软雅黑" panose="020B0503020204020204" charset="-122"/>
                    <a:sym typeface="+mn-ea"/>
                  </a:rPr>
                  <a:t>）画出每个控制电压充电或放电的等效电路，并尽可能将其化简为单回路</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r>
                  <a:rPr lang="en-US" altLang="zh-CN" sz="1400" dirty="0">
                    <a:solidFill>
                      <a:prstClr val="black"/>
                    </a:solidFill>
                    <a:latin typeface="微软雅黑" panose="020B0503020204020204" charset="-122"/>
                    <a:ea typeface="微软雅黑" panose="020B0503020204020204" charset="-122"/>
                    <a:sym typeface="+mn-ea"/>
                  </a:rPr>
                  <a:t>     (3</a:t>
                </a:r>
                <a:r>
                  <a:rPr lang="zh-CN" altLang="en-US" sz="1400" dirty="0">
                    <a:solidFill>
                      <a:prstClr val="black"/>
                    </a:solidFill>
                    <a:latin typeface="微软雅黑" panose="020B0503020204020204" charset="-122"/>
                    <a:ea typeface="微软雅黑" panose="020B0503020204020204" charset="-122"/>
                    <a:sym typeface="+mn-ea"/>
                  </a:rPr>
                  <a:t>）确定每个控制电压充电或放电的起始值、终了值和电路状态发生转换时所对应的转换值。</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r>
                  <a:rPr lang="en-US" altLang="zh-CN" sz="1400" dirty="0">
                    <a:solidFill>
                      <a:prstClr val="black"/>
                    </a:solidFill>
                    <a:latin typeface="微软雅黑" panose="020B0503020204020204" charset="-122"/>
                    <a:ea typeface="微软雅黑" panose="020B0503020204020204" charset="-122"/>
                    <a:sym typeface="+mn-ea"/>
                  </a:rPr>
                  <a:t>     (4</a:t>
                </a:r>
                <a:r>
                  <a:rPr lang="zh-CN" altLang="en-US" sz="1400" dirty="0">
                    <a:solidFill>
                      <a:prstClr val="black"/>
                    </a:solidFill>
                    <a:latin typeface="微软雅黑" panose="020B0503020204020204" charset="-122"/>
                    <a:ea typeface="微软雅黑" panose="020B0503020204020204" charset="-122"/>
                    <a:sym typeface="+mn-ea"/>
                  </a:rPr>
                  <a:t>）代入计算公式求出充电或放电过程经过的时间，这个时间既是电路的暂稳态持续时间，也是输出脉冲的宽度</a:t>
                </a:r>
                <a14:m>
                  <m:oMath xmlns:m="http://schemas.openxmlformats.org/officeDocument/2006/math">
                    <m:sSub>
                      <m:sSubPr>
                        <m:ctrlPr>
                          <a:rPr lang="en-US" altLang="zh-CN" sz="1400" i="1" dirty="0">
                            <a:solidFill>
                              <a:prstClr val="black"/>
                            </a:solidFill>
                            <a:latin typeface="Cambria Math" panose="02040503050406030204" pitchFamily="18" charset="0"/>
                            <a:ea typeface="微软雅黑" panose="020B0503020204020204" charset="-122"/>
                          </a:rPr>
                        </m:ctrlPr>
                      </m:sSubPr>
                      <m:e>
                        <m:r>
                          <a:rPr lang="en-US" altLang="zh-CN" sz="1400" i="1" dirty="0">
                            <a:solidFill>
                              <a:prstClr val="black"/>
                            </a:solidFill>
                            <a:latin typeface="Cambria Math" panose="02040503050406030204" pitchFamily="18" charset="0"/>
                            <a:ea typeface="微软雅黑" panose="020B0503020204020204" charset="-122"/>
                          </a:rPr>
                          <m:t>𝑡</m:t>
                        </m:r>
                      </m:e>
                      <m:sub>
                        <m:r>
                          <a:rPr lang="en-US" altLang="zh-CN" sz="1400" i="1" dirty="0">
                            <a:solidFill>
                              <a:prstClr val="black"/>
                            </a:solidFill>
                            <a:latin typeface="Cambria Math" panose="02040503050406030204" pitchFamily="18" charset="0"/>
                            <a:ea typeface="微软雅黑" panose="020B0503020204020204" charset="-122"/>
                          </a:rPr>
                          <m:t>𝑊</m:t>
                        </m:r>
                      </m:sub>
                    </m:sSub>
                  </m:oMath>
                </a14:m>
                <a:r>
                  <a:rPr lang="en-US" altLang="zh-CN" sz="1400" dirty="0">
                    <a:solidFill>
                      <a:prstClr val="black"/>
                    </a:solidFill>
                    <a:latin typeface="微软雅黑" panose="020B0503020204020204" charset="-122"/>
                    <a:ea typeface="微软雅黑" panose="020B0503020204020204" charset="-122"/>
                    <a:sym typeface="+mn-ea"/>
                  </a:rPr>
                  <a:t> </a:t>
                </a:r>
                <a:r>
                  <a:rPr lang="zh-CN" altLang="en-US" sz="1400" dirty="0">
                    <a:solidFill>
                      <a:prstClr val="black"/>
                    </a:solidFill>
                    <a:latin typeface="微软雅黑" panose="020B0503020204020204" charset="-122"/>
                    <a:ea typeface="微软雅黑" panose="020B0503020204020204" charset="-122"/>
                    <a:sym typeface="+mn-ea"/>
                  </a:rPr>
                  <a:t>。</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endParaRPr lang="en-US" altLang="zh-CN" dirty="0">
                  <a:solidFill>
                    <a:prstClr val="black"/>
                  </a:solidFill>
                  <a:latin typeface="微软雅黑" panose="020B0503020204020204" charset="-122"/>
                  <a:ea typeface="微软雅黑" panose="020B0503020204020204" charset="-122"/>
                </a:endParaRPr>
              </a:p>
              <a:p>
                <a:pPr>
                  <a:lnSpc>
                    <a:spcPct val="130000"/>
                  </a:lnSpc>
                </a:pPr>
                <a:endParaRPr lang="en-US" altLang="zh-CN" dirty="0">
                  <a:solidFill>
                    <a:prstClr val="black"/>
                  </a:solidFill>
                  <a:latin typeface="微软雅黑" panose="020B0503020204020204" charset="-122"/>
                  <a:ea typeface="微软雅黑" panose="020B0503020204020204"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920115" y="812800"/>
                <a:ext cx="10351770" cy="640207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10</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288341" y="1093877"/>
                <a:ext cx="6140348" cy="1384995"/>
              </a:xfrm>
              <a:prstGeom prst="rect">
                <a:avLst/>
              </a:prstGeom>
              <a:noFill/>
            </p:spPr>
            <p:txBody>
              <a:bodyPr wrap="square" rtlCol="0">
                <a:spAutoFit/>
              </a:bodyPr>
              <a:lstStyle/>
              <a:p>
                <a:pPr>
                  <a:lnSpc>
                    <a:spcPct val="150000"/>
                  </a:lnSpc>
                </a:pPr>
                <a:r>
                  <a:rPr lang="en-US" altLang="zh-CN" sz="1400" dirty="0">
                    <a:solidFill>
                      <a:prstClr val="black"/>
                    </a:solidFill>
                  </a:rPr>
                  <a:t>7.9 </a:t>
                </a:r>
                <a:r>
                  <a:rPr lang="zh-CN" altLang="en-US" sz="1400" dirty="0">
                    <a:solidFill>
                      <a:prstClr val="black"/>
                    </a:solidFill>
                  </a:rPr>
                  <a:t>图</a:t>
                </a:r>
                <a:r>
                  <a:rPr lang="en-US" altLang="zh-CN" sz="1400" dirty="0">
                    <a:solidFill>
                      <a:prstClr val="black"/>
                    </a:solidFill>
                  </a:rPr>
                  <a:t>P7.9</a:t>
                </a:r>
                <a:r>
                  <a:rPr lang="zh-CN" altLang="en-US" sz="1400" dirty="0">
                    <a:solidFill>
                      <a:prstClr val="black"/>
                    </a:solidFill>
                  </a:rPr>
                  <a:t>是用</a:t>
                </a:r>
                <a:r>
                  <a:rPr lang="en-US" altLang="zh-CN" sz="1400" dirty="0">
                    <a:solidFill>
                      <a:prstClr val="black"/>
                    </a:solidFill>
                  </a:rPr>
                  <a:t>TTL</a:t>
                </a:r>
                <a:r>
                  <a:rPr lang="zh-CN" altLang="en-US" sz="1400" dirty="0">
                    <a:solidFill>
                      <a:prstClr val="black"/>
                    </a:solidFill>
                  </a:rPr>
                  <a:t>门电路接成的微分型单稳态电路，其中</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𝑅</m:t>
                        </m:r>
                      </m:e>
                      <m:sub>
                        <m:r>
                          <m:rPr>
                            <m:sty m:val="p"/>
                          </m:rPr>
                          <a:rPr lang="en-US" altLang="zh-CN" sz="1400" i="1">
                            <a:solidFill>
                              <a:prstClr val="black"/>
                            </a:solidFill>
                            <a:latin typeface="Cambria Math" panose="02040503050406030204" pitchFamily="18" charset="0"/>
                            <a:ea typeface="Cambria Math" panose="02040503050406030204" pitchFamily="18" charset="0"/>
                          </a:rPr>
                          <m:t>d</m:t>
                        </m:r>
                      </m:sub>
                    </m:sSub>
                  </m:oMath>
                </a14:m>
                <a:r>
                  <a:rPr lang="zh-CN" altLang="en-US" sz="1400" dirty="0">
                    <a:solidFill>
                      <a:prstClr val="black"/>
                    </a:solidFill>
                  </a:rPr>
                  <a:t>阻值足够大，保证稳态时</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𝑣</m:t>
                        </m:r>
                      </m:e>
                      <m:sub>
                        <m:r>
                          <a:rPr lang="en-US" altLang="zh-CN" sz="1400" b="0" i="1" smtClean="0">
                            <a:solidFill>
                              <a:prstClr val="black"/>
                            </a:solidFill>
                            <a:latin typeface="Cambria Math" panose="02040503050406030204" pitchFamily="18" charset="0"/>
                            <a:ea typeface="Cambria Math" panose="02040503050406030204" pitchFamily="18" charset="0"/>
                          </a:rPr>
                          <m:t>𝐴</m:t>
                        </m:r>
                      </m:sub>
                    </m:sSub>
                    <m:r>
                      <a:rPr lang="zh-CN" altLang="en-US" sz="1400" i="1">
                        <a:solidFill>
                          <a:prstClr val="black"/>
                        </a:solidFill>
                        <a:latin typeface="Cambria Math" panose="02040503050406030204" pitchFamily="18" charset="0"/>
                        <a:ea typeface="Cambria Math" panose="02040503050406030204" pitchFamily="18" charset="0"/>
                      </a:rPr>
                      <m:t>为</m:t>
                    </m:r>
                  </m:oMath>
                </a14:m>
                <a:r>
                  <a:rPr lang="zh-CN" altLang="en-US" sz="1400" dirty="0">
                    <a:solidFill>
                      <a:prstClr val="black"/>
                    </a:solidFill>
                  </a:rPr>
                  <a:t>高电平。</a:t>
                </a:r>
                <a:r>
                  <a:rPr lang="en-US" altLang="zh-CN" sz="1400" dirty="0">
                    <a:solidFill>
                      <a:prstClr val="black"/>
                    </a:solidFill>
                  </a:rPr>
                  <a:t>R</a:t>
                </a:r>
                <a:r>
                  <a:rPr lang="zh-CN" altLang="en-US" sz="1400" dirty="0">
                    <a:solidFill>
                      <a:prstClr val="black"/>
                    </a:solidFill>
                  </a:rPr>
                  <a:t>的阻值很小，保持稳态时</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b="0" i="1" smtClean="0">
                            <a:solidFill>
                              <a:prstClr val="black"/>
                            </a:solidFill>
                            <a:latin typeface="Cambria Math" panose="02040503050406030204" pitchFamily="18" charset="0"/>
                            <a:ea typeface="Cambria Math" panose="02040503050406030204" pitchFamily="18" charset="0"/>
                          </a:rPr>
                          <m:t>𝐼</m:t>
                        </m:r>
                        <m:r>
                          <a:rPr lang="en-US" altLang="zh-CN" sz="1400" i="1">
                            <a:solidFill>
                              <a:prstClr val="black"/>
                            </a:solidFill>
                            <a:latin typeface="Cambria Math" panose="02040503050406030204" pitchFamily="18" charset="0"/>
                            <a:ea typeface="Cambria Math" panose="02040503050406030204" pitchFamily="18" charset="0"/>
                          </a:rPr>
                          <m:t>2</m:t>
                        </m:r>
                      </m:sub>
                    </m:sSub>
                    <m:r>
                      <a:rPr lang="zh-CN" altLang="en-US" sz="1400" i="1" smtClean="0">
                        <a:solidFill>
                          <a:prstClr val="black"/>
                        </a:solidFill>
                        <a:latin typeface="Cambria Math" panose="02040503050406030204" pitchFamily="18" charset="0"/>
                        <a:ea typeface="Cambria Math" panose="02040503050406030204" pitchFamily="18" charset="0"/>
                      </a:rPr>
                      <m:t>为</m:t>
                    </m:r>
                  </m:oMath>
                </a14:m>
                <a:r>
                  <a:rPr lang="zh-CN" altLang="en-US" sz="1400" dirty="0">
                    <a:solidFill>
                      <a:prstClr val="black"/>
                    </a:solidFill>
                  </a:rPr>
                  <a:t>低电平。试分析该电路在给定触发信号</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sub>
                    </m:sSub>
                  </m:oMath>
                </a14:m>
                <a:r>
                  <a:rPr lang="zh-CN" altLang="en-US" sz="1400" dirty="0">
                    <a:solidFill>
                      <a:prstClr val="black"/>
                    </a:solidFill>
                  </a:rPr>
                  <a:t>作用下的工作过程，画出</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𝐴</m:t>
                        </m:r>
                      </m:sub>
                    </m:sSub>
                  </m:oMath>
                </a14:m>
                <a:r>
                  <a:rPr lang="zh-CN" altLang="en-US" sz="1400" dirty="0">
                    <a:solidFill>
                      <a:prstClr val="black"/>
                    </a:solidFill>
                  </a:rPr>
                  <a:t>、</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b="0" i="1" smtClean="0">
                            <a:solidFill>
                              <a:prstClr val="black"/>
                            </a:solidFill>
                            <a:latin typeface="Cambria Math" panose="02040503050406030204" pitchFamily="18" charset="0"/>
                            <a:ea typeface="Cambria Math" panose="02040503050406030204" pitchFamily="18" charset="0"/>
                          </a:rPr>
                          <m:t>𝑂</m:t>
                        </m:r>
                        <m:r>
                          <a:rPr lang="en-US" altLang="zh-CN" sz="1400" b="0" i="1" smtClean="0">
                            <a:solidFill>
                              <a:prstClr val="black"/>
                            </a:solidFill>
                            <a:latin typeface="Cambria Math" panose="02040503050406030204" pitchFamily="18" charset="0"/>
                            <a:ea typeface="Cambria Math" panose="02040503050406030204" pitchFamily="18" charset="0"/>
                          </a:rPr>
                          <m:t>1</m:t>
                        </m:r>
                      </m:sub>
                    </m:sSub>
                  </m:oMath>
                </a14:m>
                <a:r>
                  <a:rPr lang="zh-CN" altLang="en-US" sz="1400" dirty="0">
                    <a:solidFill>
                      <a:prstClr val="black"/>
                    </a:solidFill>
                  </a:rPr>
                  <a:t>、</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r>
                          <a:rPr lang="en-US" altLang="zh-CN" sz="1400" i="1">
                            <a:solidFill>
                              <a:prstClr val="black"/>
                            </a:solidFill>
                            <a:latin typeface="Cambria Math" panose="02040503050406030204" pitchFamily="18" charset="0"/>
                            <a:ea typeface="Cambria Math" panose="02040503050406030204" pitchFamily="18" charset="0"/>
                          </a:rPr>
                          <m:t>2</m:t>
                        </m:r>
                      </m:sub>
                    </m:sSub>
                  </m:oMath>
                </a14:m>
                <a:r>
                  <a:rPr lang="zh-CN" altLang="en-US" sz="1400" dirty="0">
                    <a:solidFill>
                      <a:prstClr val="black"/>
                    </a:solidFill>
                  </a:rPr>
                  <a:t>、</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b="0" i="1" smtClean="0">
                            <a:solidFill>
                              <a:prstClr val="black"/>
                            </a:solidFill>
                            <a:latin typeface="Cambria Math" panose="02040503050406030204" pitchFamily="18" charset="0"/>
                            <a:ea typeface="Cambria Math" panose="02040503050406030204" pitchFamily="18" charset="0"/>
                          </a:rPr>
                          <m:t>𝑂</m:t>
                        </m:r>
                      </m:sub>
                    </m:sSub>
                  </m:oMath>
                </a14:m>
                <a:r>
                  <a:rPr lang="zh-CN" altLang="en-US" sz="1400" dirty="0">
                    <a:solidFill>
                      <a:prstClr val="black"/>
                    </a:solidFill>
                  </a:rPr>
                  <a:t>的电压波形。</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𝐶</m:t>
                        </m:r>
                      </m:e>
                      <m:sub>
                        <m:r>
                          <a:rPr lang="en-US" altLang="zh-CN" sz="1400" b="0" i="1" smtClean="0">
                            <a:solidFill>
                              <a:prstClr val="black"/>
                            </a:solidFill>
                            <a:latin typeface="Cambria Math" panose="02040503050406030204" pitchFamily="18" charset="0"/>
                            <a:ea typeface="Cambria Math" panose="02040503050406030204" pitchFamily="18" charset="0"/>
                          </a:rPr>
                          <m:t>𝑑</m:t>
                        </m:r>
                      </m:sub>
                    </m:sSub>
                  </m:oMath>
                </a14:m>
                <a:r>
                  <a:rPr lang="zh-CN" altLang="en-US" sz="1400" dirty="0">
                    <a:solidFill>
                      <a:prstClr val="black"/>
                    </a:solidFill>
                  </a:rPr>
                  <a:t>的电容量很小，它与</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𝑅</m:t>
                        </m:r>
                      </m:e>
                      <m:sub>
                        <m:r>
                          <a:rPr lang="en-US" altLang="zh-CN" sz="1400" i="1">
                            <a:solidFill>
                              <a:prstClr val="black"/>
                            </a:solidFill>
                            <a:latin typeface="Cambria Math" panose="02040503050406030204" pitchFamily="18" charset="0"/>
                            <a:ea typeface="Cambria Math" panose="02040503050406030204" pitchFamily="18" charset="0"/>
                          </a:rPr>
                          <m:t>𝑑</m:t>
                        </m:r>
                      </m:sub>
                    </m:sSub>
                  </m:oMath>
                </a14:m>
                <a:r>
                  <a:rPr lang="zh-CN" altLang="en-US" sz="1400" dirty="0">
                    <a:solidFill>
                      <a:prstClr val="black"/>
                    </a:solidFill>
                  </a:rPr>
                  <a:t>组成微分电路。</a:t>
                </a:r>
                <a:endParaRPr lang="en-US" altLang="zh-CN" sz="1400" dirty="0">
                  <a:solidFill>
                    <a:prstClr val="black"/>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288341" y="1093877"/>
                <a:ext cx="6140348" cy="1384995"/>
              </a:xfrm>
              <a:prstGeom prst="rect">
                <a:avLst/>
              </a:prstGeom>
              <a:blipFill rotWithShape="1">
                <a:blip r:embed="rId1"/>
                <a:stretch>
                  <a:fillRect l="-1" t="-29" r="10" b="34"/>
                </a:stretch>
              </a:blipFill>
            </p:spPr>
            <p:txBody>
              <a:bodyPr/>
              <a:lstStyle/>
              <a:p>
                <a:r>
                  <a:rPr lang="zh-CN" altLang="en-US">
                    <a:noFill/>
                  </a:rPr>
                  <a:t> </a:t>
                </a:r>
              </a:p>
            </p:txBody>
          </p:sp>
        </mc:Fallback>
      </mc:AlternateContent>
      <p:pic>
        <p:nvPicPr>
          <p:cNvPr id="6" name="图片 5"/>
          <p:cNvPicPr/>
          <p:nvPr/>
        </p:nvPicPr>
        <p:blipFill rotWithShape="1">
          <a:blip r:embed="rId2">
            <a:biLevel thresh="75000"/>
            <a:extLst>
              <a:ext uri="{BEBA8EAE-BF5A-486C-A8C5-ECC9F3942E4B}">
                <a14:imgProps xmlns:a14="http://schemas.microsoft.com/office/drawing/2010/main">
                  <a14:imgLayer r:embed="rId3">
                    <a14:imgEffect>
                      <a14:brightnessContrast contrast="20000"/>
                    </a14:imgEffect>
                    <a14:imgEffect>
                      <a14:sharpenSoften amount="50000"/>
                    </a14:imgEffect>
                  </a14:imgLayer>
                </a14:imgProps>
              </a:ext>
            </a:extLst>
          </a:blip>
          <a:srcRect l="11773" r="13138" b="13635"/>
          <a:stretch>
            <a:fillRect/>
          </a:stretch>
        </p:blipFill>
        <p:spPr>
          <a:xfrm>
            <a:off x="399663" y="2716535"/>
            <a:ext cx="5544616" cy="1674163"/>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482600" y="4349750"/>
                <a:ext cx="5156835" cy="2353310"/>
              </a:xfrm>
              <a:prstGeom prst="rect">
                <a:avLst/>
              </a:prstGeom>
              <a:noFill/>
            </p:spPr>
            <p:txBody>
              <a:bodyPr wrap="square" rtlCol="0">
                <a:spAutoFit/>
              </a:bodyPr>
              <a:lstStyle/>
              <a:p>
                <a:pPr>
                  <a:lnSpc>
                    <a:spcPct val="150000"/>
                  </a:lnSpc>
                </a:pPr>
                <a:r>
                  <a:rPr lang="zh-CN" altLang="en-US" sz="1400" dirty="0">
                    <a:solidFill>
                      <a:prstClr val="black"/>
                    </a:solidFill>
                  </a:rPr>
                  <a:t>解：由图可知，因</a:t>
                </a:r>
                <a:r>
                  <a:rPr lang="en-US" altLang="zh-CN" sz="1400" dirty="0">
                    <a:solidFill>
                      <a:prstClr val="black"/>
                    </a:solidFill>
                  </a:rPr>
                  <a:t>R</a:t>
                </a:r>
                <a:r>
                  <a:rPr lang="zh-CN" altLang="en-US" sz="1400" dirty="0">
                    <a:solidFill>
                      <a:prstClr val="black"/>
                    </a:solidFill>
                  </a:rPr>
                  <a:t>的阻值很小，所以</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r>
                          <a:rPr lang="en-US" altLang="zh-CN" sz="1400" i="1">
                            <a:solidFill>
                              <a:prstClr val="black"/>
                            </a:solidFill>
                            <a:latin typeface="Cambria Math" panose="02040503050406030204" pitchFamily="18" charset="0"/>
                            <a:ea typeface="Cambria Math" panose="02040503050406030204" pitchFamily="18" charset="0"/>
                          </a:rPr>
                          <m:t>2</m:t>
                        </m:r>
                      </m:sub>
                    </m:sSub>
                    <m:r>
                      <a:rPr lang="en-US" altLang="zh-CN" sz="1400" i="1" smtClean="0">
                        <a:solidFill>
                          <a:prstClr val="black"/>
                        </a:solidFill>
                        <a:latin typeface="Cambria Math" panose="02040503050406030204" pitchFamily="18" charset="0"/>
                        <a:ea typeface="Cambria Math" panose="02040503050406030204" pitchFamily="18" charset="0"/>
                      </a:rPr>
                      <m:t>&lt;</m:t>
                    </m:r>
                    <m:sSub>
                      <m:sSubPr>
                        <m:ctrlPr>
                          <a:rPr lang="en-US" altLang="zh-CN" sz="1400" i="1" smtClean="0">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𝑉</m:t>
                        </m:r>
                      </m:e>
                      <m:sub>
                        <m:r>
                          <a:rPr lang="en-US" altLang="zh-CN" sz="1400" b="0" i="1" smtClean="0">
                            <a:solidFill>
                              <a:prstClr val="black"/>
                            </a:solidFill>
                            <a:latin typeface="Cambria Math" panose="02040503050406030204" pitchFamily="18" charset="0"/>
                            <a:ea typeface="Cambria Math" panose="02040503050406030204" pitchFamily="18" charset="0"/>
                          </a:rPr>
                          <m:t>𝑇𝐻</m:t>
                        </m:r>
                      </m:sub>
                    </m:sSub>
                    <m:r>
                      <a:rPr lang="zh-CN" altLang="en-US" sz="1400" i="1">
                        <a:solidFill>
                          <a:prstClr val="black"/>
                        </a:solidFill>
                        <a:latin typeface="Cambria Math" panose="02040503050406030204" pitchFamily="18" charset="0"/>
                        <a:ea typeface="Cambria Math" panose="02040503050406030204" pitchFamily="18" charset="0"/>
                      </a:rPr>
                      <m:t>；</m:t>
                    </m:r>
                  </m:oMath>
                </a14:m>
                <a:r>
                  <a:rPr lang="zh-CN" altLang="en-US" sz="1400" dirty="0">
                    <a:solidFill>
                      <a:prstClr val="black"/>
                    </a:solidFill>
                  </a:rPr>
                  <a:t>而</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𝑅</m:t>
                        </m:r>
                      </m:e>
                      <m:sub>
                        <m:r>
                          <m:rPr>
                            <m:sty m:val="p"/>
                          </m:rPr>
                          <a:rPr lang="en-US" altLang="zh-CN" sz="1400" i="1">
                            <a:solidFill>
                              <a:prstClr val="black"/>
                            </a:solidFill>
                            <a:latin typeface="Cambria Math" panose="02040503050406030204" pitchFamily="18" charset="0"/>
                            <a:ea typeface="Cambria Math" panose="02040503050406030204" pitchFamily="18" charset="0"/>
                          </a:rPr>
                          <m:t>d</m:t>
                        </m:r>
                      </m:sub>
                    </m:sSub>
                  </m:oMath>
                </a14:m>
                <a:r>
                  <a:rPr lang="zh-CN" altLang="en-US" sz="1400" dirty="0">
                    <a:solidFill>
                      <a:prstClr val="black"/>
                    </a:solidFill>
                  </a:rPr>
                  <a:t>的阻值很大，所以</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b="0" i="1" smtClean="0">
                            <a:solidFill>
                              <a:prstClr val="black"/>
                            </a:solidFill>
                            <a:latin typeface="Cambria Math" panose="02040503050406030204" pitchFamily="18" charset="0"/>
                            <a:ea typeface="Cambria Math" panose="02040503050406030204" pitchFamily="18" charset="0"/>
                          </a:rPr>
                          <m:t>𝐴</m:t>
                        </m:r>
                      </m:sub>
                    </m:sSub>
                    <m:r>
                      <a:rPr lang="en-US" altLang="zh-CN" sz="1400" i="1" smtClean="0">
                        <a:solidFill>
                          <a:prstClr val="black"/>
                        </a:solidFill>
                        <a:latin typeface="Cambria Math" panose="02040503050406030204" pitchFamily="18" charset="0"/>
                        <a:ea typeface="Cambria Math" panose="02040503050406030204" pitchFamily="18" charset="0"/>
                      </a:rPr>
                      <m:t>≥</m:t>
                    </m:r>
                    <m:sSub>
                      <m:sSubPr>
                        <m:ctrlPr>
                          <a:rPr lang="en-US"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𝑇𝐻</m:t>
                        </m:r>
                      </m:sub>
                    </m:sSub>
                  </m:oMath>
                </a14:m>
                <a:r>
                  <a:rPr lang="en-US" altLang="zh-CN" sz="1400" dirty="0">
                    <a:solidFill>
                      <a:prstClr val="black"/>
                    </a:solidFill>
                  </a:rPr>
                  <a:t> </a:t>
                </a:r>
                <a:r>
                  <a:rPr lang="zh-CN" altLang="en-US" sz="1400" dirty="0">
                    <a:solidFill>
                      <a:prstClr val="black"/>
                    </a:solidFill>
                  </a:rPr>
                  <a:t>。故稳态下</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r>
                          <a:rPr lang="en-US" altLang="zh-CN" sz="1400" i="1">
                            <a:solidFill>
                              <a:prstClr val="black"/>
                            </a:solidFill>
                            <a:latin typeface="Cambria Math" panose="02040503050406030204" pitchFamily="18" charset="0"/>
                            <a:ea typeface="Cambria Math" panose="02040503050406030204" pitchFamily="18" charset="0"/>
                          </a:rPr>
                          <m:t>1</m:t>
                        </m:r>
                      </m:sub>
                    </m:sSub>
                    <m:r>
                      <a:rPr lang="en-US" altLang="zh-CN" sz="1400" i="1" smtClean="0">
                        <a:solidFill>
                          <a:prstClr val="black"/>
                        </a:solidFill>
                        <a:latin typeface="Cambria Math" panose="02040503050406030204" pitchFamily="18" charset="0"/>
                        <a:ea typeface="Cambria Math" panose="02040503050406030204" pitchFamily="18" charset="0"/>
                      </a:rPr>
                      <m:t>=</m:t>
                    </m:r>
                    <m:sSub>
                      <m:sSubPr>
                        <m:ctrlPr>
                          <a:rPr lang="en-US" altLang="zh-CN" sz="1400" i="1" smtClean="0">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𝑉</m:t>
                        </m:r>
                      </m:e>
                      <m:sub>
                        <m:r>
                          <a:rPr lang="en-US" altLang="zh-CN" sz="1400" b="0" i="1" smtClean="0">
                            <a:solidFill>
                              <a:prstClr val="black"/>
                            </a:solidFill>
                            <a:latin typeface="Cambria Math" panose="02040503050406030204" pitchFamily="18" charset="0"/>
                            <a:ea typeface="Cambria Math" panose="02040503050406030204" pitchFamily="18" charset="0"/>
                          </a:rPr>
                          <m:t>𝑂𝐿</m:t>
                        </m:r>
                      </m:sub>
                    </m:sSub>
                  </m:oMath>
                </a14:m>
                <a:r>
                  <a:rPr lang="zh-CN" altLang="en-US" sz="1400" dirty="0">
                    <a:solidFill>
                      <a:prstClr val="black"/>
                    </a:solidFill>
                  </a:rPr>
                  <a:t>，</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sub>
                    </m:sSub>
                    <m:r>
                      <a:rPr lang="en-US" altLang="zh-CN" sz="1400" i="1" smtClean="0">
                        <a:solidFill>
                          <a:prstClr val="black"/>
                        </a:solidFill>
                        <a:latin typeface="Cambria Math" panose="02040503050406030204" pitchFamily="18" charset="0"/>
                        <a:ea typeface="Cambria Math" panose="02040503050406030204" pitchFamily="18" charset="0"/>
                      </a:rPr>
                      <m:t>=</m:t>
                    </m:r>
                    <m:sSub>
                      <m:sSubPr>
                        <m:ctrlPr>
                          <a:rPr lang="en-US" altLang="zh-CN" sz="1400" i="1" smtClean="0">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𝑉</m:t>
                        </m:r>
                      </m:e>
                      <m:sub>
                        <m:r>
                          <a:rPr lang="en-US" altLang="zh-CN" sz="1400" b="0" i="1" smtClean="0">
                            <a:solidFill>
                              <a:prstClr val="black"/>
                            </a:solidFill>
                            <a:latin typeface="Cambria Math" panose="02040503050406030204" pitchFamily="18" charset="0"/>
                            <a:ea typeface="Cambria Math" panose="02040503050406030204" pitchFamily="18" charset="0"/>
                          </a:rPr>
                          <m:t>𝑂𝐻</m:t>
                        </m:r>
                      </m:sub>
                    </m:sSub>
                    <m:r>
                      <a:rPr lang="zh-CN" altLang="en-US" sz="1400" i="1">
                        <a:solidFill>
                          <a:prstClr val="black"/>
                        </a:solidFill>
                        <a:latin typeface="Cambria Math" panose="02040503050406030204" pitchFamily="18" charset="0"/>
                        <a:ea typeface="Cambria Math" panose="02040503050406030204" pitchFamily="18" charset="0"/>
                      </a:rPr>
                      <m:t>。</m:t>
                    </m:r>
                  </m:oMath>
                </a14:m>
                <a:endParaRPr lang="en-US" altLang="zh-CN" sz="1400" dirty="0">
                  <a:solidFill>
                    <a:prstClr val="black"/>
                  </a:solidFill>
                </a:endParaRPr>
              </a:p>
              <a:p>
                <a:pPr>
                  <a:lnSpc>
                    <a:spcPct val="150000"/>
                  </a:lnSpc>
                </a:pPr>
                <a:r>
                  <a:rPr lang="en-US" altLang="zh-CN" sz="1400" dirty="0">
                    <a:solidFill>
                      <a:prstClr val="black"/>
                    </a:solidFill>
                  </a:rPr>
                  <a:t>         </a:t>
                </a:r>
                <a:r>
                  <a:rPr lang="zh-CN" altLang="en-US" sz="1400" dirty="0">
                    <a:solidFill>
                      <a:prstClr val="black"/>
                    </a:solidFill>
                  </a:rPr>
                  <a:t>当</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sub>
                    </m:sSub>
                  </m:oMath>
                </a14:m>
                <a:r>
                  <a:rPr lang="zh-CN" altLang="en-US" sz="1400" dirty="0">
                    <a:solidFill>
                      <a:prstClr val="black"/>
                    </a:solidFill>
                  </a:rPr>
                  <a:t>端有负的触发脉冲时，</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𝐴</m:t>
                        </m:r>
                      </m:sub>
                    </m:sSub>
                  </m:oMath>
                </a14:m>
                <a:r>
                  <a:rPr lang="zh-CN" altLang="en-US" sz="1400" dirty="0">
                    <a:solidFill>
                      <a:prstClr val="black"/>
                    </a:solidFill>
                  </a:rPr>
                  <a:t>处出现负向的微分脉冲，</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r>
                          <a:rPr lang="en-US" altLang="zh-CN" sz="1400" i="1">
                            <a:solidFill>
                              <a:prstClr val="black"/>
                            </a:solidFill>
                            <a:latin typeface="Cambria Math" panose="02040503050406030204" pitchFamily="18" charset="0"/>
                            <a:ea typeface="Cambria Math" panose="02040503050406030204" pitchFamily="18" charset="0"/>
                          </a:rPr>
                          <m:t>1</m:t>
                        </m:r>
                      </m:sub>
                    </m:sSub>
                  </m:oMath>
                </a14:m>
                <a:r>
                  <a:rPr lang="zh-CN" altLang="en-US" sz="1400" dirty="0">
                    <a:solidFill>
                      <a:prstClr val="black"/>
                    </a:solidFill>
                  </a:rPr>
                  <a:t>和</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r>
                          <a:rPr lang="en-US" altLang="zh-CN" sz="1400" i="1">
                            <a:solidFill>
                              <a:prstClr val="black"/>
                            </a:solidFill>
                            <a:latin typeface="Cambria Math" panose="02040503050406030204" pitchFamily="18" charset="0"/>
                            <a:ea typeface="Cambria Math" panose="02040503050406030204" pitchFamily="18" charset="0"/>
                          </a:rPr>
                          <m:t>2</m:t>
                        </m:r>
                      </m:sub>
                    </m:sSub>
                  </m:oMath>
                </a14:m>
                <a:r>
                  <a:rPr lang="zh-CN" altLang="en-US" sz="1400" dirty="0">
                    <a:solidFill>
                      <a:prstClr val="black"/>
                    </a:solidFill>
                  </a:rPr>
                  <a:t>产生正的电压跳变，</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sub>
                    </m:sSub>
                  </m:oMath>
                </a14:m>
                <a:r>
                  <a:rPr lang="zh-CN" altLang="en-US" sz="1400" dirty="0">
                    <a:solidFill>
                      <a:prstClr val="black"/>
                    </a:solidFill>
                  </a:rPr>
                  <a:t>跳变为低电平。由于</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sub>
                    </m:sSub>
                  </m:oMath>
                </a14:m>
                <a:r>
                  <a:rPr lang="zh-CN" altLang="en-US" sz="1400" dirty="0">
                    <a:solidFill>
                      <a:prstClr val="black"/>
                    </a:solidFill>
                  </a:rPr>
                  <a:t>的低电平反馈到门</a:t>
                </a:r>
                <a:r>
                  <a:rPr lang="en-US" altLang="zh-CN" sz="1400" dirty="0">
                    <a:solidFill>
                      <a:prstClr val="black"/>
                    </a:solidFill>
                  </a:rPr>
                  <a:t>G1</a:t>
                </a:r>
                <a:r>
                  <a:rPr lang="zh-CN" altLang="en-US" sz="1400" dirty="0">
                    <a:solidFill>
                      <a:prstClr val="black"/>
                    </a:solidFill>
                  </a:rPr>
                  <a:t>的输入，所以在</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𝐴</m:t>
                        </m:r>
                      </m:sub>
                    </m:sSub>
                  </m:oMath>
                </a14:m>
                <a:r>
                  <a:rPr lang="zh-CN" altLang="en-US" sz="1400" dirty="0">
                    <a:solidFill>
                      <a:prstClr val="black"/>
                    </a:solidFill>
                  </a:rPr>
                  <a:t>的低电平信号消失后</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r>
                          <a:rPr lang="en-US" altLang="zh-CN" sz="1400" i="1">
                            <a:solidFill>
                              <a:prstClr val="black"/>
                            </a:solidFill>
                            <a:latin typeface="Cambria Math" panose="02040503050406030204" pitchFamily="18" charset="0"/>
                            <a:ea typeface="Cambria Math" panose="02040503050406030204" pitchFamily="18" charset="0"/>
                          </a:rPr>
                          <m:t>1</m:t>
                        </m:r>
                      </m:sub>
                    </m:sSub>
                  </m:oMath>
                </a14:m>
                <a:r>
                  <a:rPr lang="zh-CN" altLang="en-US" sz="1400" dirty="0">
                    <a:solidFill>
                      <a:prstClr val="black"/>
                    </a:solidFill>
                  </a:rPr>
                  <a:t>的高电平和</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sub>
                    </m:sSub>
                  </m:oMath>
                </a14:m>
                <a:r>
                  <a:rPr lang="zh-CN" altLang="en-US" sz="1400" dirty="0">
                    <a:solidFill>
                      <a:prstClr val="black"/>
                    </a:solidFill>
                  </a:rPr>
                  <a:t>的低电平仍继续维持。而且这种正反馈使</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sub>
                    </m:sSub>
                  </m:oMath>
                </a14:m>
                <a:r>
                  <a:rPr lang="zh-CN" altLang="en-US" sz="1400" dirty="0">
                    <a:solidFill>
                      <a:prstClr val="black"/>
                    </a:solidFill>
                  </a:rPr>
                  <a:t>波形的边沿很陡。</a:t>
                </a:r>
                <a:endParaRPr lang="zh-CN" altLang="en-US" sz="1400" dirty="0">
                  <a:solidFill>
                    <a:prstClr val="black"/>
                  </a:solidFill>
                </a:endParaRPr>
              </a:p>
              <a:p>
                <a:pPr>
                  <a:lnSpc>
                    <a:spcPct val="150000"/>
                  </a:lnSpc>
                </a:pPr>
                <a:endParaRPr lang="en-US" altLang="zh-CN" sz="1400" dirty="0">
                  <a:solidFill>
                    <a:prstClr val="black"/>
                  </a:solidFill>
                </a:endParaRPr>
              </a:p>
            </p:txBody>
          </p:sp>
        </mc:Choice>
        <mc:Fallback>
          <p:sp>
            <p:nvSpPr>
              <p:cNvPr id="7" name="文本框 6"/>
              <p:cNvSpPr txBox="1">
                <a:spLocks noRot="1" noChangeAspect="1" noMove="1" noResize="1" noEditPoints="1" noAdjustHandles="1" noChangeArrowheads="1" noChangeShapeType="1" noTextEdit="1"/>
              </p:cNvSpPr>
              <p:nvPr/>
            </p:nvSpPr>
            <p:spPr>
              <a:xfrm>
                <a:off x="482600" y="4349750"/>
                <a:ext cx="5156835" cy="2353310"/>
              </a:xfrm>
              <a:prstGeom prst="rect">
                <a:avLst/>
              </a:prstGeom>
              <a:blipFill rotWithShape="1">
                <a:blip r:embed="rId4"/>
                <a:stretch>
                  <a:fillRect/>
                </a:stretch>
              </a:blipFill>
            </p:spPr>
            <p:txBody>
              <a:bodyPr/>
              <a:lstStyle/>
              <a:p>
                <a:r>
                  <a:rPr lang="zh-CN" altLang="en-US">
                    <a:noFill/>
                  </a:rPr>
                  <a:t> </a:t>
                </a:r>
              </a:p>
            </p:txBody>
          </p:sp>
        </mc:Fallback>
      </mc:AlternateContent>
      <p:pic>
        <p:nvPicPr>
          <p:cNvPr id="32" name="图片 31"/>
          <p:cNvPicPr/>
          <p:nvPr/>
        </p:nvPicPr>
        <p:blipFill rotWithShape="1">
          <a:blip r:embed="rId5">
            <a:biLevel thresh="75000"/>
            <a:extLst>
              <a:ext uri="{BEBA8EAE-BF5A-486C-A8C5-ECC9F3942E4B}">
                <a14:imgProps xmlns:a14="http://schemas.microsoft.com/office/drawing/2010/main">
                  <a14:imgLayer r:embed="rId6">
                    <a14:imgEffect>
                      <a14:brightnessContrast contrast="20000"/>
                    </a14:imgEffect>
                    <a14:imgEffect>
                      <a14:sharpenSoften amount="50000"/>
                    </a14:imgEffect>
                  </a14:imgLayer>
                </a14:imgProps>
              </a:ext>
            </a:extLst>
          </a:blip>
          <a:srcRect l="65018" t="9669" b="6483"/>
          <a:stretch>
            <a:fillRect/>
          </a:stretch>
        </p:blipFill>
        <p:spPr bwMode="auto">
          <a:xfrm>
            <a:off x="8614787" y="2881402"/>
            <a:ext cx="2812989" cy="3372869"/>
          </a:xfrm>
          <a:prstGeom prst="rect">
            <a:avLst/>
          </a:prstGeom>
          <a:ln>
            <a:noFill/>
          </a:ln>
        </p:spPr>
      </p:pic>
      <mc:AlternateContent xmlns:mc="http://schemas.openxmlformats.org/markup-compatibility/2006">
        <mc:Choice xmlns:a14="http://schemas.microsoft.com/office/drawing/2010/main" Requires="a14">
          <p:sp>
            <p:nvSpPr>
              <p:cNvPr id="9" name="文本框 8"/>
              <p:cNvSpPr txBox="1"/>
              <p:nvPr/>
            </p:nvSpPr>
            <p:spPr>
              <a:xfrm>
                <a:off x="6667500" y="1094105"/>
                <a:ext cx="5124450" cy="2041525"/>
              </a:xfrm>
              <a:prstGeom prst="rect">
                <a:avLst/>
              </a:prstGeom>
              <a:noFill/>
            </p:spPr>
            <p:txBody>
              <a:bodyPr wrap="square" rtlCol="0">
                <a:spAutoFit/>
              </a:bodyPr>
              <a:lstStyle/>
              <a:p>
                <a:pPr>
                  <a:lnSpc>
                    <a:spcPct val="150000"/>
                  </a:lnSpc>
                </a:pPr>
                <a:r>
                  <a:rPr lang="en-US" altLang="zh-CN" sz="1400" dirty="0">
                    <a:solidFill>
                      <a:prstClr val="black"/>
                    </a:solidFill>
                    <a:ea typeface="Cambria Math" panose="02040503050406030204" pitchFamily="18" charset="0"/>
                  </a:rPr>
                  <a:t>          </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r>
                          <a:rPr lang="en-US" altLang="zh-CN" sz="1400" i="1">
                            <a:solidFill>
                              <a:prstClr val="black"/>
                            </a:solidFill>
                            <a:latin typeface="Cambria Math" panose="02040503050406030204" pitchFamily="18" charset="0"/>
                            <a:ea typeface="Cambria Math" panose="02040503050406030204" pitchFamily="18" charset="0"/>
                          </a:rPr>
                          <m:t>1</m:t>
                        </m:r>
                      </m:sub>
                    </m:sSub>
                    <m:r>
                      <a:rPr lang="zh-CN" altLang="en-US" sz="1400" i="1" smtClean="0">
                        <a:solidFill>
                          <a:prstClr val="black"/>
                        </a:solidFill>
                        <a:latin typeface="Cambria Math" panose="02040503050406030204" pitchFamily="18" charset="0"/>
                        <a:ea typeface="Cambria Math" panose="02040503050406030204" pitchFamily="18" charset="0"/>
                      </a:rPr>
                      <m:t>跳变</m:t>
                    </m:r>
                  </m:oMath>
                </a14:m>
                <a:r>
                  <a:rPr lang="zh-CN" altLang="en-US" sz="1400" dirty="0">
                    <a:solidFill>
                      <a:prstClr val="black"/>
                    </a:solidFill>
                  </a:rPr>
                  <a:t>为高电平以后电容</a:t>
                </a:r>
                <a:r>
                  <a:rPr lang="en-US" altLang="zh-CN" sz="1400" dirty="0">
                    <a:solidFill>
                      <a:prstClr val="black"/>
                    </a:solidFill>
                  </a:rPr>
                  <a:t>C</a:t>
                </a:r>
                <a:r>
                  <a:rPr lang="zh-CN" altLang="en-US" sz="1400" dirty="0">
                    <a:solidFill>
                      <a:prstClr val="black"/>
                    </a:solidFill>
                  </a:rPr>
                  <a:t>开始充电，随着充电的进行</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r>
                          <a:rPr lang="en-US" altLang="zh-CN" sz="1400" i="1">
                            <a:solidFill>
                              <a:prstClr val="black"/>
                            </a:solidFill>
                            <a:latin typeface="Cambria Math" panose="02040503050406030204" pitchFamily="18" charset="0"/>
                            <a:ea typeface="Cambria Math" panose="02040503050406030204" pitchFamily="18" charset="0"/>
                          </a:rPr>
                          <m:t>2</m:t>
                        </m:r>
                      </m:sub>
                    </m:sSub>
                  </m:oMath>
                </a14:m>
                <a:r>
                  <a:rPr lang="zh-CN" altLang="en-US" sz="1400" dirty="0">
                    <a:solidFill>
                      <a:prstClr val="black"/>
                    </a:solidFill>
                  </a:rPr>
                  <a:t>逐渐下降，当降至</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r>
                          <a:rPr lang="en-US" altLang="zh-CN" sz="1400" i="1">
                            <a:solidFill>
                              <a:prstClr val="black"/>
                            </a:solidFill>
                            <a:latin typeface="Cambria Math" panose="02040503050406030204" pitchFamily="18" charset="0"/>
                            <a:ea typeface="Cambria Math" panose="02040503050406030204" pitchFamily="18" charset="0"/>
                          </a:rPr>
                          <m:t>2</m:t>
                        </m:r>
                      </m:sub>
                    </m:sSub>
                    <m:r>
                      <a:rPr lang="en-US" altLang="zh-CN" sz="1400" b="0" i="1" smtClean="0">
                        <a:solidFill>
                          <a:prstClr val="black"/>
                        </a:solidFill>
                        <a:latin typeface="Cambria Math" panose="02040503050406030204" pitchFamily="18" charset="0"/>
                        <a:ea typeface="Cambria Math" panose="02040503050406030204" pitchFamily="18" charset="0"/>
                      </a:rPr>
                      <m:t>=</m:t>
                    </m:r>
                    <m:sSub>
                      <m:sSubPr>
                        <m:ctrlPr>
                          <a:rPr lang="en-US" altLang="zh-CN" sz="1400" b="0" i="1" smtClean="0">
                            <a:solidFill>
                              <a:prstClr val="black"/>
                            </a:solidFill>
                            <a:latin typeface="Cambria Math" panose="02040503050406030204" pitchFamily="18" charset="0"/>
                            <a:ea typeface="Cambria Math" panose="02040503050406030204" pitchFamily="18" charset="0"/>
                          </a:rPr>
                        </m:ctrlPr>
                      </m:sSubPr>
                      <m:e>
                        <m:r>
                          <a:rPr lang="en-US" altLang="zh-CN" sz="1400" b="0" i="1" smtClean="0">
                            <a:solidFill>
                              <a:prstClr val="black"/>
                            </a:solidFill>
                            <a:latin typeface="Cambria Math" panose="02040503050406030204" pitchFamily="18" charset="0"/>
                            <a:ea typeface="Cambria Math" panose="02040503050406030204" pitchFamily="18" charset="0"/>
                          </a:rPr>
                          <m:t>𝑉</m:t>
                        </m:r>
                      </m:e>
                      <m:sub>
                        <m:r>
                          <a:rPr lang="en-US" altLang="zh-CN" sz="1400" b="0" i="1" smtClean="0">
                            <a:solidFill>
                              <a:prstClr val="black"/>
                            </a:solidFill>
                            <a:latin typeface="Cambria Math" panose="02040503050406030204" pitchFamily="18" charset="0"/>
                            <a:ea typeface="Cambria Math" panose="02040503050406030204" pitchFamily="18" charset="0"/>
                          </a:rPr>
                          <m:t>𝑇𝐻</m:t>
                        </m:r>
                      </m:sub>
                    </m:sSub>
                  </m:oMath>
                </a14:m>
                <a:r>
                  <a:rPr lang="zh-CN" altLang="en-US" sz="1400" dirty="0">
                    <a:solidFill>
                      <a:prstClr val="black"/>
                    </a:solidFill>
                  </a:rPr>
                  <a:t>时</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sub>
                    </m:sSub>
                  </m:oMath>
                </a14:m>
                <a:r>
                  <a:rPr lang="zh-CN" altLang="en-US" sz="1400" dirty="0">
                    <a:solidFill>
                      <a:prstClr val="black"/>
                    </a:solidFill>
                  </a:rPr>
                  <a:t>跳变为高电平、</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r>
                          <a:rPr lang="en-US" altLang="zh-CN" sz="1400" i="1">
                            <a:solidFill>
                              <a:prstClr val="black"/>
                            </a:solidFill>
                            <a:latin typeface="Cambria Math" panose="02040503050406030204" pitchFamily="18" charset="0"/>
                            <a:ea typeface="Cambria Math" panose="02040503050406030204" pitchFamily="18" charset="0"/>
                          </a:rPr>
                          <m:t>1</m:t>
                        </m:r>
                      </m:sub>
                    </m:sSub>
                  </m:oMath>
                </a14:m>
                <a:r>
                  <a:rPr lang="zh-CN" altLang="en-US" sz="1400" dirty="0">
                    <a:solidFill>
                      <a:prstClr val="black"/>
                    </a:solidFill>
                  </a:rPr>
                  <a:t>跳变为低电平，电容</a:t>
                </a:r>
                <a:r>
                  <a:rPr lang="en-US" altLang="zh-CN" sz="1400" dirty="0">
                    <a:solidFill>
                      <a:prstClr val="black"/>
                    </a:solidFill>
                  </a:rPr>
                  <a:t>C</a:t>
                </a:r>
                <a:r>
                  <a:rPr lang="zh-CN" altLang="en-US" sz="1400" dirty="0">
                    <a:solidFill>
                      <a:prstClr val="black"/>
                    </a:solidFill>
                  </a:rPr>
                  <a:t>放电，电路恢复到触发前的稳定状态。</a:t>
                </a:r>
                <a:endParaRPr lang="en-US" altLang="zh-CN" sz="1400" dirty="0">
                  <a:solidFill>
                    <a:prstClr val="black"/>
                  </a:solidFill>
                </a:endParaRPr>
              </a:p>
              <a:p>
                <a:pPr>
                  <a:lnSpc>
                    <a:spcPct val="150000"/>
                  </a:lnSpc>
                </a:pPr>
                <a:r>
                  <a:rPr lang="en-US" altLang="zh-CN" sz="1400" dirty="0">
                    <a:solidFill>
                      <a:prstClr val="black"/>
                    </a:solidFill>
                  </a:rPr>
                  <a:t>         </a:t>
                </a:r>
                <a:r>
                  <a:rPr lang="zh-CN" altLang="en-US" sz="1400" dirty="0">
                    <a:solidFill>
                      <a:prstClr val="black"/>
                    </a:solidFill>
                  </a:rPr>
                  <a:t>电路中各点电压的波形如右图所示。从</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𝐴</m:t>
                        </m:r>
                      </m:sub>
                    </m:sSub>
                  </m:oMath>
                </a14:m>
                <a:r>
                  <a:rPr lang="zh-CN" altLang="en-US" sz="1400" dirty="0">
                    <a:solidFill>
                      <a:prstClr val="black"/>
                    </a:solidFill>
                  </a:rPr>
                  <a:t>的波形上可见，因为</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sub>
                    </m:sSub>
                  </m:oMath>
                </a14:m>
                <a:r>
                  <a:rPr lang="zh-CN" altLang="en-US" sz="1400" dirty="0">
                    <a:solidFill>
                      <a:prstClr val="black"/>
                    </a:solidFill>
                  </a:rPr>
                  <a:t>的低电平反馈到了门</a:t>
                </a:r>
                <a:r>
                  <a:rPr lang="en-US" altLang="zh-CN" sz="1400" dirty="0">
                    <a:solidFill>
                      <a:prstClr val="black"/>
                    </a:solidFill>
                  </a:rPr>
                  <a:t>G1</a:t>
                </a:r>
                <a:r>
                  <a:rPr lang="zh-CN" altLang="en-US" sz="1400" dirty="0">
                    <a:solidFill>
                      <a:prstClr val="black"/>
                    </a:solidFill>
                  </a:rPr>
                  <a:t>的输入端，所以在</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sub>
                    </m:sSub>
                  </m:oMath>
                </a14:m>
                <a:r>
                  <a:rPr lang="zh-CN" altLang="en-US" sz="1400" dirty="0">
                    <a:solidFill>
                      <a:prstClr val="black"/>
                    </a:solidFill>
                  </a:rPr>
                  <a:t>低电平期间</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𝐴</m:t>
                        </m:r>
                      </m:sub>
                    </m:sSub>
                  </m:oMath>
                </a14:m>
                <a:r>
                  <a:rPr lang="zh-CN" altLang="en-US" sz="1400" dirty="0">
                    <a:solidFill>
                      <a:prstClr val="black"/>
                    </a:solidFill>
                  </a:rPr>
                  <a:t>一直被钳在低电平上。</a:t>
                </a:r>
                <a:endParaRPr lang="en-US" altLang="zh-CN" sz="1400" dirty="0">
                  <a:solidFill>
                    <a:prstClr val="black"/>
                  </a:solidFill>
                </a:endParaRPr>
              </a:p>
            </p:txBody>
          </p:sp>
        </mc:Choice>
        <mc:Fallback>
          <p:sp>
            <p:nvSpPr>
              <p:cNvPr id="9" name="文本框 8"/>
              <p:cNvSpPr txBox="1">
                <a:spLocks noRot="1" noChangeAspect="1" noMove="1" noResize="1" noEditPoints="1" noAdjustHandles="1" noChangeArrowheads="1" noChangeShapeType="1" noTextEdit="1"/>
              </p:cNvSpPr>
              <p:nvPr/>
            </p:nvSpPr>
            <p:spPr>
              <a:xfrm>
                <a:off x="6667500" y="1094105"/>
                <a:ext cx="5124450" cy="2041525"/>
              </a:xfrm>
              <a:prstGeom prst="rect">
                <a:avLst/>
              </a:prstGeom>
              <a:blipFill rotWithShape="1">
                <a:blip r:embed="rId7"/>
                <a:stretch>
                  <a:fillRect/>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10</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358775" y="1012825"/>
                <a:ext cx="7544435" cy="2789555"/>
              </a:xfrm>
              <a:prstGeom prst="rect">
                <a:avLst/>
              </a:prstGeom>
              <a:noFill/>
            </p:spPr>
            <p:txBody>
              <a:bodyPr wrap="square" rtlCol="0">
                <a:spAutoFit/>
              </a:bodyPr>
              <a:lstStyle/>
              <a:p>
                <a:pPr>
                  <a:lnSpc>
                    <a:spcPct val="150000"/>
                  </a:lnSpc>
                </a:pPr>
                <a:r>
                  <a:rPr lang="en-US" altLang="zh-CN" sz="1400" dirty="0">
                    <a:solidFill>
                      <a:prstClr val="black"/>
                    </a:solidFill>
                  </a:rPr>
                  <a:t>7.10 </a:t>
                </a:r>
                <a:r>
                  <a:rPr lang="zh-CN" altLang="en-US" sz="1400" dirty="0">
                    <a:solidFill>
                      <a:prstClr val="black"/>
                    </a:solidFill>
                  </a:rPr>
                  <a:t>在图</a:t>
                </a:r>
                <a:r>
                  <a:rPr lang="en-US" altLang="zh-CN" sz="1400" dirty="0">
                    <a:solidFill>
                      <a:prstClr val="black"/>
                    </a:solidFill>
                  </a:rPr>
                  <a:t>P7.9</a:t>
                </a:r>
                <a:r>
                  <a:rPr lang="zh-CN" altLang="en-US" sz="1400" dirty="0">
                    <a:solidFill>
                      <a:prstClr val="black"/>
                    </a:solidFill>
                  </a:rPr>
                  <a:t>的微分型单稳态电路中，若</a:t>
                </a:r>
                <a:r>
                  <a:rPr lang="en-US" altLang="zh-CN" sz="1400" dirty="0">
                    <a:solidFill>
                      <a:prstClr val="black"/>
                    </a:solidFill>
                  </a:rPr>
                  <a:t>G1</a:t>
                </a:r>
                <a:r>
                  <a:rPr lang="zh-CN" altLang="en-US" sz="1400" dirty="0">
                    <a:solidFill>
                      <a:prstClr val="black"/>
                    </a:solidFill>
                  </a:rPr>
                  <a:t>、</a:t>
                </a:r>
                <a:r>
                  <a:rPr lang="en-US" altLang="zh-CN" sz="1400" dirty="0">
                    <a:solidFill>
                      <a:prstClr val="black"/>
                    </a:solidFill>
                  </a:rPr>
                  <a:t>G2</a:t>
                </a:r>
                <a:r>
                  <a:rPr lang="zh-CN" altLang="en-US" sz="1400" dirty="0">
                    <a:solidFill>
                      <a:prstClr val="black"/>
                    </a:solidFill>
                  </a:rPr>
                  <a:t>为</a:t>
                </a:r>
                <a:r>
                  <a:rPr lang="en-US" altLang="zh-CN" sz="1400" dirty="0">
                    <a:solidFill>
                      <a:prstClr val="black"/>
                    </a:solidFill>
                  </a:rPr>
                  <a:t>74</a:t>
                </a:r>
                <a:r>
                  <a:rPr lang="zh-CN" altLang="en-US" sz="1400" dirty="0">
                    <a:solidFill>
                      <a:prstClr val="black"/>
                    </a:solidFill>
                  </a:rPr>
                  <a:t>系列</a:t>
                </a:r>
                <a:r>
                  <a:rPr lang="en-US" altLang="zh-CN" sz="1400" dirty="0">
                    <a:solidFill>
                      <a:prstClr val="black"/>
                    </a:solidFill>
                  </a:rPr>
                  <a:t>TTL</a:t>
                </a:r>
                <a:r>
                  <a:rPr lang="zh-CN" altLang="en-US" sz="1400" dirty="0">
                    <a:solidFill>
                      <a:prstClr val="black"/>
                    </a:solidFill>
                  </a:rPr>
                  <a:t>门电路，它们的</a:t>
                </a:r>
                <a14:m>
                  <m:oMath xmlns:m="http://schemas.openxmlformats.org/officeDocument/2006/math">
                    <m:sSub>
                      <m:sSubPr>
                        <m:ctrlPr>
                          <a:rPr lang="en-US"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b="0" i="1" smtClean="0">
                            <a:solidFill>
                              <a:prstClr val="black"/>
                            </a:solidFill>
                            <a:latin typeface="Cambria Math" panose="02040503050406030204" pitchFamily="18" charset="0"/>
                            <a:ea typeface="Cambria Math" panose="02040503050406030204" pitchFamily="18" charset="0"/>
                          </a:rPr>
                          <m:t>𝑂</m:t>
                        </m:r>
                        <m:r>
                          <a:rPr lang="en-US" altLang="zh-CN" sz="1400" i="1">
                            <a:solidFill>
                              <a:prstClr val="black"/>
                            </a:solidFill>
                            <a:latin typeface="Cambria Math" panose="02040503050406030204" pitchFamily="18" charset="0"/>
                            <a:ea typeface="Cambria Math" panose="02040503050406030204" pitchFamily="18" charset="0"/>
                          </a:rPr>
                          <m:t>𝐻</m:t>
                        </m:r>
                      </m:sub>
                    </m:sSub>
                    <m:r>
                      <a:rPr lang="en-US" altLang="zh-CN" sz="1400" b="0" i="0" smtClean="0">
                        <a:solidFill>
                          <a:prstClr val="black"/>
                        </a:solidFill>
                        <a:latin typeface="Cambria Math" panose="02040503050406030204" pitchFamily="18" charset="0"/>
                        <a:ea typeface="Cambria Math" panose="02040503050406030204" pitchFamily="18" charset="0"/>
                      </a:rPr>
                      <m:t>=</m:t>
                    </m:r>
                    <m:r>
                      <a:rPr lang="en-US" altLang="zh-CN" sz="1400" b="0" i="0" smtClean="0">
                        <a:solidFill>
                          <a:prstClr val="black"/>
                        </a:solidFill>
                        <a:latin typeface="Cambria Math" panose="02040503050406030204" pitchFamily="18" charset="0"/>
                        <a:ea typeface="Cambria Math" panose="02040503050406030204" pitchFamily="18" charset="0"/>
                      </a:rPr>
                      <m:t>3</m:t>
                    </m:r>
                    <m:r>
                      <a:rPr lang="en-US" altLang="zh-CN" sz="1400" b="0" i="0" smtClean="0">
                        <a:solidFill>
                          <a:prstClr val="black"/>
                        </a:solidFill>
                        <a:latin typeface="Cambria Math" panose="02040503050406030204" pitchFamily="18" charset="0"/>
                        <a:ea typeface="Cambria Math" panose="02040503050406030204" pitchFamily="18" charset="0"/>
                      </a:rPr>
                      <m:t>.</m:t>
                    </m:r>
                    <m:r>
                      <a:rPr lang="en-US" altLang="zh-CN" sz="1400" b="0" i="0" smtClean="0">
                        <a:solidFill>
                          <a:prstClr val="black"/>
                        </a:solidFill>
                        <a:latin typeface="Cambria Math" panose="02040503050406030204" pitchFamily="18" charset="0"/>
                        <a:ea typeface="Cambria Math" panose="02040503050406030204" pitchFamily="18" charset="0"/>
                      </a:rPr>
                      <m:t>2</m:t>
                    </m:r>
                    <m:r>
                      <m:rPr>
                        <m:sty m:val="p"/>
                      </m:rPr>
                      <a:rPr lang="en-US" altLang="zh-CN" sz="1400" b="0" i="0" smtClean="0">
                        <a:solidFill>
                          <a:prstClr val="black"/>
                        </a:solidFill>
                        <a:latin typeface="Cambria Math" panose="02040503050406030204" pitchFamily="18" charset="0"/>
                        <a:ea typeface="Cambria Math" panose="02040503050406030204" pitchFamily="18" charset="0"/>
                      </a:rPr>
                      <m:t>V</m:t>
                    </m:r>
                  </m:oMath>
                </a14:m>
                <a:r>
                  <a:rPr lang="zh-CN" altLang="en-US" sz="1400" dirty="0">
                    <a:solidFill>
                      <a:prstClr val="black"/>
                    </a:solidFill>
                  </a:rPr>
                  <a:t>，</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𝑂𝐿</m:t>
                        </m:r>
                      </m:sub>
                    </m:sSub>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0</m:t>
                    </m:r>
                  </m:oMath>
                </a14:m>
                <a:r>
                  <a:rPr lang="zh-CN" altLang="en-US" sz="1400" dirty="0">
                    <a:solidFill>
                      <a:prstClr val="black"/>
                    </a:solidFill>
                  </a:rPr>
                  <a:t>，</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𝑇𝐻</m:t>
                        </m:r>
                      </m:sub>
                    </m:sSub>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a:solidFill>
                          <a:prstClr val="black"/>
                        </a:solidFill>
                        <a:latin typeface="Cambria Math" panose="02040503050406030204" pitchFamily="18" charset="0"/>
                        <a:ea typeface="Cambria Math" panose="02040503050406030204" pitchFamily="18" charset="0"/>
                      </a:rPr>
                      <m:t>1</m:t>
                    </m:r>
                    <m:r>
                      <a:rPr lang="en-US" altLang="zh-CN" sz="1400" i="1">
                        <a:solidFill>
                          <a:prstClr val="black"/>
                        </a:solidFill>
                        <a:latin typeface="Cambria Math" panose="02040503050406030204" pitchFamily="18" charset="0"/>
                        <a:ea typeface="Cambria Math" panose="02040503050406030204" pitchFamily="18" charset="0"/>
                      </a:rPr>
                      <m:t>.</m:t>
                    </m:r>
                    <m:r>
                      <a:rPr lang="en-US" altLang="zh-CN" sz="1400" i="1" smtClean="0">
                        <a:solidFill>
                          <a:prstClr val="black"/>
                        </a:solidFill>
                        <a:latin typeface="Cambria Math" panose="02040503050406030204" pitchFamily="18" charset="0"/>
                        <a:ea typeface="Cambria Math" panose="02040503050406030204" pitchFamily="18" charset="0"/>
                      </a:rPr>
                      <m:t>3</m:t>
                    </m:r>
                    <m:r>
                      <m:rPr>
                        <m:sty m:val="p"/>
                      </m:rPr>
                      <a:rPr lang="en-US" altLang="zh-CN" sz="1400">
                        <a:solidFill>
                          <a:prstClr val="black"/>
                        </a:solidFill>
                        <a:latin typeface="Cambria Math" panose="02040503050406030204" pitchFamily="18" charset="0"/>
                        <a:ea typeface="Cambria Math" panose="02040503050406030204" pitchFamily="18" charset="0"/>
                      </a:rPr>
                      <m:t>V</m:t>
                    </m:r>
                  </m:oMath>
                </a14:m>
                <a:r>
                  <a:rPr lang="zh-CN" altLang="en-US" sz="1400" dirty="0">
                    <a:solidFill>
                      <a:prstClr val="black"/>
                    </a:solidFill>
                  </a:rPr>
                  <a:t>，</a:t>
                </a:r>
                <a14:m>
                  <m:oMath xmlns:m="http://schemas.openxmlformats.org/officeDocument/2006/math">
                    <m:r>
                      <a:rPr lang="en-US" altLang="zh-CN" sz="1400" i="1">
                        <a:solidFill>
                          <a:prstClr val="black"/>
                        </a:solidFill>
                        <a:latin typeface="Cambria Math" panose="02040503050406030204" pitchFamily="18" charset="0"/>
                      </a:rPr>
                      <m:t>𝑅</m:t>
                    </m:r>
                    <m:r>
                      <a:rPr lang="en-US" altLang="zh-CN" sz="1400" i="1">
                        <a:solidFill>
                          <a:prstClr val="black"/>
                        </a:solidFill>
                        <a:latin typeface="Cambria Math" panose="02040503050406030204" pitchFamily="18" charset="0"/>
                      </a:rPr>
                      <m:t>=</m:t>
                    </m:r>
                    <m:r>
                      <a:rPr lang="en-US" altLang="zh-CN" sz="1400" i="1">
                        <a:solidFill>
                          <a:prstClr val="black"/>
                        </a:solidFill>
                        <a:latin typeface="Cambria Math" panose="02040503050406030204" pitchFamily="18" charset="0"/>
                      </a:rPr>
                      <m:t>0</m:t>
                    </m:r>
                    <m:r>
                      <a:rPr lang="en-US" altLang="zh-CN" sz="1400" i="1">
                        <a:solidFill>
                          <a:prstClr val="black"/>
                        </a:solidFill>
                        <a:latin typeface="Cambria Math" panose="02040503050406030204" pitchFamily="18" charset="0"/>
                      </a:rPr>
                      <m:t>.</m:t>
                    </m:r>
                    <m:r>
                      <a:rPr lang="en-US" altLang="zh-CN" sz="1400" i="1">
                        <a:solidFill>
                          <a:prstClr val="black"/>
                        </a:solidFill>
                        <a:latin typeface="Cambria Math" panose="02040503050406030204" pitchFamily="18" charset="0"/>
                      </a:rPr>
                      <m:t>3</m:t>
                    </m:r>
                    <m:r>
                      <m:rPr>
                        <m:sty m:val="p"/>
                      </m:rPr>
                      <a:rPr lang="en-US" altLang="zh-CN" sz="1400">
                        <a:solidFill>
                          <a:prstClr val="black"/>
                        </a:solidFill>
                        <a:latin typeface="Cambria Math" panose="02040503050406030204" pitchFamily="18" charset="0"/>
                      </a:rPr>
                      <m:t>k</m:t>
                    </m:r>
                    <m:r>
                      <m:rPr>
                        <m:sty m:val="p"/>
                      </m:rPr>
                      <a:rPr lang="el-GR" altLang="zh-CN" sz="1400" i="1">
                        <a:solidFill>
                          <a:prstClr val="black"/>
                        </a:solidFill>
                        <a:latin typeface="Cambria Math" panose="02040503050406030204" pitchFamily="18" charset="0"/>
                        <a:ea typeface="Cambria Math" panose="02040503050406030204" pitchFamily="18" charset="0"/>
                      </a:rPr>
                      <m:t>Ω</m:t>
                    </m:r>
                  </m:oMath>
                </a14:m>
                <a:r>
                  <a:rPr lang="zh-CN" altLang="en-US" sz="1400" dirty="0">
                    <a:solidFill>
                      <a:prstClr val="black"/>
                    </a:solidFill>
                  </a:rPr>
                  <a:t>，</a:t>
                </a:r>
                <a14:m>
                  <m:oMath xmlns:m="http://schemas.openxmlformats.org/officeDocument/2006/math">
                    <m:r>
                      <a:rPr lang="en-US" altLang="zh-CN" sz="1400" i="1">
                        <a:solidFill>
                          <a:prstClr val="black"/>
                        </a:solidFill>
                        <a:latin typeface="Cambria Math" panose="02040503050406030204" pitchFamily="18" charset="0"/>
                      </a:rPr>
                      <m:t>𝐶</m:t>
                    </m:r>
                    <m:r>
                      <a:rPr lang="en-US" altLang="zh-CN" sz="1400" i="1">
                        <a:solidFill>
                          <a:prstClr val="black"/>
                        </a:solidFill>
                        <a:latin typeface="Cambria Math" panose="02040503050406030204" pitchFamily="18" charset="0"/>
                      </a:rPr>
                      <m:t>=</m:t>
                    </m:r>
                    <m:r>
                      <a:rPr lang="en-US" altLang="zh-CN" sz="1400" i="1">
                        <a:solidFill>
                          <a:prstClr val="black"/>
                        </a:solidFill>
                        <a:latin typeface="Cambria Math" panose="02040503050406030204" pitchFamily="18" charset="0"/>
                      </a:rPr>
                      <m:t>0</m:t>
                    </m:r>
                    <m:r>
                      <a:rPr lang="en-US" altLang="zh-CN" sz="1400">
                        <a:solidFill>
                          <a:prstClr val="black"/>
                        </a:solidFill>
                        <a:latin typeface="Cambria Math" panose="02040503050406030204" pitchFamily="18" charset="0"/>
                      </a:rPr>
                      <m:t>.</m:t>
                    </m:r>
                    <m:r>
                      <a:rPr lang="en-US" altLang="zh-CN" sz="1400">
                        <a:solidFill>
                          <a:prstClr val="black"/>
                        </a:solidFill>
                        <a:latin typeface="Cambria Math" panose="02040503050406030204" pitchFamily="18" charset="0"/>
                      </a:rPr>
                      <m:t>01</m:t>
                    </m:r>
                    <m:r>
                      <m:rPr>
                        <m:sty m:val="p"/>
                      </m:rPr>
                      <a:rPr lang="el-GR" altLang="zh-CN" sz="1400" i="1">
                        <a:solidFill>
                          <a:prstClr val="black"/>
                        </a:solidFill>
                        <a:latin typeface="Cambria Math" panose="02040503050406030204" pitchFamily="18" charset="0"/>
                        <a:ea typeface="Cambria Math" panose="02040503050406030204" pitchFamily="18" charset="0"/>
                      </a:rPr>
                      <m:t>μ</m:t>
                    </m:r>
                    <m:r>
                      <a:rPr lang="en-US" altLang="zh-CN" sz="1400" i="1">
                        <a:solidFill>
                          <a:prstClr val="black"/>
                        </a:solidFill>
                        <a:latin typeface="Cambria Math" panose="02040503050406030204" pitchFamily="18" charset="0"/>
                        <a:ea typeface="Cambria Math" panose="02040503050406030204" pitchFamily="18" charset="0"/>
                      </a:rPr>
                      <m:t>𝐹</m:t>
                    </m:r>
                  </m:oMath>
                </a14:m>
                <a:r>
                  <a:rPr lang="zh-CN" altLang="en-US" sz="1400" dirty="0">
                    <a:solidFill>
                      <a:prstClr val="black"/>
                    </a:solidFill>
                  </a:rPr>
                  <a:t>，试计算电路输出负脉冲的宽度。</a:t>
                </a:r>
                <a:endParaRPr lang="en-US" altLang="zh-CN" sz="1400" dirty="0">
                  <a:solidFill>
                    <a:prstClr val="black"/>
                  </a:solidFill>
                </a:endParaRPr>
              </a:p>
              <a:p>
                <a:pPr>
                  <a:lnSpc>
                    <a:spcPct val="150000"/>
                  </a:lnSpc>
                </a:pPr>
                <a:r>
                  <a:rPr lang="zh-CN" altLang="en-US" sz="1400" dirty="0">
                    <a:solidFill>
                      <a:prstClr val="black"/>
                    </a:solidFill>
                  </a:rPr>
                  <a:t>解：由波形图可见，输出脉冲宽度等于</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r>
                          <a:rPr lang="en-US" altLang="zh-CN" sz="1400" i="1">
                            <a:solidFill>
                              <a:prstClr val="black"/>
                            </a:solidFill>
                            <a:latin typeface="Cambria Math" panose="02040503050406030204" pitchFamily="18" charset="0"/>
                            <a:ea typeface="Cambria Math" panose="02040503050406030204" pitchFamily="18" charset="0"/>
                          </a:rPr>
                          <m:t>2</m:t>
                        </m:r>
                      </m:sub>
                    </m:sSub>
                  </m:oMath>
                </a14:m>
                <a:r>
                  <a:rPr lang="zh-CN" altLang="en-US" sz="1400" dirty="0">
                    <a:solidFill>
                      <a:prstClr val="black"/>
                    </a:solidFill>
                  </a:rPr>
                  <a:t>从电容开始充电到降至</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𝑇𝐻</m:t>
                        </m:r>
                      </m:sub>
                    </m:sSub>
                  </m:oMath>
                </a14:m>
                <a:r>
                  <a:rPr lang="zh-CN" altLang="en-US" sz="1400" dirty="0">
                    <a:solidFill>
                      <a:prstClr val="black"/>
                    </a:solidFill>
                  </a:rPr>
                  <a:t>的一段时间。电容充电的回路如下图所示。忽略门</a:t>
                </a:r>
                <a:r>
                  <a:rPr lang="en-US" altLang="zh-CN" sz="1400" dirty="0">
                    <a:solidFill>
                      <a:prstClr val="black"/>
                    </a:solidFill>
                  </a:rPr>
                  <a:t>G1</a:t>
                </a:r>
                <a:r>
                  <a:rPr lang="zh-CN" altLang="en-US" sz="1400" dirty="0">
                    <a:solidFill>
                      <a:prstClr val="black"/>
                    </a:solidFill>
                  </a:rPr>
                  <a:t>的输出电阻</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𝑅</m:t>
                        </m:r>
                      </m:e>
                      <m:sub>
                        <m:r>
                          <m:rPr>
                            <m:sty m:val="p"/>
                          </m:rPr>
                          <a:rPr lang="en-US" altLang="zh-CN" sz="1400" i="1">
                            <a:solidFill>
                              <a:prstClr val="black"/>
                            </a:solidFill>
                            <a:latin typeface="Cambria Math" panose="02040503050406030204" pitchFamily="18" charset="0"/>
                            <a:ea typeface="Cambria Math" panose="02040503050406030204" pitchFamily="18" charset="0"/>
                          </a:rPr>
                          <m:t>o</m:t>
                        </m:r>
                      </m:sub>
                    </m:sSub>
                  </m:oMath>
                </a14:m>
                <a:r>
                  <a:rPr lang="zh-CN" altLang="en-US" sz="1400" dirty="0">
                    <a:solidFill>
                      <a:prstClr val="black"/>
                    </a:solidFill>
                  </a:rPr>
                  <a:t>及门</a:t>
                </a:r>
                <a:r>
                  <a:rPr lang="en-US" altLang="zh-CN" sz="1400" dirty="0">
                    <a:solidFill>
                      <a:prstClr val="black"/>
                    </a:solidFill>
                  </a:rPr>
                  <a:t>G2</a:t>
                </a:r>
                <a:r>
                  <a:rPr lang="zh-CN" altLang="en-US" sz="1400" dirty="0">
                    <a:solidFill>
                      <a:prstClr val="black"/>
                    </a:solidFill>
                  </a:rPr>
                  <a:t>高电平输入电流，则充电回路可简化为</a:t>
                </a:r>
                <a:r>
                  <a:rPr lang="en-US" altLang="zh-CN" sz="1400" dirty="0">
                    <a:solidFill>
                      <a:prstClr val="black"/>
                    </a:solidFill>
                  </a:rPr>
                  <a:t>R</a:t>
                </a:r>
                <a:r>
                  <a:rPr lang="zh-CN" altLang="en-US" sz="1400" dirty="0">
                    <a:solidFill>
                      <a:prstClr val="black"/>
                    </a:solidFill>
                  </a:rPr>
                  <a:t>和</a:t>
                </a:r>
                <a:r>
                  <a:rPr lang="en-US" altLang="zh-CN" sz="1400" dirty="0">
                    <a:solidFill>
                      <a:prstClr val="black"/>
                    </a:solidFill>
                  </a:rPr>
                  <a:t>C</a:t>
                </a:r>
                <a:r>
                  <a:rPr lang="zh-CN" altLang="en-US" sz="1400" dirty="0">
                    <a:solidFill>
                      <a:prstClr val="black"/>
                    </a:solidFill>
                  </a:rPr>
                  <a:t>串联的简单回路。</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r>
                          <a:rPr lang="en-US" altLang="zh-CN" sz="1400" i="1">
                            <a:solidFill>
                              <a:prstClr val="black"/>
                            </a:solidFill>
                            <a:latin typeface="Cambria Math" panose="02040503050406030204" pitchFamily="18" charset="0"/>
                            <a:ea typeface="Cambria Math" panose="02040503050406030204" pitchFamily="18" charset="0"/>
                          </a:rPr>
                          <m:t>2</m:t>
                        </m:r>
                      </m:sub>
                    </m:sSub>
                  </m:oMath>
                </a14:m>
                <a:r>
                  <a:rPr lang="zh-CN" altLang="en-US" sz="1400" dirty="0">
                    <a:solidFill>
                      <a:prstClr val="black"/>
                    </a:solidFill>
                  </a:rPr>
                  <a:t>从</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b="0" i="1" smtClean="0">
                            <a:solidFill>
                              <a:prstClr val="black"/>
                            </a:solidFill>
                            <a:latin typeface="Cambria Math" panose="02040503050406030204" pitchFamily="18" charset="0"/>
                            <a:ea typeface="Cambria Math" panose="02040503050406030204" pitchFamily="18" charset="0"/>
                          </a:rPr>
                          <m:t>𝑂</m:t>
                        </m:r>
                        <m:r>
                          <a:rPr lang="en-US" altLang="zh-CN" sz="1400" i="1">
                            <a:solidFill>
                              <a:prstClr val="black"/>
                            </a:solidFill>
                            <a:latin typeface="Cambria Math" panose="02040503050406030204" pitchFamily="18" charset="0"/>
                            <a:ea typeface="Cambria Math" panose="02040503050406030204" pitchFamily="18" charset="0"/>
                          </a:rPr>
                          <m:t>𝐻</m:t>
                        </m:r>
                      </m:sub>
                    </m:sSub>
                  </m:oMath>
                </a14:m>
                <a:r>
                  <a:rPr lang="zh-CN" altLang="en-US" sz="1400" dirty="0">
                    <a:solidFill>
                      <a:prstClr val="black"/>
                    </a:solidFill>
                  </a:rPr>
                  <a:t>（电容开始充电瞬时的</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r>
                          <a:rPr lang="en-US" altLang="zh-CN" sz="1400" i="1">
                            <a:solidFill>
                              <a:prstClr val="black"/>
                            </a:solidFill>
                            <a:latin typeface="Cambria Math" panose="02040503050406030204" pitchFamily="18" charset="0"/>
                            <a:ea typeface="Cambria Math" panose="02040503050406030204" pitchFamily="18" charset="0"/>
                          </a:rPr>
                          <m:t>2</m:t>
                        </m:r>
                      </m:sub>
                    </m:sSub>
                  </m:oMath>
                </a14:m>
                <a:r>
                  <a:rPr lang="zh-CN" altLang="en-US" sz="1400" dirty="0">
                    <a:solidFill>
                      <a:prstClr val="black"/>
                    </a:solidFill>
                  </a:rPr>
                  <a:t>值）下降至</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𝑇𝐻</m:t>
                        </m:r>
                      </m:sub>
                    </m:sSub>
                  </m:oMath>
                </a14:m>
                <a:r>
                  <a:rPr lang="zh-CN" altLang="en-US" sz="1400" dirty="0">
                    <a:solidFill>
                      <a:prstClr val="black"/>
                    </a:solidFill>
                  </a:rPr>
                  <a:t>的时间（也就是输出脉冲的宽度）为</a:t>
                </a:r>
                <a:endParaRPr lang="en-US" altLang="zh-CN" sz="1400" dirty="0">
                  <a:solidFill>
                    <a:prstClr val="black"/>
                  </a:solidFill>
                </a:endParaRPr>
              </a:p>
              <a:p>
                <a14:m>
                  <m:oMathPara xmlns:m="http://schemas.openxmlformats.org/officeDocument/2006/math">
                    <m:oMathParaPr>
                      <m:jc m:val="centerGroup"/>
                    </m:oMathParaPr>
                    <m:oMath xmlns:m="http://schemas.openxmlformats.org/officeDocument/2006/math">
                      <m:sSub>
                        <m:sSubPr>
                          <m:ctrlPr>
                            <a:rPr lang="en-US" altLang="zh-CN" sz="1400" i="1">
                              <a:solidFill>
                                <a:prstClr val="black"/>
                              </a:solidFill>
                              <a:latin typeface="Cambria Math" panose="02040503050406030204" pitchFamily="18" charset="0"/>
                            </a:rPr>
                          </m:ctrlPr>
                        </m:sSubPr>
                        <m:e>
                          <m:r>
                            <m:rPr>
                              <m:sty m:val="p"/>
                            </m:rPr>
                            <a:rPr lang="en-US" altLang="zh-CN" sz="1400" i="1">
                              <a:solidFill>
                                <a:prstClr val="black"/>
                              </a:solidFill>
                              <a:latin typeface="Cambria Math" panose="02040503050406030204" pitchFamily="18" charset="0"/>
                            </a:rPr>
                            <m:t>t</m:t>
                          </m:r>
                        </m:e>
                        <m:sub>
                          <m:r>
                            <a:rPr lang="en-US" altLang="zh-CN" sz="1400" i="1">
                              <a:solidFill>
                                <a:prstClr val="black"/>
                              </a:solidFill>
                              <a:latin typeface="Cambria Math" panose="02040503050406030204" pitchFamily="18" charset="0"/>
                            </a:rPr>
                            <m:t>𝑊</m:t>
                          </m:r>
                        </m:sub>
                      </m:sSub>
                      <m:r>
                        <a:rPr lang="en-US" altLang="zh-CN" sz="1400" i="1">
                          <a:solidFill>
                            <a:prstClr val="black"/>
                          </a:solidFill>
                          <a:latin typeface="Cambria Math" panose="02040503050406030204" pitchFamily="18" charset="0"/>
                        </a:rPr>
                        <m:t>=</m:t>
                      </m:r>
                      <m:r>
                        <a:rPr lang="en-US" altLang="zh-CN" sz="1400" i="1">
                          <a:solidFill>
                            <a:prstClr val="black"/>
                          </a:solidFill>
                          <a:latin typeface="Cambria Math" panose="02040503050406030204" pitchFamily="18" charset="0"/>
                        </a:rPr>
                        <m:t>𝑅𝐶𝑙𝑛</m:t>
                      </m:r>
                      <m:f>
                        <m:fPr>
                          <m:ctrlPr>
                            <a:rPr lang="en-US" altLang="zh-CN" sz="1400" i="1">
                              <a:solidFill>
                                <a:prstClr val="black"/>
                              </a:solidFill>
                              <a:latin typeface="Cambria Math" panose="02040503050406030204" pitchFamily="18" charset="0"/>
                            </a:rPr>
                          </m:ctrlPr>
                        </m:fPr>
                        <m:num>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𝑉</m:t>
                              </m:r>
                            </m:e>
                            <m:sub>
                              <m:r>
                                <a:rPr lang="en-US" altLang="zh-CN" sz="1400" i="1">
                                  <a:solidFill>
                                    <a:prstClr val="black"/>
                                  </a:solidFill>
                                  <a:latin typeface="Cambria Math" panose="02040503050406030204" pitchFamily="18" charset="0"/>
                                </a:rPr>
                                <m:t>𝑂𝐻</m:t>
                              </m:r>
                            </m:sub>
                          </m:sSub>
                        </m:num>
                        <m:den>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𝑉</m:t>
                              </m:r>
                            </m:e>
                            <m:sub>
                              <m:r>
                                <a:rPr lang="en-US" altLang="zh-CN" sz="1400" i="1">
                                  <a:solidFill>
                                    <a:prstClr val="black"/>
                                  </a:solidFill>
                                  <a:latin typeface="Cambria Math" panose="02040503050406030204" pitchFamily="18" charset="0"/>
                                </a:rPr>
                                <m:t>𝑇𝐻</m:t>
                              </m:r>
                            </m:sub>
                          </m:sSub>
                        </m:den>
                      </m:f>
                      <m:r>
                        <a:rPr lang="en-US" altLang="zh-CN" sz="1400" i="1">
                          <a:solidFill>
                            <a:prstClr val="black"/>
                          </a:solidFill>
                          <a:latin typeface="Cambria Math" panose="02040503050406030204" pitchFamily="18" charset="0"/>
                        </a:rPr>
                        <m:t>=</m:t>
                      </m:r>
                      <m:r>
                        <a:rPr lang="en-US" altLang="zh-CN" sz="1400" i="1" smtClean="0">
                          <a:solidFill>
                            <a:prstClr val="black"/>
                          </a:solidFill>
                          <a:latin typeface="Cambria Math" panose="02040503050406030204" pitchFamily="18" charset="0"/>
                        </a:rPr>
                        <m:t>0</m:t>
                      </m:r>
                      <m:r>
                        <a:rPr lang="en-US" altLang="zh-CN" sz="1400" i="1">
                          <a:solidFill>
                            <a:prstClr val="black"/>
                          </a:solidFill>
                          <a:latin typeface="Cambria Math" panose="02040503050406030204" pitchFamily="18" charset="0"/>
                        </a:rPr>
                        <m:t>.</m:t>
                      </m:r>
                      <m:r>
                        <a:rPr lang="en-US" altLang="zh-CN" sz="1400" i="1" smtClean="0">
                          <a:solidFill>
                            <a:prstClr val="black"/>
                          </a:solidFill>
                          <a:latin typeface="Cambria Math" panose="02040503050406030204" pitchFamily="18" charset="0"/>
                        </a:rPr>
                        <m:t>3</m:t>
                      </m:r>
                      <m:r>
                        <a:rPr lang="en-US" altLang="zh-CN" sz="1400" i="1">
                          <a:solidFill>
                            <a:prstClr val="black"/>
                          </a:solidFill>
                          <a:latin typeface="Cambria Math" panose="02040503050406030204" pitchFamily="18" charset="0"/>
                        </a:rPr>
                        <m:t>∗</m:t>
                      </m:r>
                      <m:sSup>
                        <m:sSupPr>
                          <m:ctrlPr>
                            <a:rPr lang="en-US" altLang="zh-CN" sz="1400" i="1">
                              <a:solidFill>
                                <a:prstClr val="black"/>
                              </a:solidFill>
                              <a:latin typeface="Cambria Math" panose="02040503050406030204" pitchFamily="18" charset="0"/>
                            </a:rPr>
                          </m:ctrlPr>
                        </m:sSupPr>
                        <m:e>
                          <m:r>
                            <a:rPr lang="en-US" altLang="zh-CN" sz="1400" i="1">
                              <a:solidFill>
                                <a:prstClr val="black"/>
                              </a:solidFill>
                              <a:latin typeface="Cambria Math" panose="02040503050406030204" pitchFamily="18" charset="0"/>
                            </a:rPr>
                            <m:t>10</m:t>
                          </m:r>
                        </m:e>
                        <m:sup>
                          <m:r>
                            <a:rPr lang="en-US" altLang="zh-CN" sz="1400" i="1">
                              <a:solidFill>
                                <a:prstClr val="black"/>
                              </a:solidFill>
                              <a:latin typeface="Cambria Math" panose="02040503050406030204" pitchFamily="18" charset="0"/>
                            </a:rPr>
                            <m:t>3</m:t>
                          </m:r>
                        </m:sup>
                      </m:sSup>
                      <m:r>
                        <a:rPr lang="en-US" altLang="zh-CN" sz="1400" i="1">
                          <a:solidFill>
                            <a:prstClr val="black"/>
                          </a:solidFill>
                          <a:latin typeface="Cambria Math" panose="02040503050406030204" pitchFamily="18" charset="0"/>
                        </a:rPr>
                        <m:t>∗</m:t>
                      </m:r>
                      <m:r>
                        <a:rPr lang="en-US" altLang="zh-CN" sz="1400" i="1">
                          <a:solidFill>
                            <a:prstClr val="black"/>
                          </a:solidFill>
                          <a:latin typeface="Cambria Math" panose="02040503050406030204" pitchFamily="18" charset="0"/>
                        </a:rPr>
                        <m:t>0</m:t>
                      </m:r>
                      <m:r>
                        <a:rPr lang="en-US" altLang="zh-CN" sz="1400" i="1">
                          <a:solidFill>
                            <a:prstClr val="black"/>
                          </a:solidFill>
                          <a:latin typeface="Cambria Math" panose="02040503050406030204" pitchFamily="18" charset="0"/>
                        </a:rPr>
                        <m:t>.</m:t>
                      </m:r>
                      <m:r>
                        <a:rPr lang="en-US" altLang="zh-CN" sz="1400" i="1">
                          <a:solidFill>
                            <a:prstClr val="black"/>
                          </a:solidFill>
                          <a:latin typeface="Cambria Math" panose="02040503050406030204" pitchFamily="18" charset="0"/>
                        </a:rPr>
                        <m:t>01</m:t>
                      </m:r>
                      <m:r>
                        <a:rPr lang="en-US" altLang="zh-CN" sz="1400" i="1">
                          <a:solidFill>
                            <a:prstClr val="black"/>
                          </a:solidFill>
                          <a:latin typeface="Cambria Math" panose="02040503050406030204" pitchFamily="18" charset="0"/>
                        </a:rPr>
                        <m:t>∗</m:t>
                      </m:r>
                      <m:sSup>
                        <m:sSupPr>
                          <m:ctrlPr>
                            <a:rPr lang="en-US" altLang="zh-CN" sz="1400" i="1">
                              <a:solidFill>
                                <a:prstClr val="black"/>
                              </a:solidFill>
                              <a:latin typeface="Cambria Math" panose="02040503050406030204" pitchFamily="18" charset="0"/>
                            </a:rPr>
                          </m:ctrlPr>
                        </m:sSupPr>
                        <m:e>
                          <m:r>
                            <a:rPr lang="en-US" altLang="zh-CN" sz="1400" i="1">
                              <a:solidFill>
                                <a:prstClr val="black"/>
                              </a:solidFill>
                              <a:latin typeface="Cambria Math" panose="02040503050406030204" pitchFamily="18" charset="0"/>
                            </a:rPr>
                            <m:t>10</m:t>
                          </m:r>
                        </m:e>
                        <m:sup>
                          <m:r>
                            <a:rPr lang="en-US" altLang="zh-CN" sz="1400" i="1">
                              <a:solidFill>
                                <a:prstClr val="black"/>
                              </a:solidFill>
                              <a:latin typeface="Cambria Math" panose="02040503050406030204" pitchFamily="18" charset="0"/>
                            </a:rPr>
                            <m:t>−</m:t>
                          </m:r>
                          <m:r>
                            <a:rPr lang="en-US" altLang="zh-CN" sz="1400" i="1">
                              <a:solidFill>
                                <a:prstClr val="black"/>
                              </a:solidFill>
                              <a:latin typeface="Cambria Math" panose="02040503050406030204" pitchFamily="18" charset="0"/>
                            </a:rPr>
                            <m:t>6</m:t>
                          </m:r>
                        </m:sup>
                      </m:sSup>
                      <m:r>
                        <a:rPr lang="en-US" altLang="zh-CN" sz="1400" i="1">
                          <a:solidFill>
                            <a:prstClr val="black"/>
                          </a:solidFill>
                          <a:latin typeface="Cambria Math" panose="02040503050406030204" pitchFamily="18" charset="0"/>
                        </a:rPr>
                        <m:t>𝑙𝑛</m:t>
                      </m:r>
                      <m:f>
                        <m:fPr>
                          <m:ctrlPr>
                            <a:rPr lang="en-US" altLang="zh-CN" sz="1400" i="1">
                              <a:solidFill>
                                <a:prstClr val="black"/>
                              </a:solidFill>
                              <a:latin typeface="Cambria Math" panose="02040503050406030204" pitchFamily="18" charset="0"/>
                            </a:rPr>
                          </m:ctrlPr>
                        </m:fPr>
                        <m:num>
                          <m:r>
                            <a:rPr lang="en-US" altLang="zh-CN" sz="1400" i="1">
                              <a:solidFill>
                                <a:prstClr val="black"/>
                              </a:solidFill>
                              <a:latin typeface="Cambria Math" panose="02040503050406030204" pitchFamily="18" charset="0"/>
                            </a:rPr>
                            <m:t>3</m:t>
                          </m:r>
                          <m:r>
                            <a:rPr lang="en-US" altLang="zh-CN" sz="1400" i="1">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2</m:t>
                          </m:r>
                        </m:num>
                        <m:den>
                          <m:r>
                            <a:rPr lang="en-US" altLang="zh-CN" sz="1400" i="1">
                              <a:solidFill>
                                <a:prstClr val="black"/>
                              </a:solidFill>
                              <a:latin typeface="Cambria Math" panose="02040503050406030204" pitchFamily="18" charset="0"/>
                            </a:rPr>
                            <m:t>1</m:t>
                          </m:r>
                          <m:r>
                            <a:rPr lang="en-US" altLang="zh-CN" sz="1400" i="1">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3</m:t>
                          </m:r>
                        </m:den>
                      </m:f>
                      <m:r>
                        <a:rPr lang="en-US" altLang="zh-CN" sz="1400" i="1">
                          <a:solidFill>
                            <a:prstClr val="black"/>
                          </a:solidFill>
                          <a:latin typeface="Cambria Math" panose="02040503050406030204" pitchFamily="18" charset="0"/>
                        </a:rPr>
                        <m:t>𝑠</m:t>
                      </m:r>
                      <m:r>
                        <a:rPr lang="en-US" altLang="zh-CN" sz="1400" i="1">
                          <a:solidFill>
                            <a:prstClr val="black"/>
                          </a:solidFill>
                          <a:latin typeface="Cambria Math" panose="02040503050406030204" pitchFamily="18" charset="0"/>
                        </a:rPr>
                        <m:t>=</m:t>
                      </m:r>
                      <m:r>
                        <a:rPr lang="en-US" altLang="zh-CN" sz="1400" i="1">
                          <a:solidFill>
                            <a:prstClr val="black"/>
                          </a:solidFill>
                          <a:latin typeface="Cambria Math" panose="02040503050406030204" pitchFamily="18" charset="0"/>
                        </a:rPr>
                        <m:t>2</m:t>
                      </m:r>
                      <m:r>
                        <a:rPr lang="en-US" altLang="zh-CN" sz="1400" i="1">
                          <a:solidFill>
                            <a:prstClr val="black"/>
                          </a:solidFill>
                          <a:latin typeface="Cambria Math" panose="02040503050406030204" pitchFamily="18" charset="0"/>
                        </a:rPr>
                        <m:t>.</m:t>
                      </m:r>
                      <m:r>
                        <a:rPr lang="en-US" altLang="zh-CN" sz="1400" i="1">
                          <a:solidFill>
                            <a:prstClr val="black"/>
                          </a:solidFill>
                          <a:latin typeface="Cambria Math" panose="02040503050406030204" pitchFamily="18" charset="0"/>
                        </a:rPr>
                        <m:t>7</m:t>
                      </m:r>
                      <m:r>
                        <a:rPr lang="zh-CN" altLang="en-US" sz="1400" i="1">
                          <a:solidFill>
                            <a:prstClr val="black"/>
                          </a:solidFill>
                          <a:latin typeface="Cambria Math" panose="02040503050406030204" pitchFamily="18" charset="0"/>
                        </a:rPr>
                        <m:t>𝜇</m:t>
                      </m:r>
                      <m:r>
                        <a:rPr lang="en-US" altLang="zh-CN" sz="1400" i="1">
                          <a:solidFill>
                            <a:prstClr val="black"/>
                          </a:solidFill>
                          <a:latin typeface="Cambria Math" panose="02040503050406030204" pitchFamily="18" charset="0"/>
                        </a:rPr>
                        <m:t>𝑠</m:t>
                      </m:r>
                    </m:oMath>
                  </m:oMathPara>
                </a14:m>
                <a:endParaRPr lang="en-US" altLang="zh-CN" sz="1400" dirty="0">
                  <a:solidFill>
                    <a:prstClr val="black"/>
                  </a:solidFill>
                </a:endParaRPr>
              </a:p>
              <a:p>
                <a:pPr>
                  <a:lnSpc>
                    <a:spcPct val="150000"/>
                  </a:lnSpc>
                </a:pPr>
                <a:endParaRPr lang="en-US" altLang="zh-CN" sz="1400" dirty="0">
                  <a:solidFill>
                    <a:prstClr val="black"/>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358775" y="1012825"/>
                <a:ext cx="7544435" cy="2789555"/>
              </a:xfrm>
              <a:prstGeom prst="rect">
                <a:avLst/>
              </a:prstGeom>
              <a:blipFill rotWithShape="1">
                <a:blip r:embed="rId1"/>
                <a:stretch>
                  <a:fillRect/>
                </a:stretch>
              </a:blipFill>
            </p:spPr>
            <p:txBody>
              <a:bodyPr/>
              <a:lstStyle/>
              <a:p>
                <a:r>
                  <a:rPr lang="zh-CN" altLang="en-US">
                    <a:noFill/>
                  </a:rPr>
                  <a:t> </a:t>
                </a:r>
              </a:p>
            </p:txBody>
          </p:sp>
        </mc:Fallback>
      </mc:AlternateContent>
      <p:pic>
        <p:nvPicPr>
          <p:cNvPr id="10" name="图片 9"/>
          <p:cNvPicPr>
            <a:picLocks noChangeAspect="1"/>
          </p:cNvPicPr>
          <p:nvPr/>
        </p:nvPicPr>
        <p:blipFill>
          <a:blip r:embed="rId2">
            <a:biLevel thresh="75000"/>
            <a:extLst>
              <a:ext uri="{BEBA8EAE-BF5A-486C-A8C5-ECC9F3942E4B}">
                <a14:imgProps xmlns:a14="http://schemas.microsoft.com/office/drawing/2010/main">
                  <a14:imgLayer r:embed="rId3">
                    <a14:imgEffect>
                      <a14:brightnessContrast contrast="20000"/>
                    </a14:imgEffect>
                    <a14:imgEffect>
                      <a14:sharpenSoften amount="50000"/>
                    </a14:imgEffect>
                  </a14:imgLayer>
                </a14:imgProps>
              </a:ext>
            </a:extLst>
          </a:blip>
          <a:stretch>
            <a:fillRect/>
          </a:stretch>
        </p:blipFill>
        <p:spPr>
          <a:xfrm>
            <a:off x="3559810" y="4012565"/>
            <a:ext cx="4158615" cy="1844675"/>
          </a:xfrm>
          <a:prstGeom prst="rect">
            <a:avLst/>
          </a:prstGeom>
        </p:spPr>
      </p:pic>
      <p:pic>
        <p:nvPicPr>
          <p:cNvPr id="11" name="图片 10"/>
          <p:cNvPicPr/>
          <p:nvPr/>
        </p:nvPicPr>
        <p:blipFill rotWithShape="1">
          <a:blip r:embed="rId4">
            <a:biLevel thresh="75000"/>
            <a:extLst>
              <a:ext uri="{BEBA8EAE-BF5A-486C-A8C5-ECC9F3942E4B}">
                <a14:imgProps xmlns:a14="http://schemas.microsoft.com/office/drawing/2010/main">
                  <a14:imgLayer r:embed="rId5">
                    <a14:imgEffect>
                      <a14:brightnessContrast contrast="20000"/>
                    </a14:imgEffect>
                    <a14:imgEffect>
                      <a14:sharpenSoften amount="50000"/>
                    </a14:imgEffect>
                  </a14:imgLayer>
                </a14:imgProps>
              </a:ext>
            </a:extLst>
          </a:blip>
          <a:srcRect l="13861" t="7288" r="48580" b="22134"/>
          <a:stretch>
            <a:fillRect/>
          </a:stretch>
        </p:blipFill>
        <p:spPr>
          <a:xfrm>
            <a:off x="358775" y="4130040"/>
            <a:ext cx="2969260" cy="1609725"/>
          </a:xfrm>
          <a:prstGeom prst="rect">
            <a:avLst/>
          </a:prstGeom>
        </p:spPr>
      </p:pic>
      <p:pic>
        <p:nvPicPr>
          <p:cNvPr id="13" name="图片 12"/>
          <p:cNvPicPr/>
          <p:nvPr/>
        </p:nvPicPr>
        <p:blipFill rotWithShape="1">
          <a:blip r:embed="rId6">
            <a:biLevel thresh="75000"/>
            <a:extLst>
              <a:ext uri="{BEBA8EAE-BF5A-486C-A8C5-ECC9F3942E4B}">
                <a14:imgProps xmlns:a14="http://schemas.microsoft.com/office/drawing/2010/main">
                  <a14:imgLayer r:embed="rId7">
                    <a14:imgEffect>
                      <a14:brightnessContrast contrast="20000"/>
                    </a14:imgEffect>
                    <a14:imgEffect>
                      <a14:sharpenSoften amount="50000"/>
                    </a14:imgEffect>
                  </a14:imgLayer>
                </a14:imgProps>
              </a:ext>
            </a:extLst>
          </a:blip>
          <a:srcRect l="65018" t="9669" b="6483"/>
          <a:stretch>
            <a:fillRect/>
          </a:stretch>
        </p:blipFill>
        <p:spPr bwMode="auto">
          <a:xfrm>
            <a:off x="8402955" y="1609090"/>
            <a:ext cx="3399155" cy="4247515"/>
          </a:xfrm>
          <a:prstGeom prst="rect">
            <a:avLst/>
          </a:prstGeom>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11</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514350" y="1598930"/>
                <a:ext cx="10817225" cy="3328670"/>
              </a:xfrm>
              <a:prstGeom prst="rect">
                <a:avLst/>
              </a:prstGeom>
              <a:noFill/>
            </p:spPr>
            <p:txBody>
              <a:bodyPr wrap="square" rtlCol="0">
                <a:spAutoFit/>
              </a:bodyPr>
              <a:lstStyle/>
              <a:p>
                <a:pPr>
                  <a:lnSpc>
                    <a:spcPct val="130000"/>
                  </a:lnSpc>
                </a:pPr>
                <a:r>
                  <a:rPr lang="zh-CN" altLang="en-US" dirty="0">
                    <a:solidFill>
                      <a:prstClr val="black"/>
                    </a:solidFill>
                    <a:latin typeface="微软雅黑" panose="020B0503020204020204" charset="-122"/>
                    <a:ea typeface="微软雅黑" panose="020B0503020204020204" charset="-122"/>
                  </a:rPr>
                  <a:t>三、多谐振荡电路的分析计算</a:t>
                </a:r>
                <a:endParaRPr lang="zh-CN" altLang="en-US" dirty="0">
                  <a:solidFill>
                    <a:prstClr val="black"/>
                  </a:solidFill>
                  <a:latin typeface="微软雅黑" panose="020B0503020204020204" charset="-122"/>
                  <a:ea typeface="微软雅黑" panose="020B0503020204020204" charset="-122"/>
                </a:endParaRPr>
              </a:p>
              <a:p>
                <a:pPr>
                  <a:lnSpc>
                    <a:spcPct val="130000"/>
                  </a:lnSpc>
                </a:pPr>
                <a:r>
                  <a:rPr lang="zh-CN" altLang="en-US" dirty="0">
                    <a:solidFill>
                      <a:prstClr val="black"/>
                    </a:solidFill>
                    <a:latin typeface="微软雅黑" panose="020B0503020204020204" charset="-122"/>
                    <a:ea typeface="微软雅黑" panose="020B0503020204020204" charset="-122"/>
                  </a:rPr>
                  <a:t>       在分析多谐振荡电路时，需要计算的两个最基本的性能参数是振荡周期（或者频率）和输出脉冲幅度。</a:t>
                </a:r>
                <a:endParaRPr lang="en-US" altLang="zh-CN" dirty="0">
                  <a:solidFill>
                    <a:prstClr val="black"/>
                  </a:solidFill>
                  <a:latin typeface="微软雅黑" panose="020B0503020204020204" charset="-122"/>
                  <a:ea typeface="微软雅黑" panose="020B0503020204020204" charset="-122"/>
                </a:endParaRPr>
              </a:p>
              <a:p>
                <a:pPr>
                  <a:lnSpc>
                    <a:spcPct val="130000"/>
                  </a:lnSpc>
                </a:pPr>
                <a:r>
                  <a:rPr lang="en-US" altLang="zh-CN" b="1" dirty="0">
                    <a:solidFill>
                      <a:prstClr val="black"/>
                    </a:solidFill>
                    <a:latin typeface="微软雅黑" panose="020B0503020204020204" charset="-122"/>
                    <a:ea typeface="微软雅黑" panose="020B0503020204020204" charset="-122"/>
                  </a:rPr>
                  <a:t>1</a:t>
                </a:r>
                <a:r>
                  <a:rPr lang="zh-CN" altLang="en-US" b="1" dirty="0">
                    <a:solidFill>
                      <a:prstClr val="black"/>
                    </a:solidFill>
                    <a:latin typeface="微软雅黑" panose="020B0503020204020204" charset="-122"/>
                    <a:ea typeface="微软雅黑" panose="020B0503020204020204" charset="-122"/>
                  </a:rPr>
                  <a:t>）振荡周期的计算</a:t>
                </a:r>
                <a:endParaRPr lang="en-US" altLang="zh-CN" b="1" dirty="0">
                  <a:solidFill>
                    <a:prstClr val="black"/>
                  </a:solidFill>
                  <a:latin typeface="微软雅黑" panose="020B0503020204020204" charset="-122"/>
                  <a:ea typeface="微软雅黑" panose="020B0503020204020204" charset="-122"/>
                </a:endParaRPr>
              </a:p>
              <a:p>
                <a:pPr>
                  <a:lnSpc>
                    <a:spcPct val="130000"/>
                  </a:lnSpc>
                </a:pPr>
                <a:r>
                  <a:rPr lang="en-US" altLang="zh-CN" dirty="0">
                    <a:solidFill>
                      <a:prstClr val="black"/>
                    </a:solidFill>
                    <a:latin typeface="微软雅黑" panose="020B0503020204020204" charset="-122"/>
                    <a:ea typeface="微软雅黑" panose="020B0503020204020204" charset="-122"/>
                  </a:rPr>
                  <a:t>      </a:t>
                </a:r>
                <a:r>
                  <a:rPr lang="zh-CN" altLang="en-US" dirty="0">
                    <a:solidFill>
                      <a:prstClr val="black"/>
                    </a:solidFill>
                    <a:latin typeface="微软雅黑" panose="020B0503020204020204" charset="-122"/>
                    <a:ea typeface="微软雅黑" panose="020B0503020204020204" charset="-122"/>
                  </a:rPr>
                  <a:t>多谐振荡电路的工作特点是不停地在两个暂稳态之间反复转换，因而振荡周期等于两个暂稳态持续时间之和。在前面计算单稳态电路的输出脉冲宽度时，我们已经详细介绍了暂稳态持续时间的计算方法和步骤，所讲的方法和步骤在这里仍完全适用，故不再重复。</a:t>
                </a:r>
                <a:endParaRPr lang="en-US" altLang="zh-CN" dirty="0">
                  <a:solidFill>
                    <a:prstClr val="black"/>
                  </a:solidFill>
                  <a:latin typeface="微软雅黑" panose="020B0503020204020204" charset="-122"/>
                  <a:ea typeface="微软雅黑" panose="020B0503020204020204" charset="-122"/>
                </a:endParaRPr>
              </a:p>
              <a:p>
                <a:pPr>
                  <a:lnSpc>
                    <a:spcPct val="130000"/>
                  </a:lnSpc>
                </a:pPr>
                <a:r>
                  <a:rPr lang="en-US" altLang="zh-CN" dirty="0">
                    <a:solidFill>
                      <a:prstClr val="black"/>
                    </a:solidFill>
                    <a:latin typeface="微软雅黑" panose="020B0503020204020204" charset="-122"/>
                    <a:ea typeface="微软雅黑" panose="020B0503020204020204" charset="-122"/>
                  </a:rPr>
                  <a:t>2</a:t>
                </a:r>
                <a:r>
                  <a:rPr lang="zh-CN" altLang="en-US" dirty="0">
                    <a:solidFill>
                      <a:prstClr val="black"/>
                    </a:solidFill>
                    <a:latin typeface="微软雅黑" panose="020B0503020204020204" charset="-122"/>
                    <a:ea typeface="微软雅黑" panose="020B0503020204020204" charset="-122"/>
                  </a:rPr>
                  <a:t>）输出脉冲幅度的计算</a:t>
                </a:r>
                <a:endParaRPr lang="en-US" altLang="zh-CN" dirty="0">
                  <a:solidFill>
                    <a:prstClr val="black"/>
                  </a:solidFill>
                  <a:latin typeface="微软雅黑" panose="020B0503020204020204" charset="-122"/>
                  <a:ea typeface="微软雅黑" panose="020B0503020204020204" charset="-122"/>
                </a:endParaRPr>
              </a:p>
              <a:p>
                <a:pPr>
                  <a:lnSpc>
                    <a:spcPct val="130000"/>
                  </a:lnSpc>
                </a:pPr>
                <a:r>
                  <a:rPr lang="en-US" altLang="zh-CN" dirty="0">
                    <a:solidFill>
                      <a:prstClr val="black"/>
                    </a:solidFill>
                    <a:latin typeface="微软雅黑" panose="020B0503020204020204" charset="-122"/>
                    <a:ea typeface="微软雅黑" panose="020B0503020204020204" charset="-122"/>
                  </a:rPr>
                  <a:t>      </a:t>
                </a:r>
                <a:r>
                  <a:rPr lang="zh-CN" altLang="en-US" dirty="0">
                    <a:solidFill>
                      <a:prstClr val="black"/>
                    </a:solidFill>
                    <a:latin typeface="微软雅黑" panose="020B0503020204020204" charset="-122"/>
                    <a:ea typeface="微软雅黑" panose="020B0503020204020204" charset="-122"/>
                  </a:rPr>
                  <a:t>输出脉冲幅度仍为输出高电平</a:t>
                </a:r>
                <a14:m>
                  <m:oMath xmlns:m="http://schemas.openxmlformats.org/officeDocument/2006/math">
                    <m:sSub>
                      <m:sSubPr>
                        <m:ctrlPr>
                          <a:rPr lang="en-US" altLang="zh-CN" i="1">
                            <a:solidFill>
                              <a:prstClr val="black"/>
                            </a:solidFill>
                            <a:latin typeface="Cambria Math" panose="02040503050406030204" pitchFamily="18" charset="0"/>
                            <a:ea typeface="微软雅黑" panose="020B0503020204020204" charset="-122"/>
                          </a:rPr>
                        </m:ctrlPr>
                      </m:sSubPr>
                      <m:e>
                        <m:r>
                          <a:rPr lang="en-US" altLang="zh-CN" i="1">
                            <a:solidFill>
                              <a:prstClr val="black"/>
                            </a:solidFill>
                            <a:latin typeface="Cambria Math" panose="02040503050406030204" pitchFamily="18" charset="0"/>
                            <a:ea typeface="微软雅黑" panose="020B0503020204020204" charset="-122"/>
                          </a:rPr>
                          <m:t>𝑉</m:t>
                        </m:r>
                      </m:e>
                      <m:sub>
                        <m:r>
                          <a:rPr lang="en-US" altLang="zh-CN" i="1">
                            <a:solidFill>
                              <a:prstClr val="black"/>
                            </a:solidFill>
                            <a:latin typeface="Cambria Math" panose="02040503050406030204" pitchFamily="18" charset="0"/>
                            <a:ea typeface="微软雅黑" panose="020B0503020204020204" charset="-122"/>
                          </a:rPr>
                          <m:t>𝑂𝐻</m:t>
                        </m:r>
                      </m:sub>
                    </m:sSub>
                  </m:oMath>
                </a14:m>
                <a:r>
                  <a:rPr lang="zh-CN" altLang="en-US" dirty="0">
                    <a:solidFill>
                      <a:prstClr val="black"/>
                    </a:solidFill>
                    <a:latin typeface="微软雅黑" panose="020B0503020204020204" charset="-122"/>
                    <a:ea typeface="微软雅黑" panose="020B0503020204020204" charset="-122"/>
                  </a:rPr>
                  <a:t>和输出低电平</a:t>
                </a:r>
                <a14:m>
                  <m:oMath xmlns:m="http://schemas.openxmlformats.org/officeDocument/2006/math">
                    <m:sSub>
                      <m:sSubPr>
                        <m:ctrlPr>
                          <a:rPr lang="en-US" altLang="zh-CN" i="1">
                            <a:solidFill>
                              <a:prstClr val="black"/>
                            </a:solidFill>
                            <a:latin typeface="Cambria Math" panose="02040503050406030204" pitchFamily="18" charset="0"/>
                            <a:ea typeface="微软雅黑" panose="020B0503020204020204" charset="-122"/>
                          </a:rPr>
                        </m:ctrlPr>
                      </m:sSubPr>
                      <m:e>
                        <m:r>
                          <a:rPr lang="en-US" altLang="zh-CN" i="1">
                            <a:solidFill>
                              <a:prstClr val="black"/>
                            </a:solidFill>
                            <a:latin typeface="Cambria Math" panose="02040503050406030204" pitchFamily="18" charset="0"/>
                            <a:ea typeface="微软雅黑" panose="020B0503020204020204" charset="-122"/>
                          </a:rPr>
                          <m:t>𝑉</m:t>
                        </m:r>
                      </m:e>
                      <m:sub>
                        <m:r>
                          <a:rPr lang="en-US" altLang="zh-CN" i="1">
                            <a:solidFill>
                              <a:prstClr val="black"/>
                            </a:solidFill>
                            <a:latin typeface="Cambria Math" panose="02040503050406030204" pitchFamily="18" charset="0"/>
                            <a:ea typeface="微软雅黑" panose="020B0503020204020204" charset="-122"/>
                          </a:rPr>
                          <m:t>𝑂𝐿</m:t>
                        </m:r>
                      </m:sub>
                    </m:sSub>
                  </m:oMath>
                </a14:m>
                <a:r>
                  <a:rPr lang="zh-CN" altLang="en-US" dirty="0">
                    <a:solidFill>
                      <a:prstClr val="black"/>
                    </a:solidFill>
                    <a:latin typeface="微软雅黑" panose="020B0503020204020204" charset="-122"/>
                    <a:ea typeface="微软雅黑" panose="020B0503020204020204" charset="-122"/>
                  </a:rPr>
                  <a:t>之差，即</a:t>
                </a:r>
                <a:endParaRPr lang="en-US" altLang="zh-CN" dirty="0">
                  <a:solidFill>
                    <a:prstClr val="black"/>
                  </a:solidFill>
                  <a:latin typeface="微软雅黑" panose="020B0503020204020204" charset="-122"/>
                  <a:ea typeface="微软雅黑" panose="020B0503020204020204" charset="-122"/>
                </a:endParaRPr>
              </a:p>
              <a:p>
                <a:pPr>
                  <a:lnSpc>
                    <a:spcPct val="130000"/>
                  </a:lnSpc>
                </a:pPr>
                <a14:m>
                  <m:oMathPara xmlns:m="http://schemas.openxmlformats.org/officeDocument/2006/math">
                    <m:oMathParaPr>
                      <m:jc m:val="centerGroup"/>
                    </m:oMathParaPr>
                    <m:oMath xmlns:m="http://schemas.openxmlformats.org/officeDocument/2006/math">
                      <m:sSub>
                        <m:sSubPr>
                          <m:ctrlPr>
                            <a:rPr lang="en-US" altLang="zh-CN" i="1">
                              <a:solidFill>
                                <a:prstClr val="black"/>
                              </a:solidFill>
                              <a:latin typeface="Cambria Math" panose="02040503050406030204" pitchFamily="18" charset="0"/>
                              <a:ea typeface="微软雅黑" panose="020B0503020204020204" charset="-122"/>
                            </a:rPr>
                          </m:ctrlPr>
                        </m:sSubPr>
                        <m:e>
                          <m:r>
                            <a:rPr lang="en-US" altLang="zh-CN" i="1">
                              <a:solidFill>
                                <a:prstClr val="black"/>
                              </a:solidFill>
                              <a:latin typeface="Cambria Math" panose="02040503050406030204" pitchFamily="18" charset="0"/>
                              <a:ea typeface="微软雅黑" panose="020B0503020204020204" charset="-122"/>
                            </a:rPr>
                            <m:t>𝑉</m:t>
                          </m:r>
                        </m:e>
                        <m:sub>
                          <m:r>
                            <a:rPr lang="en-US" altLang="zh-CN" i="1">
                              <a:solidFill>
                                <a:prstClr val="black"/>
                              </a:solidFill>
                              <a:latin typeface="Cambria Math" panose="02040503050406030204" pitchFamily="18" charset="0"/>
                              <a:ea typeface="微软雅黑" panose="020B0503020204020204" charset="-122"/>
                            </a:rPr>
                            <m:t>𝑂𝑚</m:t>
                          </m:r>
                        </m:sub>
                      </m:sSub>
                      <m:r>
                        <a:rPr lang="en-US" altLang="zh-CN" i="1">
                          <a:solidFill>
                            <a:prstClr val="black"/>
                          </a:solidFill>
                          <a:latin typeface="Cambria Math" panose="02040503050406030204" pitchFamily="18" charset="0"/>
                          <a:ea typeface="微软雅黑" panose="020B0503020204020204" charset="-122"/>
                        </a:rPr>
                        <m:t>=</m:t>
                      </m:r>
                      <m:sSub>
                        <m:sSubPr>
                          <m:ctrlPr>
                            <a:rPr lang="en-US" altLang="zh-CN" i="1">
                              <a:solidFill>
                                <a:prstClr val="black"/>
                              </a:solidFill>
                              <a:latin typeface="Cambria Math" panose="02040503050406030204" pitchFamily="18" charset="0"/>
                              <a:ea typeface="微软雅黑" panose="020B0503020204020204" charset="-122"/>
                            </a:rPr>
                          </m:ctrlPr>
                        </m:sSubPr>
                        <m:e>
                          <m:r>
                            <a:rPr lang="en-US" altLang="zh-CN" i="1">
                              <a:solidFill>
                                <a:prstClr val="black"/>
                              </a:solidFill>
                              <a:latin typeface="Cambria Math" panose="02040503050406030204" pitchFamily="18" charset="0"/>
                              <a:ea typeface="微软雅黑" panose="020B0503020204020204" charset="-122"/>
                            </a:rPr>
                            <m:t>𝑉</m:t>
                          </m:r>
                        </m:e>
                        <m:sub>
                          <m:r>
                            <a:rPr lang="en-US" altLang="zh-CN" i="1">
                              <a:solidFill>
                                <a:prstClr val="black"/>
                              </a:solidFill>
                              <a:latin typeface="Cambria Math" panose="02040503050406030204" pitchFamily="18" charset="0"/>
                              <a:ea typeface="微软雅黑" panose="020B0503020204020204" charset="-122"/>
                            </a:rPr>
                            <m:t>𝑂</m:t>
                          </m:r>
                          <m:r>
                            <a:rPr lang="en-US" altLang="zh-CN" b="0" i="1" smtClean="0">
                              <a:solidFill>
                                <a:prstClr val="black"/>
                              </a:solidFill>
                              <a:latin typeface="Cambria Math" panose="02040503050406030204" pitchFamily="18" charset="0"/>
                              <a:ea typeface="微软雅黑" panose="020B0503020204020204" charset="-122"/>
                            </a:rPr>
                            <m:t>𝐻</m:t>
                          </m:r>
                        </m:sub>
                      </m:sSub>
                      <m:r>
                        <a:rPr lang="en-US" altLang="zh-CN">
                          <a:solidFill>
                            <a:prstClr val="black"/>
                          </a:solidFill>
                          <a:latin typeface="Cambria Math" panose="02040503050406030204" pitchFamily="18" charset="0"/>
                          <a:ea typeface="微软雅黑" panose="020B0503020204020204" charset="-122"/>
                        </a:rPr>
                        <m:t>−</m:t>
                      </m:r>
                      <m:sSub>
                        <m:sSubPr>
                          <m:ctrlPr>
                            <a:rPr lang="en-US" altLang="zh-CN" i="1">
                              <a:solidFill>
                                <a:prstClr val="black"/>
                              </a:solidFill>
                              <a:latin typeface="Cambria Math" panose="02040503050406030204" pitchFamily="18" charset="0"/>
                              <a:ea typeface="微软雅黑" panose="020B0503020204020204" charset="-122"/>
                            </a:rPr>
                          </m:ctrlPr>
                        </m:sSubPr>
                        <m:e>
                          <m:r>
                            <a:rPr lang="en-US" altLang="zh-CN" i="1">
                              <a:solidFill>
                                <a:prstClr val="black"/>
                              </a:solidFill>
                              <a:latin typeface="Cambria Math" panose="02040503050406030204" pitchFamily="18" charset="0"/>
                              <a:ea typeface="微软雅黑" panose="020B0503020204020204" charset="-122"/>
                            </a:rPr>
                            <m:t>𝑉</m:t>
                          </m:r>
                        </m:e>
                        <m:sub>
                          <m:r>
                            <a:rPr lang="en-US" altLang="zh-CN" i="1">
                              <a:solidFill>
                                <a:prstClr val="black"/>
                              </a:solidFill>
                              <a:latin typeface="Cambria Math" panose="02040503050406030204" pitchFamily="18" charset="0"/>
                              <a:ea typeface="微软雅黑" panose="020B0503020204020204" charset="-122"/>
                            </a:rPr>
                            <m:t>𝑂𝐿</m:t>
                          </m:r>
                        </m:sub>
                      </m:sSub>
                    </m:oMath>
                  </m:oMathPara>
                </a14:m>
                <a:endParaRPr lang="en-US" altLang="zh-CN" dirty="0" err="1">
                  <a:solidFill>
                    <a:prstClr val="black"/>
                  </a:solidFill>
                  <a:latin typeface="微软雅黑" panose="020B0503020204020204" charset="-122"/>
                  <a:ea typeface="微软雅黑" panose="020B0503020204020204"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514350" y="1598930"/>
                <a:ext cx="10817225" cy="3328670"/>
              </a:xfrm>
              <a:prstGeom prst="rect">
                <a:avLst/>
              </a:prstGeom>
              <a:blipFill rotWithShape="1">
                <a:blip r:embed="rId1"/>
                <a:stretch>
                  <a:fillRect r="-47"/>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en-US" altLang="zh-CN" dirty="0"/>
              <a:t>CMOS</a:t>
            </a:r>
            <a:r>
              <a:rPr lang="zh-CN" altLang="en-US" dirty="0"/>
              <a:t>反向</a:t>
            </a:r>
            <a:r>
              <a:rPr lang="zh-CN" altLang="en-US" dirty="0"/>
              <a:t>器</a:t>
            </a:r>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5" name="文本框 4"/>
          <p:cNvSpPr txBox="1"/>
          <p:nvPr/>
        </p:nvSpPr>
        <p:spPr>
          <a:xfrm>
            <a:off x="358775" y="1237615"/>
            <a:ext cx="10744835" cy="737235"/>
          </a:xfrm>
          <a:prstGeom prst="rect">
            <a:avLst/>
          </a:prstGeom>
          <a:noFill/>
        </p:spPr>
        <p:txBody>
          <a:bodyPr wrap="square" rtlCol="0">
            <a:spAutoFit/>
          </a:bodyPr>
          <a:lstStyle/>
          <a:p>
            <a:pPr>
              <a:lnSpc>
                <a:spcPct val="150000"/>
              </a:lnSpc>
            </a:pPr>
            <a:r>
              <a:rPr lang="en-US" altLang="zh-CN" sz="1400" dirty="0">
                <a:solidFill>
                  <a:prstClr val="black"/>
                </a:solidFill>
              </a:rPr>
              <a:t>CMOS</a:t>
            </a:r>
            <a:r>
              <a:rPr lang="zh-CN" altLang="en-US" sz="1400" dirty="0">
                <a:solidFill>
                  <a:prstClr val="black"/>
                </a:solidFill>
              </a:rPr>
              <a:t>反相器的基本电路结构如下图（</a:t>
            </a:r>
            <a:r>
              <a:rPr lang="en-US" altLang="zh-CN" sz="1400" dirty="0">
                <a:solidFill>
                  <a:prstClr val="black"/>
                </a:solidFill>
              </a:rPr>
              <a:t>b</a:t>
            </a:r>
            <a:r>
              <a:rPr lang="zh-CN" altLang="en-US" sz="1400" dirty="0">
                <a:solidFill>
                  <a:prstClr val="black"/>
                </a:solidFill>
              </a:rPr>
              <a:t>）所示，其中</a:t>
            </a:r>
            <a:r>
              <a:rPr lang="en-US" altLang="zh-CN" sz="1400" dirty="0">
                <a:solidFill>
                  <a:prstClr val="black"/>
                </a:solidFill>
              </a:rPr>
              <a:t>T1</a:t>
            </a:r>
            <a:r>
              <a:rPr lang="zh-CN" altLang="en-US" sz="1400" dirty="0">
                <a:solidFill>
                  <a:prstClr val="black"/>
                </a:solidFill>
              </a:rPr>
              <a:t>是</a:t>
            </a:r>
            <a:r>
              <a:rPr lang="en-US" altLang="zh-CN" sz="1400" dirty="0">
                <a:solidFill>
                  <a:prstClr val="black"/>
                </a:solidFill>
              </a:rPr>
              <a:t>P</a:t>
            </a:r>
            <a:r>
              <a:rPr lang="zh-CN" altLang="en-US" sz="1400" dirty="0">
                <a:solidFill>
                  <a:prstClr val="black"/>
                </a:solidFill>
              </a:rPr>
              <a:t>沟道增强型</a:t>
            </a:r>
            <a:r>
              <a:rPr lang="en-US" altLang="zh-CN" sz="1400" dirty="0">
                <a:solidFill>
                  <a:prstClr val="black"/>
                </a:solidFill>
              </a:rPr>
              <a:t>MOS</a:t>
            </a:r>
            <a:r>
              <a:rPr lang="zh-CN" altLang="en-US" sz="1400" dirty="0">
                <a:solidFill>
                  <a:prstClr val="black"/>
                </a:solidFill>
              </a:rPr>
              <a:t>管，</a:t>
            </a:r>
            <a:r>
              <a:rPr lang="en-US" altLang="zh-CN" sz="1400" dirty="0">
                <a:solidFill>
                  <a:prstClr val="black"/>
                </a:solidFill>
              </a:rPr>
              <a:t>T2</a:t>
            </a:r>
            <a:r>
              <a:rPr lang="zh-CN" altLang="en-US" sz="1400" dirty="0">
                <a:solidFill>
                  <a:prstClr val="black"/>
                </a:solidFill>
              </a:rPr>
              <a:t>是</a:t>
            </a:r>
            <a:r>
              <a:rPr lang="en-US" altLang="zh-CN" sz="1400" dirty="0">
                <a:solidFill>
                  <a:prstClr val="black"/>
                </a:solidFill>
              </a:rPr>
              <a:t>N</a:t>
            </a:r>
            <a:r>
              <a:rPr lang="zh-CN" altLang="en-US" sz="1400" dirty="0">
                <a:solidFill>
                  <a:prstClr val="black"/>
                </a:solidFill>
              </a:rPr>
              <a:t>沟道增强型</a:t>
            </a:r>
            <a:r>
              <a:rPr lang="en-US" altLang="zh-CN" sz="1400" dirty="0">
                <a:solidFill>
                  <a:prstClr val="black"/>
                </a:solidFill>
              </a:rPr>
              <a:t>MOS</a:t>
            </a:r>
            <a:r>
              <a:rPr lang="zh-CN" altLang="en-US" sz="1400" dirty="0">
                <a:solidFill>
                  <a:prstClr val="black"/>
                </a:solidFill>
              </a:rPr>
              <a:t>管。当输入</a:t>
            </a:r>
            <a:r>
              <a:rPr lang="en-US" altLang="zh-CN" sz="1400" dirty="0">
                <a:solidFill>
                  <a:prstClr val="black"/>
                </a:solidFill>
              </a:rPr>
              <a:t>V1</a:t>
            </a:r>
            <a:r>
              <a:rPr lang="zh-CN" altLang="en-US" sz="1400" dirty="0">
                <a:solidFill>
                  <a:prstClr val="black"/>
                </a:solidFill>
              </a:rPr>
              <a:t>为高电平时，</a:t>
            </a:r>
            <a:r>
              <a:rPr lang="en-US" altLang="zh-CN" sz="1400" dirty="0">
                <a:solidFill>
                  <a:prstClr val="black"/>
                </a:solidFill>
              </a:rPr>
              <a:t>T1</a:t>
            </a:r>
            <a:r>
              <a:rPr lang="zh-CN" altLang="en-US" sz="1400" dirty="0">
                <a:solidFill>
                  <a:prstClr val="black"/>
                </a:solidFill>
              </a:rPr>
              <a:t>管截止，</a:t>
            </a:r>
            <a:r>
              <a:rPr lang="en-US" altLang="zh-CN" sz="1400" dirty="0">
                <a:solidFill>
                  <a:prstClr val="black"/>
                </a:solidFill>
              </a:rPr>
              <a:t>T2</a:t>
            </a:r>
            <a:r>
              <a:rPr lang="zh-CN" altLang="en-US" sz="1400" dirty="0">
                <a:solidFill>
                  <a:prstClr val="black"/>
                </a:solidFill>
              </a:rPr>
              <a:t>管导通，输出低电平；当输入</a:t>
            </a:r>
            <a:r>
              <a:rPr lang="en-US" altLang="zh-CN" sz="1400" dirty="0">
                <a:solidFill>
                  <a:prstClr val="black"/>
                </a:solidFill>
              </a:rPr>
              <a:t>V1</a:t>
            </a:r>
            <a:r>
              <a:rPr lang="zh-CN" altLang="en-US" sz="1400" dirty="0">
                <a:solidFill>
                  <a:prstClr val="black"/>
                </a:solidFill>
              </a:rPr>
              <a:t>为低电平时，</a:t>
            </a:r>
            <a:r>
              <a:rPr lang="en-US" altLang="zh-CN" sz="1400" dirty="0">
                <a:solidFill>
                  <a:prstClr val="black"/>
                </a:solidFill>
              </a:rPr>
              <a:t>T1</a:t>
            </a:r>
            <a:r>
              <a:rPr lang="zh-CN" altLang="en-US" sz="1400" dirty="0">
                <a:solidFill>
                  <a:prstClr val="black"/>
                </a:solidFill>
              </a:rPr>
              <a:t>管导通，</a:t>
            </a:r>
            <a:r>
              <a:rPr lang="en-US" altLang="zh-CN" sz="1400" dirty="0">
                <a:solidFill>
                  <a:prstClr val="black"/>
                </a:solidFill>
              </a:rPr>
              <a:t>T2</a:t>
            </a:r>
            <a:r>
              <a:rPr lang="zh-CN" altLang="en-US" sz="1400" dirty="0">
                <a:solidFill>
                  <a:prstClr val="black"/>
                </a:solidFill>
              </a:rPr>
              <a:t>管截止，输出</a:t>
            </a:r>
            <a:r>
              <a:rPr lang="zh-CN" altLang="en-US" sz="1400" dirty="0">
                <a:solidFill>
                  <a:prstClr val="black"/>
                </a:solidFill>
              </a:rPr>
              <a:t>高电平。</a:t>
            </a:r>
            <a:endParaRPr lang="zh-CN" altLang="en-US" sz="1400" dirty="0">
              <a:solidFill>
                <a:prstClr val="black"/>
              </a:solidFill>
            </a:endParaRPr>
          </a:p>
        </p:txBody>
      </p:sp>
      <p:pic>
        <p:nvPicPr>
          <p:cNvPr id="9" name="图片 8"/>
          <p:cNvPicPr>
            <a:picLocks noChangeAspect="1"/>
          </p:cNvPicPr>
          <p:nvPr/>
        </p:nvPicPr>
        <p:blipFill>
          <a:blip r:embed="rId1"/>
          <a:stretch>
            <a:fillRect/>
          </a:stretch>
        </p:blipFill>
        <p:spPr>
          <a:xfrm>
            <a:off x="358775" y="2301875"/>
            <a:ext cx="5245100" cy="3848735"/>
          </a:xfrm>
          <a:prstGeom prst="rect">
            <a:avLst/>
          </a:prstGeom>
        </p:spPr>
      </p:pic>
      <p:pic>
        <p:nvPicPr>
          <p:cNvPr id="11" name="图片 10"/>
          <p:cNvPicPr>
            <a:picLocks noChangeAspect="1"/>
          </p:cNvPicPr>
          <p:nvPr/>
        </p:nvPicPr>
        <p:blipFill>
          <a:blip r:embed="rId2"/>
          <a:stretch>
            <a:fillRect/>
          </a:stretch>
        </p:blipFill>
        <p:spPr>
          <a:xfrm>
            <a:off x="5889625" y="2607310"/>
            <a:ext cx="2599690" cy="3307715"/>
          </a:xfrm>
          <a:prstGeom prst="rect">
            <a:avLst/>
          </a:prstGeom>
        </p:spPr>
      </p:pic>
      <p:pic>
        <p:nvPicPr>
          <p:cNvPr id="12" name="图片 11"/>
          <p:cNvPicPr>
            <a:picLocks noChangeAspect="1"/>
          </p:cNvPicPr>
          <p:nvPr/>
        </p:nvPicPr>
        <p:blipFill>
          <a:blip r:embed="rId3"/>
          <a:stretch>
            <a:fillRect/>
          </a:stretch>
        </p:blipFill>
        <p:spPr>
          <a:xfrm>
            <a:off x="8775065" y="2955290"/>
            <a:ext cx="2899410" cy="295973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11</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358826" y="1215162"/>
                <a:ext cx="6140348" cy="1024961"/>
              </a:xfrm>
              <a:prstGeom prst="rect">
                <a:avLst/>
              </a:prstGeom>
              <a:noFill/>
            </p:spPr>
            <p:txBody>
              <a:bodyPr wrap="square" rtlCol="0">
                <a:spAutoFit/>
              </a:bodyPr>
              <a:lstStyle/>
              <a:p>
                <a:pPr>
                  <a:lnSpc>
                    <a:spcPct val="150000"/>
                  </a:lnSpc>
                </a:pPr>
                <a:r>
                  <a:rPr lang="en-US" altLang="zh-CN" sz="1400" dirty="0">
                    <a:solidFill>
                      <a:prstClr val="black"/>
                    </a:solidFill>
                  </a:rPr>
                  <a:t>7.13 </a:t>
                </a:r>
                <a:r>
                  <a:rPr lang="zh-CN" altLang="en-US" sz="1400" dirty="0">
                    <a:solidFill>
                      <a:prstClr val="black"/>
                    </a:solidFill>
                  </a:rPr>
                  <a:t>图</a:t>
                </a:r>
                <a:r>
                  <a:rPr lang="en-US" altLang="zh-CN" sz="1400" dirty="0">
                    <a:solidFill>
                      <a:prstClr val="black"/>
                    </a:solidFill>
                  </a:rPr>
                  <a:t>P7.13</a:t>
                </a:r>
                <a:r>
                  <a:rPr lang="zh-CN" altLang="en-US" sz="1400" dirty="0">
                    <a:solidFill>
                      <a:prstClr val="black"/>
                    </a:solidFill>
                  </a:rPr>
                  <a:t>是用</a:t>
                </a:r>
                <a:r>
                  <a:rPr lang="en-US" altLang="zh-CN" sz="1400" dirty="0">
                    <a:solidFill>
                      <a:prstClr val="black"/>
                    </a:solidFill>
                  </a:rPr>
                  <a:t>CMOS</a:t>
                </a:r>
                <a:r>
                  <a:rPr lang="zh-CN" altLang="en-US" sz="1400" dirty="0">
                    <a:solidFill>
                      <a:prstClr val="black"/>
                    </a:solidFill>
                  </a:rPr>
                  <a:t>反相器组成的对称式多谐振荡器，若</a:t>
                </a:r>
                <a14:m>
                  <m:oMath xmlns:m="http://schemas.openxmlformats.org/officeDocument/2006/math">
                    <m:sSub>
                      <m:sSubPr>
                        <m:ctrlPr>
                          <a:rPr lang="en-US" altLang="zh-CN" sz="1400" i="1" smtClean="0">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𝑅</m:t>
                        </m:r>
                      </m:e>
                      <m:sub>
                        <m:r>
                          <a:rPr lang="en-US" altLang="zh-CN" sz="1400" b="0" i="1" smtClean="0">
                            <a:solidFill>
                              <a:prstClr val="black"/>
                            </a:solidFill>
                            <a:latin typeface="Cambria Math" panose="02040503050406030204" pitchFamily="18" charset="0"/>
                          </a:rPr>
                          <m:t>𝐹</m:t>
                        </m:r>
                        <m:r>
                          <a:rPr lang="en-US" altLang="zh-CN" sz="1400" b="0" i="1" smtClean="0">
                            <a:solidFill>
                              <a:prstClr val="black"/>
                            </a:solidFill>
                            <a:latin typeface="Cambria Math" panose="02040503050406030204" pitchFamily="18" charset="0"/>
                          </a:rPr>
                          <m:t>1</m:t>
                        </m:r>
                      </m:sub>
                    </m:sSub>
                    <m:r>
                      <a:rPr lang="en-US" altLang="zh-CN" sz="1400" b="0" i="1" smtClean="0">
                        <a:solidFill>
                          <a:prstClr val="black"/>
                        </a:solidFill>
                        <a:latin typeface="Cambria Math" panose="02040503050406030204" pitchFamily="18" charset="0"/>
                      </a:rPr>
                      <m:t>=</m:t>
                    </m:r>
                    <m:sSub>
                      <m:sSubPr>
                        <m:ctrlPr>
                          <a:rPr lang="en-US" altLang="zh-CN" sz="1400" b="0" i="1" smtClean="0">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𝑅</m:t>
                        </m:r>
                      </m:e>
                      <m:sub>
                        <m:r>
                          <a:rPr lang="en-US" altLang="zh-CN" sz="1400" b="0" i="1" smtClean="0">
                            <a:solidFill>
                              <a:prstClr val="black"/>
                            </a:solidFill>
                            <a:latin typeface="Cambria Math" panose="02040503050406030204" pitchFamily="18" charset="0"/>
                          </a:rPr>
                          <m:t>𝐹</m:t>
                        </m:r>
                        <m:r>
                          <a:rPr lang="en-US" altLang="zh-CN" sz="1400" b="0" i="1" smtClean="0">
                            <a:solidFill>
                              <a:prstClr val="black"/>
                            </a:solidFill>
                            <a:latin typeface="Cambria Math" panose="02040503050406030204" pitchFamily="18" charset="0"/>
                          </a:rPr>
                          <m:t>2</m:t>
                        </m:r>
                      </m:sub>
                    </m:sSub>
                    <m:r>
                      <a:rPr lang="en-US" altLang="zh-CN" sz="1400" b="0" i="1" smtClean="0">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10</m:t>
                    </m:r>
                    <m:r>
                      <a:rPr lang="en-US" altLang="zh-CN" sz="1400" b="0" i="1" smtClean="0">
                        <a:solidFill>
                          <a:prstClr val="black"/>
                        </a:solidFill>
                        <a:latin typeface="Cambria Math" panose="02040503050406030204" pitchFamily="18" charset="0"/>
                      </a:rPr>
                      <m:t>𝑘</m:t>
                    </m:r>
                    <m:r>
                      <m:rPr>
                        <m:sty m:val="p"/>
                      </m:rPr>
                      <a:rPr lang="el-GR" altLang="zh-CN" sz="1400" b="0" i="1" smtClean="0">
                        <a:solidFill>
                          <a:prstClr val="black"/>
                        </a:solidFill>
                        <a:latin typeface="Cambria Math" panose="02040503050406030204" pitchFamily="18" charset="0"/>
                        <a:ea typeface="Cambria Math" panose="02040503050406030204" pitchFamily="18" charset="0"/>
                      </a:rPr>
                      <m:t>Ω</m:t>
                    </m:r>
                  </m:oMath>
                </a14:m>
                <a:r>
                  <a:rPr lang="zh-CN" altLang="en-US" sz="1400" dirty="0">
                    <a:solidFill>
                      <a:prstClr val="black"/>
                    </a:solidFill>
                  </a:rPr>
                  <a:t>，</a:t>
                </a:r>
                <a14:m>
                  <m:oMath xmlns:m="http://schemas.openxmlformats.org/officeDocument/2006/math">
                    <m:sSub>
                      <m:sSubPr>
                        <m:ctrlPr>
                          <a:rPr lang="en-US" altLang="zh-CN" sz="1400" i="1">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𝐶</m:t>
                        </m:r>
                      </m:e>
                      <m:sub>
                        <m:r>
                          <a:rPr lang="en-US" altLang="zh-CN" sz="1400" i="1">
                            <a:solidFill>
                              <a:prstClr val="black"/>
                            </a:solidFill>
                            <a:latin typeface="Cambria Math" panose="02040503050406030204" pitchFamily="18" charset="0"/>
                          </a:rPr>
                          <m:t>1</m:t>
                        </m:r>
                      </m:sub>
                    </m:sSub>
                    <m:r>
                      <a:rPr lang="en-US" altLang="zh-CN" sz="1400" i="1">
                        <a:solidFill>
                          <a:prstClr val="black"/>
                        </a:solidFill>
                        <a:latin typeface="Cambria Math" panose="02040503050406030204" pitchFamily="18" charset="0"/>
                      </a:rPr>
                      <m:t>=</m:t>
                    </m:r>
                    <m:sSub>
                      <m:sSubPr>
                        <m:ctrlPr>
                          <a:rPr lang="en-US" altLang="zh-CN" sz="1400" i="1">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𝐶</m:t>
                        </m:r>
                      </m:e>
                      <m:sub>
                        <m:r>
                          <a:rPr lang="en-US" altLang="zh-CN" sz="1400" i="1">
                            <a:solidFill>
                              <a:prstClr val="black"/>
                            </a:solidFill>
                            <a:latin typeface="Cambria Math" panose="02040503050406030204" pitchFamily="18" charset="0"/>
                          </a:rPr>
                          <m:t>2</m:t>
                        </m:r>
                      </m:sub>
                    </m:sSub>
                    <m:r>
                      <a:rPr lang="en-US" altLang="zh-CN" sz="1400" i="1">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0</m:t>
                    </m:r>
                    <m:r>
                      <a:rPr lang="en-US" altLang="zh-CN" sz="1400" b="0" i="1" smtClean="0">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01</m:t>
                    </m:r>
                    <m:r>
                      <a:rPr lang="zh-CN" altLang="en-US" sz="1400" b="0" i="1" smtClean="0">
                        <a:solidFill>
                          <a:prstClr val="black"/>
                        </a:solidFill>
                        <a:latin typeface="Cambria Math" panose="02040503050406030204" pitchFamily="18" charset="0"/>
                      </a:rPr>
                      <m:t>𝜇</m:t>
                    </m:r>
                    <m:r>
                      <a:rPr lang="en-US" altLang="zh-CN" sz="1400" b="0" i="1" smtClean="0">
                        <a:solidFill>
                          <a:prstClr val="black"/>
                        </a:solidFill>
                        <a:latin typeface="Cambria Math" panose="02040503050406030204" pitchFamily="18" charset="0"/>
                      </a:rPr>
                      <m:t>𝐹</m:t>
                    </m:r>
                  </m:oMath>
                </a14:m>
                <a:r>
                  <a:rPr lang="zh-CN" altLang="en-US" sz="1400" dirty="0">
                    <a:solidFill>
                      <a:prstClr val="black"/>
                    </a:solidFill>
                  </a:rPr>
                  <a:t>，</a:t>
                </a:r>
                <a14:m>
                  <m:oMath xmlns:m="http://schemas.openxmlformats.org/officeDocument/2006/math">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𝑅</m:t>
                        </m:r>
                      </m:e>
                      <m:sub>
                        <m:r>
                          <a:rPr lang="en-US" altLang="zh-CN" sz="1400" b="0" i="1" smtClean="0">
                            <a:solidFill>
                              <a:prstClr val="black"/>
                            </a:solidFill>
                            <a:latin typeface="Cambria Math" panose="02040503050406030204" pitchFamily="18" charset="0"/>
                          </a:rPr>
                          <m:t>𝑃</m:t>
                        </m:r>
                        <m:r>
                          <a:rPr lang="en-US" altLang="zh-CN" sz="1400" i="1">
                            <a:solidFill>
                              <a:prstClr val="black"/>
                            </a:solidFill>
                            <a:latin typeface="Cambria Math" panose="02040503050406030204" pitchFamily="18" charset="0"/>
                          </a:rPr>
                          <m:t>1</m:t>
                        </m:r>
                      </m:sub>
                    </m:sSub>
                    <m:r>
                      <a:rPr lang="en-US" altLang="zh-CN" sz="1400" i="1">
                        <a:solidFill>
                          <a:prstClr val="black"/>
                        </a:solidFill>
                        <a:latin typeface="Cambria Math" panose="02040503050406030204" pitchFamily="18" charset="0"/>
                      </a:rPr>
                      <m:t>=</m:t>
                    </m:r>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𝑅</m:t>
                        </m:r>
                      </m:e>
                      <m:sub>
                        <m:r>
                          <a:rPr lang="en-US" altLang="zh-CN" sz="1400" b="0" i="1" smtClean="0">
                            <a:solidFill>
                              <a:prstClr val="black"/>
                            </a:solidFill>
                            <a:latin typeface="Cambria Math" panose="02040503050406030204" pitchFamily="18" charset="0"/>
                          </a:rPr>
                          <m:t>𝑃</m:t>
                        </m:r>
                        <m:r>
                          <a:rPr lang="en-US" altLang="zh-CN" sz="1400" i="1">
                            <a:solidFill>
                              <a:prstClr val="black"/>
                            </a:solidFill>
                            <a:latin typeface="Cambria Math" panose="02040503050406030204" pitchFamily="18" charset="0"/>
                          </a:rPr>
                          <m:t>2</m:t>
                        </m:r>
                      </m:sub>
                    </m:sSub>
                    <m:r>
                      <a:rPr lang="en-US" altLang="zh-CN" sz="1400" i="1">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33</m:t>
                    </m:r>
                    <m:r>
                      <a:rPr lang="en-US" altLang="zh-CN" sz="1400" i="1">
                        <a:solidFill>
                          <a:prstClr val="black"/>
                        </a:solidFill>
                        <a:latin typeface="Cambria Math" panose="02040503050406030204" pitchFamily="18" charset="0"/>
                      </a:rPr>
                      <m:t>𝑘</m:t>
                    </m:r>
                    <m:r>
                      <m:rPr>
                        <m:sty m:val="p"/>
                      </m:rPr>
                      <a:rPr lang="el-GR" altLang="zh-CN" sz="1400" i="1">
                        <a:solidFill>
                          <a:prstClr val="black"/>
                        </a:solidFill>
                        <a:latin typeface="Cambria Math" panose="02040503050406030204" pitchFamily="18" charset="0"/>
                        <a:ea typeface="Cambria Math" panose="02040503050406030204" pitchFamily="18" charset="0"/>
                      </a:rPr>
                      <m:t>Ω</m:t>
                    </m:r>
                  </m:oMath>
                </a14:m>
                <a:r>
                  <a:rPr lang="zh-CN" altLang="en-US" sz="1400" dirty="0">
                    <a:solidFill>
                      <a:prstClr val="black"/>
                    </a:solidFill>
                  </a:rPr>
                  <a:t>，试求电路的振荡频率，并画出</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b="0" i="1" smtClean="0">
                            <a:solidFill>
                              <a:prstClr val="black"/>
                            </a:solidFill>
                            <a:latin typeface="Cambria Math" panose="02040503050406030204" pitchFamily="18" charset="0"/>
                            <a:ea typeface="Cambria Math" panose="02040503050406030204" pitchFamily="18" charset="0"/>
                          </a:rPr>
                          <m:t>𝐼</m:t>
                        </m:r>
                        <m:r>
                          <a:rPr lang="en-US" altLang="zh-CN" sz="1400" b="0" i="1" smtClean="0">
                            <a:solidFill>
                              <a:prstClr val="black"/>
                            </a:solidFill>
                            <a:latin typeface="Cambria Math" panose="02040503050406030204" pitchFamily="18" charset="0"/>
                            <a:ea typeface="Cambria Math" panose="02040503050406030204" pitchFamily="18" charset="0"/>
                          </a:rPr>
                          <m:t>1</m:t>
                        </m:r>
                      </m:sub>
                    </m:sSub>
                  </m:oMath>
                </a14:m>
                <a:r>
                  <a:rPr lang="zh-CN" altLang="en-US" sz="1400" dirty="0">
                    <a:solidFill>
                      <a:prstClr val="black"/>
                    </a:solidFill>
                  </a:rPr>
                  <a:t>、</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r>
                          <a:rPr lang="en-US" altLang="zh-CN" sz="1400" i="1">
                            <a:solidFill>
                              <a:prstClr val="black"/>
                            </a:solidFill>
                            <a:latin typeface="Cambria Math" panose="02040503050406030204" pitchFamily="18" charset="0"/>
                            <a:ea typeface="Cambria Math" panose="02040503050406030204" pitchFamily="18" charset="0"/>
                          </a:rPr>
                          <m:t>1</m:t>
                        </m:r>
                      </m:sub>
                    </m:sSub>
                  </m:oMath>
                </a14:m>
                <a:r>
                  <a:rPr lang="zh-CN" altLang="en-US" sz="1400" dirty="0">
                    <a:solidFill>
                      <a:prstClr val="black"/>
                    </a:solidFill>
                  </a:rPr>
                  <a:t>、</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r>
                          <a:rPr lang="en-US" altLang="zh-CN" sz="1400" i="1">
                            <a:solidFill>
                              <a:prstClr val="black"/>
                            </a:solidFill>
                            <a:latin typeface="Cambria Math" panose="02040503050406030204" pitchFamily="18" charset="0"/>
                            <a:ea typeface="Cambria Math" panose="02040503050406030204" pitchFamily="18" charset="0"/>
                          </a:rPr>
                          <m:t>2</m:t>
                        </m:r>
                      </m:sub>
                    </m:sSub>
                  </m:oMath>
                </a14:m>
                <a:r>
                  <a:rPr lang="zh-CN" altLang="en-US" sz="1400" dirty="0">
                    <a:solidFill>
                      <a:prstClr val="black"/>
                    </a:solidFill>
                  </a:rPr>
                  <a:t>、</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r>
                          <a:rPr lang="en-US" altLang="zh-CN" sz="1400" b="0" i="1" smtClean="0">
                            <a:solidFill>
                              <a:prstClr val="black"/>
                            </a:solidFill>
                            <a:latin typeface="Cambria Math" panose="02040503050406030204" pitchFamily="18" charset="0"/>
                            <a:ea typeface="Cambria Math" panose="02040503050406030204" pitchFamily="18" charset="0"/>
                          </a:rPr>
                          <m:t>2</m:t>
                        </m:r>
                      </m:sub>
                    </m:sSub>
                  </m:oMath>
                </a14:m>
                <a:r>
                  <a:rPr lang="zh-CN" altLang="en-US" sz="1400" dirty="0">
                    <a:solidFill>
                      <a:prstClr val="black"/>
                    </a:solidFill>
                  </a:rPr>
                  <a:t>各点的电压波形。</a:t>
                </a:r>
                <a:endParaRPr lang="zh-CN" altLang="en-US" sz="1400" dirty="0">
                  <a:solidFill>
                    <a:prstClr val="black"/>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358826" y="1215162"/>
                <a:ext cx="6140348" cy="1024961"/>
              </a:xfrm>
              <a:prstGeom prst="rect">
                <a:avLst/>
              </a:prstGeom>
              <a:blipFill rotWithShape="1">
                <a:blip r:embed="rId1"/>
                <a:stretch>
                  <a:fillRect l="-1" t="-40" r="10" b="4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358775" y="2360295"/>
                <a:ext cx="5856605" cy="4058285"/>
              </a:xfrm>
              <a:prstGeom prst="rect">
                <a:avLst/>
              </a:prstGeom>
              <a:noFill/>
            </p:spPr>
            <p:txBody>
              <a:bodyPr wrap="square" rtlCol="0">
                <a:spAutoFit/>
              </a:bodyPr>
              <a:lstStyle/>
              <a:p>
                <a:pPr>
                  <a:lnSpc>
                    <a:spcPct val="150000"/>
                  </a:lnSpc>
                </a:pPr>
                <a:r>
                  <a:rPr lang="zh-CN" altLang="en-US" sz="1400" dirty="0">
                    <a:solidFill>
                      <a:prstClr val="black"/>
                    </a:solidFill>
                  </a:rPr>
                  <a:t>解：当</a:t>
                </a:r>
                <a14:m>
                  <m:oMath xmlns:m="http://schemas.openxmlformats.org/officeDocument/2006/math">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𝑅</m:t>
                        </m:r>
                      </m:e>
                      <m:sub>
                        <m:r>
                          <a:rPr lang="en-US" altLang="zh-CN" sz="1400" i="1">
                            <a:solidFill>
                              <a:prstClr val="black"/>
                            </a:solidFill>
                            <a:latin typeface="Cambria Math" panose="02040503050406030204" pitchFamily="18" charset="0"/>
                          </a:rPr>
                          <m:t>𝑃</m:t>
                        </m:r>
                        <m:r>
                          <a:rPr lang="en-US" altLang="zh-CN" sz="1400" i="1">
                            <a:solidFill>
                              <a:prstClr val="black"/>
                            </a:solidFill>
                            <a:latin typeface="Cambria Math" panose="02040503050406030204" pitchFamily="18" charset="0"/>
                          </a:rPr>
                          <m:t>1</m:t>
                        </m:r>
                      </m:sub>
                    </m:sSub>
                  </m:oMath>
                </a14:m>
                <a:r>
                  <a:rPr lang="zh-CN" altLang="en-US" sz="1400" dirty="0">
                    <a:solidFill>
                      <a:prstClr val="black"/>
                    </a:solidFill>
                  </a:rPr>
                  <a:t>、</a:t>
                </a:r>
                <a14:m>
                  <m:oMath xmlns:m="http://schemas.openxmlformats.org/officeDocument/2006/math">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𝑅</m:t>
                        </m:r>
                      </m:e>
                      <m:sub>
                        <m:r>
                          <a:rPr lang="en-US" altLang="zh-CN" sz="1400" i="1">
                            <a:solidFill>
                              <a:prstClr val="black"/>
                            </a:solidFill>
                            <a:latin typeface="Cambria Math" panose="02040503050406030204" pitchFamily="18" charset="0"/>
                          </a:rPr>
                          <m:t>𝑃</m:t>
                        </m:r>
                        <m:r>
                          <a:rPr lang="en-US" altLang="zh-CN" sz="1400" i="1">
                            <a:solidFill>
                              <a:prstClr val="black"/>
                            </a:solidFill>
                            <a:latin typeface="Cambria Math" panose="02040503050406030204" pitchFamily="18" charset="0"/>
                          </a:rPr>
                          <m:t>2</m:t>
                        </m:r>
                      </m:sub>
                    </m:sSub>
                  </m:oMath>
                </a14:m>
                <a:r>
                  <a:rPr lang="zh-CN" altLang="en-US" sz="1400" dirty="0">
                    <a:solidFill>
                      <a:prstClr val="black"/>
                    </a:solidFill>
                  </a:rPr>
                  <a:t>足够大的情况下，反相器的输入电流可以忽略不计（换言之看</a:t>
                </a:r>
                <a:r>
                  <a:rPr lang="zh-CN" altLang="en-US" sz="1400" dirty="0">
                    <a:solidFill>
                      <a:prstClr val="black"/>
                    </a:solidFill>
                  </a:rPr>
                  <a:t>输出）。在电路参数对称的情况下，电容的充电时间、放电时间相等，由此可画出如下图的各点电压波形。</a:t>
                </a:r>
                <a:endParaRPr lang="zh-CN" altLang="en-US" sz="1400" dirty="0">
                  <a:solidFill>
                    <a:prstClr val="black"/>
                  </a:solidFill>
                </a:endParaRPr>
              </a:p>
              <a:p>
                <a:pPr>
                  <a:lnSpc>
                    <a:spcPct val="150000"/>
                  </a:lnSpc>
                </a:pPr>
                <a:r>
                  <a:rPr lang="zh-CN" altLang="en-US" sz="1400" dirty="0">
                    <a:solidFill>
                      <a:prstClr val="black"/>
                    </a:solidFill>
                    <a:sym typeface="+mn-ea"/>
                  </a:rPr>
                  <a:t>由等效电路求得振荡周期为</a:t>
                </a:r>
                <a:endParaRPr lang="en-US" altLang="zh-CN" sz="1400" dirty="0">
                  <a:solidFill>
                    <a:prstClr val="black"/>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400" b="0" i="1" smtClean="0">
                          <a:solidFill>
                            <a:prstClr val="black"/>
                          </a:solidFill>
                          <a:latin typeface="Cambria Math" panose="02040503050406030204" pitchFamily="18" charset="0"/>
                        </a:rPr>
                        <m:t>𝑇</m:t>
                      </m:r>
                      <m:r>
                        <a:rPr lang="en-US" altLang="zh-CN" sz="1400" b="0" i="1" smtClean="0">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2</m:t>
                      </m:r>
                      <m:d>
                        <m:dPr>
                          <m:ctrlPr>
                            <a:rPr lang="en-US" altLang="zh-CN" sz="1400" b="0" i="1" smtClean="0">
                              <a:solidFill>
                                <a:prstClr val="black"/>
                              </a:solidFill>
                              <a:latin typeface="Cambria Math" panose="02040503050406030204" pitchFamily="18" charset="0"/>
                            </a:rPr>
                          </m:ctrlPr>
                        </m:dPr>
                        <m:e>
                          <m:sSub>
                            <m:sSubPr>
                              <m:ctrlPr>
                                <a:rPr lang="en-US" altLang="zh-CN" sz="1400" b="0" i="1" smtClean="0">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𝑅</m:t>
                              </m:r>
                            </m:e>
                            <m:sub>
                              <m:r>
                                <a:rPr lang="en-US" altLang="zh-CN" sz="1400" b="0" i="1" smtClean="0">
                                  <a:solidFill>
                                    <a:prstClr val="black"/>
                                  </a:solidFill>
                                  <a:latin typeface="Cambria Math" panose="02040503050406030204" pitchFamily="18" charset="0"/>
                                </a:rPr>
                                <m:t>𝐹</m:t>
                              </m:r>
                            </m:sub>
                          </m:sSub>
                          <m:r>
                            <a:rPr lang="en-US" altLang="zh-CN" sz="1400" b="0" i="1" smtClean="0">
                              <a:solidFill>
                                <a:prstClr val="black"/>
                              </a:solidFill>
                              <a:latin typeface="Cambria Math" panose="02040503050406030204" pitchFamily="18" charset="0"/>
                            </a:rPr>
                            <m:t>+</m:t>
                          </m:r>
                          <m:sSub>
                            <m:sSubPr>
                              <m:ctrlPr>
                                <a:rPr lang="en-US" altLang="zh-CN" sz="1400" b="0" i="1" smtClean="0">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𝑅</m:t>
                              </m:r>
                            </m:e>
                            <m:sub>
                              <m:r>
                                <a:rPr lang="en-US" altLang="zh-CN" sz="1400" b="0" i="1" smtClean="0">
                                  <a:solidFill>
                                    <a:prstClr val="black"/>
                                  </a:solidFill>
                                  <a:latin typeface="Cambria Math" panose="02040503050406030204" pitchFamily="18" charset="0"/>
                                </a:rPr>
                                <m:t>𝑂𝑁</m:t>
                              </m:r>
                              <m:d>
                                <m:dPr>
                                  <m:ctrlPr>
                                    <a:rPr lang="en-US" altLang="zh-CN" sz="1400" b="0" i="1" smtClean="0">
                                      <a:solidFill>
                                        <a:prstClr val="black"/>
                                      </a:solidFill>
                                      <a:latin typeface="Cambria Math" panose="02040503050406030204" pitchFamily="18" charset="0"/>
                                    </a:rPr>
                                  </m:ctrlPr>
                                </m:dPr>
                                <m:e>
                                  <m:r>
                                    <a:rPr lang="en-US" altLang="zh-CN" sz="1400" b="0" i="1" smtClean="0">
                                      <a:solidFill>
                                        <a:prstClr val="black"/>
                                      </a:solidFill>
                                      <a:latin typeface="Cambria Math" panose="02040503050406030204" pitchFamily="18" charset="0"/>
                                    </a:rPr>
                                    <m:t>𝑁</m:t>
                                  </m:r>
                                </m:e>
                              </m:d>
                            </m:sub>
                          </m:sSub>
                          <m:r>
                            <a:rPr lang="en-US" altLang="zh-CN" sz="1400" b="0" i="1" smtClean="0">
                              <a:solidFill>
                                <a:prstClr val="black"/>
                              </a:solidFill>
                              <a:latin typeface="Cambria Math" panose="02040503050406030204" pitchFamily="18" charset="0"/>
                            </a:rPr>
                            <m:t>+</m:t>
                          </m:r>
                          <m:sSub>
                            <m:sSubPr>
                              <m:ctrlPr>
                                <a:rPr lang="en-US" altLang="zh-CN" sz="1400" b="0" i="1" smtClean="0">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𝑅</m:t>
                              </m:r>
                            </m:e>
                            <m:sub>
                              <m:r>
                                <a:rPr lang="en-US" altLang="zh-CN" sz="1400" b="0" i="1" smtClean="0">
                                  <a:solidFill>
                                    <a:prstClr val="black"/>
                                  </a:solidFill>
                                  <a:latin typeface="Cambria Math" panose="02040503050406030204" pitchFamily="18" charset="0"/>
                                </a:rPr>
                                <m:t>𝑂𝑁</m:t>
                              </m:r>
                              <m:d>
                                <m:dPr>
                                  <m:ctrlPr>
                                    <a:rPr lang="en-US" altLang="zh-CN" sz="1400" b="0" i="1" smtClean="0">
                                      <a:solidFill>
                                        <a:prstClr val="black"/>
                                      </a:solidFill>
                                      <a:latin typeface="Cambria Math" panose="02040503050406030204" pitchFamily="18" charset="0"/>
                                    </a:rPr>
                                  </m:ctrlPr>
                                </m:dPr>
                                <m:e>
                                  <m:r>
                                    <a:rPr lang="en-US" altLang="zh-CN" sz="1400" b="0" i="1" smtClean="0">
                                      <a:solidFill>
                                        <a:prstClr val="black"/>
                                      </a:solidFill>
                                      <a:latin typeface="Cambria Math" panose="02040503050406030204" pitchFamily="18" charset="0"/>
                                    </a:rPr>
                                    <m:t>𝑃</m:t>
                                  </m:r>
                                </m:e>
                              </m:d>
                            </m:sub>
                          </m:sSub>
                        </m:e>
                      </m:d>
                      <m:r>
                        <a:rPr lang="en-US" altLang="zh-CN" sz="1400" b="0" i="1" smtClean="0">
                          <a:solidFill>
                            <a:prstClr val="black"/>
                          </a:solidFill>
                          <a:latin typeface="Cambria Math" panose="02040503050406030204" pitchFamily="18" charset="0"/>
                        </a:rPr>
                        <m:t>𝐶𝑙𝑛</m:t>
                      </m:r>
                      <m:f>
                        <m:fPr>
                          <m:ctrlPr>
                            <a:rPr lang="en-US" altLang="zh-CN" sz="1400" b="0" i="1" smtClean="0">
                              <a:solidFill>
                                <a:prstClr val="black"/>
                              </a:solidFill>
                              <a:latin typeface="Cambria Math" panose="02040503050406030204" pitchFamily="18" charset="0"/>
                            </a:rPr>
                          </m:ctrlPr>
                        </m:fPr>
                        <m:num>
                          <m:sSub>
                            <m:sSubPr>
                              <m:ctrlPr>
                                <a:rPr lang="en-US" altLang="zh-CN" sz="1400" b="0" i="1" smtClean="0">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𝑉</m:t>
                              </m:r>
                            </m:e>
                            <m:sub>
                              <m:r>
                                <a:rPr lang="en-US" altLang="zh-CN" sz="1400" b="0" i="1" smtClean="0">
                                  <a:solidFill>
                                    <a:prstClr val="black"/>
                                  </a:solidFill>
                                  <a:latin typeface="Cambria Math" panose="02040503050406030204" pitchFamily="18" charset="0"/>
                                </a:rPr>
                                <m:t>𝐷𝐷</m:t>
                              </m:r>
                            </m:sub>
                          </m:sSub>
                          <m:r>
                            <a:rPr lang="en-US" altLang="zh-CN" sz="1400" b="0" i="1" smtClean="0">
                              <a:solidFill>
                                <a:prstClr val="black"/>
                              </a:solidFill>
                              <a:latin typeface="Cambria Math" panose="02040503050406030204" pitchFamily="18" charset="0"/>
                            </a:rPr>
                            <m:t>−(</m:t>
                          </m:r>
                          <m:sSub>
                            <m:sSubPr>
                              <m:ctrlPr>
                                <a:rPr lang="en-US" altLang="zh-CN" sz="1400" b="0" i="1" smtClean="0">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𝑉</m:t>
                              </m:r>
                            </m:e>
                            <m:sub>
                              <m:r>
                                <a:rPr lang="en-US" altLang="zh-CN" sz="1400" b="0" i="1" smtClean="0">
                                  <a:solidFill>
                                    <a:prstClr val="black"/>
                                  </a:solidFill>
                                  <a:latin typeface="Cambria Math" panose="02040503050406030204" pitchFamily="18" charset="0"/>
                                </a:rPr>
                                <m:t>𝑇𝐻</m:t>
                              </m:r>
                            </m:sub>
                          </m:sSub>
                          <m:r>
                            <a:rPr lang="en-US" altLang="zh-CN" sz="1400" b="0" i="1" smtClean="0">
                              <a:solidFill>
                                <a:prstClr val="black"/>
                              </a:solidFill>
                              <a:latin typeface="Cambria Math" panose="02040503050406030204" pitchFamily="18" charset="0"/>
                            </a:rPr>
                            <m:t>−</m:t>
                          </m:r>
                          <m:sSub>
                            <m:sSubPr>
                              <m:ctrlPr>
                                <a:rPr lang="en-US" altLang="zh-CN" sz="1400" b="0" i="1" smtClean="0">
                                  <a:solidFill>
                                    <a:prstClr val="black"/>
                                  </a:solidFill>
                                  <a:latin typeface="Cambria Math" panose="02040503050406030204" pitchFamily="18" charset="0"/>
                                </a:rPr>
                              </m:ctrlPr>
                            </m:sSubPr>
                            <m:e>
                              <m:r>
                                <a:rPr lang="en-US" altLang="zh-CN" sz="1400" b="0" i="1" smtClean="0">
                                  <a:solidFill>
                                    <a:prstClr val="black"/>
                                  </a:solidFill>
                                  <a:latin typeface="Cambria Math" panose="02040503050406030204" pitchFamily="18" charset="0"/>
                                </a:rPr>
                                <m:t>𝑉</m:t>
                              </m:r>
                            </m:e>
                            <m:sub>
                              <m:r>
                                <a:rPr lang="en-US" altLang="zh-CN" sz="1400" b="0" i="1" smtClean="0">
                                  <a:solidFill>
                                    <a:prstClr val="black"/>
                                  </a:solidFill>
                                  <a:latin typeface="Cambria Math" panose="02040503050406030204" pitchFamily="18" charset="0"/>
                                </a:rPr>
                                <m:t>𝐷𝐷</m:t>
                              </m:r>
                            </m:sub>
                          </m:sSub>
                          <m:r>
                            <a:rPr lang="en-US" altLang="zh-CN" sz="1400" b="0" i="1" smtClean="0">
                              <a:solidFill>
                                <a:prstClr val="black"/>
                              </a:solidFill>
                              <a:latin typeface="Cambria Math" panose="02040503050406030204" pitchFamily="18" charset="0"/>
                            </a:rPr>
                            <m:t>)</m:t>
                          </m:r>
                        </m:num>
                        <m:den>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𝑉</m:t>
                              </m:r>
                            </m:e>
                            <m:sub>
                              <m:r>
                                <a:rPr lang="en-US" altLang="zh-CN" sz="1400" i="1">
                                  <a:solidFill>
                                    <a:prstClr val="black"/>
                                  </a:solidFill>
                                  <a:latin typeface="Cambria Math" panose="02040503050406030204" pitchFamily="18" charset="0"/>
                                </a:rPr>
                                <m:t>𝐷𝐷</m:t>
                              </m:r>
                            </m:sub>
                          </m:sSub>
                          <m:r>
                            <a:rPr lang="en-US" altLang="zh-CN" sz="1400" i="1">
                              <a:solidFill>
                                <a:prstClr val="black"/>
                              </a:solidFill>
                              <a:latin typeface="Cambria Math" panose="02040503050406030204" pitchFamily="18" charset="0"/>
                            </a:rPr>
                            <m:t>−</m:t>
                          </m:r>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𝑉</m:t>
                              </m:r>
                            </m:e>
                            <m:sub>
                              <m:r>
                                <a:rPr lang="en-US" altLang="zh-CN" sz="1400" i="1">
                                  <a:solidFill>
                                    <a:prstClr val="black"/>
                                  </a:solidFill>
                                  <a:latin typeface="Cambria Math" panose="02040503050406030204" pitchFamily="18" charset="0"/>
                                </a:rPr>
                                <m:t>𝑇𝐻</m:t>
                              </m:r>
                            </m:sub>
                          </m:sSub>
                        </m:den>
                      </m:f>
                    </m:oMath>
                  </m:oMathPara>
                </a14:m>
                <a:endParaRPr lang="en-US" altLang="zh-CN" sz="1400" dirty="0">
                  <a:solidFill>
                    <a:prstClr val="black"/>
                  </a:solidFill>
                </a:endParaRPr>
              </a:p>
              <a:p>
                <a:pPr>
                  <a:lnSpc>
                    <a:spcPct val="150000"/>
                  </a:lnSpc>
                </a:pPr>
                <a:r>
                  <a:rPr lang="zh-CN" altLang="en-US" sz="1400" dirty="0">
                    <a:solidFill>
                      <a:prstClr val="black"/>
                    </a:solidFill>
                    <a:sym typeface="+mn-ea"/>
                  </a:rPr>
                  <a:t>在</a:t>
                </a:r>
                <a14:m>
                  <m:oMath xmlns:m="http://schemas.openxmlformats.org/officeDocument/2006/math">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𝑅</m:t>
                        </m:r>
                      </m:e>
                      <m:sub>
                        <m:r>
                          <a:rPr lang="en-US" altLang="zh-CN" sz="1400" i="1">
                            <a:solidFill>
                              <a:prstClr val="black"/>
                            </a:solidFill>
                            <a:latin typeface="Cambria Math" panose="02040503050406030204" pitchFamily="18" charset="0"/>
                          </a:rPr>
                          <m:t>𝐹</m:t>
                        </m:r>
                      </m:sub>
                    </m:sSub>
                    <m:r>
                      <a:rPr lang="en-US" altLang="zh-CN" sz="1400" i="1" smtClean="0">
                        <a:solidFill>
                          <a:prstClr val="black"/>
                        </a:solidFill>
                        <a:latin typeface="Cambria Math" panose="02040503050406030204" pitchFamily="18" charset="0"/>
                        <a:ea typeface="Cambria Math" panose="02040503050406030204" pitchFamily="18" charset="0"/>
                      </a:rPr>
                      <m:t>≫</m:t>
                    </m:r>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𝑅</m:t>
                        </m:r>
                      </m:e>
                      <m:sub>
                        <m:r>
                          <a:rPr lang="en-US" altLang="zh-CN" sz="1400" i="1">
                            <a:solidFill>
                              <a:prstClr val="black"/>
                            </a:solidFill>
                            <a:latin typeface="Cambria Math" panose="02040503050406030204" pitchFamily="18" charset="0"/>
                          </a:rPr>
                          <m:t>𝑂𝑁</m:t>
                        </m:r>
                        <m:d>
                          <m:dPr>
                            <m:ctrlPr>
                              <a:rPr lang="en-US" altLang="zh-CN" sz="1400" i="1">
                                <a:solidFill>
                                  <a:prstClr val="black"/>
                                </a:solidFill>
                                <a:latin typeface="Cambria Math" panose="02040503050406030204" pitchFamily="18" charset="0"/>
                              </a:rPr>
                            </m:ctrlPr>
                          </m:dPr>
                          <m:e>
                            <m:r>
                              <a:rPr lang="en-US" altLang="zh-CN" sz="1400" i="1">
                                <a:solidFill>
                                  <a:prstClr val="black"/>
                                </a:solidFill>
                                <a:latin typeface="Cambria Math" panose="02040503050406030204" pitchFamily="18" charset="0"/>
                              </a:rPr>
                              <m:t>𝑁</m:t>
                            </m:r>
                          </m:e>
                        </m:d>
                      </m:sub>
                    </m:sSub>
                  </m:oMath>
                </a14:m>
                <a:r>
                  <a:rPr lang="zh-CN" altLang="en-US" sz="1400" dirty="0">
                    <a:solidFill>
                      <a:prstClr val="black"/>
                    </a:solidFill>
                    <a:sym typeface="+mn-ea"/>
                  </a:rPr>
                  <a:t>、</a:t>
                </a:r>
                <a14:m>
                  <m:oMath xmlns:m="http://schemas.openxmlformats.org/officeDocument/2006/math">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𝑅</m:t>
                        </m:r>
                      </m:e>
                      <m:sub>
                        <m:r>
                          <a:rPr lang="en-US" altLang="zh-CN" sz="1400" i="1">
                            <a:solidFill>
                              <a:prstClr val="black"/>
                            </a:solidFill>
                            <a:latin typeface="Cambria Math" panose="02040503050406030204" pitchFamily="18" charset="0"/>
                          </a:rPr>
                          <m:t>𝐹</m:t>
                        </m:r>
                      </m:sub>
                    </m:sSub>
                    <m:r>
                      <a:rPr lang="en-US" altLang="zh-CN" sz="1400" i="1">
                        <a:solidFill>
                          <a:prstClr val="black"/>
                        </a:solidFill>
                        <a:latin typeface="Cambria Math" panose="02040503050406030204" pitchFamily="18" charset="0"/>
                        <a:ea typeface="Cambria Math" panose="02040503050406030204" pitchFamily="18" charset="0"/>
                      </a:rPr>
                      <m:t>≫</m:t>
                    </m:r>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𝑅</m:t>
                        </m:r>
                      </m:e>
                      <m:sub>
                        <m:r>
                          <a:rPr lang="en-US" altLang="zh-CN" sz="1400" i="1">
                            <a:solidFill>
                              <a:prstClr val="black"/>
                            </a:solidFill>
                            <a:latin typeface="Cambria Math" panose="02040503050406030204" pitchFamily="18" charset="0"/>
                          </a:rPr>
                          <m:t>𝑂𝑁</m:t>
                        </m:r>
                        <m:d>
                          <m:dPr>
                            <m:ctrlPr>
                              <a:rPr lang="en-US" altLang="zh-CN" sz="1400" i="1">
                                <a:solidFill>
                                  <a:prstClr val="black"/>
                                </a:solidFill>
                                <a:latin typeface="Cambria Math" panose="02040503050406030204" pitchFamily="18" charset="0"/>
                              </a:rPr>
                            </m:ctrlPr>
                          </m:dPr>
                          <m:e>
                            <m:r>
                              <a:rPr lang="en-US" altLang="zh-CN" sz="1400" b="0" i="1" smtClean="0">
                                <a:solidFill>
                                  <a:prstClr val="black"/>
                                </a:solidFill>
                                <a:latin typeface="Cambria Math" panose="02040503050406030204" pitchFamily="18" charset="0"/>
                              </a:rPr>
                              <m:t>𝑃</m:t>
                            </m:r>
                          </m:e>
                        </m:d>
                      </m:sub>
                    </m:sSub>
                  </m:oMath>
                </a14:m>
                <a:r>
                  <a:rPr lang="zh-CN" altLang="en-US" sz="1400" dirty="0">
                    <a:solidFill>
                      <a:prstClr val="black"/>
                    </a:solidFill>
                    <a:sym typeface="+mn-ea"/>
                  </a:rPr>
                  <a:t>、</a:t>
                </a:r>
                <a14:m>
                  <m:oMath xmlns:m="http://schemas.openxmlformats.org/officeDocument/2006/math">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𝑉</m:t>
                        </m:r>
                      </m:e>
                      <m:sub>
                        <m:r>
                          <a:rPr lang="en-US" altLang="zh-CN" sz="1400" i="1">
                            <a:solidFill>
                              <a:prstClr val="black"/>
                            </a:solidFill>
                            <a:latin typeface="Cambria Math" panose="02040503050406030204" pitchFamily="18" charset="0"/>
                          </a:rPr>
                          <m:t>𝑇𝐻</m:t>
                        </m:r>
                      </m:sub>
                    </m:sSub>
                    <m:r>
                      <a:rPr lang="en-US" altLang="zh-CN" sz="1400" i="1" smtClean="0">
                        <a:solidFill>
                          <a:prstClr val="black"/>
                        </a:solidFill>
                        <a:latin typeface="Cambria Math" panose="02040503050406030204" pitchFamily="18" charset="0"/>
                      </a:rPr>
                      <m:t>=</m:t>
                    </m:r>
                    <m:f>
                      <m:fPr>
                        <m:ctrlPr>
                          <a:rPr lang="en-US" altLang="zh-CN" sz="1400" i="1" smtClean="0">
                            <a:solidFill>
                              <a:prstClr val="black"/>
                            </a:solidFill>
                            <a:latin typeface="Cambria Math" panose="02040503050406030204" pitchFamily="18" charset="0"/>
                          </a:rPr>
                        </m:ctrlPr>
                      </m:fPr>
                      <m:num>
                        <m:r>
                          <a:rPr lang="en-US" altLang="zh-CN" sz="1400" i="1">
                            <a:solidFill>
                              <a:prstClr val="black"/>
                            </a:solidFill>
                            <a:latin typeface="Cambria Math" panose="02040503050406030204" pitchFamily="18" charset="0"/>
                          </a:rPr>
                          <m:t>1</m:t>
                        </m:r>
                      </m:num>
                      <m:den>
                        <m:r>
                          <a:rPr lang="en-US" altLang="zh-CN" sz="1400" i="1">
                            <a:solidFill>
                              <a:prstClr val="black"/>
                            </a:solidFill>
                            <a:latin typeface="Cambria Math" panose="02040503050406030204" pitchFamily="18" charset="0"/>
                          </a:rPr>
                          <m:t>2</m:t>
                        </m:r>
                      </m:den>
                    </m:f>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𝑉</m:t>
                        </m:r>
                      </m:e>
                      <m:sub>
                        <m:r>
                          <a:rPr lang="en-US" altLang="zh-CN" sz="1400" i="1">
                            <a:solidFill>
                              <a:prstClr val="black"/>
                            </a:solidFill>
                            <a:latin typeface="Cambria Math" panose="02040503050406030204" pitchFamily="18" charset="0"/>
                          </a:rPr>
                          <m:t>𝐷𝐷</m:t>
                        </m:r>
                      </m:sub>
                    </m:sSub>
                  </m:oMath>
                </a14:m>
                <a:r>
                  <a:rPr lang="zh-CN" altLang="en-US" sz="1400" dirty="0">
                    <a:solidFill>
                      <a:prstClr val="black"/>
                    </a:solidFill>
                    <a:sym typeface="+mn-ea"/>
                  </a:rPr>
                  <a:t>的条件下，可将上式写成</a:t>
                </a:r>
                <a:endParaRPr lang="en-US" altLang="zh-CN" sz="1400" dirty="0">
                  <a:solidFill>
                    <a:prstClr val="black"/>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400" i="1">
                          <a:solidFill>
                            <a:prstClr val="black"/>
                          </a:solidFill>
                          <a:latin typeface="Cambria Math" panose="02040503050406030204" pitchFamily="18" charset="0"/>
                        </a:rPr>
                        <m:t>𝑇</m:t>
                      </m:r>
                      <m:r>
                        <a:rPr lang="en-US" altLang="zh-CN" sz="1400" i="1">
                          <a:solidFill>
                            <a:prstClr val="black"/>
                          </a:solidFill>
                          <a:latin typeface="Cambria Math" panose="02040503050406030204" pitchFamily="18" charset="0"/>
                        </a:rPr>
                        <m:t>=</m:t>
                      </m:r>
                      <m:r>
                        <a:rPr lang="en-US" altLang="zh-CN" sz="1400" i="1">
                          <a:solidFill>
                            <a:prstClr val="black"/>
                          </a:solidFill>
                          <a:latin typeface="Cambria Math" panose="02040503050406030204" pitchFamily="18" charset="0"/>
                        </a:rPr>
                        <m:t>2</m:t>
                      </m:r>
                      <m:sSub>
                        <m:sSubPr>
                          <m:ctrlPr>
                            <a:rPr lang="en-US" altLang="zh-CN" sz="1400" i="1">
                              <a:solidFill>
                                <a:prstClr val="black"/>
                              </a:solidFill>
                              <a:latin typeface="Cambria Math" panose="02040503050406030204" pitchFamily="18" charset="0"/>
                            </a:rPr>
                          </m:ctrlPr>
                        </m:sSubPr>
                        <m:e>
                          <m:r>
                            <a:rPr lang="en-US" altLang="zh-CN" sz="1400" i="1">
                              <a:solidFill>
                                <a:prstClr val="black"/>
                              </a:solidFill>
                              <a:latin typeface="Cambria Math" panose="02040503050406030204" pitchFamily="18" charset="0"/>
                            </a:rPr>
                            <m:t>𝑅</m:t>
                          </m:r>
                        </m:e>
                        <m:sub>
                          <m:r>
                            <a:rPr lang="en-US" altLang="zh-CN" sz="1400" i="1">
                              <a:solidFill>
                                <a:prstClr val="black"/>
                              </a:solidFill>
                              <a:latin typeface="Cambria Math" panose="02040503050406030204" pitchFamily="18" charset="0"/>
                            </a:rPr>
                            <m:t>𝐹</m:t>
                          </m:r>
                        </m:sub>
                      </m:sSub>
                      <m:r>
                        <a:rPr lang="en-US" altLang="zh-CN" sz="1400" i="1">
                          <a:solidFill>
                            <a:prstClr val="black"/>
                          </a:solidFill>
                          <a:latin typeface="Cambria Math" panose="02040503050406030204" pitchFamily="18" charset="0"/>
                        </a:rPr>
                        <m:t>𝐶𝑙𝑛</m:t>
                      </m:r>
                      <m:r>
                        <a:rPr lang="en-US" altLang="zh-CN" sz="1400" i="1" smtClean="0">
                          <a:solidFill>
                            <a:prstClr val="black"/>
                          </a:solidFill>
                          <a:latin typeface="Cambria Math" panose="02040503050406030204" pitchFamily="18" charset="0"/>
                        </a:rPr>
                        <m:t>3</m:t>
                      </m:r>
                      <m:r>
                        <a:rPr lang="en-US" altLang="zh-CN" sz="1400" i="1">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2</m:t>
                      </m:r>
                      <m:r>
                        <a:rPr lang="en-US" altLang="zh-CN" sz="1400" b="0" i="1" smtClean="0">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2</m:t>
                      </m:r>
                      <m:r>
                        <a:rPr lang="en-US" altLang="zh-CN" sz="1400" b="0" i="1" smtClean="0">
                          <a:solidFill>
                            <a:prstClr val="black"/>
                          </a:solidFill>
                          <a:latin typeface="Cambria Math" panose="02040503050406030204" pitchFamily="18" charset="0"/>
                        </a:rPr>
                        <m:t>∗</m:t>
                      </m:r>
                      <m:sSup>
                        <m:sSupPr>
                          <m:ctrlPr>
                            <a:rPr lang="en-US" altLang="zh-CN" sz="1400" b="0" i="1" smtClean="0">
                              <a:solidFill>
                                <a:prstClr val="black"/>
                              </a:solidFill>
                              <a:latin typeface="Cambria Math" panose="02040503050406030204" pitchFamily="18" charset="0"/>
                            </a:rPr>
                          </m:ctrlPr>
                        </m:sSupPr>
                        <m:e>
                          <m:r>
                            <a:rPr lang="en-US" altLang="zh-CN" sz="1400" b="0" i="1" smtClean="0">
                              <a:solidFill>
                                <a:prstClr val="black"/>
                              </a:solidFill>
                              <a:latin typeface="Cambria Math" panose="02040503050406030204" pitchFamily="18" charset="0"/>
                            </a:rPr>
                            <m:t>10</m:t>
                          </m:r>
                        </m:e>
                        <m:sup>
                          <m:r>
                            <a:rPr lang="en-US" altLang="zh-CN" sz="1400" b="0" i="1" smtClean="0">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4</m:t>
                          </m:r>
                        </m:sup>
                      </m:sSup>
                      <m:r>
                        <a:rPr lang="en-US" altLang="zh-CN" sz="1400" b="0" i="1" smtClean="0">
                          <a:solidFill>
                            <a:prstClr val="black"/>
                          </a:solidFill>
                          <a:latin typeface="Cambria Math" panose="02040503050406030204" pitchFamily="18" charset="0"/>
                        </a:rPr>
                        <m:t>𝑠</m:t>
                      </m:r>
                    </m:oMath>
                  </m:oMathPara>
                </a14:m>
                <a:endParaRPr lang="en-US" altLang="zh-CN" sz="1400" b="0" dirty="0">
                  <a:solidFill>
                    <a:prstClr val="black"/>
                  </a:solidFill>
                </a:endParaRPr>
              </a:p>
              <a:p>
                <a:pPr>
                  <a:lnSpc>
                    <a:spcPct val="150000"/>
                  </a:lnSpc>
                </a:pPr>
                <a:r>
                  <a:rPr lang="zh-CN" altLang="en-US" sz="1400" dirty="0">
                    <a:solidFill>
                      <a:prstClr val="black"/>
                    </a:solidFill>
                    <a:sym typeface="+mn-ea"/>
                  </a:rPr>
                  <a:t>故得到振荡频率为</a:t>
                </a:r>
                <a:endParaRPr lang="en-US" altLang="zh-CN" sz="1400" dirty="0">
                  <a:solidFill>
                    <a:prstClr val="black"/>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400" b="0" i="1" smtClean="0">
                          <a:solidFill>
                            <a:prstClr val="black"/>
                          </a:solidFill>
                          <a:latin typeface="Cambria Math" panose="02040503050406030204" pitchFamily="18" charset="0"/>
                        </a:rPr>
                        <m:t>𝑓</m:t>
                      </m:r>
                      <m:r>
                        <a:rPr lang="en-US" altLang="zh-CN" sz="1400" b="0" i="1" smtClean="0">
                          <a:solidFill>
                            <a:prstClr val="black"/>
                          </a:solidFill>
                          <a:latin typeface="Cambria Math" panose="02040503050406030204" pitchFamily="18" charset="0"/>
                        </a:rPr>
                        <m:t>=</m:t>
                      </m:r>
                      <m:f>
                        <m:fPr>
                          <m:ctrlPr>
                            <a:rPr lang="en-US" altLang="zh-CN" sz="1400" b="0" i="1" smtClean="0">
                              <a:solidFill>
                                <a:prstClr val="black"/>
                              </a:solidFill>
                              <a:latin typeface="Cambria Math" panose="02040503050406030204" pitchFamily="18" charset="0"/>
                            </a:rPr>
                          </m:ctrlPr>
                        </m:fPr>
                        <m:num>
                          <m:r>
                            <a:rPr lang="en-US" altLang="zh-CN" sz="1400" b="0" i="1" smtClean="0">
                              <a:solidFill>
                                <a:prstClr val="black"/>
                              </a:solidFill>
                              <a:latin typeface="Cambria Math" panose="02040503050406030204" pitchFamily="18" charset="0"/>
                            </a:rPr>
                            <m:t>1</m:t>
                          </m:r>
                        </m:num>
                        <m:den>
                          <m:r>
                            <a:rPr lang="en-US" altLang="zh-CN" sz="1400" b="0" i="1" smtClean="0">
                              <a:solidFill>
                                <a:prstClr val="black"/>
                              </a:solidFill>
                              <a:latin typeface="Cambria Math" panose="02040503050406030204" pitchFamily="18" charset="0"/>
                            </a:rPr>
                            <m:t>𝑇</m:t>
                          </m:r>
                        </m:den>
                      </m:f>
                      <m:r>
                        <a:rPr lang="en-US" altLang="zh-CN" sz="1400" b="0" i="1" smtClean="0">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4</m:t>
                      </m:r>
                      <m:r>
                        <a:rPr lang="en-US" altLang="zh-CN" sz="1400" b="0" i="1" smtClean="0">
                          <a:solidFill>
                            <a:prstClr val="black"/>
                          </a:solidFill>
                          <a:latin typeface="Cambria Math" panose="02040503050406030204" pitchFamily="18" charset="0"/>
                        </a:rPr>
                        <m:t>.</m:t>
                      </m:r>
                      <m:r>
                        <a:rPr lang="en-US" altLang="zh-CN" sz="1400" b="0" i="1" smtClean="0">
                          <a:solidFill>
                            <a:prstClr val="black"/>
                          </a:solidFill>
                          <a:latin typeface="Cambria Math" panose="02040503050406030204" pitchFamily="18" charset="0"/>
                        </a:rPr>
                        <m:t>55</m:t>
                      </m:r>
                      <m:r>
                        <a:rPr lang="en-US" altLang="zh-CN" sz="1400" b="0" i="1" smtClean="0">
                          <a:solidFill>
                            <a:prstClr val="black"/>
                          </a:solidFill>
                          <a:latin typeface="Cambria Math" panose="02040503050406030204" pitchFamily="18" charset="0"/>
                        </a:rPr>
                        <m:t>𝑘𝐻𝑧</m:t>
                      </m:r>
                    </m:oMath>
                  </m:oMathPara>
                </a14:m>
                <a:endParaRPr lang="en-US" altLang="zh-CN" sz="1400" dirty="0">
                  <a:solidFill>
                    <a:prstClr val="black"/>
                  </a:solidFill>
                </a:endParaRPr>
              </a:p>
              <a:p>
                <a:pPr>
                  <a:lnSpc>
                    <a:spcPct val="150000"/>
                  </a:lnSpc>
                </a:pPr>
                <a:endParaRPr lang="en-US" altLang="zh-CN" sz="1400" dirty="0">
                  <a:solidFill>
                    <a:prstClr val="black"/>
                  </a:solidFill>
                </a:endParaRPr>
              </a:p>
            </p:txBody>
          </p:sp>
        </mc:Choice>
        <mc:Fallback>
          <p:sp>
            <p:nvSpPr>
              <p:cNvPr id="7" name="文本框 6"/>
              <p:cNvSpPr txBox="1">
                <a:spLocks noRot="1" noChangeAspect="1" noMove="1" noResize="1" noEditPoints="1" noAdjustHandles="1" noChangeArrowheads="1" noChangeShapeType="1" noTextEdit="1"/>
              </p:cNvSpPr>
              <p:nvPr/>
            </p:nvSpPr>
            <p:spPr>
              <a:xfrm>
                <a:off x="358775" y="2360295"/>
                <a:ext cx="5856605" cy="4058285"/>
              </a:xfrm>
              <a:prstGeom prst="rect">
                <a:avLst/>
              </a:prstGeom>
              <a:blipFill rotWithShape="1">
                <a:blip r:embed="rId2"/>
                <a:stretch>
                  <a:fillRect/>
                </a:stretch>
              </a:blipFill>
            </p:spPr>
            <p:txBody>
              <a:bodyPr/>
              <a:lstStyle/>
              <a:p>
                <a:r>
                  <a:rPr lang="zh-CN" altLang="en-US">
                    <a:noFill/>
                  </a:rPr>
                  <a:t> </a:t>
                </a:r>
              </a:p>
            </p:txBody>
          </p:sp>
        </mc:Fallback>
      </mc:AlternateContent>
      <p:pic>
        <p:nvPicPr>
          <p:cNvPr id="6" name="图片 5"/>
          <p:cNvPicPr/>
          <p:nvPr/>
        </p:nvPicPr>
        <p:blipFill rotWithShape="1">
          <a:blip r:embed="rId3">
            <a:biLevel thresh="75000"/>
            <a:extLst>
              <a:ext uri="{BEBA8EAE-BF5A-486C-A8C5-ECC9F3942E4B}">
                <a14:imgProps xmlns:a14="http://schemas.microsoft.com/office/drawing/2010/main">
                  <a14:imgLayer r:embed="rId4">
                    <a14:imgEffect>
                      <a14:brightnessContrast contrast="20000"/>
                    </a14:imgEffect>
                    <a14:imgEffect>
                      <a14:sharpenSoften amount="50000"/>
                    </a14:imgEffect>
                  </a14:imgLayer>
                </a14:imgProps>
              </a:ext>
            </a:extLst>
          </a:blip>
          <a:srcRect l="17643" r="17149" b="17311"/>
          <a:stretch>
            <a:fillRect/>
          </a:stretch>
        </p:blipFill>
        <p:spPr>
          <a:xfrm>
            <a:off x="6739255" y="2642870"/>
            <a:ext cx="4410075" cy="3695065"/>
          </a:xfrm>
          <a:prstGeom prst="rect">
            <a:avLst/>
          </a:prstGeom>
        </p:spPr>
      </p:pic>
      <p:pic>
        <p:nvPicPr>
          <p:cNvPr id="10" name="图片 9"/>
          <p:cNvPicPr>
            <a:picLocks noChangeAspect="1"/>
          </p:cNvPicPr>
          <p:nvPr>
            <p:custDataLst>
              <p:tags r:id="rId5"/>
            </p:custDataLst>
          </p:nvPr>
        </p:nvPicPr>
        <p:blipFill>
          <a:blip r:embed="rId6"/>
          <a:stretch>
            <a:fillRect/>
          </a:stretch>
        </p:blipFill>
        <p:spPr>
          <a:xfrm>
            <a:off x="7877810" y="949325"/>
            <a:ext cx="2827020" cy="169354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11</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474345" y="1043305"/>
                <a:ext cx="11089640" cy="2047875"/>
              </a:xfrm>
              <a:prstGeom prst="rect">
                <a:avLst/>
              </a:prstGeom>
              <a:noFill/>
            </p:spPr>
            <p:txBody>
              <a:bodyPr wrap="square" rtlCol="0">
                <a:spAutoFit/>
              </a:bodyPr>
              <a:lstStyle/>
              <a:p>
                <a:pPr>
                  <a:lnSpc>
                    <a:spcPct val="130000"/>
                  </a:lnSpc>
                </a:pPr>
                <a:r>
                  <a:rPr lang="zh-CN" altLang="en-US" sz="1400" dirty="0">
                    <a:solidFill>
                      <a:prstClr val="black"/>
                    </a:solidFill>
                    <a:latin typeface="微软雅黑" panose="020B0503020204020204" charset="-122"/>
                    <a:ea typeface="微软雅黑" panose="020B0503020204020204" charset="-122"/>
                  </a:rPr>
                  <a:t>四、</a:t>
                </a:r>
                <a:r>
                  <a:rPr lang="en-US" altLang="zh-CN" sz="1400" dirty="0">
                    <a:solidFill>
                      <a:prstClr val="black"/>
                    </a:solidFill>
                    <a:latin typeface="微软雅黑" panose="020B0503020204020204" charset="-122"/>
                    <a:ea typeface="微软雅黑" panose="020B0503020204020204" charset="-122"/>
                  </a:rPr>
                  <a:t>555</a:t>
                </a:r>
                <a:r>
                  <a:rPr lang="zh-CN" altLang="en-US" sz="1400" dirty="0">
                    <a:solidFill>
                      <a:prstClr val="black"/>
                    </a:solidFill>
                    <a:latin typeface="微软雅黑" panose="020B0503020204020204" charset="-122"/>
                    <a:ea typeface="微软雅黑" panose="020B0503020204020204" charset="-122"/>
                  </a:rPr>
                  <a:t>定时器应用电路的分析计算</a:t>
                </a:r>
                <a:endParaRPr lang="zh-CN" altLang="en-US" sz="1400" dirty="0">
                  <a:solidFill>
                    <a:prstClr val="black"/>
                  </a:solidFill>
                  <a:latin typeface="微软雅黑" panose="020B0503020204020204" charset="-122"/>
                  <a:ea typeface="微软雅黑" panose="020B0503020204020204" charset="-122"/>
                </a:endParaRPr>
              </a:p>
              <a:p>
                <a:pPr>
                  <a:lnSpc>
                    <a:spcPct val="130000"/>
                  </a:lnSpc>
                </a:pPr>
                <a:r>
                  <a:rPr lang="en-US" altLang="zh-CN" sz="1400" dirty="0">
                    <a:solidFill>
                      <a:prstClr val="black"/>
                    </a:solidFill>
                    <a:latin typeface="微软雅黑" panose="020B0503020204020204" charset="-122"/>
                    <a:ea typeface="微软雅黑" panose="020B0503020204020204" charset="-122"/>
                  </a:rPr>
                  <a:t>       1</a:t>
                </a:r>
                <a:r>
                  <a:rPr lang="zh-CN" altLang="en-US" sz="1400" dirty="0">
                    <a:solidFill>
                      <a:prstClr val="black"/>
                    </a:solidFill>
                    <a:latin typeface="微软雅黑" panose="020B0503020204020204" charset="-122"/>
                    <a:ea typeface="微软雅黑" panose="020B0503020204020204" charset="-122"/>
                  </a:rPr>
                  <a:t>）首先分析确定</a:t>
                </a:r>
                <a:r>
                  <a:rPr lang="en-US" altLang="zh-CN" sz="1400" dirty="0">
                    <a:solidFill>
                      <a:prstClr val="black"/>
                    </a:solidFill>
                    <a:latin typeface="微软雅黑" panose="020B0503020204020204" charset="-122"/>
                    <a:ea typeface="微软雅黑" panose="020B0503020204020204" charset="-122"/>
                  </a:rPr>
                  <a:t>555</a:t>
                </a:r>
                <a:r>
                  <a:rPr lang="zh-CN" altLang="en-US" sz="1400" dirty="0">
                    <a:solidFill>
                      <a:prstClr val="black"/>
                    </a:solidFill>
                    <a:latin typeface="微软雅黑" panose="020B0503020204020204" charset="-122"/>
                    <a:ea typeface="微软雅黑" panose="020B0503020204020204" charset="-122"/>
                  </a:rPr>
                  <a:t>定时器的工作模式。尽管用</a:t>
                </a:r>
                <a:r>
                  <a:rPr lang="en-US" altLang="zh-CN" sz="1400" dirty="0">
                    <a:solidFill>
                      <a:prstClr val="black"/>
                    </a:solidFill>
                    <a:latin typeface="微软雅黑" panose="020B0503020204020204" charset="-122"/>
                    <a:ea typeface="微软雅黑" panose="020B0503020204020204" charset="-122"/>
                  </a:rPr>
                  <a:t>555</a:t>
                </a:r>
                <a:r>
                  <a:rPr lang="zh-CN" altLang="en-US" sz="1400" dirty="0">
                    <a:solidFill>
                      <a:prstClr val="black"/>
                    </a:solidFill>
                    <a:latin typeface="微软雅黑" panose="020B0503020204020204" charset="-122"/>
                    <a:ea typeface="微软雅黑" panose="020B0503020204020204" charset="-122"/>
                  </a:rPr>
                  <a:t>定时器构成的应用电路五花八门，但</a:t>
                </a:r>
                <a:r>
                  <a:rPr lang="en-US" altLang="zh-CN" sz="1400" dirty="0">
                    <a:solidFill>
                      <a:prstClr val="black"/>
                    </a:solidFill>
                    <a:latin typeface="微软雅黑" panose="020B0503020204020204" charset="-122"/>
                    <a:ea typeface="微软雅黑" panose="020B0503020204020204" charset="-122"/>
                  </a:rPr>
                  <a:t>555</a:t>
                </a:r>
                <a:r>
                  <a:rPr lang="zh-CN" altLang="en-US" sz="1400" dirty="0">
                    <a:solidFill>
                      <a:prstClr val="black"/>
                    </a:solidFill>
                    <a:latin typeface="微软雅黑" panose="020B0503020204020204" charset="-122"/>
                    <a:ea typeface="微软雅黑" panose="020B0503020204020204" charset="-122"/>
                  </a:rPr>
                  <a:t>定时器本身的基本工作模式仍然不外乎施密特触发电路、单稳态电路和多谐振荡电路三种。</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r>
                  <a:rPr lang="en-US" altLang="zh-CN" sz="1400" dirty="0">
                    <a:solidFill>
                      <a:prstClr val="black"/>
                    </a:solidFill>
                    <a:latin typeface="微软雅黑" panose="020B0503020204020204" charset="-122"/>
                    <a:ea typeface="微软雅黑" panose="020B0503020204020204" charset="-122"/>
                  </a:rPr>
                  <a:t>       2</a:t>
                </a:r>
                <a:r>
                  <a:rPr lang="zh-CN" altLang="en-US" sz="1400" dirty="0">
                    <a:solidFill>
                      <a:prstClr val="black"/>
                    </a:solidFill>
                    <a:latin typeface="微软雅黑" panose="020B0503020204020204" charset="-122"/>
                    <a:ea typeface="微软雅黑" panose="020B0503020204020204" charset="-122"/>
                  </a:rPr>
                  <a:t>）若</a:t>
                </a:r>
                <a:r>
                  <a:rPr lang="en-US" altLang="zh-CN" sz="1400" dirty="0">
                    <a:solidFill>
                      <a:prstClr val="black"/>
                    </a:solidFill>
                    <a:latin typeface="微软雅黑" panose="020B0503020204020204" charset="-122"/>
                    <a:ea typeface="微软雅黑" panose="020B0503020204020204" charset="-122"/>
                  </a:rPr>
                  <a:t>555</a:t>
                </a:r>
                <a:r>
                  <a:rPr lang="zh-CN" altLang="en-US" sz="1400" dirty="0">
                    <a:solidFill>
                      <a:prstClr val="black"/>
                    </a:solidFill>
                    <a:latin typeface="微软雅黑" panose="020B0503020204020204" charset="-122"/>
                    <a:ea typeface="微软雅黑" panose="020B0503020204020204" charset="-122"/>
                  </a:rPr>
                  <a:t>定时器工作在施密特触发电路模式，则可按前面所讲的施密特触发电路阈值电压的计算方法求出</a:t>
                </a:r>
                <a14:m>
                  <m:oMath xmlns:m="http://schemas.openxmlformats.org/officeDocument/2006/math">
                    <m:sSub>
                      <m:sSubPr>
                        <m:ctrlPr>
                          <a:rPr lang="en-US" altLang="zh-CN" sz="1400" i="1" dirty="0" smtClean="0">
                            <a:solidFill>
                              <a:prstClr val="black"/>
                            </a:solidFill>
                            <a:latin typeface="Cambria Math" panose="02040503050406030204" pitchFamily="18" charset="0"/>
                            <a:ea typeface="微软雅黑" panose="020B0503020204020204" charset="-122"/>
                          </a:rPr>
                        </m:ctrlPr>
                      </m:sSubPr>
                      <m:e>
                        <m:r>
                          <a:rPr lang="en-US" altLang="zh-CN" sz="1400" i="1" dirty="0">
                            <a:solidFill>
                              <a:prstClr val="black"/>
                            </a:solidFill>
                            <a:latin typeface="Cambria Math" panose="02040503050406030204" pitchFamily="18" charset="0"/>
                            <a:ea typeface="微软雅黑" panose="020B0503020204020204" charset="-122"/>
                          </a:rPr>
                          <m:t>𝑉</m:t>
                        </m:r>
                      </m:e>
                      <m:sub>
                        <m:r>
                          <a:rPr lang="en-US" altLang="zh-CN" sz="1400" b="0" i="1" dirty="0" smtClean="0">
                            <a:solidFill>
                              <a:prstClr val="black"/>
                            </a:solidFill>
                            <a:latin typeface="Cambria Math" panose="02040503050406030204" pitchFamily="18" charset="0"/>
                            <a:ea typeface="微软雅黑" panose="020B0503020204020204" charset="-122"/>
                          </a:rPr>
                          <m:t>𝑇</m:t>
                        </m:r>
                        <m:r>
                          <a:rPr lang="en-US" altLang="zh-CN" sz="1400" b="0" i="1" dirty="0" smtClean="0">
                            <a:solidFill>
                              <a:prstClr val="black"/>
                            </a:solidFill>
                            <a:latin typeface="Cambria Math" panose="02040503050406030204" pitchFamily="18" charset="0"/>
                            <a:ea typeface="微软雅黑" panose="020B0503020204020204" charset="-122"/>
                          </a:rPr>
                          <m:t>+</m:t>
                        </m:r>
                      </m:sub>
                    </m:sSub>
                  </m:oMath>
                </a14:m>
                <a:r>
                  <a:rPr lang="zh-CN" altLang="en-US" sz="1400" dirty="0">
                    <a:solidFill>
                      <a:prstClr val="black"/>
                    </a:solidFill>
                    <a:latin typeface="微软雅黑" panose="020B0503020204020204" charset="-122"/>
                    <a:ea typeface="微软雅黑" panose="020B0503020204020204" charset="-122"/>
                  </a:rPr>
                  <a:t>和</a:t>
                </a:r>
                <a14:m>
                  <m:oMath xmlns:m="http://schemas.openxmlformats.org/officeDocument/2006/math">
                    <m:sSub>
                      <m:sSubPr>
                        <m:ctrlPr>
                          <a:rPr lang="en-US" altLang="zh-CN" sz="1400" i="1" dirty="0">
                            <a:solidFill>
                              <a:prstClr val="black"/>
                            </a:solidFill>
                            <a:latin typeface="Cambria Math" panose="02040503050406030204" pitchFamily="18" charset="0"/>
                            <a:ea typeface="微软雅黑" panose="020B0503020204020204" charset="-122"/>
                          </a:rPr>
                        </m:ctrlPr>
                      </m:sSubPr>
                      <m:e>
                        <m:r>
                          <a:rPr lang="en-US" altLang="zh-CN" sz="1400" i="1" dirty="0">
                            <a:solidFill>
                              <a:prstClr val="black"/>
                            </a:solidFill>
                            <a:latin typeface="Cambria Math" panose="02040503050406030204" pitchFamily="18" charset="0"/>
                            <a:ea typeface="微软雅黑" panose="020B0503020204020204" charset="-122"/>
                          </a:rPr>
                          <m:t>𝑉</m:t>
                        </m:r>
                      </m:e>
                      <m:sub>
                        <m:r>
                          <a:rPr lang="en-US" altLang="zh-CN" sz="1400" b="0" i="1" dirty="0" smtClean="0">
                            <a:solidFill>
                              <a:prstClr val="black"/>
                            </a:solidFill>
                            <a:latin typeface="Cambria Math" panose="02040503050406030204" pitchFamily="18" charset="0"/>
                            <a:ea typeface="微软雅黑" panose="020B0503020204020204" charset="-122"/>
                          </a:rPr>
                          <m:t>𝑇</m:t>
                        </m:r>
                        <m:r>
                          <a:rPr lang="en-US" altLang="zh-CN" sz="1400" b="0" i="1" dirty="0" smtClean="0">
                            <a:solidFill>
                              <a:prstClr val="black"/>
                            </a:solidFill>
                            <a:latin typeface="Cambria Math" panose="02040503050406030204" pitchFamily="18" charset="0"/>
                            <a:ea typeface="微软雅黑" panose="020B0503020204020204" charset="-122"/>
                          </a:rPr>
                          <m:t>−</m:t>
                        </m:r>
                      </m:sub>
                    </m:sSub>
                  </m:oMath>
                </a14:m>
                <a:r>
                  <a:rPr lang="zh-CN" altLang="en-US" sz="1400" dirty="0">
                    <a:solidFill>
                      <a:prstClr val="black"/>
                    </a:solidFill>
                    <a:latin typeface="微软雅黑" panose="020B0503020204020204" charset="-122"/>
                    <a:ea typeface="微软雅黑" panose="020B0503020204020204" charset="-122"/>
                  </a:rPr>
                  <a:t>。</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r>
                  <a:rPr lang="en-US" altLang="zh-CN" sz="1400" dirty="0">
                    <a:solidFill>
                      <a:prstClr val="black"/>
                    </a:solidFill>
                    <a:latin typeface="微软雅黑" panose="020B0503020204020204" charset="-122"/>
                    <a:ea typeface="微软雅黑" panose="020B0503020204020204" charset="-122"/>
                  </a:rPr>
                  <a:t>       3</a:t>
                </a:r>
                <a:r>
                  <a:rPr lang="zh-CN" altLang="en-US" sz="1400" dirty="0">
                    <a:solidFill>
                      <a:prstClr val="black"/>
                    </a:solidFill>
                    <a:latin typeface="微软雅黑" panose="020B0503020204020204" charset="-122"/>
                    <a:ea typeface="微软雅黑" panose="020B0503020204020204" charset="-122"/>
                  </a:rPr>
                  <a:t>）若</a:t>
                </a:r>
                <a:r>
                  <a:rPr lang="en-US" altLang="zh-CN" sz="1400" dirty="0">
                    <a:solidFill>
                      <a:prstClr val="black"/>
                    </a:solidFill>
                    <a:latin typeface="微软雅黑" panose="020B0503020204020204" charset="-122"/>
                    <a:ea typeface="微软雅黑" panose="020B0503020204020204" charset="-122"/>
                  </a:rPr>
                  <a:t>555</a:t>
                </a:r>
                <a:r>
                  <a:rPr lang="zh-CN" altLang="en-US" sz="1400" dirty="0">
                    <a:solidFill>
                      <a:prstClr val="black"/>
                    </a:solidFill>
                    <a:latin typeface="微软雅黑" panose="020B0503020204020204" charset="-122"/>
                    <a:ea typeface="微软雅黑" panose="020B0503020204020204" charset="-122"/>
                  </a:rPr>
                  <a:t>定时器工作在单稳态电路模式，则可按前面所讲的单稳态电路的分析和计算方法求出输出脉冲的宽度和幅度以及电路的恢复时间。</a:t>
                </a:r>
                <a:endParaRPr lang="en-US" altLang="zh-CN" sz="1400" dirty="0">
                  <a:solidFill>
                    <a:prstClr val="black"/>
                  </a:solidFill>
                  <a:latin typeface="微软雅黑" panose="020B0503020204020204" charset="-122"/>
                  <a:ea typeface="微软雅黑" panose="020B0503020204020204" charset="-122"/>
                </a:endParaRPr>
              </a:p>
              <a:p>
                <a:pPr>
                  <a:lnSpc>
                    <a:spcPct val="130000"/>
                  </a:lnSpc>
                </a:pPr>
                <a:r>
                  <a:rPr lang="en-US" altLang="zh-CN" sz="1400" dirty="0">
                    <a:solidFill>
                      <a:prstClr val="black"/>
                    </a:solidFill>
                    <a:latin typeface="微软雅黑" panose="020B0503020204020204" charset="-122"/>
                    <a:ea typeface="微软雅黑" panose="020B0503020204020204" charset="-122"/>
                  </a:rPr>
                  <a:t>       4</a:t>
                </a:r>
                <a:r>
                  <a:rPr lang="zh-CN" altLang="en-US" sz="1400" dirty="0">
                    <a:solidFill>
                      <a:prstClr val="black"/>
                    </a:solidFill>
                    <a:latin typeface="微软雅黑" panose="020B0503020204020204" charset="-122"/>
                    <a:ea typeface="微软雅黑" panose="020B0503020204020204" charset="-122"/>
                  </a:rPr>
                  <a:t>）若</a:t>
                </a:r>
                <a:r>
                  <a:rPr lang="en-US" altLang="zh-CN" sz="1400" dirty="0">
                    <a:solidFill>
                      <a:prstClr val="black"/>
                    </a:solidFill>
                    <a:latin typeface="微软雅黑" panose="020B0503020204020204" charset="-122"/>
                    <a:ea typeface="微软雅黑" panose="020B0503020204020204" charset="-122"/>
                  </a:rPr>
                  <a:t>555</a:t>
                </a:r>
                <a:r>
                  <a:rPr lang="zh-CN" altLang="en-US" sz="1400" dirty="0">
                    <a:solidFill>
                      <a:prstClr val="black"/>
                    </a:solidFill>
                    <a:latin typeface="微软雅黑" panose="020B0503020204020204" charset="-122"/>
                    <a:ea typeface="微软雅黑" panose="020B0503020204020204" charset="-122"/>
                  </a:rPr>
                  <a:t>定时器工作在多谐振荡电路模式，则可按前面所讲的分析和计算方法求出电路的振荡频率和输出脉冲的幅度等。</a:t>
                </a:r>
                <a:endParaRPr lang="en-US" altLang="zh-CN" sz="1400" dirty="0">
                  <a:solidFill>
                    <a:prstClr val="black"/>
                  </a:solidFill>
                  <a:latin typeface="微软雅黑" panose="020B0503020204020204" charset="-122"/>
                  <a:ea typeface="微软雅黑" panose="020B0503020204020204"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474345" y="1043305"/>
                <a:ext cx="11089640" cy="2047875"/>
              </a:xfrm>
              <a:prstGeom prst="rect">
                <a:avLst/>
              </a:prstGeom>
              <a:blipFill rotWithShape="1">
                <a:blip r:embed="rId1"/>
                <a:stretch>
                  <a:fillRect/>
                </a:stretch>
              </a:blipFill>
            </p:spPr>
            <p:txBody>
              <a:bodyPr/>
              <a:lstStyle/>
              <a:p>
                <a:r>
                  <a:rPr lang="zh-CN" altLang="en-US">
                    <a:noFill/>
                  </a:rPr>
                  <a:t> </a:t>
                </a:r>
              </a:p>
            </p:txBody>
          </p:sp>
        </mc:Fallback>
      </mc:AlternateContent>
      <p:pic>
        <p:nvPicPr>
          <p:cNvPr id="5" name="图片 4"/>
          <p:cNvPicPr>
            <a:picLocks noChangeAspect="1"/>
          </p:cNvPicPr>
          <p:nvPr/>
        </p:nvPicPr>
        <p:blipFill>
          <a:blip r:embed="rId2">
            <a:biLevel thresh="75000"/>
            <a:extLst>
              <a:ext uri="{BEBA8EAE-BF5A-486C-A8C5-ECC9F3942E4B}">
                <a14:imgProps xmlns:a14="http://schemas.microsoft.com/office/drawing/2010/main">
                  <a14:imgLayer r:embed="rId3">
                    <a14:imgEffect>
                      <a14:brightnessContrast contrast="20000"/>
                    </a14:imgEffect>
                    <a14:imgEffect>
                      <a14:sharpenSoften amount="50000"/>
                    </a14:imgEffect>
                  </a14:imgLayer>
                </a14:imgProps>
              </a:ext>
            </a:extLst>
          </a:blip>
          <a:stretch>
            <a:fillRect/>
          </a:stretch>
        </p:blipFill>
        <p:spPr>
          <a:xfrm>
            <a:off x="383540" y="3091180"/>
            <a:ext cx="3811905" cy="3246755"/>
          </a:xfrm>
          <a:prstGeom prst="rect">
            <a:avLst/>
          </a:prstGeom>
        </p:spPr>
      </p:pic>
      <p:pic>
        <p:nvPicPr>
          <p:cNvPr id="9" name="图片 8"/>
          <p:cNvPicPr>
            <a:picLocks noChangeAspect="1"/>
          </p:cNvPicPr>
          <p:nvPr/>
        </p:nvPicPr>
        <p:blipFill>
          <a:blip r:embed="rId4">
            <a:biLevel thresh="75000"/>
            <a:extLst>
              <a:ext uri="{BEBA8EAE-BF5A-486C-A8C5-ECC9F3942E4B}">
                <a14:imgProps xmlns:a14="http://schemas.microsoft.com/office/drawing/2010/main">
                  <a14:imgLayer r:embed="rId5">
                    <a14:imgEffect>
                      <a14:brightnessContrast contrast="20000"/>
                    </a14:imgEffect>
                    <a14:imgEffect>
                      <a14:sharpenSoften amount="50000"/>
                    </a14:imgEffect>
                  </a14:imgLayer>
                </a14:imgProps>
              </a:ext>
            </a:extLst>
          </a:blip>
          <a:stretch>
            <a:fillRect/>
          </a:stretch>
        </p:blipFill>
        <p:spPr>
          <a:xfrm>
            <a:off x="4211955" y="3177540"/>
            <a:ext cx="3833495" cy="3031490"/>
          </a:xfrm>
          <a:prstGeom prst="rect">
            <a:avLst/>
          </a:prstGeom>
        </p:spPr>
      </p:pic>
      <p:pic>
        <p:nvPicPr>
          <p:cNvPr id="11" name="图片 10"/>
          <p:cNvPicPr>
            <a:picLocks noChangeAspect="1"/>
          </p:cNvPicPr>
          <p:nvPr/>
        </p:nvPicPr>
        <p:blipFill>
          <a:blip r:embed="rId6">
            <a:biLevel thresh="75000"/>
            <a:extLst>
              <a:ext uri="{BEBA8EAE-BF5A-486C-A8C5-ECC9F3942E4B}">
                <a14:imgProps xmlns:a14="http://schemas.microsoft.com/office/drawing/2010/main">
                  <a14:imgLayer r:embed="rId7">
                    <a14:imgEffect>
                      <a14:brightnessContrast contrast="20000"/>
                    </a14:imgEffect>
                    <a14:imgEffect>
                      <a14:sharpenSoften amount="50000"/>
                    </a14:imgEffect>
                  </a14:imgLayer>
                </a14:imgProps>
              </a:ext>
            </a:extLst>
          </a:blip>
          <a:stretch>
            <a:fillRect/>
          </a:stretch>
        </p:blipFill>
        <p:spPr>
          <a:xfrm>
            <a:off x="8095615" y="3176905"/>
            <a:ext cx="3818255" cy="293243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en-US" dirty="0"/>
              <a:t>555</a:t>
            </a:r>
            <a:r>
              <a:rPr lang="zh-CN" altLang="en-US" dirty="0"/>
              <a:t>定时器</a:t>
            </a:r>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5591175" y="3524250"/>
            <a:ext cx="5924550" cy="2249170"/>
          </a:xfrm>
          <a:prstGeom prst="rect">
            <a:avLst/>
          </a:prstGeom>
        </p:spPr>
      </p:pic>
      <p:pic>
        <p:nvPicPr>
          <p:cNvPr id="7" name="图片 6"/>
          <p:cNvPicPr>
            <a:picLocks noChangeAspect="1"/>
          </p:cNvPicPr>
          <p:nvPr/>
        </p:nvPicPr>
        <p:blipFill>
          <a:blip r:embed="rId2"/>
          <a:stretch>
            <a:fillRect/>
          </a:stretch>
        </p:blipFill>
        <p:spPr>
          <a:xfrm>
            <a:off x="476250" y="1505585"/>
            <a:ext cx="5046980" cy="4206875"/>
          </a:xfrm>
          <a:prstGeom prst="rect">
            <a:avLst/>
          </a:prstGeom>
        </p:spPr>
      </p:pic>
      <p:pic>
        <p:nvPicPr>
          <p:cNvPr id="10" name="图片 9"/>
          <p:cNvPicPr>
            <a:picLocks noChangeAspect="1"/>
          </p:cNvPicPr>
          <p:nvPr/>
        </p:nvPicPr>
        <p:blipFill>
          <a:blip r:embed="rId3"/>
          <a:stretch>
            <a:fillRect/>
          </a:stretch>
        </p:blipFill>
        <p:spPr>
          <a:xfrm>
            <a:off x="5523230" y="1960880"/>
            <a:ext cx="6315075" cy="13938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用</a:t>
            </a:r>
            <a:r>
              <a:rPr lang="en-US" altLang="zh-CN" dirty="0">
                <a:sym typeface="+mn-ea"/>
              </a:rPr>
              <a:t>555</a:t>
            </a:r>
            <a:r>
              <a:rPr lang="zh-CN" altLang="en-US" dirty="0">
                <a:sym typeface="+mn-ea"/>
              </a:rPr>
              <a:t>定时器接成施密特</a:t>
            </a:r>
            <a:r>
              <a:rPr lang="zh-CN" altLang="en-US" dirty="0">
                <a:sym typeface="+mn-ea"/>
              </a:rPr>
              <a:t>触发器</a:t>
            </a:r>
            <a:endParaRPr lang="zh-CN" altLang="en-US"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pic>
        <p:nvPicPr>
          <p:cNvPr id="5" name="图片 4"/>
          <p:cNvPicPr>
            <a:picLocks noChangeAspect="1"/>
          </p:cNvPicPr>
          <p:nvPr>
            <p:custDataLst>
              <p:tags r:id="rId1"/>
            </p:custDataLst>
          </p:nvPr>
        </p:nvPicPr>
        <p:blipFill>
          <a:blip r:embed="rId2">
            <a:biLevel thresh="75000"/>
            <a:extLst>
              <a:ext uri="{BEBA8EAE-BF5A-486C-A8C5-ECC9F3942E4B}">
                <a14:imgProps xmlns:a14="http://schemas.microsoft.com/office/drawing/2010/main">
                  <a14:imgLayer r:embed="rId3">
                    <a14:imgEffect>
                      <a14:brightnessContrast contrast="20000"/>
                    </a14:imgEffect>
                    <a14:imgEffect>
                      <a14:sharpenSoften amount="50000"/>
                    </a14:imgEffect>
                  </a14:imgLayer>
                </a14:imgProps>
              </a:ext>
            </a:extLst>
          </a:blip>
          <a:stretch>
            <a:fillRect/>
          </a:stretch>
        </p:blipFill>
        <p:spPr>
          <a:xfrm>
            <a:off x="1136015" y="1247775"/>
            <a:ext cx="5282565" cy="4498340"/>
          </a:xfrm>
          <a:prstGeom prst="rect">
            <a:avLst/>
          </a:prstGeom>
        </p:spPr>
      </p:pic>
      <p:pic>
        <p:nvPicPr>
          <p:cNvPr id="7" name="图片 6"/>
          <p:cNvPicPr>
            <a:picLocks noChangeAspect="1"/>
          </p:cNvPicPr>
          <p:nvPr/>
        </p:nvPicPr>
        <p:blipFill>
          <a:blip r:embed="rId4"/>
          <a:stretch>
            <a:fillRect/>
          </a:stretch>
        </p:blipFill>
        <p:spPr>
          <a:xfrm>
            <a:off x="7293610" y="2235835"/>
            <a:ext cx="2820035" cy="288988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用</a:t>
            </a:r>
            <a:r>
              <a:rPr lang="en-US" altLang="zh-CN" dirty="0">
                <a:sym typeface="+mn-ea"/>
              </a:rPr>
              <a:t>555</a:t>
            </a:r>
            <a:r>
              <a:rPr lang="zh-CN" altLang="en-US" dirty="0">
                <a:sym typeface="+mn-ea"/>
              </a:rPr>
              <a:t>定时器接成单稳态</a:t>
            </a:r>
            <a:r>
              <a:rPr lang="zh-CN" altLang="en-US" dirty="0">
                <a:sym typeface="+mn-ea"/>
              </a:rPr>
              <a:t>电路</a:t>
            </a:r>
            <a:endParaRPr lang="zh-CN" altLang="en-US"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pic>
        <p:nvPicPr>
          <p:cNvPr id="3" name="图片 2"/>
          <p:cNvPicPr>
            <a:picLocks noChangeAspect="1"/>
          </p:cNvPicPr>
          <p:nvPr>
            <p:custDataLst>
              <p:tags r:id="rId1"/>
            </p:custDataLst>
          </p:nvPr>
        </p:nvPicPr>
        <p:blipFill>
          <a:blip r:embed="rId2">
            <a:biLevel thresh="75000"/>
            <a:extLst>
              <a:ext uri="{BEBA8EAE-BF5A-486C-A8C5-ECC9F3942E4B}">
                <a14:imgProps xmlns:a14="http://schemas.microsoft.com/office/drawing/2010/main">
                  <a14:imgLayer r:embed="rId3">
                    <a14:imgEffect>
                      <a14:brightnessContrast contrast="20000"/>
                    </a14:imgEffect>
                    <a14:imgEffect>
                      <a14:sharpenSoften amount="50000"/>
                    </a14:imgEffect>
                  </a14:imgLayer>
                </a14:imgProps>
              </a:ext>
            </a:extLst>
          </a:blip>
          <a:stretch>
            <a:fillRect/>
          </a:stretch>
        </p:blipFill>
        <p:spPr>
          <a:xfrm>
            <a:off x="1104900" y="1393190"/>
            <a:ext cx="5527040" cy="4371340"/>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7410450" y="3614420"/>
                <a:ext cx="2557780" cy="883285"/>
              </a:xfrm>
              <a:prstGeom prst="rect">
                <a:avLst/>
              </a:prstGeom>
              <a:noFill/>
            </p:spPr>
            <p:txBody>
              <a:bodyPr wrap="square" rtlCol="0">
                <a:noAutofit/>
              </a:bodyPr>
              <a:lstStyle/>
              <a:p>
                <a:pPr algn="just">
                  <a:buClrTx/>
                  <a:buSzTx/>
                  <a:buFontTx/>
                </a:pPr>
                <a14:m>
                  <m:oMath xmlns:m="http://schemas.openxmlformats.org/officeDocument/2006/math">
                    <m:r>
                      <m:rPr>
                        <m:sty m:val="p"/>
                      </m:rPr>
                      <a:rPr lang="en-US" altLang="zh-CN" dirty="0">
                        <a:solidFill>
                          <a:schemeClr val="tx1"/>
                        </a:solidFill>
                        <a:latin typeface="Cambria Math" panose="02040503050406030204" pitchFamily="18" charset="0"/>
                        <a:ea typeface="微软雅黑" panose="020B0503020204020204" charset="-122"/>
                        <a:cs typeface="Cambria Math" panose="02040503050406030204" pitchFamily="18" charset="0"/>
                      </a:rPr>
                      <m:t>t</m:t>
                    </m:r>
                    <m:r>
                      <a:rPr lang="en-US" altLang="zh-CN" baseline="-25000" dirty="0">
                        <a:solidFill>
                          <a:schemeClr val="tx1"/>
                        </a:solidFill>
                        <a:latin typeface="Cambria Math" panose="02040503050406030204" pitchFamily="18" charset="0"/>
                        <a:ea typeface="微软雅黑" panose="020B0503020204020204" charset="-122"/>
                        <a:cs typeface="Cambria Math" panose="02040503050406030204" pitchFamily="18" charset="0"/>
                      </a:rPr>
                      <m:t>𝑤</m:t>
                    </m:r>
                    <m:r>
                      <a:rPr lang="en-US" altLang="zh-CN" b="0" dirty="0" smtClean="0">
                        <a:solidFill>
                          <a:schemeClr val="tx1"/>
                        </a:solidFill>
                        <a:latin typeface="Cambria Math" panose="02040503050406030204" pitchFamily="18" charset="0"/>
                        <a:ea typeface="微软雅黑" panose="020B0503020204020204" charset="-122"/>
                      </a:rPr>
                      <m:t>=</m:t>
                    </m:r>
                    <m:r>
                      <m:rPr>
                        <m:sty m:val="p"/>
                      </m:rPr>
                      <a:rPr lang="en-US" altLang="zh-CN" b="0" dirty="0" smtClean="0">
                        <a:solidFill>
                          <a:schemeClr val="tx1"/>
                        </a:solidFill>
                        <a:latin typeface="Cambria Math" panose="02040503050406030204" pitchFamily="18" charset="0"/>
                        <a:ea typeface="微软雅黑" panose="020B0503020204020204" charset="-122"/>
                      </a:rPr>
                      <m:t>RCln</m:t>
                    </m:r>
                    <m:f>
                      <m:fPr>
                        <m:ctrlPr>
                          <a:rPr lang="en-US" altLang="zh-CN" b="0" i="1" dirty="0" smtClean="0">
                            <a:solidFill>
                              <a:schemeClr val="tx1"/>
                            </a:solidFill>
                            <a:latin typeface="Cambria Math" panose="02040503050406030204" pitchFamily="18" charset="0"/>
                            <a:ea typeface="微软雅黑" panose="020B0503020204020204" charset="-122"/>
                            <a:cs typeface="Cambria Math" panose="02040503050406030204" pitchFamily="18" charset="0"/>
                          </a:rPr>
                        </m:ctrlPr>
                      </m:fPr>
                      <m:num>
                        <m:r>
                          <a:rPr lang="en-US" altLang="zh-CN" b="0" dirty="0" smtClean="0">
                            <a:solidFill>
                              <a:schemeClr val="tx1"/>
                            </a:solidFill>
                            <a:latin typeface="Cambria Math" panose="02040503050406030204" pitchFamily="18" charset="0"/>
                            <a:ea typeface="微软雅黑" panose="020B0503020204020204" charset="-122"/>
                            <a:cs typeface="Cambria Math" panose="02040503050406030204" pitchFamily="18" charset="0"/>
                          </a:rPr>
                          <m:t>𝑉𝑐𝑐</m:t>
                        </m:r>
                        <m:r>
                          <a:rPr lang="en-US" altLang="zh-CN" b="0" dirty="0" smtClean="0">
                            <a:solidFill>
                              <a:schemeClr val="tx1"/>
                            </a:solidFill>
                            <a:latin typeface="Cambria Math" panose="02040503050406030204" pitchFamily="18" charset="0"/>
                            <a:ea typeface="Cambria Math" panose="02040503050406030204" pitchFamily="18" charset="0"/>
                          </a:rPr>
                          <m:t>−</m:t>
                        </m:r>
                        <m:r>
                          <a:rPr lang="en-US" altLang="zh-CN" b="0" dirty="0" smtClean="0">
                            <a:solidFill>
                              <a:schemeClr val="tx1"/>
                            </a:solidFill>
                            <a:latin typeface="Cambria Math" panose="02040503050406030204" pitchFamily="18" charset="0"/>
                            <a:ea typeface="Cambria Math" panose="02040503050406030204" pitchFamily="18" charset="0"/>
                          </a:rPr>
                          <m:t>0</m:t>
                        </m:r>
                      </m:num>
                      <m:den>
                        <m:r>
                          <a:rPr lang="en-US" altLang="zh-CN" dirty="0">
                            <a:solidFill>
                              <a:schemeClr val="tx1"/>
                            </a:solidFill>
                            <a:latin typeface="Cambria Math" panose="02040503050406030204" pitchFamily="18" charset="0"/>
                            <a:cs typeface="Cambria Math" panose="02040503050406030204" pitchFamily="18" charset="0"/>
                          </a:rPr>
                          <m:t>𝑉𝑐𝑐</m:t>
                        </m:r>
                        <m:r>
                          <a:rPr lang="en-US" altLang="zh-CN" dirty="0">
                            <a:solidFill>
                              <a:schemeClr val="tx1"/>
                            </a:solidFill>
                            <a:latin typeface="Cambria Math" panose="02040503050406030204" pitchFamily="18" charset="0"/>
                            <a:ea typeface="Cambria Math" panose="02040503050406030204" pitchFamily="18" charset="0"/>
                          </a:rPr>
                          <m:t>−</m:t>
                        </m:r>
                        <m:f>
                          <m:fPr>
                            <m:ctrlPr>
                              <a:rPr lang="en-US" altLang="zh-CN"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altLang="zh-CN" dirty="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num>
                          <m:den>
                            <m:r>
                              <a:rPr lang="en-US" altLang="zh-CN" dirty="0">
                                <a:solidFill>
                                  <a:schemeClr val="tx1"/>
                                </a:solidFill>
                                <a:latin typeface="Cambria Math" panose="02040503050406030204" pitchFamily="18" charset="0"/>
                                <a:ea typeface="Cambria Math" panose="02040503050406030204" pitchFamily="18" charset="0"/>
                                <a:cs typeface="Cambria Math" panose="02040503050406030204" pitchFamily="18" charset="0"/>
                              </a:rPr>
                              <m:t>3</m:t>
                            </m:r>
                          </m:den>
                        </m:f>
                        <m:r>
                          <a:rPr lang="en-US" altLang="zh-CN" dirty="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𝑉𝑐𝑐</m:t>
                        </m:r>
                      </m:den>
                    </m:f>
                  </m:oMath>
                </a14:m>
                <a:r>
                  <a:rPr lang="en-US" altLang="zh-CN" dirty="0">
                    <a:solidFill>
                      <a:schemeClr val="tx1"/>
                    </a:solidFill>
                    <a:latin typeface="Cambria Math" panose="02040503050406030204" pitchFamily="18" charset="0"/>
                    <a:ea typeface="Cambria Math" panose="02040503050406030204" pitchFamily="18" charset="0"/>
                    <a:cs typeface="Cambria Math" panose="02040503050406030204" pitchFamily="18" charset="0"/>
                  </a:rPr>
                  <a:t> </a:t>
                </a:r>
                <a:endParaRPr lang="en-US" altLang="zh-CN"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pPr algn="just">
                  <a:buClrTx/>
                  <a:buSzTx/>
                  <a:buFontTx/>
                </a:pPr>
                <a:r>
                  <a:rPr lang="en-US" altLang="zh-CN" dirty="0">
                    <a:solidFill>
                      <a:schemeClr val="tx1"/>
                    </a:solidFill>
                    <a:latin typeface="Cambria Math" panose="02040503050406030204" pitchFamily="18" charset="0"/>
                    <a:ea typeface="Cambria Math" panose="02040503050406030204" pitchFamily="18" charset="0"/>
                    <a:cs typeface="Cambria Math" panose="02040503050406030204" pitchFamily="18" charset="0"/>
                  </a:rPr>
                  <a:t>      = RC</a:t>
                </a:r>
                <a:r>
                  <a:rPr lang="en-US" altLang="zh-CN" dirty="0">
                    <a:solidFill>
                      <a:schemeClr val="tx1"/>
                    </a:solidFill>
                    <a:latin typeface="Cambria Math" panose="02040503050406030204" pitchFamily="18" charset="0"/>
                    <a:ea typeface="Cambria Math" panose="02040503050406030204" pitchFamily="18" charset="0"/>
                    <a:cs typeface="Cambria Math" panose="02040503050406030204" pitchFamily="18" charset="0"/>
                  </a:rPr>
                  <a:t>ln3</a:t>
                </a:r>
                <a:endParaRPr lang="en-US" altLang="zh-CN"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7410450" y="3614420"/>
                <a:ext cx="2557780" cy="883285"/>
              </a:xfrm>
              <a:prstGeom prst="rect">
                <a:avLst/>
              </a:prstGeom>
              <a:blipFill rotWithShape="1">
                <a:blip r:embed="rId4"/>
                <a:stretch>
                  <a:fillRect/>
                </a:stretch>
              </a:blipFill>
            </p:spPr>
            <p:txBody>
              <a:bodyPr/>
              <a:lstStyle/>
              <a:p>
                <a:r>
                  <a:rPr lang="zh-CN" altLang="en-US">
                    <a:noFill/>
                  </a:rPr>
                  <a:t> </a:t>
                </a:r>
              </a:p>
            </p:txBody>
          </p:sp>
        </mc:Fallback>
      </mc:AlternateContent>
      <p:sp>
        <p:nvSpPr>
          <p:cNvPr id="5" name="矩形 4"/>
          <p:cNvSpPr/>
          <p:nvPr/>
        </p:nvSpPr>
        <p:spPr>
          <a:xfrm>
            <a:off x="1139190" y="3142615"/>
            <a:ext cx="1131570" cy="627380"/>
          </a:xfrm>
          <a:prstGeom prst="rect">
            <a:avLst/>
          </a:prstGeom>
          <a:noFill/>
          <a:ln>
            <a:solidFill>
              <a:srgbClr val="FFFF00"/>
            </a:solid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7301865" y="4545330"/>
            <a:ext cx="4274820" cy="922020"/>
          </a:xfrm>
          <a:prstGeom prst="rect">
            <a:avLst/>
          </a:prstGeom>
          <a:noFill/>
        </p:spPr>
        <p:txBody>
          <a:bodyPr wrap="square" rtlCol="0">
            <a:spAutoFit/>
          </a:bodyPr>
          <a:p>
            <a:r>
              <a:rPr lang="zh-CN" altLang="en-US"/>
              <a:t>为了提高比较器参考电压</a:t>
            </a:r>
            <a:r>
              <a:rPr lang="en-US" altLang="zh-CN"/>
              <a:t>V</a:t>
            </a:r>
            <a:r>
              <a:rPr lang="en-US" altLang="zh-CN" baseline="-25000"/>
              <a:t>R1</a:t>
            </a:r>
            <a:r>
              <a:rPr lang="zh-CN" altLang="en-US"/>
              <a:t>和</a:t>
            </a:r>
            <a:r>
              <a:rPr lang="en-US" altLang="zh-CN"/>
              <a:t>V</a:t>
            </a:r>
            <a:r>
              <a:rPr lang="en-US" altLang="zh-CN" baseline="-25000"/>
              <a:t>R2</a:t>
            </a:r>
            <a:r>
              <a:rPr lang="zh-CN" altLang="en-US"/>
              <a:t>的稳定性，通常在</a:t>
            </a:r>
            <a:r>
              <a:rPr lang="en-US" altLang="zh-CN"/>
              <a:t>Vco</a:t>
            </a:r>
            <a:r>
              <a:rPr lang="zh-CN" altLang="en-US"/>
              <a:t>端接有</a:t>
            </a:r>
            <a:r>
              <a:rPr lang="en-US" altLang="zh-CN"/>
              <a:t>0.01uF</a:t>
            </a:r>
            <a:r>
              <a:rPr lang="zh-CN" altLang="en-US"/>
              <a:t>的滤波</a:t>
            </a:r>
            <a:r>
              <a:rPr lang="zh-CN" altLang="en-US"/>
              <a:t>电容。</a:t>
            </a:r>
            <a:endParaRPr lang="zh-CN" altLang="en-US"/>
          </a:p>
        </p:txBody>
      </p:sp>
      <p:pic>
        <p:nvPicPr>
          <p:cNvPr id="9" name="图片 8"/>
          <p:cNvPicPr>
            <a:picLocks noChangeAspect="1"/>
          </p:cNvPicPr>
          <p:nvPr/>
        </p:nvPicPr>
        <p:blipFill>
          <a:blip r:embed="rId5"/>
          <a:stretch>
            <a:fillRect/>
          </a:stretch>
        </p:blipFill>
        <p:spPr>
          <a:xfrm>
            <a:off x="7213600" y="907415"/>
            <a:ext cx="3190240" cy="270700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用</a:t>
            </a:r>
            <a:r>
              <a:rPr lang="en-US" altLang="zh-CN" dirty="0">
                <a:sym typeface="+mn-ea"/>
              </a:rPr>
              <a:t>555</a:t>
            </a:r>
            <a:r>
              <a:rPr lang="zh-CN" altLang="en-US" dirty="0">
                <a:sym typeface="+mn-ea"/>
              </a:rPr>
              <a:t>定时器接成多谐振荡电路</a:t>
            </a:r>
            <a:endParaRPr lang="zh-CN" altLang="en-US" dirty="0">
              <a:sym typeface="+mn-ea"/>
            </a:endParaRPr>
          </a:p>
          <a:p>
            <a:endParaRPr lang="zh-CN" altLang="en-US"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graphicFrame>
        <p:nvGraphicFramePr>
          <p:cNvPr id="17" name="Object 117"/>
          <p:cNvGraphicFramePr>
            <a:graphicFrameLocks noChangeAspect="1"/>
          </p:cNvGraphicFramePr>
          <p:nvPr>
            <p:custDataLst>
              <p:tags r:id="rId1"/>
            </p:custDataLst>
          </p:nvPr>
        </p:nvGraphicFramePr>
        <p:xfrm>
          <a:off x="7115810" y="4069715"/>
          <a:ext cx="2548890" cy="497840"/>
        </p:xfrm>
        <a:graphic>
          <a:graphicData uri="http://schemas.openxmlformats.org/presentationml/2006/ole">
            <mc:AlternateContent xmlns:mc="http://schemas.openxmlformats.org/markup-compatibility/2006">
              <mc:Choice xmlns:v="urn:schemas-microsoft-com:vml" Requires="v">
                <p:oleObj spid="_x0000_s9220" name="Equation" r:id="rId2" imgW="1193800" imgH="215900" progId="Equation.3">
                  <p:embed/>
                </p:oleObj>
              </mc:Choice>
              <mc:Fallback>
                <p:oleObj name="Equation" r:id="rId2" imgW="1193800" imgH="215900" progId="Equation.3">
                  <p:embed/>
                  <p:pic>
                    <p:nvPicPr>
                      <p:cNvPr id="0" name="Object 117"/>
                      <p:cNvPicPr>
                        <a:picLocks noChangeAspect="1" noChangeArrowheads="1"/>
                      </p:cNvPicPr>
                      <p:nvPr/>
                    </p:nvPicPr>
                    <p:blipFill>
                      <a:blip r:embed="rId3"/>
                      <a:srcRect/>
                      <a:stretch>
                        <a:fillRect/>
                      </a:stretch>
                    </p:blipFill>
                    <p:spPr bwMode="auto">
                      <a:xfrm>
                        <a:off x="7115810" y="4069715"/>
                        <a:ext cx="2548890" cy="4978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83098" name="Object 122"/>
          <p:cNvGraphicFramePr>
            <a:graphicFrameLocks noChangeAspect="1"/>
          </p:cNvGraphicFramePr>
          <p:nvPr>
            <p:custDataLst>
              <p:tags r:id="rId4"/>
            </p:custDataLst>
          </p:nvPr>
        </p:nvGraphicFramePr>
        <p:xfrm>
          <a:off x="7115810" y="4567555"/>
          <a:ext cx="1814195" cy="515620"/>
        </p:xfrm>
        <a:graphic>
          <a:graphicData uri="http://schemas.openxmlformats.org/presentationml/2006/ole">
            <mc:AlternateContent xmlns:mc="http://schemas.openxmlformats.org/markup-compatibility/2006">
              <mc:Choice xmlns:v="urn:schemas-microsoft-com:vml" Requires="v">
                <p:oleObj spid="_x0000_s5" name="Equation" r:id="rId5" imgW="825500" imgH="215900" progId="Equation.3">
                  <p:embed/>
                </p:oleObj>
              </mc:Choice>
              <mc:Fallback>
                <p:oleObj name="Equation" r:id="rId5" imgW="825500" imgH="215900" progId="Equation.3">
                  <p:embed/>
                  <p:pic>
                    <p:nvPicPr>
                      <p:cNvPr id="0" name="Object 122"/>
                      <p:cNvPicPr>
                        <a:picLocks noChangeAspect="1" noChangeArrowheads="1"/>
                      </p:cNvPicPr>
                      <p:nvPr/>
                    </p:nvPicPr>
                    <p:blipFill>
                      <a:blip r:embed="rId6"/>
                      <a:srcRect/>
                      <a:stretch>
                        <a:fillRect/>
                      </a:stretch>
                    </p:blipFill>
                    <p:spPr bwMode="auto">
                      <a:xfrm>
                        <a:off x="7115810" y="4567555"/>
                        <a:ext cx="1814195" cy="515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6" name="图片 5"/>
          <p:cNvPicPr>
            <a:picLocks noChangeAspect="1"/>
          </p:cNvPicPr>
          <p:nvPr>
            <p:custDataLst>
              <p:tags r:id="rId7"/>
            </p:custDataLst>
          </p:nvPr>
        </p:nvPicPr>
        <p:blipFill>
          <a:blip r:embed="rId8">
            <a:biLevel thresh="75000"/>
            <a:extLst>
              <a:ext uri="{BEBA8EAE-BF5A-486C-A8C5-ECC9F3942E4B}">
                <a14:imgProps xmlns:a14="http://schemas.microsoft.com/office/drawing/2010/main">
                  <a14:imgLayer r:embed="rId9">
                    <a14:imgEffect>
                      <a14:brightnessContrast contrast="20000"/>
                    </a14:imgEffect>
                    <a14:imgEffect>
                      <a14:sharpenSoften amount="50000"/>
                    </a14:imgEffect>
                  </a14:imgLayer>
                </a14:imgProps>
              </a:ext>
            </a:extLst>
          </a:blip>
          <a:stretch>
            <a:fillRect/>
          </a:stretch>
        </p:blipFill>
        <p:spPr>
          <a:xfrm>
            <a:off x="1049655" y="1343025"/>
            <a:ext cx="5430520" cy="4171315"/>
          </a:xfrm>
          <a:prstGeom prst="rect">
            <a:avLst/>
          </a:prstGeom>
        </p:spPr>
      </p:pic>
      <p:sp>
        <p:nvSpPr>
          <p:cNvPr id="4" name="文本框 3"/>
          <p:cNvSpPr txBox="1"/>
          <p:nvPr/>
        </p:nvSpPr>
        <p:spPr>
          <a:xfrm>
            <a:off x="7054215" y="5199380"/>
            <a:ext cx="4274820" cy="922020"/>
          </a:xfrm>
          <a:prstGeom prst="rect">
            <a:avLst/>
          </a:prstGeom>
          <a:noFill/>
        </p:spPr>
        <p:txBody>
          <a:bodyPr wrap="square" rtlCol="0">
            <a:spAutoFit/>
          </a:bodyPr>
          <a:p>
            <a:pPr algn="just">
              <a:buClrTx/>
              <a:buSzTx/>
              <a:buFontTx/>
            </a:pPr>
            <a:r>
              <a:rPr lang="zh-CN" altLang="en-US">
                <a:sym typeface="+mn-ea"/>
              </a:rPr>
              <a:t>将施密特触发器的反相输出端经</a:t>
            </a:r>
            <a:r>
              <a:rPr lang="en-US" altLang="zh-CN">
                <a:sym typeface="+mn-ea"/>
              </a:rPr>
              <a:t>RC</a:t>
            </a:r>
            <a:r>
              <a:rPr lang="zh-CN" altLang="en-US">
                <a:sym typeface="+mn-ea"/>
              </a:rPr>
              <a:t>积分电路接回到它的输入端，就构成了多谐振荡器。</a:t>
            </a:r>
            <a:endParaRPr lang="en-US" altLang="zh-CN">
              <a:sym typeface="+mn-ea"/>
            </a:endParaRPr>
          </a:p>
        </p:txBody>
      </p:sp>
      <p:pic>
        <p:nvPicPr>
          <p:cNvPr id="7" name="图片 6"/>
          <p:cNvPicPr>
            <a:picLocks noChangeAspect="1"/>
          </p:cNvPicPr>
          <p:nvPr/>
        </p:nvPicPr>
        <p:blipFill>
          <a:blip r:embed="rId10"/>
          <a:srcRect t="4066"/>
          <a:stretch>
            <a:fillRect/>
          </a:stretch>
        </p:blipFill>
        <p:spPr>
          <a:xfrm>
            <a:off x="6978650" y="1536065"/>
            <a:ext cx="3901440" cy="238188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作业</a:t>
            </a:r>
            <a:r>
              <a:rPr lang="en-US" altLang="zh-CN" dirty="0">
                <a:sym typeface="+mn-ea"/>
              </a:rPr>
              <a:t>11</a:t>
            </a:r>
            <a:endParaRPr lang="zh-CN" altLang="en-US" dirty="0">
              <a:sym typeface="+mn-ea"/>
            </a:endParaRPr>
          </a:p>
          <a:p>
            <a:endParaRPr lang="zh-CN" altLang="en-US"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6" name="文本框 5"/>
              <p:cNvSpPr txBox="1"/>
              <p:nvPr/>
            </p:nvSpPr>
            <p:spPr>
              <a:xfrm>
                <a:off x="358775" y="1083310"/>
                <a:ext cx="10605135" cy="1337945"/>
              </a:xfrm>
              <a:prstGeom prst="rect">
                <a:avLst/>
              </a:prstGeom>
              <a:noFill/>
            </p:spPr>
            <p:txBody>
              <a:bodyPr wrap="square" rtlCol="0">
                <a:spAutoFit/>
              </a:bodyPr>
              <a:lstStyle/>
              <a:p>
                <a:pPr>
                  <a:lnSpc>
                    <a:spcPct val="150000"/>
                  </a:lnSpc>
                </a:pPr>
                <a:r>
                  <a:rPr lang="en-US" altLang="zh-CN" dirty="0">
                    <a:solidFill>
                      <a:prstClr val="black"/>
                    </a:solidFill>
                  </a:rPr>
                  <a:t>1. </a:t>
                </a:r>
                <a:r>
                  <a:rPr lang="zh-CN" altLang="en-US" dirty="0">
                    <a:solidFill>
                      <a:prstClr val="black"/>
                    </a:solidFill>
                  </a:rPr>
                  <a:t>在如图所示用</a:t>
                </a:r>
                <a:r>
                  <a:rPr lang="en-US" altLang="zh-CN" dirty="0">
                    <a:solidFill>
                      <a:prstClr val="black"/>
                    </a:solidFill>
                  </a:rPr>
                  <a:t>555</a:t>
                </a:r>
                <a:r>
                  <a:rPr lang="zh-CN" altLang="en-US" dirty="0">
                    <a:solidFill>
                      <a:prstClr val="black"/>
                    </a:solidFill>
                  </a:rPr>
                  <a:t>定时器接成的施密特触发器电路中，试求：</a:t>
                </a:r>
                <a:endParaRPr lang="zh-CN" altLang="en-US" dirty="0">
                  <a:solidFill>
                    <a:prstClr val="black"/>
                  </a:solidFill>
                </a:endParaRPr>
              </a:p>
              <a:p>
                <a:pPr>
                  <a:lnSpc>
                    <a:spcPct val="150000"/>
                  </a:lnSpc>
                </a:pPr>
                <a:r>
                  <a:rPr lang="zh-CN" altLang="en-US" dirty="0">
                    <a:solidFill>
                      <a:prstClr val="black"/>
                    </a:solidFill>
                  </a:rPr>
                  <a:t>（</a:t>
                </a:r>
                <a:r>
                  <a:rPr lang="en-US" altLang="zh-CN" dirty="0">
                    <a:solidFill>
                      <a:prstClr val="black"/>
                    </a:solidFill>
                  </a:rPr>
                  <a:t>1</a:t>
                </a:r>
                <a:r>
                  <a:rPr lang="zh-CN" altLang="en-US" dirty="0">
                    <a:solidFill>
                      <a:prstClr val="black"/>
                    </a:solidFill>
                  </a:rPr>
                  <a:t>）当</a:t>
                </a:r>
                <a14:m>
                  <m:oMath xmlns:m="http://schemas.openxmlformats.org/officeDocument/2006/math">
                    <m:sSub>
                      <m:sSubPr>
                        <m:ctrlPr>
                          <a:rPr lang="en-US" altLang="zh-CN" i="1">
                            <a:solidFill>
                              <a:prstClr val="black"/>
                            </a:solidFill>
                            <a:latin typeface="Cambria Math" panose="02040503050406030204" pitchFamily="18" charset="0"/>
                            <a:ea typeface="Cambria Math" panose="02040503050406030204" pitchFamily="18" charset="0"/>
                          </a:rPr>
                        </m:ctrlPr>
                      </m:sSubPr>
                      <m:e>
                        <m:r>
                          <a:rPr lang="en-US" altLang="zh-CN" i="1">
                            <a:solidFill>
                              <a:prstClr val="black"/>
                            </a:solidFill>
                            <a:latin typeface="Cambria Math" panose="02040503050406030204" pitchFamily="18" charset="0"/>
                            <a:ea typeface="Cambria Math" panose="02040503050406030204" pitchFamily="18" charset="0"/>
                          </a:rPr>
                          <m:t>𝑉</m:t>
                        </m:r>
                      </m:e>
                      <m:sub>
                        <m:r>
                          <a:rPr lang="en-US" altLang="zh-CN" b="0" i="1" smtClean="0">
                            <a:solidFill>
                              <a:prstClr val="black"/>
                            </a:solidFill>
                            <a:latin typeface="Cambria Math" panose="02040503050406030204" pitchFamily="18" charset="0"/>
                            <a:ea typeface="Cambria Math" panose="02040503050406030204" pitchFamily="18" charset="0"/>
                          </a:rPr>
                          <m:t>𝐶𝐶</m:t>
                        </m:r>
                      </m:sub>
                    </m:sSub>
                    <m:r>
                      <a:rPr lang="en-US" altLang="zh-CN">
                        <a:solidFill>
                          <a:prstClr val="black"/>
                        </a:solidFill>
                        <a:latin typeface="Cambria Math" panose="02040503050406030204" pitchFamily="18" charset="0"/>
                        <a:ea typeface="Cambria Math" panose="02040503050406030204" pitchFamily="18" charset="0"/>
                      </a:rPr>
                      <m:t>=</m:t>
                    </m:r>
                    <m:r>
                      <a:rPr lang="en-US" altLang="zh-CN" i="1" smtClean="0">
                        <a:solidFill>
                          <a:prstClr val="black"/>
                        </a:solidFill>
                        <a:latin typeface="Cambria Math" panose="02040503050406030204" pitchFamily="18" charset="0"/>
                        <a:ea typeface="Cambria Math" panose="02040503050406030204" pitchFamily="18" charset="0"/>
                      </a:rPr>
                      <m:t>1</m:t>
                    </m:r>
                    <m:r>
                      <a:rPr lang="en-US" altLang="zh-CN" i="1">
                        <a:solidFill>
                          <a:prstClr val="black"/>
                        </a:solidFill>
                        <a:latin typeface="Cambria Math" panose="02040503050406030204" pitchFamily="18" charset="0"/>
                        <a:ea typeface="Cambria Math" panose="02040503050406030204" pitchFamily="18" charset="0"/>
                      </a:rPr>
                      <m:t>2</m:t>
                    </m:r>
                    <m:r>
                      <m:rPr>
                        <m:sty m:val="p"/>
                      </m:rPr>
                      <a:rPr lang="en-US" altLang="zh-CN">
                        <a:solidFill>
                          <a:prstClr val="black"/>
                        </a:solidFill>
                        <a:latin typeface="Cambria Math" panose="02040503050406030204" pitchFamily="18" charset="0"/>
                        <a:ea typeface="Cambria Math" panose="02040503050406030204" pitchFamily="18" charset="0"/>
                      </a:rPr>
                      <m:t>V</m:t>
                    </m:r>
                  </m:oMath>
                </a14:m>
                <a:r>
                  <a:rPr lang="zh-CN" altLang="en-US" dirty="0">
                    <a:solidFill>
                      <a:prstClr val="black"/>
                    </a:solidFill>
                  </a:rPr>
                  <a:t>，而且没有外接控制电压时，</a:t>
                </a:r>
                <a14:m>
                  <m:oMath xmlns:m="http://schemas.openxmlformats.org/officeDocument/2006/math">
                    <m:sSub>
                      <m:sSubPr>
                        <m:ctrlPr>
                          <a:rPr lang="el-GR" altLang="zh-CN" i="1">
                            <a:solidFill>
                              <a:prstClr val="black"/>
                            </a:solidFill>
                            <a:latin typeface="Cambria Math" panose="02040503050406030204" pitchFamily="18" charset="0"/>
                            <a:ea typeface="Cambria Math" panose="02040503050406030204" pitchFamily="18" charset="0"/>
                          </a:rPr>
                        </m:ctrlPr>
                      </m:sSubPr>
                      <m:e>
                        <m:r>
                          <a:rPr lang="en-US" altLang="zh-CN" i="1">
                            <a:solidFill>
                              <a:prstClr val="black"/>
                            </a:solidFill>
                            <a:latin typeface="Cambria Math" panose="02040503050406030204" pitchFamily="18" charset="0"/>
                            <a:ea typeface="Cambria Math" panose="02040503050406030204" pitchFamily="18" charset="0"/>
                          </a:rPr>
                          <m:t>𝑉</m:t>
                        </m:r>
                      </m:e>
                      <m:sub>
                        <m:r>
                          <a:rPr lang="en-US" altLang="zh-CN" i="1">
                            <a:solidFill>
                              <a:prstClr val="black"/>
                            </a:solidFill>
                            <a:latin typeface="Cambria Math" panose="02040503050406030204" pitchFamily="18" charset="0"/>
                            <a:ea typeface="Cambria Math" panose="02040503050406030204" pitchFamily="18" charset="0"/>
                          </a:rPr>
                          <m:t>𝑇</m:t>
                        </m:r>
                        <m:r>
                          <a:rPr lang="en-US" altLang="zh-CN" i="1">
                            <a:solidFill>
                              <a:prstClr val="black"/>
                            </a:solidFill>
                            <a:latin typeface="Cambria Math" panose="02040503050406030204" pitchFamily="18" charset="0"/>
                            <a:ea typeface="Cambria Math" panose="02040503050406030204" pitchFamily="18" charset="0"/>
                          </a:rPr>
                          <m:t>+</m:t>
                        </m:r>
                      </m:sub>
                    </m:sSub>
                  </m:oMath>
                </a14:m>
                <a:r>
                  <a:rPr lang="zh-CN" altLang="en-US" dirty="0">
                    <a:solidFill>
                      <a:prstClr val="black"/>
                    </a:solidFill>
                  </a:rPr>
                  <a:t>，</a:t>
                </a:r>
                <a14:m>
                  <m:oMath xmlns:m="http://schemas.openxmlformats.org/officeDocument/2006/math">
                    <m:sSub>
                      <m:sSubPr>
                        <m:ctrlPr>
                          <a:rPr lang="el-GR" altLang="zh-CN" i="1">
                            <a:solidFill>
                              <a:prstClr val="black"/>
                            </a:solidFill>
                            <a:latin typeface="Cambria Math" panose="02040503050406030204" pitchFamily="18" charset="0"/>
                            <a:ea typeface="Cambria Math" panose="02040503050406030204" pitchFamily="18" charset="0"/>
                          </a:rPr>
                        </m:ctrlPr>
                      </m:sSubPr>
                      <m:e>
                        <m:r>
                          <a:rPr lang="en-US" altLang="zh-CN" i="1">
                            <a:solidFill>
                              <a:prstClr val="black"/>
                            </a:solidFill>
                            <a:latin typeface="Cambria Math" panose="02040503050406030204" pitchFamily="18" charset="0"/>
                            <a:ea typeface="Cambria Math" panose="02040503050406030204" pitchFamily="18" charset="0"/>
                          </a:rPr>
                          <m:t>𝑉</m:t>
                        </m:r>
                      </m:e>
                      <m:sub>
                        <m:r>
                          <a:rPr lang="en-US" altLang="zh-CN" i="1">
                            <a:solidFill>
                              <a:prstClr val="black"/>
                            </a:solidFill>
                            <a:latin typeface="Cambria Math" panose="02040503050406030204" pitchFamily="18" charset="0"/>
                            <a:ea typeface="Cambria Math" panose="02040503050406030204" pitchFamily="18" charset="0"/>
                          </a:rPr>
                          <m:t>𝑇</m:t>
                        </m:r>
                        <m:r>
                          <a:rPr lang="en-US" altLang="zh-CN" i="1">
                            <a:solidFill>
                              <a:prstClr val="black"/>
                            </a:solidFill>
                            <a:latin typeface="Cambria Math" panose="02040503050406030204" pitchFamily="18" charset="0"/>
                            <a:ea typeface="Cambria Math" panose="02040503050406030204" pitchFamily="18" charset="0"/>
                          </a:rPr>
                          <m:t>−</m:t>
                        </m:r>
                      </m:sub>
                    </m:sSub>
                  </m:oMath>
                </a14:m>
                <a:r>
                  <a:rPr lang="zh-CN" altLang="en-US" dirty="0">
                    <a:solidFill>
                      <a:prstClr val="black"/>
                    </a:solidFill>
                  </a:rPr>
                  <a:t>及</a:t>
                </a:r>
                <a14:m>
                  <m:oMath xmlns:m="http://schemas.openxmlformats.org/officeDocument/2006/math">
                    <m:sSub>
                      <m:sSubPr>
                        <m:ctrlPr>
                          <a:rPr lang="el-GR" altLang="zh-CN" i="1">
                            <a:solidFill>
                              <a:prstClr val="black"/>
                            </a:solidFill>
                            <a:latin typeface="Cambria Math" panose="02040503050406030204" pitchFamily="18" charset="0"/>
                            <a:ea typeface="Cambria Math" panose="02040503050406030204" pitchFamily="18" charset="0"/>
                          </a:rPr>
                        </m:ctrlPr>
                      </m:sSubPr>
                      <m:e>
                        <m:r>
                          <a:rPr lang="el-GR" altLang="zh-CN" i="1">
                            <a:solidFill>
                              <a:prstClr val="black"/>
                            </a:solidFill>
                            <a:latin typeface="Cambria Math" panose="02040503050406030204" pitchFamily="18" charset="0"/>
                            <a:ea typeface="Cambria Math" panose="02040503050406030204" pitchFamily="18" charset="0"/>
                          </a:rPr>
                          <m:t>∆</m:t>
                        </m:r>
                        <m:r>
                          <a:rPr lang="en-US" altLang="zh-CN" i="1">
                            <a:solidFill>
                              <a:prstClr val="black"/>
                            </a:solidFill>
                            <a:latin typeface="Cambria Math" panose="02040503050406030204" pitchFamily="18" charset="0"/>
                            <a:ea typeface="Cambria Math" panose="02040503050406030204" pitchFamily="18" charset="0"/>
                          </a:rPr>
                          <m:t>𝑉</m:t>
                        </m:r>
                      </m:e>
                      <m:sub>
                        <m:r>
                          <a:rPr lang="en-US" altLang="zh-CN" i="1">
                            <a:solidFill>
                              <a:prstClr val="black"/>
                            </a:solidFill>
                            <a:latin typeface="Cambria Math" panose="02040503050406030204" pitchFamily="18" charset="0"/>
                            <a:ea typeface="Cambria Math" panose="02040503050406030204" pitchFamily="18" charset="0"/>
                          </a:rPr>
                          <m:t>𝑇</m:t>
                        </m:r>
                      </m:sub>
                    </m:sSub>
                  </m:oMath>
                </a14:m>
                <a:r>
                  <a:rPr lang="zh-CN" altLang="en-US" dirty="0">
                    <a:solidFill>
                      <a:prstClr val="black"/>
                    </a:solidFill>
                  </a:rPr>
                  <a:t>的值。</a:t>
                </a:r>
                <a:endParaRPr lang="zh-CN" altLang="en-US" dirty="0">
                  <a:solidFill>
                    <a:prstClr val="black"/>
                  </a:solidFill>
                </a:endParaRPr>
              </a:p>
              <a:p>
                <a:pPr>
                  <a:lnSpc>
                    <a:spcPct val="150000"/>
                  </a:lnSpc>
                </a:pPr>
                <a:r>
                  <a:rPr lang="zh-CN" altLang="en-US" dirty="0">
                    <a:solidFill>
                      <a:prstClr val="black"/>
                    </a:solidFill>
                  </a:rPr>
                  <a:t>（</a:t>
                </a:r>
                <a:r>
                  <a:rPr lang="en-US" altLang="zh-CN" dirty="0">
                    <a:solidFill>
                      <a:prstClr val="black"/>
                    </a:solidFill>
                  </a:rPr>
                  <a:t>2</a:t>
                </a:r>
                <a:r>
                  <a:rPr lang="zh-CN" altLang="en-US" dirty="0">
                    <a:solidFill>
                      <a:prstClr val="black"/>
                    </a:solidFill>
                  </a:rPr>
                  <a:t>）当</a:t>
                </a:r>
                <a14:m>
                  <m:oMath xmlns:m="http://schemas.openxmlformats.org/officeDocument/2006/math">
                    <m:sSub>
                      <m:sSubPr>
                        <m:ctrlPr>
                          <a:rPr lang="en-US" altLang="zh-CN" i="1">
                            <a:solidFill>
                              <a:prstClr val="black"/>
                            </a:solidFill>
                            <a:latin typeface="Cambria Math" panose="02040503050406030204" pitchFamily="18" charset="0"/>
                            <a:ea typeface="Cambria Math" panose="02040503050406030204" pitchFamily="18" charset="0"/>
                          </a:rPr>
                        </m:ctrlPr>
                      </m:sSubPr>
                      <m:e>
                        <m:r>
                          <a:rPr lang="en-US" altLang="zh-CN" i="1">
                            <a:solidFill>
                              <a:prstClr val="black"/>
                            </a:solidFill>
                            <a:latin typeface="Cambria Math" panose="02040503050406030204" pitchFamily="18" charset="0"/>
                            <a:ea typeface="Cambria Math" panose="02040503050406030204" pitchFamily="18" charset="0"/>
                          </a:rPr>
                          <m:t>𝑉</m:t>
                        </m:r>
                      </m:e>
                      <m:sub>
                        <m:r>
                          <a:rPr lang="en-US" altLang="zh-CN" i="1">
                            <a:solidFill>
                              <a:prstClr val="black"/>
                            </a:solidFill>
                            <a:latin typeface="Cambria Math" panose="02040503050406030204" pitchFamily="18" charset="0"/>
                            <a:ea typeface="Cambria Math" panose="02040503050406030204" pitchFamily="18" charset="0"/>
                          </a:rPr>
                          <m:t>𝐶𝐶</m:t>
                        </m:r>
                      </m:sub>
                    </m:sSub>
                    <m:r>
                      <a:rPr lang="en-US" altLang="zh-CN">
                        <a:solidFill>
                          <a:prstClr val="black"/>
                        </a:solidFill>
                        <a:latin typeface="Cambria Math" panose="02040503050406030204" pitchFamily="18" charset="0"/>
                        <a:ea typeface="Cambria Math" panose="02040503050406030204" pitchFamily="18" charset="0"/>
                      </a:rPr>
                      <m:t>=</m:t>
                    </m:r>
                    <m:r>
                      <a:rPr lang="en-US" altLang="zh-CN" i="1">
                        <a:solidFill>
                          <a:prstClr val="black"/>
                        </a:solidFill>
                        <a:latin typeface="Cambria Math" panose="02040503050406030204" pitchFamily="18" charset="0"/>
                        <a:ea typeface="Cambria Math" panose="02040503050406030204" pitchFamily="18" charset="0"/>
                      </a:rPr>
                      <m:t>9</m:t>
                    </m:r>
                    <m:r>
                      <m:rPr>
                        <m:sty m:val="p"/>
                      </m:rPr>
                      <a:rPr lang="en-US" altLang="zh-CN">
                        <a:solidFill>
                          <a:prstClr val="black"/>
                        </a:solidFill>
                        <a:latin typeface="Cambria Math" panose="02040503050406030204" pitchFamily="18" charset="0"/>
                        <a:ea typeface="Cambria Math" panose="02040503050406030204" pitchFamily="18" charset="0"/>
                      </a:rPr>
                      <m:t>V</m:t>
                    </m:r>
                  </m:oMath>
                </a14:m>
                <a:r>
                  <a:rPr lang="zh-CN" altLang="en-US" dirty="0">
                    <a:solidFill>
                      <a:prstClr val="black"/>
                    </a:solidFill>
                  </a:rPr>
                  <a:t>，外接电压</a:t>
                </a:r>
                <a14:m>
                  <m:oMath xmlns:m="http://schemas.openxmlformats.org/officeDocument/2006/math">
                    <m:sSub>
                      <m:sSubPr>
                        <m:ctrlPr>
                          <a:rPr lang="en-US" altLang="zh-CN" i="1">
                            <a:solidFill>
                              <a:prstClr val="black"/>
                            </a:solidFill>
                            <a:latin typeface="Cambria Math" panose="02040503050406030204" pitchFamily="18" charset="0"/>
                            <a:ea typeface="Cambria Math" panose="02040503050406030204" pitchFamily="18" charset="0"/>
                          </a:rPr>
                        </m:ctrlPr>
                      </m:sSubPr>
                      <m:e>
                        <m:r>
                          <a:rPr lang="en-US" altLang="zh-CN" i="1">
                            <a:solidFill>
                              <a:prstClr val="black"/>
                            </a:solidFill>
                            <a:latin typeface="Cambria Math" panose="02040503050406030204" pitchFamily="18" charset="0"/>
                            <a:ea typeface="Cambria Math" panose="02040503050406030204" pitchFamily="18" charset="0"/>
                          </a:rPr>
                          <m:t>𝑉</m:t>
                        </m:r>
                      </m:e>
                      <m:sub>
                        <m:r>
                          <a:rPr lang="en-US" altLang="zh-CN" i="1">
                            <a:solidFill>
                              <a:prstClr val="black"/>
                            </a:solidFill>
                            <a:latin typeface="Cambria Math" panose="02040503050406030204" pitchFamily="18" charset="0"/>
                            <a:ea typeface="Cambria Math" panose="02040503050406030204" pitchFamily="18" charset="0"/>
                          </a:rPr>
                          <m:t>𝐶</m:t>
                        </m:r>
                        <m:r>
                          <a:rPr lang="en-US" altLang="zh-CN" b="0" i="1" smtClean="0">
                            <a:solidFill>
                              <a:prstClr val="black"/>
                            </a:solidFill>
                            <a:latin typeface="Cambria Math" panose="02040503050406030204" pitchFamily="18" charset="0"/>
                            <a:ea typeface="Cambria Math" panose="02040503050406030204" pitchFamily="18" charset="0"/>
                          </a:rPr>
                          <m:t>𝑂</m:t>
                        </m:r>
                      </m:sub>
                    </m:sSub>
                    <m:r>
                      <a:rPr lang="en-US" altLang="zh-CN">
                        <a:solidFill>
                          <a:prstClr val="black"/>
                        </a:solidFill>
                        <a:latin typeface="Cambria Math" panose="02040503050406030204" pitchFamily="18" charset="0"/>
                        <a:ea typeface="Cambria Math" panose="02040503050406030204" pitchFamily="18" charset="0"/>
                      </a:rPr>
                      <m:t>=</m:t>
                    </m:r>
                    <m:r>
                      <a:rPr lang="en-US" altLang="zh-CN" i="1">
                        <a:solidFill>
                          <a:prstClr val="black"/>
                        </a:solidFill>
                        <a:latin typeface="Cambria Math" panose="02040503050406030204" pitchFamily="18" charset="0"/>
                        <a:ea typeface="Cambria Math" panose="02040503050406030204" pitchFamily="18" charset="0"/>
                      </a:rPr>
                      <m:t>5</m:t>
                    </m:r>
                    <m:r>
                      <m:rPr>
                        <m:sty m:val="p"/>
                      </m:rPr>
                      <a:rPr lang="en-US" altLang="zh-CN">
                        <a:solidFill>
                          <a:prstClr val="black"/>
                        </a:solidFill>
                        <a:latin typeface="Cambria Math" panose="02040503050406030204" pitchFamily="18" charset="0"/>
                        <a:ea typeface="Cambria Math" panose="02040503050406030204" pitchFamily="18" charset="0"/>
                      </a:rPr>
                      <m:t>V</m:t>
                    </m:r>
                  </m:oMath>
                </a14:m>
                <a:r>
                  <a:rPr lang="zh-CN" altLang="en-US" dirty="0">
                    <a:solidFill>
                      <a:prstClr val="black"/>
                    </a:solidFill>
                  </a:rPr>
                  <a:t>时，</a:t>
                </a:r>
                <a14:m>
                  <m:oMath xmlns:m="http://schemas.openxmlformats.org/officeDocument/2006/math">
                    <m:sSub>
                      <m:sSubPr>
                        <m:ctrlPr>
                          <a:rPr lang="el-GR" altLang="zh-CN" i="1">
                            <a:solidFill>
                              <a:prstClr val="black"/>
                            </a:solidFill>
                            <a:latin typeface="Cambria Math" panose="02040503050406030204" pitchFamily="18" charset="0"/>
                            <a:ea typeface="Cambria Math" panose="02040503050406030204" pitchFamily="18" charset="0"/>
                          </a:rPr>
                        </m:ctrlPr>
                      </m:sSubPr>
                      <m:e>
                        <m:r>
                          <a:rPr lang="en-US" altLang="zh-CN" i="1">
                            <a:solidFill>
                              <a:prstClr val="black"/>
                            </a:solidFill>
                            <a:latin typeface="Cambria Math" panose="02040503050406030204" pitchFamily="18" charset="0"/>
                            <a:ea typeface="Cambria Math" panose="02040503050406030204" pitchFamily="18" charset="0"/>
                          </a:rPr>
                          <m:t>𝑉</m:t>
                        </m:r>
                      </m:e>
                      <m:sub>
                        <m:r>
                          <a:rPr lang="en-US" altLang="zh-CN" i="1">
                            <a:solidFill>
                              <a:prstClr val="black"/>
                            </a:solidFill>
                            <a:latin typeface="Cambria Math" panose="02040503050406030204" pitchFamily="18" charset="0"/>
                            <a:ea typeface="Cambria Math" panose="02040503050406030204" pitchFamily="18" charset="0"/>
                          </a:rPr>
                          <m:t>𝑇</m:t>
                        </m:r>
                        <m:r>
                          <a:rPr lang="en-US" altLang="zh-CN" i="1">
                            <a:solidFill>
                              <a:prstClr val="black"/>
                            </a:solidFill>
                            <a:latin typeface="Cambria Math" panose="02040503050406030204" pitchFamily="18" charset="0"/>
                            <a:ea typeface="Cambria Math" panose="02040503050406030204" pitchFamily="18" charset="0"/>
                          </a:rPr>
                          <m:t>+</m:t>
                        </m:r>
                      </m:sub>
                    </m:sSub>
                  </m:oMath>
                </a14:m>
                <a:r>
                  <a:rPr lang="zh-CN" altLang="en-US" dirty="0">
                    <a:solidFill>
                      <a:prstClr val="black"/>
                    </a:solidFill>
                  </a:rPr>
                  <a:t>，</a:t>
                </a:r>
                <a14:m>
                  <m:oMath xmlns:m="http://schemas.openxmlformats.org/officeDocument/2006/math">
                    <m:sSub>
                      <m:sSubPr>
                        <m:ctrlPr>
                          <a:rPr lang="el-GR" altLang="zh-CN" i="1">
                            <a:solidFill>
                              <a:prstClr val="black"/>
                            </a:solidFill>
                            <a:latin typeface="Cambria Math" panose="02040503050406030204" pitchFamily="18" charset="0"/>
                            <a:ea typeface="Cambria Math" panose="02040503050406030204" pitchFamily="18" charset="0"/>
                          </a:rPr>
                        </m:ctrlPr>
                      </m:sSubPr>
                      <m:e>
                        <m:r>
                          <a:rPr lang="en-US" altLang="zh-CN" i="1">
                            <a:solidFill>
                              <a:prstClr val="black"/>
                            </a:solidFill>
                            <a:latin typeface="Cambria Math" panose="02040503050406030204" pitchFamily="18" charset="0"/>
                            <a:ea typeface="Cambria Math" panose="02040503050406030204" pitchFamily="18" charset="0"/>
                          </a:rPr>
                          <m:t>𝑉</m:t>
                        </m:r>
                      </m:e>
                      <m:sub>
                        <m:r>
                          <a:rPr lang="en-US" altLang="zh-CN" i="1">
                            <a:solidFill>
                              <a:prstClr val="black"/>
                            </a:solidFill>
                            <a:latin typeface="Cambria Math" panose="02040503050406030204" pitchFamily="18" charset="0"/>
                            <a:ea typeface="Cambria Math" panose="02040503050406030204" pitchFamily="18" charset="0"/>
                          </a:rPr>
                          <m:t>𝑇</m:t>
                        </m:r>
                        <m:r>
                          <a:rPr lang="en-US" altLang="zh-CN" i="1">
                            <a:solidFill>
                              <a:prstClr val="black"/>
                            </a:solidFill>
                            <a:latin typeface="Cambria Math" panose="02040503050406030204" pitchFamily="18" charset="0"/>
                            <a:ea typeface="Cambria Math" panose="02040503050406030204" pitchFamily="18" charset="0"/>
                          </a:rPr>
                          <m:t>−</m:t>
                        </m:r>
                      </m:sub>
                    </m:sSub>
                  </m:oMath>
                </a14:m>
                <a:r>
                  <a:rPr lang="zh-CN" altLang="en-US" dirty="0">
                    <a:solidFill>
                      <a:prstClr val="black"/>
                    </a:solidFill>
                  </a:rPr>
                  <a:t>及</a:t>
                </a:r>
                <a14:m>
                  <m:oMath xmlns:m="http://schemas.openxmlformats.org/officeDocument/2006/math">
                    <m:sSub>
                      <m:sSubPr>
                        <m:ctrlPr>
                          <a:rPr lang="el-GR" altLang="zh-CN" i="1">
                            <a:solidFill>
                              <a:prstClr val="black"/>
                            </a:solidFill>
                            <a:latin typeface="Cambria Math" panose="02040503050406030204" pitchFamily="18" charset="0"/>
                            <a:ea typeface="Cambria Math" panose="02040503050406030204" pitchFamily="18" charset="0"/>
                          </a:rPr>
                        </m:ctrlPr>
                      </m:sSubPr>
                      <m:e>
                        <m:r>
                          <a:rPr lang="el-GR" altLang="zh-CN" i="1">
                            <a:solidFill>
                              <a:prstClr val="black"/>
                            </a:solidFill>
                            <a:latin typeface="Cambria Math" panose="02040503050406030204" pitchFamily="18" charset="0"/>
                            <a:ea typeface="Cambria Math" panose="02040503050406030204" pitchFamily="18" charset="0"/>
                          </a:rPr>
                          <m:t>∆</m:t>
                        </m:r>
                        <m:r>
                          <a:rPr lang="en-US" altLang="zh-CN" i="1">
                            <a:solidFill>
                              <a:prstClr val="black"/>
                            </a:solidFill>
                            <a:latin typeface="Cambria Math" panose="02040503050406030204" pitchFamily="18" charset="0"/>
                            <a:ea typeface="Cambria Math" panose="02040503050406030204" pitchFamily="18" charset="0"/>
                          </a:rPr>
                          <m:t>𝑉</m:t>
                        </m:r>
                      </m:e>
                      <m:sub>
                        <m:r>
                          <a:rPr lang="en-US" altLang="zh-CN" i="1">
                            <a:solidFill>
                              <a:prstClr val="black"/>
                            </a:solidFill>
                            <a:latin typeface="Cambria Math" panose="02040503050406030204" pitchFamily="18" charset="0"/>
                            <a:ea typeface="Cambria Math" panose="02040503050406030204" pitchFamily="18" charset="0"/>
                          </a:rPr>
                          <m:t>𝑇</m:t>
                        </m:r>
                      </m:sub>
                    </m:sSub>
                  </m:oMath>
                </a14:m>
                <a:r>
                  <a:rPr lang="zh-CN" altLang="en-US" dirty="0">
                    <a:solidFill>
                      <a:prstClr val="black"/>
                    </a:solidFill>
                  </a:rPr>
                  <a:t>各为多少？</a:t>
                </a:r>
                <a:endParaRPr lang="zh-CN" altLang="en-US" dirty="0">
                  <a:solidFill>
                    <a:prstClr val="black"/>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358775" y="1083310"/>
                <a:ext cx="10605135" cy="1337945"/>
              </a:xfrm>
              <a:prstGeom prst="rect">
                <a:avLst/>
              </a:prstGeom>
              <a:blipFill rotWithShape="1">
                <a:blip r:embed="rId1"/>
                <a:stretch>
                  <a:fillRect/>
                </a:stretch>
              </a:blipFill>
            </p:spPr>
            <p:txBody>
              <a:bodyPr/>
              <a:lstStyle/>
              <a:p>
                <a:r>
                  <a:rPr lang="zh-CN" altLang="en-US">
                    <a:noFill/>
                  </a:rPr>
                  <a:t> </a:t>
                </a:r>
              </a:p>
            </p:txBody>
          </p:sp>
        </mc:Fallback>
      </mc:AlternateContent>
      <p:pic>
        <p:nvPicPr>
          <p:cNvPr id="19" name="图片 18"/>
          <p:cNvPicPr/>
          <p:nvPr/>
        </p:nvPicPr>
        <p:blipFill>
          <a:blip r:embed="rId2"/>
          <a:stretch>
            <a:fillRect/>
          </a:stretch>
        </p:blipFill>
        <p:spPr>
          <a:xfrm>
            <a:off x="898525" y="2414270"/>
            <a:ext cx="4350385" cy="3422015"/>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5809615" y="3208655"/>
                <a:ext cx="5953125" cy="3035935"/>
              </a:xfrm>
              <a:prstGeom prst="rect">
                <a:avLst/>
              </a:prstGeom>
              <a:noFill/>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0" lang="en-US"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r>
                  <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）当</a:t>
                </a:r>
                <a14:m>
                  <m:oMath xmlns:m="http://schemas.openxmlformats.org/officeDocument/2006/math">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𝐶𝐶</m:t>
                        </m:r>
                      </m:sub>
                    </m:sSub>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m:t>
                    </m:r>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12</m:t>
                    </m:r>
                    <m:r>
                      <m:rPr>
                        <m:sty m:val="p"/>
                      </m:rP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V</m:t>
                    </m:r>
                  </m:oMath>
                </a14:m>
                <a:r>
                  <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时，</a:t>
                </a:r>
                <a14:m>
                  <m:oMath xmlns:m="http://schemas.openxmlformats.org/officeDocument/2006/math">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𝑇</m:t>
                        </m:r>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m:t>
                        </m:r>
                      </m:sub>
                    </m:s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2</m:t>
                        </m:r>
                      </m:num>
                      <m:den>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3</m:t>
                        </m:r>
                      </m:den>
                    </m:f>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𝐶𝐶</m:t>
                        </m:r>
                      </m:sub>
                    </m:sSub>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m:t>
                    </m:r>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8</m:t>
                    </m:r>
                    <m:r>
                      <m:rPr>
                        <m:sty m:val="p"/>
                      </m:rP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V</m:t>
                    </m:r>
                  </m:oMath>
                </a14:m>
                <a:r>
                  <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14:m>
                  <m:oMath xmlns:m="http://schemas.openxmlformats.org/officeDocument/2006/math">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𝑇</m:t>
                        </m:r>
                        <m:r>
                          <a:rPr kumimoji="0" lang="zh-CN" altLang="en-US" b="0" i="1" u="none" strike="noStrike" kern="100" cap="none" spc="0" normalizeH="0" baseline="0" noProof="0">
                            <a:ln>
                              <a:noFill/>
                            </a:ln>
                            <a:solidFill>
                              <a:prstClr val="black"/>
                            </a:solidFill>
                            <a:effectLst/>
                            <a:uLnTx/>
                            <a:uFillTx/>
                            <a:latin typeface="Cambria Math" panose="02040503050406030204" pitchFamily="18" charset="0"/>
                            <a:ea typeface="微软雅黑" panose="020B0503020204020204" charset="-122"/>
                            <a:cs typeface="微软雅黑" panose="020B0503020204020204" charset="-122"/>
                          </a:rPr>
                          <m:t>−</m:t>
                        </m:r>
                      </m:sub>
                    </m:s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1</m:t>
                        </m:r>
                      </m:num>
                      <m:den>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3</m:t>
                        </m:r>
                      </m:den>
                    </m:f>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𝐶𝐶</m:t>
                        </m:r>
                      </m:sub>
                    </m:sSub>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m:t>
                    </m:r>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4</m:t>
                    </m:r>
                    <m:r>
                      <m:rPr>
                        <m:sty m:val="p"/>
                      </m:rP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V</m:t>
                    </m:r>
                  </m:oMath>
                </a14:m>
                <a:r>
                  <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14:m>
                  <m:oMath xmlns:m="http://schemas.openxmlformats.org/officeDocument/2006/math">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m:t>
                        </m:r>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𝑇</m:t>
                        </m:r>
                      </m:sub>
                    </m:s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𝑇</m:t>
                        </m:r>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ea typeface="微软雅黑" panose="020B0503020204020204" charset="-122"/>
                            <a:cs typeface="微软雅黑" panose="020B0503020204020204" charset="-122"/>
                          </a:rPr>
                          <m:t>+</m:t>
                        </m:r>
                      </m:sub>
                    </m:s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𝑇</m:t>
                        </m:r>
                        <m:r>
                          <a:rPr kumimoji="0" lang="zh-CN" altLang="en-US" b="0" i="1" u="none" strike="noStrike" kern="100" cap="none" spc="0" normalizeH="0" baseline="0" noProof="0">
                            <a:ln>
                              <a:noFill/>
                            </a:ln>
                            <a:solidFill>
                              <a:prstClr val="black"/>
                            </a:solidFill>
                            <a:effectLst/>
                            <a:uLnTx/>
                            <a:uFillTx/>
                            <a:latin typeface="Cambria Math" panose="02040503050406030204" pitchFamily="18" charset="0"/>
                            <a:ea typeface="微软雅黑" panose="020B0503020204020204" charset="-122"/>
                            <a:cs typeface="微软雅黑" panose="020B0503020204020204" charset="-122"/>
                          </a:rPr>
                          <m:t>−</m:t>
                        </m:r>
                      </m:sub>
                    </m:sSub>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m:t>
                    </m:r>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4</m:t>
                    </m:r>
                    <m:r>
                      <m:rPr>
                        <m:sty m:val="p"/>
                      </m:rP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V</m:t>
                    </m:r>
                  </m:oMath>
                </a14:m>
                <a:r>
                  <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0" lang="en-US"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2</a:t>
                </a:r>
                <a:r>
                  <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0" lang="zh-CN" altLang="zh-CN"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当外接控制电压</a:t>
                </a:r>
                <a14:m>
                  <m:oMath xmlns:m="http://schemas.openxmlformats.org/officeDocument/2006/math">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𝐶𝑂</m:t>
                        </m:r>
                      </m:sub>
                    </m:s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m:t>
                    </m:r>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5</m:t>
                    </m:r>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oMath>
                </a14:m>
                <a:r>
                  <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时，</a:t>
                </a:r>
                <a14:m>
                  <m:oMath xmlns:m="http://schemas.openxmlformats.org/officeDocument/2006/math">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𝑇</m:t>
                        </m:r>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m:t>
                        </m:r>
                      </m:sub>
                    </m:s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𝐶𝑂</m:t>
                        </m:r>
                      </m:sub>
                    </m:sSub>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m:t>
                    </m:r>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5</m:t>
                    </m:r>
                    <m:r>
                      <m:rPr>
                        <m:sty m:val="p"/>
                      </m:rP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V</m:t>
                    </m:r>
                  </m:oMath>
                </a14:m>
                <a:r>
                  <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14:m>
                  <m:oMath xmlns:m="http://schemas.openxmlformats.org/officeDocument/2006/math">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𝑇</m:t>
                        </m:r>
                        <m:r>
                          <a:rPr kumimoji="0" lang="zh-CN" altLang="en-US" b="0" i="1" u="none" strike="noStrike" kern="100" cap="none" spc="0" normalizeH="0" baseline="0" noProof="0">
                            <a:ln>
                              <a:noFill/>
                            </a:ln>
                            <a:solidFill>
                              <a:prstClr val="black"/>
                            </a:solidFill>
                            <a:effectLst/>
                            <a:uLnTx/>
                            <a:uFillTx/>
                            <a:latin typeface="Cambria Math" panose="02040503050406030204" pitchFamily="18" charset="0"/>
                            <a:ea typeface="微软雅黑" panose="020B0503020204020204" charset="-122"/>
                            <a:cs typeface="微软雅黑" panose="020B0503020204020204" charset="-122"/>
                          </a:rPr>
                          <m:t>−</m:t>
                        </m:r>
                      </m:sub>
                    </m:s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m:t>
                    </m:r>
                    <m:f>
                      <m:f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1</m:t>
                        </m:r>
                      </m:num>
                      <m:den>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2</m:t>
                        </m:r>
                      </m:den>
                    </m:f>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𝐶𝑂</m:t>
                        </m:r>
                      </m:sub>
                    </m:sSub>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m:t>
                    </m:r>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2</m:t>
                    </m:r>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m:t>
                    </m:r>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5</m:t>
                    </m:r>
                    <m:r>
                      <m:rPr>
                        <m:sty m:val="p"/>
                      </m:rP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V</m:t>
                    </m:r>
                  </m:oMath>
                </a14:m>
                <a:r>
                  <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14:m>
                  <m:oMath xmlns:m="http://schemas.openxmlformats.org/officeDocument/2006/math">
                    <m:sSub>
                      <m:sSubPr>
                        <m:ctrlPr>
                          <a:rPr kumimoji="0" lang="zh-CN" altLang="zh-CN"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m:t>
                        </m:r>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b="0" i="1" u="none" strike="noStrike" kern="100" cap="none" spc="0" normalizeH="0" baseline="0" noProof="0">
                            <a:ln>
                              <a:noFill/>
                            </a:ln>
                            <a:solidFill>
                              <a:prstClr val="black"/>
                            </a:solidFill>
                            <a:effectLst/>
                            <a:uLnTx/>
                            <a:uFillTx/>
                            <a:latin typeface="Cambria Math" panose="02040503050406030204" pitchFamily="18" charset="0"/>
                            <a:cs typeface="+mn-cs"/>
                          </a:rPr>
                          <m:t>𝑇</m:t>
                        </m:r>
                      </m:sub>
                    </m:sSub>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m:t>
                    </m:r>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2</m:t>
                    </m:r>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m:t>
                    </m:r>
                    <m: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5</m:t>
                    </m:r>
                    <m:r>
                      <m:rPr>
                        <m:sty m:val="p"/>
                      </m:rPr>
                      <a:rPr kumimoji="0" lang="en-US" altLang="zh-CN" b="0" i="0" u="none" strike="noStrike" kern="100" cap="none" spc="0" normalizeH="0" baseline="0" noProof="0">
                        <a:ln>
                          <a:noFill/>
                        </a:ln>
                        <a:solidFill>
                          <a:prstClr val="black"/>
                        </a:solidFill>
                        <a:effectLst/>
                        <a:uLnTx/>
                        <a:uFillTx/>
                        <a:latin typeface="Cambria Math" panose="02040503050406030204" pitchFamily="18" charset="0"/>
                        <a:cs typeface="+mn-cs"/>
                      </a:rPr>
                      <m:t>V</m:t>
                    </m:r>
                  </m:oMath>
                </a14:m>
                <a:r>
                  <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0" lang="zh-CN" altLang="zh-CN"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mc:Choice>
        <mc:Fallback>
          <p:sp>
            <p:nvSpPr>
              <p:cNvPr id="7" name="文本框 6"/>
              <p:cNvSpPr txBox="1">
                <a:spLocks noRot="1" noChangeAspect="1" noMove="1" noResize="1" noEditPoints="1" noAdjustHandles="1" noChangeArrowheads="1" noChangeShapeType="1" noTextEdit="1"/>
              </p:cNvSpPr>
              <p:nvPr/>
            </p:nvSpPr>
            <p:spPr>
              <a:xfrm>
                <a:off x="5809615" y="3208655"/>
                <a:ext cx="5953125" cy="303593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作业</a:t>
            </a:r>
            <a:r>
              <a:rPr lang="en-US" altLang="zh-CN" dirty="0">
                <a:sym typeface="+mn-ea"/>
              </a:rPr>
              <a:t>11</a:t>
            </a:r>
            <a:endParaRPr lang="zh-CN" altLang="en-US" dirty="0">
              <a:sym typeface="+mn-ea"/>
            </a:endParaRPr>
          </a:p>
          <a:p>
            <a:endParaRPr lang="zh-CN" altLang="en-US"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4" name="文本框 3"/>
          <p:cNvSpPr txBox="1"/>
          <p:nvPr/>
        </p:nvSpPr>
        <p:spPr>
          <a:xfrm>
            <a:off x="471170" y="1067435"/>
            <a:ext cx="11064875" cy="506730"/>
          </a:xfrm>
          <a:prstGeom prst="rect">
            <a:avLst/>
          </a:prstGeom>
          <a:noFill/>
        </p:spPr>
        <p:txBody>
          <a:bodyPr wrap="square" rtlCol="0" anchor="t">
            <a:spAutoFit/>
          </a:bodyPr>
          <a:p>
            <a:pPr>
              <a:lnSpc>
                <a:spcPct val="150000"/>
              </a:lnSpc>
            </a:pPr>
            <a:r>
              <a:rPr lang="en-US" altLang="zh-CN" dirty="0">
                <a:solidFill>
                  <a:prstClr val="black"/>
                </a:solidFill>
                <a:sym typeface="+mn-ea"/>
              </a:rPr>
              <a:t>2. </a:t>
            </a:r>
            <a:r>
              <a:rPr lang="zh-CN" altLang="en-US" dirty="0">
                <a:solidFill>
                  <a:prstClr val="black"/>
                </a:solidFill>
                <a:sym typeface="+mn-ea"/>
              </a:rPr>
              <a:t>如图由</a:t>
            </a:r>
            <a:r>
              <a:rPr lang="en-US" altLang="zh-CN" dirty="0">
                <a:solidFill>
                  <a:prstClr val="black"/>
                </a:solidFill>
                <a:sym typeface="+mn-ea"/>
              </a:rPr>
              <a:t>555</a:t>
            </a:r>
            <a:r>
              <a:rPr lang="zh-CN" altLang="en-US" dirty="0">
                <a:solidFill>
                  <a:prstClr val="black"/>
                </a:solidFill>
                <a:sym typeface="+mn-ea"/>
              </a:rPr>
              <a:t>定时器接成的多谐振荡电路，电路参数如图中所示。计算电路的震荡频率。说明电容</a:t>
            </a:r>
            <a:r>
              <a:rPr lang="en-US" altLang="zh-CN" dirty="0">
                <a:solidFill>
                  <a:prstClr val="black"/>
                </a:solidFill>
                <a:sym typeface="+mn-ea"/>
              </a:rPr>
              <a:t>C</a:t>
            </a:r>
            <a:r>
              <a:rPr lang="en-US" altLang="zh-CN" baseline="-25000" dirty="0">
                <a:solidFill>
                  <a:prstClr val="black"/>
                </a:solidFill>
                <a:sym typeface="+mn-ea"/>
              </a:rPr>
              <a:t>F</a:t>
            </a:r>
            <a:r>
              <a:rPr lang="zh-CN" altLang="en-US" dirty="0">
                <a:solidFill>
                  <a:prstClr val="black"/>
                </a:solidFill>
                <a:sym typeface="+mn-ea"/>
              </a:rPr>
              <a:t>的作用。</a:t>
            </a:r>
            <a:endParaRPr lang="zh-CN" altLang="en-US" dirty="0">
              <a:solidFill>
                <a:prstClr val="black"/>
              </a:solidFill>
              <a:sym typeface="+mn-ea"/>
            </a:endParaRPr>
          </a:p>
        </p:txBody>
      </p:sp>
      <p:pic>
        <p:nvPicPr>
          <p:cNvPr id="6" name="图片 5"/>
          <p:cNvPicPr/>
          <p:nvPr/>
        </p:nvPicPr>
        <p:blipFill>
          <a:blip r:embed="rId1"/>
          <a:stretch>
            <a:fillRect/>
          </a:stretch>
        </p:blipFill>
        <p:spPr>
          <a:xfrm>
            <a:off x="421640" y="1818640"/>
            <a:ext cx="5273675" cy="4036060"/>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5943016" y="2105432"/>
                <a:ext cx="6140348" cy="1383665"/>
              </a:xfrm>
              <a:prstGeom prst="rect">
                <a:avLst/>
              </a:prstGeom>
              <a:noFill/>
            </p:spPr>
            <p:txBody>
              <a:bodyPr wrap="square" rtlCol="0">
                <a:spAutoFit/>
              </a:bodyPr>
              <a:lstStyle/>
              <a:p>
                <a:pPr>
                  <a:lnSpc>
                    <a:spcPct val="150000"/>
                  </a:lnSpc>
                </a:pPr>
                <a:r>
                  <a:rPr lang="zh-CN" altLang="en-US" sz="1400" dirty="0">
                    <a:solidFill>
                      <a:prstClr val="black"/>
                    </a:solidFill>
                  </a:rPr>
                  <a:t>解：由图可知，</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r>
                          <a:rPr lang="en-US" altLang="zh-CN" sz="1400" i="1">
                            <a:solidFill>
                              <a:prstClr val="black"/>
                            </a:solidFill>
                            <a:latin typeface="Cambria Math" panose="02040503050406030204" pitchFamily="18" charset="0"/>
                            <a:ea typeface="Cambria Math" panose="02040503050406030204" pitchFamily="18" charset="0"/>
                          </a:rPr>
                          <m:t>1</m:t>
                        </m:r>
                      </m:sub>
                    </m:sSub>
                  </m:oMath>
                </a14:m>
                <a:r>
                  <a:rPr lang="zh-CN" altLang="en-US" sz="1400" dirty="0">
                    <a:solidFill>
                      <a:prstClr val="black"/>
                    </a:solidFill>
                  </a:rPr>
                  <a:t>和</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𝐼</m:t>
                        </m:r>
                        <m:r>
                          <a:rPr lang="en-US" altLang="zh-CN" sz="1400" i="1">
                            <a:solidFill>
                              <a:prstClr val="black"/>
                            </a:solidFill>
                            <a:latin typeface="Cambria Math" panose="02040503050406030204" pitchFamily="18" charset="0"/>
                            <a:ea typeface="Cambria Math" panose="02040503050406030204" pitchFamily="18" charset="0"/>
                          </a:rPr>
                          <m:t>2</m:t>
                        </m:r>
                      </m:sub>
                    </m:sSub>
                  </m:oMath>
                </a14:m>
                <a:r>
                  <a:rPr lang="zh-CN" altLang="en-US" sz="1400" dirty="0">
                    <a:solidFill>
                      <a:prstClr val="black"/>
                    </a:solidFill>
                  </a:rPr>
                  <a:t>相连作为输入构成了施密特触发器，再经</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i="1">
                            <a:solidFill>
                              <a:prstClr val="black"/>
                            </a:solidFill>
                            <a:latin typeface="Cambria Math" panose="02040503050406030204" pitchFamily="18" charset="0"/>
                            <a:ea typeface="Cambria Math" panose="02040503050406030204" pitchFamily="18" charset="0"/>
                          </a:rPr>
                          <m:t>𝑂</m:t>
                        </m:r>
                      </m:sub>
                    </m:sSub>
                    <m:r>
                      <a:rPr lang="en-US" altLang="zh-CN" sz="1400" b="0" i="1" smtClean="0">
                        <a:solidFill>
                          <a:prstClr val="black"/>
                        </a:solidFill>
                        <a:latin typeface="Cambria Math" panose="02040503050406030204" pitchFamily="18" charset="0"/>
                        <a:ea typeface="Cambria Math" panose="02040503050406030204" pitchFamily="18" charset="0"/>
                      </a:rPr>
                      <m:t>′</m:t>
                    </m:r>
                  </m:oMath>
                </a14:m>
                <a:r>
                  <a:rPr lang="zh-CN" altLang="en-US" sz="1400" dirty="0">
                    <a:solidFill>
                      <a:prstClr val="black"/>
                    </a:solidFill>
                  </a:rPr>
                  <a:t>由输出端反馈到输入端，就得到了多谐振荡电路。</a:t>
                </a:r>
                <a:r>
                  <a:rPr lang="zh-CN" altLang="en-US" sz="1400" dirty="0">
                    <a:solidFill>
                      <a:prstClr val="black"/>
                    </a:solidFill>
                    <a:highlight>
                      <a:srgbClr val="FFFF00"/>
                    </a:highlight>
                  </a:rPr>
                  <a:t>电容</a:t>
                </a:r>
                <a:r>
                  <a:rPr lang="en-US" altLang="zh-CN" sz="1400" dirty="0">
                    <a:solidFill>
                      <a:prstClr val="black"/>
                    </a:solidFill>
                    <a:highlight>
                      <a:srgbClr val="FFFF00"/>
                    </a:highlight>
                  </a:rPr>
                  <a:t>C</a:t>
                </a:r>
                <a:r>
                  <a:rPr lang="zh-CN" altLang="en-US" sz="1400" dirty="0">
                    <a:solidFill>
                      <a:prstClr val="black"/>
                    </a:solidFill>
                    <a:highlight>
                      <a:srgbClr val="FFFF00"/>
                    </a:highlight>
                  </a:rPr>
                  <a:t>上的电压</a:t>
                </a:r>
                <a14:m>
                  <m:oMath xmlns:m="http://schemas.openxmlformats.org/officeDocument/2006/math">
                    <m:sSub>
                      <m:sSubPr>
                        <m:ctrlPr>
                          <a:rPr lang="el-GR" altLang="zh-CN" sz="1400" i="1">
                            <a:solidFill>
                              <a:prstClr val="black"/>
                            </a:solidFill>
                            <a:highlight>
                              <a:srgbClr val="FFFF00"/>
                            </a:highlight>
                            <a:latin typeface="Cambria Math" panose="02040503050406030204" pitchFamily="18" charset="0"/>
                            <a:ea typeface="Cambria Math" panose="02040503050406030204" pitchFamily="18" charset="0"/>
                          </a:rPr>
                        </m:ctrlPr>
                      </m:sSubPr>
                      <m:e>
                        <m:r>
                          <a:rPr lang="en-US" altLang="zh-CN" sz="1400" i="1">
                            <a:solidFill>
                              <a:prstClr val="black"/>
                            </a:solidFill>
                            <a:highlight>
                              <a:srgbClr val="FFFF00"/>
                            </a:highlight>
                            <a:latin typeface="Cambria Math" panose="02040503050406030204" pitchFamily="18" charset="0"/>
                            <a:ea typeface="Cambria Math" panose="02040503050406030204" pitchFamily="18" charset="0"/>
                          </a:rPr>
                          <m:t>𝑣</m:t>
                        </m:r>
                      </m:e>
                      <m:sub>
                        <m:r>
                          <a:rPr lang="en-US" altLang="zh-CN" sz="1400" b="0" i="1" smtClean="0">
                            <a:solidFill>
                              <a:prstClr val="black"/>
                            </a:solidFill>
                            <a:highlight>
                              <a:srgbClr val="FFFF00"/>
                            </a:highlight>
                            <a:latin typeface="Cambria Math" panose="02040503050406030204" pitchFamily="18" charset="0"/>
                            <a:ea typeface="Cambria Math" panose="02040503050406030204" pitchFamily="18" charset="0"/>
                          </a:rPr>
                          <m:t>𝐶</m:t>
                        </m:r>
                      </m:sub>
                    </m:sSub>
                  </m:oMath>
                </a14:m>
                <a:r>
                  <a:rPr lang="zh-CN" altLang="en-US" sz="1400" dirty="0">
                    <a:solidFill>
                      <a:prstClr val="black"/>
                    </a:solidFill>
                  </a:rPr>
                  <a:t>在</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m:t>
                        </m:r>
                        <m:r>
                          <a:rPr lang="en-US" altLang="zh-CN" sz="1400" i="1">
                            <a:solidFill>
                              <a:prstClr val="black"/>
                            </a:solidFill>
                            <a:latin typeface="Cambria Math" panose="02040503050406030204" pitchFamily="18" charset="0"/>
                            <a:ea typeface="Cambria Math" panose="02040503050406030204" pitchFamily="18" charset="0"/>
                          </a:rPr>
                          <m:t>+</m:t>
                        </m:r>
                      </m:sub>
                    </m:sSub>
                  </m:oMath>
                </a14:m>
                <a:r>
                  <a:rPr lang="zh-CN" altLang="en-US" sz="1400" dirty="0">
                    <a:solidFill>
                      <a:prstClr val="black"/>
                    </a:solidFill>
                  </a:rPr>
                  <a:t>和</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𝑉</m:t>
                        </m:r>
                      </m:e>
                      <m:sub>
                        <m:r>
                          <a:rPr lang="en-US" altLang="zh-CN" sz="1400" i="1">
                            <a:solidFill>
                              <a:prstClr val="black"/>
                            </a:solidFill>
                            <a:latin typeface="Cambria Math" panose="02040503050406030204" pitchFamily="18" charset="0"/>
                            <a:ea typeface="Cambria Math" panose="02040503050406030204" pitchFamily="18" charset="0"/>
                          </a:rPr>
                          <m:t>𝑇</m:t>
                        </m:r>
                        <m:r>
                          <a:rPr lang="en-US" altLang="zh-CN" sz="1400" i="1">
                            <a:solidFill>
                              <a:prstClr val="black"/>
                            </a:solidFill>
                            <a:latin typeface="Cambria Math" panose="02040503050406030204" pitchFamily="18" charset="0"/>
                            <a:ea typeface="Cambria Math" panose="02040503050406030204" pitchFamily="18" charset="0"/>
                          </a:rPr>
                          <m:t>−</m:t>
                        </m:r>
                      </m:sub>
                    </m:sSub>
                  </m:oMath>
                </a14:m>
                <a:r>
                  <a:rPr lang="zh-CN" altLang="en-US" sz="1400" dirty="0">
                    <a:solidFill>
                      <a:prstClr val="black"/>
                    </a:solidFill>
                  </a:rPr>
                  <a:t>之间往复地充、放电，</a:t>
                </a:r>
                <a14:m>
                  <m:oMath xmlns:m="http://schemas.openxmlformats.org/officeDocument/2006/math">
                    <m:sSub>
                      <m:sSubPr>
                        <m:ctrlPr>
                          <a:rPr lang="el-GR" altLang="zh-CN" sz="1400" i="1">
                            <a:solidFill>
                              <a:prstClr val="black"/>
                            </a:solidFill>
                            <a:latin typeface="Cambria Math" panose="02040503050406030204" pitchFamily="18" charset="0"/>
                            <a:ea typeface="Cambria Math" panose="02040503050406030204" pitchFamily="18" charset="0"/>
                          </a:rPr>
                        </m:ctrlPr>
                      </m:sSubPr>
                      <m:e>
                        <m:r>
                          <a:rPr lang="en-US" altLang="zh-CN" sz="1400" i="1">
                            <a:solidFill>
                              <a:prstClr val="black"/>
                            </a:solidFill>
                            <a:latin typeface="Cambria Math" panose="02040503050406030204" pitchFamily="18" charset="0"/>
                            <a:ea typeface="Cambria Math" panose="02040503050406030204" pitchFamily="18" charset="0"/>
                          </a:rPr>
                          <m:t>𝑣</m:t>
                        </m:r>
                      </m:e>
                      <m:sub>
                        <m:r>
                          <a:rPr lang="en-US" altLang="zh-CN" sz="1400" b="0" i="1" smtClean="0">
                            <a:solidFill>
                              <a:prstClr val="black"/>
                            </a:solidFill>
                            <a:latin typeface="Cambria Math" panose="02040503050406030204" pitchFamily="18" charset="0"/>
                            <a:ea typeface="Cambria Math" panose="02040503050406030204" pitchFamily="18" charset="0"/>
                          </a:rPr>
                          <m:t>𝑂</m:t>
                        </m:r>
                      </m:sub>
                    </m:sSub>
                  </m:oMath>
                </a14:m>
                <a:r>
                  <a:rPr lang="zh-CN" altLang="en-US" sz="1400" dirty="0">
                    <a:solidFill>
                      <a:prstClr val="black"/>
                    </a:solidFill>
                  </a:rPr>
                  <a:t>便在高低电平之间往复跳变，如左下图所示。电容</a:t>
                </a:r>
                <a:r>
                  <a:rPr lang="en-US" altLang="zh-CN" sz="1400" dirty="0">
                    <a:solidFill>
                      <a:prstClr val="black"/>
                    </a:solidFill>
                  </a:rPr>
                  <a:t>C</a:t>
                </a:r>
                <a:r>
                  <a:rPr lang="zh-CN" altLang="en-US" sz="1400" dirty="0">
                    <a:solidFill>
                      <a:prstClr val="black"/>
                    </a:solidFill>
                  </a:rPr>
                  <a:t>的充放电回路如右下图所示。</a:t>
                </a:r>
                <a:endParaRPr lang="zh-CN" altLang="en-US" sz="1400" dirty="0">
                  <a:solidFill>
                    <a:prstClr val="black"/>
                  </a:solidFill>
                </a:endParaRPr>
              </a:p>
            </p:txBody>
          </p:sp>
        </mc:Choice>
        <mc:Fallback>
          <p:sp>
            <p:nvSpPr>
              <p:cNvPr id="7" name="文本框 6"/>
              <p:cNvSpPr txBox="1">
                <a:spLocks noRot="1" noChangeAspect="1" noMove="1" noResize="1" noEditPoints="1" noAdjustHandles="1" noChangeArrowheads="1" noChangeShapeType="1" noTextEdit="1"/>
              </p:cNvSpPr>
              <p:nvPr/>
            </p:nvSpPr>
            <p:spPr>
              <a:xfrm>
                <a:off x="5943016" y="2105432"/>
                <a:ext cx="6140348" cy="1383665"/>
              </a:xfrm>
              <a:prstGeom prst="rect">
                <a:avLst/>
              </a:prstGeom>
              <a:blipFill rotWithShape="1">
                <a:blip r:embed="rId2"/>
                <a:stretch>
                  <a:fillRect l="-1" t="-29" r="10" b="29"/>
                </a:stretch>
              </a:blipFill>
            </p:spPr>
            <p:txBody>
              <a:bodyPr/>
              <a:lstStyle/>
              <a:p>
                <a:r>
                  <a:rPr lang="zh-CN" altLang="en-US">
                    <a:noFill/>
                  </a:rPr>
                  <a:t> </a:t>
                </a:r>
              </a:p>
            </p:txBody>
          </p:sp>
        </mc:Fallback>
      </mc:AlternateContent>
      <p:pic>
        <p:nvPicPr>
          <p:cNvPr id="9" name="图片 8"/>
          <p:cNvPicPr/>
          <p:nvPr/>
        </p:nvPicPr>
        <p:blipFill>
          <a:blip r:embed="rId3" cstate="print">
            <a:extLst>
              <a:ext uri="{28A0092B-C50C-407E-A947-70E740481C1C}">
                <a14:useLocalDpi xmlns:a14="http://schemas.microsoft.com/office/drawing/2010/main" val="0"/>
              </a:ext>
            </a:extLst>
          </a:blip>
          <a:stretch>
            <a:fillRect/>
          </a:stretch>
        </p:blipFill>
        <p:spPr>
          <a:xfrm>
            <a:off x="5776503" y="3928869"/>
            <a:ext cx="3207251" cy="1925568"/>
          </a:xfrm>
          <a:prstGeom prst="rect">
            <a:avLst/>
          </a:prstGeom>
          <a:scene3d>
            <a:camera prst="orthographicFront">
              <a:rot lat="0" lon="0" rev="0"/>
            </a:camera>
            <a:lightRig rig="threePt" dir="t"/>
          </a:scene3d>
        </p:spPr>
      </p:pic>
      <p:pic>
        <p:nvPicPr>
          <p:cNvPr id="10" name="图片 9"/>
          <p:cNvPicPr/>
          <p:nvPr/>
        </p:nvPicPr>
        <p:blipFill>
          <a:blip r:embed="rId4" cstate="print">
            <a:extLst>
              <a:ext uri="{28A0092B-C50C-407E-A947-70E740481C1C}">
                <a14:useLocalDpi xmlns:a14="http://schemas.microsoft.com/office/drawing/2010/main" val="0"/>
              </a:ext>
            </a:extLst>
          </a:blip>
          <a:stretch>
            <a:fillRect/>
          </a:stretch>
        </p:blipFill>
        <p:spPr>
          <a:xfrm>
            <a:off x="9151362" y="3705969"/>
            <a:ext cx="2710134" cy="233628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作业</a:t>
            </a:r>
            <a:r>
              <a:rPr lang="en-US" altLang="zh-CN" dirty="0">
                <a:sym typeface="+mn-ea"/>
              </a:rPr>
              <a:t>11</a:t>
            </a:r>
            <a:endParaRPr lang="zh-CN" altLang="en-US" dirty="0">
              <a:sym typeface="+mn-ea"/>
            </a:endParaRPr>
          </a:p>
          <a:p>
            <a:endParaRPr lang="zh-CN" altLang="en-US"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421640" y="925195"/>
                <a:ext cx="6140450" cy="1947545"/>
              </a:xfrm>
              <a:prstGeom prst="rect">
                <a:avLst/>
              </a:prstGeom>
              <a:noFill/>
            </p:spPr>
            <p:txBody>
              <a:bodyPr wrap="square" rtlCol="0">
                <a:noAutofit/>
              </a:bodyPr>
              <a:lstStyle/>
              <a:p>
                <a:pPr indent="226695">
                  <a:lnSpc>
                    <a:spcPct val="150000"/>
                  </a:lnSpc>
                </a:pPr>
                <a:r>
                  <a:rPr lang="zh-CN" altLang="zh-CN" sz="1400" kern="100" dirty="0">
                    <a:latin typeface="Times New Roman" panose="02020603050405020304" pitchFamily="18" charset="0"/>
                  </a:rPr>
                  <a:t>因为</a:t>
                </a:r>
                <a14:m>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𝐶𝑂</m:t>
                        </m:r>
                      </m:sub>
                    </m:sSub>
                  </m:oMath>
                </a14:m>
                <a:r>
                  <a:rPr lang="zh-CN" altLang="zh-CN" sz="1400" kern="100" dirty="0">
                    <a:latin typeface="Times New Roman" panose="02020603050405020304" pitchFamily="18" charset="0"/>
                  </a:rPr>
                  <a:t>经电阻</a:t>
                </a:r>
                <a14:m>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𝑅</m:t>
                        </m:r>
                      </m:e>
                      <m:sub>
                        <m:r>
                          <a:rPr lang="en-US" altLang="zh-CN" sz="1400" i="1" kern="100">
                            <a:latin typeface="Cambria Math" panose="02040503050406030204" pitchFamily="18" charset="0"/>
                          </a:rPr>
                          <m:t>3</m:t>
                        </m:r>
                      </m:sub>
                    </m:sSub>
                  </m:oMath>
                </a14:m>
                <a:r>
                  <a:rPr lang="zh-CN" altLang="zh-CN" sz="1400" kern="100" dirty="0">
                    <a:latin typeface="Times New Roman" panose="02020603050405020304" pitchFamily="18" charset="0"/>
                  </a:rPr>
                  <a:t>接地，所以现在的</a:t>
                </a:r>
                <a14:m>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𝑇</m:t>
                        </m:r>
                        <m:r>
                          <a:rPr lang="en-US" altLang="zh-CN" sz="1400" i="1" kern="100">
                            <a:latin typeface="Cambria Math" panose="02040503050406030204" pitchFamily="18" charset="0"/>
                          </a:rPr>
                          <m:t>+</m:t>
                        </m:r>
                      </m:sub>
                    </m:sSub>
                  </m:oMath>
                </a14:m>
                <a:r>
                  <a:rPr lang="zh-CN" altLang="zh-CN" sz="1400" kern="100" dirty="0">
                    <a:latin typeface="Times New Roman" panose="02020603050405020304" pitchFamily="18" charset="0"/>
                  </a:rPr>
                  <a:t>不等于</a:t>
                </a:r>
                <a14:m>
                  <m:oMath xmlns:m="http://schemas.openxmlformats.org/officeDocument/2006/math">
                    <m:f>
                      <m:fPr>
                        <m:ctrlPr>
                          <a:rPr lang="zh-CN" altLang="zh-CN" sz="1400" i="1" kern="100">
                            <a:effectLst/>
                            <a:latin typeface="Cambria Math" panose="02040503050406030204" pitchFamily="18" charset="0"/>
                            <a:ea typeface="Cambria Math" panose="02040503050406030204" pitchFamily="18" charset="0"/>
                          </a:rPr>
                        </m:ctrlPr>
                      </m:fPr>
                      <m:num>
                        <m:r>
                          <a:rPr lang="en-US" altLang="zh-CN" sz="1400" i="1" kern="100">
                            <a:latin typeface="Cambria Math" panose="02040503050406030204" pitchFamily="18" charset="0"/>
                          </a:rPr>
                          <m:t>2</m:t>
                        </m:r>
                      </m:num>
                      <m:den>
                        <m:r>
                          <a:rPr lang="en-US" altLang="zh-CN" sz="1400" i="1" kern="100">
                            <a:latin typeface="Cambria Math" panose="02040503050406030204" pitchFamily="18" charset="0"/>
                          </a:rPr>
                          <m:t>3</m:t>
                        </m:r>
                      </m:den>
                    </m:f>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𝐶𝐶</m:t>
                        </m:r>
                      </m:sub>
                    </m:sSub>
                  </m:oMath>
                </a14:m>
                <a:r>
                  <a:rPr lang="zh-CN" altLang="zh-CN" sz="1400" kern="100" dirty="0">
                    <a:latin typeface="Times New Roman" panose="02020603050405020304" pitchFamily="18" charset="0"/>
                  </a:rPr>
                  <a:t>。由图中可以算出，</a:t>
                </a:r>
                <a14:m>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𝐶𝑂</m:t>
                        </m:r>
                      </m:sub>
                    </m:sSub>
                  </m:oMath>
                </a14:m>
                <a:r>
                  <a:rPr lang="zh-CN" altLang="zh-CN" sz="1400" kern="100" dirty="0">
                    <a:latin typeface="Times New Roman" panose="02020603050405020304" pitchFamily="18" charset="0"/>
                  </a:rPr>
                  <a:t>等于一个</a:t>
                </a:r>
                <a:r>
                  <a:rPr lang="en-US" altLang="zh-CN" sz="1400" kern="100" dirty="0">
                    <a:latin typeface="Times New Roman" panose="02020603050405020304" pitchFamily="18" charset="0"/>
                  </a:rPr>
                  <a:t>5</a:t>
                </a:r>
                <a14:m>
                  <m:oMath xmlns:m="http://schemas.openxmlformats.org/officeDocument/2006/math">
                    <m:r>
                      <a:rPr lang="en-US" altLang="zh-CN" sz="1400" kern="100">
                        <a:latin typeface="Cambria Math" panose="02040503050406030204" pitchFamily="18" charset="0"/>
                      </a:rPr>
                      <m:t> </m:t>
                    </m:r>
                    <m:r>
                      <m:rPr>
                        <m:sty m:val="p"/>
                      </m:rPr>
                      <a:rPr lang="en-US" altLang="zh-CN" sz="1400" kern="100">
                        <a:latin typeface="Cambria Math" panose="02040503050406030204" pitchFamily="18" charset="0"/>
                      </a:rPr>
                      <m:t>kΩ</m:t>
                    </m:r>
                  </m:oMath>
                </a14:m>
                <a:r>
                  <a:rPr lang="zh-CN" altLang="zh-CN" sz="1400" kern="100" dirty="0">
                    <a:latin typeface="Times New Roman" panose="02020603050405020304" pitchFamily="18" charset="0"/>
                  </a:rPr>
                  <a:t>电阻和两个并联的</a:t>
                </a:r>
                <a:r>
                  <a:rPr lang="en-US" altLang="zh-CN" sz="1400" kern="100" dirty="0">
                    <a:latin typeface="Times New Roman" panose="02020603050405020304" pitchFamily="18" charset="0"/>
                  </a:rPr>
                  <a:t>10</a:t>
                </a:r>
                <a14:m>
                  <m:oMath xmlns:m="http://schemas.openxmlformats.org/officeDocument/2006/math">
                    <m:r>
                      <m:rPr>
                        <m:sty m:val="p"/>
                      </m:rPr>
                      <a:rPr lang="en-US" altLang="zh-CN" sz="1400" kern="100">
                        <a:latin typeface="Cambria Math" panose="02040503050406030204" pitchFamily="18" charset="0"/>
                      </a:rPr>
                      <m:t>kΩ</m:t>
                    </m:r>
                  </m:oMath>
                </a14:m>
                <a:r>
                  <a:rPr lang="zh-CN" altLang="zh-CN" sz="1400" kern="100" dirty="0">
                    <a:latin typeface="Times New Roman" panose="02020603050405020304" pitchFamily="18" charset="0"/>
                  </a:rPr>
                  <a:t>电阻分压，故</a:t>
                </a:r>
                <a14:m>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𝐶𝑂</m:t>
                        </m:r>
                      </m:sub>
                    </m:sSub>
                  </m:oMath>
                </a14:m>
                <a:r>
                  <a:rPr lang="en-US" altLang="zh-CN" sz="1400" kern="100" dirty="0">
                    <a:latin typeface="Times New Roman" panose="02020603050405020304" pitchFamily="18" charset="0"/>
                  </a:rPr>
                  <a:t>=5V=</a:t>
                </a:r>
                <a14:m>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𝑇</m:t>
                        </m:r>
                        <m:r>
                          <a:rPr lang="en-US" altLang="zh-CN" sz="1400" i="1" kern="100">
                            <a:latin typeface="Cambria Math" panose="02040503050406030204" pitchFamily="18" charset="0"/>
                          </a:rPr>
                          <m:t>+</m:t>
                        </m:r>
                      </m:sub>
                    </m:sSub>
                  </m:oMath>
                </a14:m>
                <a:r>
                  <a:rPr lang="zh-CN" altLang="zh-CN" sz="1400" kern="100" dirty="0">
                    <a:latin typeface="Times New Roman" panose="02020603050405020304" pitchFamily="18" charset="0"/>
                  </a:rPr>
                  <a:t>，</a:t>
                </a:r>
                <a14:m>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𝑇</m:t>
                        </m:r>
                        <m:r>
                          <a:rPr lang="en-US" altLang="zh-CN" sz="1400" i="1" kern="100">
                            <a:latin typeface="Cambria Math" panose="02040503050406030204" pitchFamily="18" charset="0"/>
                          </a:rPr>
                          <m:t>−</m:t>
                        </m:r>
                      </m:sub>
                    </m:sSub>
                  </m:oMath>
                </a14:m>
                <a:r>
                  <a:rPr lang="en-US" altLang="zh-CN" sz="1400" kern="100" dirty="0">
                    <a:latin typeface="Times New Roman" panose="02020603050405020304" pitchFamily="18" charset="0"/>
                  </a:rPr>
                  <a:t>=</a:t>
                </a:r>
                <a14:m>
                  <m:oMath xmlns:m="http://schemas.openxmlformats.org/officeDocument/2006/math">
                    <m:f>
                      <m:fPr>
                        <m:ctrlPr>
                          <a:rPr lang="zh-CN" altLang="zh-CN" sz="1400" i="1" kern="100">
                            <a:effectLst/>
                            <a:latin typeface="Cambria Math" panose="02040503050406030204" pitchFamily="18" charset="0"/>
                            <a:ea typeface="Cambria Math" panose="02040503050406030204" pitchFamily="18" charset="0"/>
                          </a:rPr>
                        </m:ctrlPr>
                      </m:fPr>
                      <m:num>
                        <m:r>
                          <a:rPr lang="en-US" altLang="zh-CN" sz="1400" i="1" kern="100">
                            <a:latin typeface="Cambria Math" panose="02040503050406030204" pitchFamily="18" charset="0"/>
                          </a:rPr>
                          <m:t>1</m:t>
                        </m:r>
                      </m:num>
                      <m:den>
                        <m:r>
                          <a:rPr lang="en-US" altLang="zh-CN" sz="1400" i="1" kern="100">
                            <a:latin typeface="Cambria Math" panose="02040503050406030204" pitchFamily="18" charset="0"/>
                          </a:rPr>
                          <m:t>2</m:t>
                        </m:r>
                      </m:den>
                    </m:f>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𝐶𝑂</m:t>
                        </m:r>
                      </m:sub>
                    </m:sSub>
                  </m:oMath>
                </a14:m>
                <a:r>
                  <a:rPr lang="en-US" altLang="zh-CN" sz="1400" kern="100" dirty="0">
                    <a:latin typeface="Times New Roman" panose="02020603050405020304" pitchFamily="18" charset="0"/>
                  </a:rPr>
                  <a:t>=2.5V</a:t>
                </a:r>
                <a:r>
                  <a:rPr lang="zh-CN" altLang="zh-CN" sz="1400" kern="100" dirty="0">
                    <a:latin typeface="Times New Roman" panose="02020603050405020304" pitchFamily="18" charset="0"/>
                  </a:rPr>
                  <a:t>。</a:t>
                </a:r>
                <a:endParaRPr lang="zh-CN" altLang="zh-CN" sz="1100" kern="100" dirty="0">
                  <a:latin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421640" y="925195"/>
                <a:ext cx="6140450" cy="194754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181026" y="2236877"/>
                <a:ext cx="6140348" cy="3394710"/>
              </a:xfrm>
              <a:prstGeom prst="rect">
                <a:avLst/>
              </a:prstGeom>
              <a:noFill/>
            </p:spPr>
            <p:txBody>
              <a:bodyPr wrap="square" rtlCol="0">
                <a:spAutoFit/>
              </a:bodyPr>
              <a:lstStyle/>
              <a:p>
                <a:pPr algn="just">
                  <a:spcAft>
                    <a:spcPts val="0"/>
                  </a:spcAft>
                </a:pPr>
                <a:r>
                  <a:rPr lang="en-US" altLang="zh-CN" sz="1400" kern="100" dirty="0">
                    <a:latin typeface="Times New Roman" panose="02020603050405020304" pitchFamily="18" charset="0"/>
                  </a:rPr>
                  <a:t>     </a:t>
                </a:r>
                <a:r>
                  <a:rPr lang="zh-CN" altLang="zh-CN" sz="1400" kern="100" dirty="0">
                    <a:latin typeface="Times New Roman" panose="02020603050405020304" pitchFamily="18" charset="0"/>
                  </a:rPr>
                  <a:t>从充电回路可求得充电时间为：</a:t>
                </a:r>
                <a:endParaRPr lang="zh-CN" altLang="zh-CN" sz="1100" kern="100" dirty="0">
                  <a:latin typeface="Times New Roman" panose="02020603050405020304" pitchFamily="18" charset="0"/>
                </a:endParaRPr>
              </a:p>
              <a:p>
                <a:pPr marL="226695" algn="ctr">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𝑡</m:t>
                          </m:r>
                        </m:e>
                        <m:sub>
                          <m:r>
                            <a:rPr lang="en-US" altLang="zh-CN" sz="1400" i="1" kern="100">
                              <a:latin typeface="Cambria Math" panose="02040503050406030204" pitchFamily="18" charset="0"/>
                            </a:rPr>
                            <m:t>1</m:t>
                          </m:r>
                        </m:sub>
                      </m:sSub>
                      <m:r>
                        <a:rPr lang="en-US" altLang="zh-CN" sz="1400" i="1" kern="100">
                          <a:latin typeface="Cambria Math" panose="02040503050406030204" pitchFamily="18" charset="0"/>
                        </a:rPr>
                        <m:t>=(</m:t>
                      </m:r>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𝑅</m:t>
                          </m:r>
                        </m:e>
                        <m:sub>
                          <m:r>
                            <a:rPr lang="en-US" altLang="zh-CN" sz="1400" i="1" kern="100">
                              <a:latin typeface="Cambria Math" panose="02040503050406030204" pitchFamily="18" charset="0"/>
                            </a:rPr>
                            <m:t>1</m:t>
                          </m:r>
                        </m:sub>
                      </m:sSub>
                      <m:r>
                        <a:rPr lang="en-US" altLang="zh-CN" sz="1400" i="1" kern="100">
                          <a:latin typeface="Cambria Math" panose="02040503050406030204" pitchFamily="18" charset="0"/>
                        </a:rPr>
                        <m:t>+</m:t>
                      </m:r>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𝑅</m:t>
                          </m:r>
                        </m:e>
                        <m:sub>
                          <m:r>
                            <a:rPr lang="en-US" altLang="zh-CN" sz="1400" i="1" kern="100">
                              <a:latin typeface="Cambria Math" panose="02040503050406030204" pitchFamily="18" charset="0"/>
                            </a:rPr>
                            <m:t>2</m:t>
                          </m:r>
                        </m:sub>
                      </m:sSub>
                      <m:r>
                        <a:rPr lang="en-US" altLang="zh-CN" sz="1400" i="1" kern="100">
                          <a:latin typeface="Cambria Math" panose="02040503050406030204" pitchFamily="18" charset="0"/>
                        </a:rPr>
                        <m:t>)</m:t>
                      </m:r>
                      <m:r>
                        <a:rPr lang="en-US" altLang="zh-CN" sz="1400" i="1" kern="100">
                          <a:latin typeface="Cambria Math" panose="02040503050406030204" pitchFamily="18" charset="0"/>
                        </a:rPr>
                        <m:t>𝐶𝑙𝑛</m:t>
                      </m:r>
                      <m:f>
                        <m:fPr>
                          <m:ctrlPr>
                            <a:rPr lang="zh-CN" altLang="zh-CN" sz="1400" i="1" kern="100">
                              <a:effectLst/>
                              <a:latin typeface="Cambria Math" panose="02040503050406030204" pitchFamily="18" charset="0"/>
                              <a:ea typeface="Cambria Math" panose="02040503050406030204" pitchFamily="18" charset="0"/>
                            </a:rPr>
                          </m:ctrlPr>
                        </m:fPr>
                        <m:num>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𝐶𝐶</m:t>
                              </m:r>
                            </m:sub>
                          </m:sSub>
                          <m:r>
                            <a:rPr lang="en-US" altLang="zh-CN" sz="1400" i="1" kern="100">
                              <a:latin typeface="Cambria Math" panose="02040503050406030204" pitchFamily="18" charset="0"/>
                            </a:rPr>
                            <m:t>−</m:t>
                          </m:r>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𝑇</m:t>
                              </m:r>
                              <m:r>
                                <a:rPr lang="en-US" altLang="zh-CN" sz="1400" i="1" kern="100">
                                  <a:latin typeface="Cambria Math" panose="02040503050406030204" pitchFamily="18" charset="0"/>
                                </a:rPr>
                                <m:t>−</m:t>
                              </m:r>
                            </m:sub>
                          </m:sSub>
                        </m:num>
                        <m:den>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𝐶𝐶</m:t>
                              </m:r>
                            </m:sub>
                          </m:sSub>
                          <m:r>
                            <a:rPr lang="en-US" altLang="zh-CN" sz="1400" i="1" kern="100">
                              <a:latin typeface="Cambria Math" panose="02040503050406030204" pitchFamily="18" charset="0"/>
                            </a:rPr>
                            <m:t>−</m:t>
                          </m:r>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𝑇</m:t>
                              </m:r>
                              <m:r>
                                <a:rPr lang="en-US" altLang="zh-CN" sz="1400" i="1" kern="100">
                                  <a:latin typeface="Cambria Math" panose="02040503050406030204" pitchFamily="18" charset="0"/>
                                </a:rPr>
                                <m:t>+</m:t>
                              </m:r>
                            </m:sub>
                          </m:sSub>
                        </m:den>
                      </m:f>
                    </m:oMath>
                  </m:oMathPara>
                </a14:m>
                <a:endParaRPr lang="zh-CN" altLang="zh-CN" sz="1100" kern="100" dirty="0">
                  <a:latin typeface="Times New Roman" panose="02020603050405020304" pitchFamily="18" charset="0"/>
                </a:endParaRPr>
              </a:p>
              <a:p>
                <a:pPr indent="226695">
                  <a:lnSpc>
                    <a:spcPct val="150000"/>
                  </a:lnSpc>
                </a:pPr>
                <a:r>
                  <a:rPr lang="zh-CN" altLang="zh-CN" sz="1400" kern="100" dirty="0">
                    <a:latin typeface="Times New Roman" panose="02020603050405020304" pitchFamily="18" charset="0"/>
                  </a:rPr>
                  <a:t>计算可得到：</a:t>
                </a:r>
                <a:endParaRPr lang="zh-CN" altLang="zh-CN" sz="1100" kern="100" dirty="0">
                  <a:latin typeface="Times New Roman" panose="02020603050405020304" pitchFamily="18" charset="0"/>
                </a:endParaRPr>
              </a:p>
              <a:p>
                <a:pPr marL="226695" algn="ctr">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𝑡</m:t>
                          </m:r>
                        </m:e>
                        <m:sub>
                          <m:r>
                            <a:rPr lang="en-US" altLang="zh-CN" sz="1400" i="1" kern="100">
                              <a:latin typeface="Cambria Math" panose="02040503050406030204" pitchFamily="18" charset="0"/>
                            </a:rPr>
                            <m:t>1</m:t>
                          </m:r>
                        </m:sub>
                      </m:sSub>
                      <m:r>
                        <a:rPr lang="en-US" altLang="zh-CN" sz="1400" i="1" kern="100">
                          <a:latin typeface="Cambria Math" panose="02040503050406030204" pitchFamily="18" charset="0"/>
                        </a:rPr>
                        <m:t>=</m:t>
                      </m:r>
                      <m:d>
                        <m:dPr>
                          <m:ctrlPr>
                            <a:rPr lang="zh-CN" altLang="zh-CN" sz="1400" i="1" kern="100">
                              <a:effectLst/>
                              <a:latin typeface="Cambria Math" panose="02040503050406030204" pitchFamily="18" charset="0"/>
                              <a:ea typeface="Cambria Math" panose="02040503050406030204" pitchFamily="18" charset="0"/>
                            </a:rPr>
                          </m:ctrlPr>
                        </m:dPr>
                        <m:e>
                          <m:r>
                            <a:rPr lang="en-US" altLang="zh-CN" sz="1400" i="1" kern="100">
                              <a:latin typeface="Cambria Math" panose="02040503050406030204" pitchFamily="18" charset="0"/>
                            </a:rPr>
                            <m:t>33</m:t>
                          </m:r>
                          <m:r>
                            <a:rPr lang="en-US" altLang="zh-CN" sz="1400" i="1" kern="100">
                              <a:latin typeface="Cambria Math" panose="02040503050406030204" pitchFamily="18" charset="0"/>
                            </a:rPr>
                            <m:t>+</m:t>
                          </m:r>
                          <m:r>
                            <a:rPr lang="en-US" altLang="zh-CN" sz="1400" kern="100">
                              <a:latin typeface="Cambria Math" panose="02040503050406030204" pitchFamily="18" charset="0"/>
                            </a:rPr>
                            <m:t>51</m:t>
                          </m:r>
                        </m:e>
                      </m:d>
                      <m:r>
                        <a:rPr lang="en-US" altLang="zh-CN" sz="1400" i="1" kern="100">
                          <a:latin typeface="Cambria Math" panose="02040503050406030204" pitchFamily="18" charset="0"/>
                        </a:rPr>
                        <m:t>×</m:t>
                      </m:r>
                      <m:sSup>
                        <m:sSupPr>
                          <m:ctrlPr>
                            <a:rPr lang="zh-CN" altLang="zh-CN" sz="1400" i="1" kern="100">
                              <a:effectLst/>
                              <a:latin typeface="Cambria Math" panose="02040503050406030204" pitchFamily="18" charset="0"/>
                              <a:ea typeface="Cambria Math" panose="02040503050406030204" pitchFamily="18" charset="0"/>
                            </a:rPr>
                          </m:ctrlPr>
                        </m:sSupPr>
                        <m:e>
                          <m:r>
                            <a:rPr lang="en-US" altLang="zh-CN" sz="1400" i="1" kern="100">
                              <a:latin typeface="Cambria Math" panose="02040503050406030204" pitchFamily="18" charset="0"/>
                            </a:rPr>
                            <m:t>10</m:t>
                          </m:r>
                        </m:e>
                        <m:sup>
                          <m:r>
                            <a:rPr lang="en-US" altLang="zh-CN" sz="1400" i="1" kern="100">
                              <a:latin typeface="Cambria Math" panose="02040503050406030204" pitchFamily="18" charset="0"/>
                            </a:rPr>
                            <m:t>3</m:t>
                          </m:r>
                        </m:sup>
                      </m:sSup>
                      <m:r>
                        <a:rPr lang="en-US" altLang="zh-CN" sz="1400" i="1" kern="100">
                          <a:latin typeface="Cambria Math" panose="02040503050406030204" pitchFamily="18" charset="0"/>
                        </a:rPr>
                        <m:t>×</m:t>
                      </m:r>
                      <m:r>
                        <a:rPr lang="en-US" altLang="zh-CN" sz="1400" i="1" kern="100">
                          <a:latin typeface="Cambria Math" panose="02040503050406030204" pitchFamily="18" charset="0"/>
                        </a:rPr>
                        <m:t>0</m:t>
                      </m:r>
                      <m:r>
                        <a:rPr lang="en-US" altLang="zh-CN" sz="1400" i="1" kern="100">
                          <a:latin typeface="Cambria Math" panose="02040503050406030204" pitchFamily="18" charset="0"/>
                        </a:rPr>
                        <m:t>.</m:t>
                      </m:r>
                      <m:r>
                        <a:rPr lang="en-US" altLang="zh-CN" sz="1400" i="1" kern="100">
                          <a:latin typeface="Cambria Math" panose="02040503050406030204" pitchFamily="18" charset="0"/>
                        </a:rPr>
                        <m:t>01</m:t>
                      </m:r>
                      <m:r>
                        <a:rPr lang="en-US" altLang="zh-CN" sz="1400" i="1" kern="100">
                          <a:latin typeface="Cambria Math" panose="02040503050406030204" pitchFamily="18" charset="0"/>
                        </a:rPr>
                        <m:t>×</m:t>
                      </m:r>
                      <m:sSup>
                        <m:sSupPr>
                          <m:ctrlPr>
                            <a:rPr lang="zh-CN" altLang="zh-CN" sz="1400" i="1" kern="100">
                              <a:effectLst/>
                              <a:latin typeface="Cambria Math" panose="02040503050406030204" pitchFamily="18" charset="0"/>
                              <a:ea typeface="Cambria Math" panose="02040503050406030204" pitchFamily="18" charset="0"/>
                            </a:rPr>
                          </m:ctrlPr>
                        </m:sSupPr>
                        <m:e>
                          <m:r>
                            <a:rPr lang="en-US" altLang="zh-CN" sz="1400" i="1" kern="100">
                              <a:latin typeface="Cambria Math" panose="02040503050406030204" pitchFamily="18" charset="0"/>
                            </a:rPr>
                            <m:t>10</m:t>
                          </m:r>
                        </m:e>
                        <m:sup>
                          <m:r>
                            <a:rPr lang="zh-CN" altLang="en-US" sz="1400" i="1" kern="100">
                              <a:effectLst/>
                              <a:latin typeface="Cambria Math" panose="02040503050406030204" pitchFamily="18" charset="0"/>
                              <a:ea typeface="微软雅黑" panose="020B0503020204020204" charset="-122"/>
                              <a:cs typeface="微软雅黑" panose="020B0503020204020204" charset="-122"/>
                            </a:rPr>
                            <m:t>−</m:t>
                          </m:r>
                          <m:r>
                            <a:rPr lang="en-US" altLang="zh-CN" sz="1400" i="1" kern="100">
                              <a:latin typeface="Cambria Math" panose="02040503050406030204" pitchFamily="18" charset="0"/>
                            </a:rPr>
                            <m:t>6</m:t>
                          </m:r>
                        </m:sup>
                      </m:sSup>
                      <m:r>
                        <a:rPr lang="en-US" altLang="zh-CN" sz="1400" i="1" kern="100">
                          <a:latin typeface="Cambria Math" panose="02040503050406030204" pitchFamily="18" charset="0"/>
                        </a:rPr>
                        <m:t>×</m:t>
                      </m:r>
                      <m:r>
                        <a:rPr lang="en-US" altLang="zh-CN" sz="1400" i="1" kern="100">
                          <a:latin typeface="Cambria Math" panose="02040503050406030204" pitchFamily="18" charset="0"/>
                        </a:rPr>
                        <m:t>𝑙𝑛</m:t>
                      </m:r>
                      <m:f>
                        <m:fPr>
                          <m:ctrlPr>
                            <a:rPr lang="zh-CN" altLang="zh-CN" sz="1400" i="1" kern="100">
                              <a:effectLst/>
                              <a:latin typeface="Cambria Math" panose="02040503050406030204" pitchFamily="18" charset="0"/>
                              <a:ea typeface="Cambria Math" panose="02040503050406030204" pitchFamily="18" charset="0"/>
                            </a:rPr>
                          </m:ctrlPr>
                        </m:fPr>
                        <m:num>
                          <m:r>
                            <a:rPr lang="en-US" altLang="zh-CN" sz="1400" kern="100">
                              <a:latin typeface="Cambria Math" panose="02040503050406030204" pitchFamily="18" charset="0"/>
                            </a:rPr>
                            <m:t>10</m:t>
                          </m:r>
                          <m:r>
                            <a:rPr lang="zh-CN" altLang="en-US" sz="1400" i="1" kern="100">
                              <a:effectLst/>
                              <a:latin typeface="Cambria Math" panose="02040503050406030204" pitchFamily="18" charset="0"/>
                              <a:ea typeface="微软雅黑" panose="020B0503020204020204" charset="-122"/>
                              <a:cs typeface="微软雅黑" panose="020B0503020204020204" charset="-122"/>
                            </a:rPr>
                            <m:t>−</m:t>
                          </m:r>
                          <m:r>
                            <a:rPr lang="en-US" altLang="zh-CN" sz="1400" kern="100">
                              <a:latin typeface="Cambria Math" panose="02040503050406030204" pitchFamily="18" charset="0"/>
                            </a:rPr>
                            <m:t>2</m:t>
                          </m:r>
                          <m:r>
                            <a:rPr lang="en-US" altLang="zh-CN" sz="1400" kern="100">
                              <a:latin typeface="Cambria Math" panose="02040503050406030204" pitchFamily="18" charset="0"/>
                            </a:rPr>
                            <m:t>.</m:t>
                          </m:r>
                          <m:r>
                            <a:rPr lang="en-US" altLang="zh-CN" sz="1400" kern="100">
                              <a:latin typeface="Cambria Math" panose="02040503050406030204" pitchFamily="18" charset="0"/>
                            </a:rPr>
                            <m:t>5</m:t>
                          </m:r>
                        </m:num>
                        <m:den>
                          <m:r>
                            <a:rPr lang="en-US" altLang="zh-CN" sz="1400" kern="100">
                              <a:latin typeface="Cambria Math" panose="02040503050406030204" pitchFamily="18" charset="0"/>
                            </a:rPr>
                            <m:t>10</m:t>
                          </m:r>
                          <m:r>
                            <a:rPr lang="zh-CN" altLang="en-US" sz="1400" i="1" kern="100">
                              <a:effectLst/>
                              <a:latin typeface="Cambria Math" panose="02040503050406030204" pitchFamily="18" charset="0"/>
                              <a:ea typeface="微软雅黑" panose="020B0503020204020204" charset="-122"/>
                              <a:cs typeface="微软雅黑" panose="020B0503020204020204" charset="-122"/>
                            </a:rPr>
                            <m:t>−</m:t>
                          </m:r>
                          <m:r>
                            <a:rPr lang="en-US" altLang="zh-CN" sz="1400" kern="100">
                              <a:latin typeface="Cambria Math" panose="02040503050406030204" pitchFamily="18" charset="0"/>
                            </a:rPr>
                            <m:t>5</m:t>
                          </m:r>
                        </m:den>
                      </m:f>
                      <m:r>
                        <a:rPr lang="en-US" altLang="zh-CN" sz="1400" kern="100">
                          <a:latin typeface="Cambria Math" panose="02040503050406030204" pitchFamily="18" charset="0"/>
                        </a:rPr>
                        <m:t>=</m:t>
                      </m:r>
                      <m:r>
                        <a:rPr lang="en-US" altLang="zh-CN" sz="1400" kern="100">
                          <a:latin typeface="Cambria Math" panose="02040503050406030204" pitchFamily="18" charset="0"/>
                        </a:rPr>
                        <m:t>0</m:t>
                      </m:r>
                      <m:r>
                        <a:rPr lang="en-US" altLang="zh-CN" sz="1400" kern="100">
                          <a:latin typeface="Cambria Math" panose="02040503050406030204" pitchFamily="18" charset="0"/>
                        </a:rPr>
                        <m:t>.</m:t>
                      </m:r>
                      <m:r>
                        <a:rPr lang="en-US" altLang="zh-CN" sz="1400" kern="100">
                          <a:latin typeface="Cambria Math" panose="02040503050406030204" pitchFamily="18" charset="0"/>
                        </a:rPr>
                        <m:t>34</m:t>
                      </m:r>
                      <m:r>
                        <m:rPr>
                          <m:sty m:val="p"/>
                        </m:rPr>
                        <a:rPr lang="en-US" altLang="zh-CN" sz="1400" kern="100">
                          <a:latin typeface="Cambria Math" panose="02040503050406030204" pitchFamily="18" charset="0"/>
                        </a:rPr>
                        <m:t>ms</m:t>
                      </m:r>
                    </m:oMath>
                  </m:oMathPara>
                </a14:m>
                <a:endParaRPr lang="zh-CN" altLang="zh-CN" sz="1100" kern="100" dirty="0">
                  <a:latin typeface="Times New Roman" panose="02020603050405020304" pitchFamily="18" charset="0"/>
                </a:endParaRPr>
              </a:p>
              <a:p>
                <a:r>
                  <a:rPr lang="en-US" altLang="zh-CN" sz="1400" kern="100" dirty="0">
                    <a:latin typeface="Times New Roman" panose="02020603050405020304" pitchFamily="18" charset="0"/>
                  </a:rPr>
                  <a:t>     </a:t>
                </a:r>
                <a:r>
                  <a:rPr lang="zh-CN" altLang="zh-CN" sz="1400" kern="100" dirty="0">
                    <a:latin typeface="Times New Roman" panose="02020603050405020304" pitchFamily="18" charset="0"/>
                  </a:rPr>
                  <a:t>根据放电回路得到放电时间</a:t>
                </a:r>
                <a14:m>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𝑡</m:t>
                        </m:r>
                      </m:e>
                      <m:sub>
                        <m:r>
                          <a:rPr lang="en-US" altLang="zh-CN" sz="1400" i="1" kern="100">
                            <a:latin typeface="Cambria Math" panose="02040503050406030204" pitchFamily="18" charset="0"/>
                          </a:rPr>
                          <m:t>2</m:t>
                        </m:r>
                      </m:sub>
                    </m:sSub>
                  </m:oMath>
                </a14:m>
                <a:r>
                  <a:rPr lang="zh-CN" altLang="zh-CN" sz="1400" kern="100" dirty="0">
                    <a:latin typeface="Times New Roman" panose="02020603050405020304" pitchFamily="18" charset="0"/>
                  </a:rPr>
                  <a:t>：</a:t>
                </a:r>
                <a:endParaRPr lang="zh-CN" altLang="zh-CN" sz="1100" kern="100" dirty="0">
                  <a:latin typeface="Times New Roman" panose="02020603050405020304" pitchFamily="18" charset="0"/>
                </a:endParaRPr>
              </a:p>
              <a:p>
                <a:pPr marL="226695" algn="ctr">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𝑡</m:t>
                          </m:r>
                        </m:e>
                        <m:sub>
                          <m:r>
                            <a:rPr lang="en-US" altLang="zh-CN" sz="1400" i="1" kern="100">
                              <a:latin typeface="Cambria Math" panose="02040503050406030204" pitchFamily="18" charset="0"/>
                            </a:rPr>
                            <m:t>2</m:t>
                          </m:r>
                        </m:sub>
                      </m:sSub>
                      <m:r>
                        <a:rPr lang="en-US" altLang="zh-CN" sz="1400" i="1" kern="100">
                          <a:latin typeface="Cambria Math" panose="02040503050406030204" pitchFamily="18" charset="0"/>
                        </a:rPr>
                        <m:t>=(</m:t>
                      </m:r>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𝑅</m:t>
                          </m:r>
                        </m:e>
                        <m:sub>
                          <m:r>
                            <a:rPr lang="en-US" altLang="zh-CN" sz="1400" i="1" kern="100">
                              <a:latin typeface="Cambria Math" panose="02040503050406030204" pitchFamily="18" charset="0"/>
                            </a:rPr>
                            <m:t>2</m:t>
                          </m:r>
                        </m:sub>
                      </m:sSub>
                      <m:r>
                        <a:rPr lang="en-US" altLang="zh-CN" sz="1400" i="1" kern="100">
                          <a:latin typeface="Cambria Math" panose="02040503050406030204" pitchFamily="18" charset="0"/>
                        </a:rPr>
                        <m:t>+</m:t>
                      </m:r>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𝑟</m:t>
                          </m:r>
                        </m:e>
                        <m:sub>
                          <m:r>
                            <a:rPr lang="en-US" altLang="zh-CN" sz="1400" i="1" kern="100">
                              <a:latin typeface="Cambria Math" panose="02040503050406030204" pitchFamily="18" charset="0"/>
                            </a:rPr>
                            <m:t>𝑇</m:t>
                          </m:r>
                        </m:sub>
                      </m:sSub>
                      <m:r>
                        <a:rPr lang="en-US" altLang="zh-CN" sz="1400" i="1" kern="100">
                          <a:latin typeface="Cambria Math" panose="02040503050406030204" pitchFamily="18" charset="0"/>
                        </a:rPr>
                        <m:t>)</m:t>
                      </m:r>
                      <m:r>
                        <a:rPr lang="en-US" altLang="zh-CN" sz="1400" i="1" kern="100">
                          <a:latin typeface="Cambria Math" panose="02040503050406030204" pitchFamily="18" charset="0"/>
                        </a:rPr>
                        <m:t>𝐶𝑙𝑛</m:t>
                      </m:r>
                      <m:f>
                        <m:fPr>
                          <m:ctrlPr>
                            <a:rPr lang="zh-CN" altLang="zh-CN" sz="1400" i="1" kern="100">
                              <a:effectLst/>
                              <a:latin typeface="Cambria Math" panose="02040503050406030204" pitchFamily="18" charset="0"/>
                              <a:ea typeface="Cambria Math" panose="02040503050406030204" pitchFamily="18" charset="0"/>
                            </a:rPr>
                          </m:ctrlPr>
                        </m:fPr>
                        <m:num>
                          <m:r>
                            <a:rPr lang="en-US" altLang="zh-CN" sz="1400" kern="100">
                              <a:latin typeface="Cambria Math" panose="02040503050406030204" pitchFamily="18" charset="0"/>
                            </a:rPr>
                            <m:t>0</m:t>
                          </m:r>
                          <m:r>
                            <a:rPr lang="en-US" altLang="zh-CN" sz="1400" i="1" kern="100">
                              <a:latin typeface="Cambria Math" panose="02040503050406030204" pitchFamily="18" charset="0"/>
                            </a:rPr>
                            <m:t>−</m:t>
                          </m:r>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𝑇</m:t>
                              </m:r>
                              <m:r>
                                <a:rPr lang="en-US" altLang="zh-CN" sz="1400" i="1" kern="100">
                                  <a:latin typeface="Cambria Math" panose="02040503050406030204" pitchFamily="18" charset="0"/>
                                </a:rPr>
                                <m:t>+</m:t>
                              </m:r>
                            </m:sub>
                          </m:sSub>
                        </m:num>
                        <m:den>
                          <m:r>
                            <a:rPr lang="en-US" altLang="zh-CN" sz="1400" i="1" kern="100">
                              <a:latin typeface="Cambria Math" panose="02040503050406030204" pitchFamily="18" charset="0"/>
                            </a:rPr>
                            <m:t>0</m:t>
                          </m:r>
                          <m:r>
                            <a:rPr lang="zh-CN" altLang="en-US" sz="1400" i="1" kern="100">
                              <a:effectLst/>
                              <a:latin typeface="Cambria Math" panose="02040503050406030204" pitchFamily="18" charset="0"/>
                              <a:ea typeface="微软雅黑" panose="020B0503020204020204" charset="-122"/>
                              <a:cs typeface="微软雅黑" panose="020B0503020204020204" charset="-122"/>
                            </a:rPr>
                            <m:t>−</m:t>
                          </m:r>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𝑉</m:t>
                              </m:r>
                            </m:e>
                            <m:sub>
                              <m:r>
                                <a:rPr lang="en-US" altLang="zh-CN" sz="1400" i="1" kern="100">
                                  <a:latin typeface="Cambria Math" panose="02040503050406030204" pitchFamily="18" charset="0"/>
                                </a:rPr>
                                <m:t>𝑇</m:t>
                              </m:r>
                              <m:r>
                                <a:rPr lang="zh-CN" altLang="en-US" sz="1400" i="1" kern="100">
                                  <a:effectLst/>
                                  <a:latin typeface="Cambria Math" panose="02040503050406030204" pitchFamily="18" charset="0"/>
                                  <a:ea typeface="微软雅黑" panose="020B0503020204020204" charset="-122"/>
                                  <a:cs typeface="微软雅黑" panose="020B0503020204020204" charset="-122"/>
                                </a:rPr>
                                <m:t>−</m:t>
                              </m:r>
                            </m:sub>
                          </m:sSub>
                        </m:den>
                      </m:f>
                    </m:oMath>
                  </m:oMathPara>
                </a14:m>
                <a:endParaRPr lang="zh-CN" altLang="zh-CN" sz="1100" kern="100" dirty="0">
                  <a:latin typeface="Times New Roman" panose="02020603050405020304" pitchFamily="18" charset="0"/>
                </a:endParaRPr>
              </a:p>
              <a:p>
                <a:r>
                  <a:rPr lang="en-US" altLang="zh-CN" sz="1400" kern="100" dirty="0">
                    <a:latin typeface="Times New Roman" panose="02020603050405020304" pitchFamily="18" charset="0"/>
                  </a:rPr>
                  <a:t>     </a:t>
                </a:r>
                <a:r>
                  <a:rPr lang="zh-CN" altLang="zh-CN" sz="1400" kern="100" dirty="0">
                    <a:latin typeface="Times New Roman" panose="02020603050405020304" pitchFamily="18" charset="0"/>
                  </a:rPr>
                  <a:t>考虑到三极管</a:t>
                </a:r>
                <a:r>
                  <a:rPr lang="en-US" altLang="zh-CN" sz="1400" kern="100" dirty="0">
                    <a:latin typeface="Times New Roman" panose="02020603050405020304" pitchFamily="18" charset="0"/>
                  </a:rPr>
                  <a:t>T</a:t>
                </a:r>
                <a:r>
                  <a:rPr lang="en-US" altLang="zh-CN" sz="1400" kern="100" baseline="-25000" dirty="0">
                    <a:latin typeface="Times New Roman" panose="02020603050405020304" pitchFamily="18" charset="0"/>
                  </a:rPr>
                  <a:t>D</a:t>
                </a:r>
                <a:r>
                  <a:rPr lang="zh-CN" altLang="zh-CN" sz="1400" kern="100" dirty="0">
                    <a:latin typeface="Times New Roman" panose="02020603050405020304" pitchFamily="18" charset="0"/>
                  </a:rPr>
                  <a:t>的导通内阻</a:t>
                </a:r>
                <a14:m>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𝑟</m:t>
                        </m:r>
                      </m:e>
                      <m:sub>
                        <m:r>
                          <a:rPr lang="en-US" altLang="zh-CN" sz="1400" i="1" kern="100">
                            <a:latin typeface="Cambria Math" panose="02040503050406030204" pitchFamily="18" charset="0"/>
                          </a:rPr>
                          <m:t>𝑇</m:t>
                        </m:r>
                      </m:sub>
                    </m:sSub>
                  </m:oMath>
                </a14:m>
                <a:r>
                  <a:rPr lang="zh-CN" altLang="zh-CN" sz="1400" kern="100" dirty="0">
                    <a:latin typeface="Times New Roman" panose="02020603050405020304" pitchFamily="18" charset="0"/>
                  </a:rPr>
                  <a:t>远小于</a:t>
                </a:r>
                <a14:m>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𝑅</m:t>
                        </m:r>
                      </m:e>
                      <m:sub>
                        <m:r>
                          <a:rPr lang="en-US" altLang="zh-CN" sz="1400" i="1" kern="100">
                            <a:latin typeface="Cambria Math" panose="02040503050406030204" pitchFamily="18" charset="0"/>
                          </a:rPr>
                          <m:t>2</m:t>
                        </m:r>
                      </m:sub>
                    </m:sSub>
                  </m:oMath>
                </a14:m>
                <a:r>
                  <a:rPr lang="zh-CN" altLang="zh-CN" sz="1400" kern="100" dirty="0">
                    <a:latin typeface="Times New Roman" panose="02020603050405020304" pitchFamily="18" charset="0"/>
                  </a:rPr>
                  <a:t>，故将其忽略，得到：</a:t>
                </a:r>
                <a:endParaRPr lang="zh-CN" altLang="zh-CN" sz="1100" kern="100" dirty="0">
                  <a:latin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𝑡</m:t>
                          </m:r>
                        </m:e>
                        <m:sub>
                          <m:r>
                            <a:rPr lang="en-US" altLang="zh-CN" sz="1400" i="1" kern="100">
                              <a:latin typeface="Cambria Math" panose="02040503050406030204" pitchFamily="18" charset="0"/>
                            </a:rPr>
                            <m:t>2</m:t>
                          </m:r>
                        </m:sub>
                      </m:sSub>
                      <m:r>
                        <a:rPr lang="en-US" altLang="zh-CN" sz="1400" i="1" kern="100">
                          <a:latin typeface="Cambria Math" panose="02040503050406030204" pitchFamily="18" charset="0"/>
                        </a:rPr>
                        <m:t>=</m:t>
                      </m:r>
                      <m:r>
                        <a:rPr lang="en-US" altLang="zh-CN" sz="1400" i="1" kern="100">
                          <a:latin typeface="Cambria Math" panose="02040503050406030204" pitchFamily="18" charset="0"/>
                        </a:rPr>
                        <m:t>51</m:t>
                      </m:r>
                      <m:r>
                        <a:rPr lang="en-US" altLang="zh-CN" sz="1400" i="1" kern="100">
                          <a:latin typeface="Cambria Math" panose="02040503050406030204" pitchFamily="18" charset="0"/>
                        </a:rPr>
                        <m:t>×</m:t>
                      </m:r>
                      <m:sSup>
                        <m:sSupPr>
                          <m:ctrlPr>
                            <a:rPr lang="zh-CN" altLang="zh-CN" sz="1400" i="1" kern="100">
                              <a:effectLst/>
                              <a:latin typeface="Cambria Math" panose="02040503050406030204" pitchFamily="18" charset="0"/>
                              <a:ea typeface="Cambria Math" panose="02040503050406030204" pitchFamily="18" charset="0"/>
                            </a:rPr>
                          </m:ctrlPr>
                        </m:sSupPr>
                        <m:e>
                          <m:r>
                            <a:rPr lang="en-US" altLang="zh-CN" sz="1400" i="1" kern="100">
                              <a:latin typeface="Cambria Math" panose="02040503050406030204" pitchFamily="18" charset="0"/>
                            </a:rPr>
                            <m:t>10</m:t>
                          </m:r>
                        </m:e>
                        <m:sup>
                          <m:r>
                            <a:rPr lang="en-US" altLang="zh-CN" sz="1400" i="1" kern="100">
                              <a:latin typeface="Cambria Math" panose="02040503050406030204" pitchFamily="18" charset="0"/>
                            </a:rPr>
                            <m:t>3</m:t>
                          </m:r>
                        </m:sup>
                      </m:sSup>
                      <m:r>
                        <a:rPr lang="en-US" altLang="zh-CN" sz="1400" i="1" kern="100">
                          <a:latin typeface="Cambria Math" panose="02040503050406030204" pitchFamily="18" charset="0"/>
                        </a:rPr>
                        <m:t>×</m:t>
                      </m:r>
                      <m:r>
                        <a:rPr lang="en-US" altLang="zh-CN" sz="1400" i="1" kern="100">
                          <a:latin typeface="Cambria Math" panose="02040503050406030204" pitchFamily="18" charset="0"/>
                        </a:rPr>
                        <m:t>0</m:t>
                      </m:r>
                      <m:r>
                        <a:rPr lang="en-US" altLang="zh-CN" sz="1400" i="1" kern="100">
                          <a:latin typeface="Cambria Math" panose="02040503050406030204" pitchFamily="18" charset="0"/>
                        </a:rPr>
                        <m:t>.</m:t>
                      </m:r>
                      <m:r>
                        <a:rPr lang="en-US" altLang="zh-CN" sz="1400" i="1" kern="100">
                          <a:latin typeface="Cambria Math" panose="02040503050406030204" pitchFamily="18" charset="0"/>
                        </a:rPr>
                        <m:t>01</m:t>
                      </m:r>
                      <m:r>
                        <a:rPr lang="en-US" altLang="zh-CN" sz="1400" i="1" kern="100">
                          <a:latin typeface="Cambria Math" panose="02040503050406030204" pitchFamily="18" charset="0"/>
                        </a:rPr>
                        <m:t>×</m:t>
                      </m:r>
                      <m:sSup>
                        <m:sSupPr>
                          <m:ctrlPr>
                            <a:rPr lang="zh-CN" altLang="zh-CN" sz="1400" i="1" kern="100">
                              <a:effectLst/>
                              <a:latin typeface="Cambria Math" panose="02040503050406030204" pitchFamily="18" charset="0"/>
                              <a:ea typeface="Cambria Math" panose="02040503050406030204" pitchFamily="18" charset="0"/>
                            </a:rPr>
                          </m:ctrlPr>
                        </m:sSupPr>
                        <m:e>
                          <m:r>
                            <a:rPr lang="en-US" altLang="zh-CN" sz="1400" i="1" kern="100">
                              <a:latin typeface="Cambria Math" panose="02040503050406030204" pitchFamily="18" charset="0"/>
                            </a:rPr>
                            <m:t>10</m:t>
                          </m:r>
                        </m:e>
                        <m:sup>
                          <m:r>
                            <a:rPr lang="zh-CN" altLang="en-US" sz="1400" i="1" kern="100">
                              <a:effectLst/>
                              <a:latin typeface="Cambria Math" panose="02040503050406030204" pitchFamily="18" charset="0"/>
                              <a:ea typeface="微软雅黑" panose="020B0503020204020204" charset="-122"/>
                              <a:cs typeface="微软雅黑" panose="020B0503020204020204" charset="-122"/>
                            </a:rPr>
                            <m:t>−</m:t>
                          </m:r>
                          <m:r>
                            <a:rPr lang="en-US" altLang="zh-CN" sz="1400" i="1" kern="100">
                              <a:latin typeface="Cambria Math" panose="02040503050406030204" pitchFamily="18" charset="0"/>
                            </a:rPr>
                            <m:t>6</m:t>
                          </m:r>
                        </m:sup>
                      </m:sSup>
                      <m:r>
                        <a:rPr lang="en-US" altLang="zh-CN" sz="1400" i="1" kern="100">
                          <a:latin typeface="Cambria Math" panose="02040503050406030204" pitchFamily="18" charset="0"/>
                        </a:rPr>
                        <m:t>×</m:t>
                      </m:r>
                      <m:r>
                        <a:rPr lang="en-US" altLang="zh-CN" sz="1400" i="1" kern="100">
                          <a:latin typeface="Cambria Math" panose="02040503050406030204" pitchFamily="18" charset="0"/>
                        </a:rPr>
                        <m:t>𝑙𝑛</m:t>
                      </m:r>
                      <m:f>
                        <m:fPr>
                          <m:ctrlPr>
                            <a:rPr lang="zh-CN" altLang="zh-CN" sz="1400" i="1" kern="100">
                              <a:effectLst/>
                              <a:latin typeface="Cambria Math" panose="02040503050406030204" pitchFamily="18" charset="0"/>
                              <a:ea typeface="Cambria Math" panose="02040503050406030204" pitchFamily="18" charset="0"/>
                            </a:rPr>
                          </m:ctrlPr>
                        </m:fPr>
                        <m:num>
                          <m:r>
                            <a:rPr lang="en-US" altLang="zh-CN" sz="1400" kern="100">
                              <a:latin typeface="Cambria Math" panose="02040503050406030204" pitchFamily="18" charset="0"/>
                            </a:rPr>
                            <m:t>5</m:t>
                          </m:r>
                        </m:num>
                        <m:den>
                          <m:r>
                            <a:rPr lang="en-US" altLang="zh-CN" sz="1400" kern="100">
                              <a:latin typeface="Cambria Math" panose="02040503050406030204" pitchFamily="18" charset="0"/>
                            </a:rPr>
                            <m:t>2</m:t>
                          </m:r>
                          <m:r>
                            <a:rPr lang="en-US" altLang="zh-CN" sz="1400" kern="100">
                              <a:latin typeface="Cambria Math" panose="02040503050406030204" pitchFamily="18" charset="0"/>
                            </a:rPr>
                            <m:t>.</m:t>
                          </m:r>
                          <m:r>
                            <a:rPr lang="en-US" altLang="zh-CN" sz="1400" kern="100">
                              <a:latin typeface="Cambria Math" panose="02040503050406030204" pitchFamily="18" charset="0"/>
                            </a:rPr>
                            <m:t>5</m:t>
                          </m:r>
                        </m:den>
                      </m:f>
                      <m:r>
                        <a:rPr lang="en-US" altLang="zh-CN" sz="1400" kern="100">
                          <a:latin typeface="Cambria Math" panose="02040503050406030204" pitchFamily="18" charset="0"/>
                        </a:rPr>
                        <m:t>=</m:t>
                      </m:r>
                      <m:r>
                        <a:rPr lang="en-US" altLang="zh-CN" sz="1400" kern="100">
                          <a:latin typeface="Cambria Math" panose="02040503050406030204" pitchFamily="18" charset="0"/>
                        </a:rPr>
                        <m:t>0</m:t>
                      </m:r>
                      <m:r>
                        <a:rPr lang="en-US" altLang="zh-CN" sz="1400" kern="100">
                          <a:latin typeface="Cambria Math" panose="02040503050406030204" pitchFamily="18" charset="0"/>
                        </a:rPr>
                        <m:t>.</m:t>
                      </m:r>
                      <m:r>
                        <a:rPr lang="en-US" altLang="zh-CN" sz="1400" kern="100">
                          <a:latin typeface="Cambria Math" panose="02040503050406030204" pitchFamily="18" charset="0"/>
                        </a:rPr>
                        <m:t>35</m:t>
                      </m:r>
                      <m:r>
                        <m:rPr>
                          <m:sty m:val="p"/>
                        </m:rPr>
                        <a:rPr lang="en-US" altLang="zh-CN" sz="1400" kern="100">
                          <a:latin typeface="Cambria Math" panose="02040503050406030204" pitchFamily="18" charset="0"/>
                        </a:rPr>
                        <m:t>ms</m:t>
                      </m:r>
                    </m:oMath>
                  </m:oMathPara>
                </a14:m>
                <a:endParaRPr lang="zh-CN" altLang="zh-CN" sz="1100" kern="100" dirty="0">
                  <a:latin typeface="Times New Roman" panose="02020603050405020304" pitchFamily="18" charset="0"/>
                </a:endParaRPr>
              </a:p>
              <a:p>
                <a:pPr marL="226695" algn="just">
                  <a:spcAft>
                    <a:spcPts val="0"/>
                  </a:spcAft>
                </a:pPr>
                <a:r>
                  <a:rPr lang="zh-CN" altLang="zh-CN" sz="1400" kern="100" dirty="0">
                    <a:latin typeface="Times New Roman" panose="02020603050405020304" pitchFamily="18" charset="0"/>
                  </a:rPr>
                  <a:t>振荡频率为：</a:t>
                </a:r>
                <a:endParaRPr lang="zh-CN" altLang="zh-CN" sz="1100" kern="100" dirty="0">
                  <a:latin typeface="Times New Roman" panose="02020603050405020304" pitchFamily="18" charset="0"/>
                </a:endParaRPr>
              </a:p>
              <a:p>
                <a:pPr marL="226695" algn="just">
                  <a:spcAft>
                    <a:spcPts val="0"/>
                  </a:spcAft>
                </a:pPr>
                <a14:m>
                  <m:oMathPara xmlns:m="http://schemas.openxmlformats.org/officeDocument/2006/math">
                    <m:oMathParaPr>
                      <m:jc m:val="centerGroup"/>
                    </m:oMathParaPr>
                    <m:oMath xmlns:m="http://schemas.openxmlformats.org/officeDocument/2006/math">
                      <m:r>
                        <a:rPr lang="en-US" altLang="zh-CN" sz="1400" i="1" kern="100">
                          <a:latin typeface="Cambria Math" panose="02040503050406030204" pitchFamily="18" charset="0"/>
                        </a:rPr>
                        <m:t>𝑓</m:t>
                      </m:r>
                      <m:r>
                        <a:rPr lang="en-US" altLang="zh-CN" sz="1400" kern="100">
                          <a:latin typeface="Cambria Math" panose="02040503050406030204" pitchFamily="18" charset="0"/>
                        </a:rPr>
                        <m:t>=</m:t>
                      </m:r>
                      <m:f>
                        <m:fPr>
                          <m:ctrlPr>
                            <a:rPr lang="zh-CN" altLang="zh-CN" sz="1400" i="1" kern="100">
                              <a:effectLst/>
                              <a:latin typeface="Cambria Math" panose="02040503050406030204" pitchFamily="18" charset="0"/>
                              <a:ea typeface="Cambria Math" panose="02040503050406030204" pitchFamily="18" charset="0"/>
                            </a:rPr>
                          </m:ctrlPr>
                        </m:fPr>
                        <m:num>
                          <m:r>
                            <a:rPr lang="en-US" altLang="zh-CN" sz="1400" i="1" kern="100">
                              <a:latin typeface="Cambria Math" panose="02040503050406030204" pitchFamily="18" charset="0"/>
                            </a:rPr>
                            <m:t>1</m:t>
                          </m:r>
                        </m:num>
                        <m:den>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𝑡</m:t>
                              </m:r>
                            </m:e>
                            <m:sub>
                              <m:r>
                                <a:rPr lang="en-US" altLang="zh-CN" sz="1400" i="1" kern="100">
                                  <a:latin typeface="Cambria Math" panose="02040503050406030204" pitchFamily="18" charset="0"/>
                                </a:rPr>
                                <m:t>1</m:t>
                              </m:r>
                            </m:sub>
                          </m:sSub>
                          <m:r>
                            <a:rPr lang="en-US" altLang="zh-CN" sz="1400" i="1" kern="100">
                              <a:latin typeface="Cambria Math" panose="02040503050406030204" pitchFamily="18" charset="0"/>
                            </a:rPr>
                            <m:t>+</m:t>
                          </m:r>
                          <m:sSub>
                            <m:sSubPr>
                              <m:ctrlPr>
                                <a:rPr lang="zh-CN" altLang="zh-CN" sz="1400" i="1" kern="100">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rPr>
                                <m:t>𝑡</m:t>
                              </m:r>
                            </m:e>
                            <m:sub>
                              <m:r>
                                <a:rPr lang="en-US" altLang="zh-CN" sz="1400" i="1" kern="100">
                                  <a:latin typeface="Cambria Math" panose="02040503050406030204" pitchFamily="18" charset="0"/>
                                </a:rPr>
                                <m:t>2</m:t>
                              </m:r>
                            </m:sub>
                          </m:sSub>
                        </m:den>
                      </m:f>
                      <m:r>
                        <a:rPr lang="en-US" altLang="zh-CN" sz="1400" i="1" kern="100">
                          <a:latin typeface="Cambria Math" panose="02040503050406030204" pitchFamily="18" charset="0"/>
                        </a:rPr>
                        <m:t>=</m:t>
                      </m:r>
                      <m:r>
                        <a:rPr lang="en-US" altLang="zh-CN" sz="1400" i="1" kern="100">
                          <a:latin typeface="Cambria Math" panose="02040503050406030204" pitchFamily="18" charset="0"/>
                        </a:rPr>
                        <m:t>1</m:t>
                      </m:r>
                      <m:r>
                        <a:rPr lang="en-US" altLang="zh-CN" sz="1400" i="1" kern="100">
                          <a:latin typeface="Cambria Math" panose="02040503050406030204" pitchFamily="18" charset="0"/>
                        </a:rPr>
                        <m:t>.</m:t>
                      </m:r>
                      <m:r>
                        <a:rPr lang="en-US" altLang="zh-CN" sz="1400" i="1" kern="100">
                          <a:latin typeface="Cambria Math" panose="02040503050406030204" pitchFamily="18" charset="0"/>
                        </a:rPr>
                        <m:t>45</m:t>
                      </m:r>
                      <m:r>
                        <a:rPr lang="en-US" altLang="zh-CN" sz="1400" i="1" kern="100">
                          <a:latin typeface="Cambria Math" panose="02040503050406030204" pitchFamily="18" charset="0"/>
                        </a:rPr>
                        <m:t>𝑘𝐻𝑧</m:t>
                      </m:r>
                    </m:oMath>
                  </m:oMathPara>
                </a14:m>
                <a:endParaRPr lang="zh-CN" altLang="zh-CN" sz="1100" kern="100" dirty="0">
                  <a:latin typeface="Times New Roman" panose="020206030504050203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81026" y="2236877"/>
                <a:ext cx="6140348" cy="3394710"/>
              </a:xfrm>
              <a:prstGeom prst="rect">
                <a:avLst/>
              </a:prstGeom>
              <a:blipFill rotWithShape="1">
                <a:blip r:embed="rId2"/>
                <a:stretch>
                  <a:fillRect l="-1" t="-12" r="10" b="12"/>
                </a:stretch>
              </a:blipFill>
            </p:spPr>
            <p:txBody>
              <a:bodyPr/>
              <a:lstStyle/>
              <a:p>
                <a:r>
                  <a:rPr lang="zh-CN" altLang="en-US">
                    <a:noFill/>
                  </a:rPr>
                  <a:t> </a:t>
                </a:r>
              </a:p>
            </p:txBody>
          </p:sp>
        </mc:Fallback>
      </mc:AlternateContent>
      <p:pic>
        <p:nvPicPr>
          <p:cNvPr id="11" name="图片 10"/>
          <p:cNvPicPr/>
          <p:nvPr/>
        </p:nvPicPr>
        <p:blipFill>
          <a:blip r:embed="rId3"/>
          <a:stretch>
            <a:fillRect/>
          </a:stretch>
        </p:blipFill>
        <p:spPr>
          <a:xfrm>
            <a:off x="6321425" y="2084070"/>
            <a:ext cx="5026025" cy="3700145"/>
          </a:xfrm>
          <a:prstGeom prst="rect">
            <a:avLst/>
          </a:prstGeom>
        </p:spPr>
      </p:pic>
      <mc:AlternateContent xmlns:mc="http://schemas.openxmlformats.org/markup-compatibility/2006">
        <mc:Choice xmlns:a14="http://schemas.microsoft.com/office/drawing/2010/main" Requires="a14">
          <p:sp>
            <p:nvSpPr>
              <p:cNvPr id="12" name="文本框 11"/>
              <p:cNvSpPr txBox="1"/>
              <p:nvPr/>
            </p:nvSpPr>
            <p:spPr>
              <a:xfrm>
                <a:off x="421691" y="5489347"/>
                <a:ext cx="6140348" cy="1060450"/>
              </a:xfrm>
              <a:prstGeom prst="rect">
                <a:avLst/>
              </a:prstGeom>
              <a:noFill/>
            </p:spPr>
            <p:txBody>
              <a:bodyPr wrap="square" rtlCol="0">
                <a:spAutoFit/>
              </a:bodyPr>
              <a:lstStyle/>
              <a:p>
                <a:pPr>
                  <a:lnSpc>
                    <a:spcPct val="150000"/>
                  </a:lnSpc>
                </a:pPr>
                <a14:m>
                  <m:oMath xmlns:m="http://schemas.openxmlformats.org/officeDocument/2006/math">
                    <m:sSub>
                      <m:sSubPr>
                        <m:ctrlPr>
                          <a:rPr lang="zh-CN" altLang="zh-CN" sz="1400" i="1">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cs typeface="Times New Roman" panose="02020603050405020304" pitchFamily="18" charset="0"/>
                          </a:rPr>
                          <m:t>𝐶</m:t>
                        </m:r>
                      </m:e>
                      <m:sub>
                        <m:r>
                          <a:rPr lang="en-US" altLang="zh-CN" sz="1400" i="1" kern="100">
                            <a:latin typeface="Cambria Math" panose="02040503050406030204" pitchFamily="18" charset="0"/>
                            <a:cs typeface="Times New Roman" panose="02020603050405020304" pitchFamily="18" charset="0"/>
                          </a:rPr>
                          <m:t>𝐹</m:t>
                        </m:r>
                      </m:sub>
                    </m:sSub>
                  </m:oMath>
                </a14:m>
                <a:r>
                  <a:rPr lang="zh-CN" altLang="zh-CN" sz="1400" kern="100" dirty="0">
                    <a:latin typeface="Times New Roman" panose="02020603050405020304" pitchFamily="18" charset="0"/>
                    <a:cs typeface="Times New Roman" panose="02020603050405020304" pitchFamily="18" charset="0"/>
                  </a:rPr>
                  <a:t>的作用在于稳定</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cs typeface="Times New Roman" panose="02020603050405020304" pitchFamily="18" charset="0"/>
                          </a:rPr>
                          <m:t>𝑉</m:t>
                        </m:r>
                      </m:e>
                      <m:sub>
                        <m:r>
                          <a:rPr lang="en-US" altLang="zh-CN" sz="1400" i="1" kern="100">
                            <a:latin typeface="Cambria Math" panose="02040503050406030204" pitchFamily="18" charset="0"/>
                            <a:cs typeface="Times New Roman" panose="02020603050405020304" pitchFamily="18" charset="0"/>
                          </a:rPr>
                          <m:t>𝐶𝑂</m:t>
                        </m:r>
                      </m:sub>
                    </m:sSub>
                  </m:oMath>
                </a14:m>
                <a:r>
                  <a:rPr lang="zh-CN" altLang="zh-CN" sz="1400" kern="100" dirty="0">
                    <a:latin typeface="Times New Roman" panose="02020603050405020304" pitchFamily="18" charset="0"/>
                    <a:cs typeface="Times New Roman" panose="02020603050405020304" pitchFamily="18" charset="0"/>
                  </a:rPr>
                  <a:t>的电压。因为</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cs typeface="Times New Roman" panose="02020603050405020304" pitchFamily="18" charset="0"/>
                          </a:rPr>
                          <m:t>𝑉</m:t>
                        </m:r>
                      </m:e>
                      <m:sub>
                        <m:r>
                          <a:rPr lang="en-US" altLang="zh-CN" sz="1400" i="1" kern="100">
                            <a:latin typeface="Cambria Math" panose="02040503050406030204" pitchFamily="18" charset="0"/>
                            <a:cs typeface="Times New Roman" panose="02020603050405020304" pitchFamily="18" charset="0"/>
                          </a:rPr>
                          <m:t>𝐶𝑂</m:t>
                        </m:r>
                      </m:sub>
                    </m:sSub>
                  </m:oMath>
                </a14:m>
                <a:r>
                  <a:rPr lang="zh-CN" altLang="zh-CN" sz="1400" kern="100" dirty="0">
                    <a:latin typeface="Times New Roman" panose="02020603050405020304" pitchFamily="18" charset="0"/>
                    <a:cs typeface="Times New Roman" panose="02020603050405020304" pitchFamily="18" charset="0"/>
                  </a:rPr>
                  <a:t>如果发生波动会直接影响到</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cs typeface="Times New Roman" panose="02020603050405020304" pitchFamily="18" charset="0"/>
                          </a:rPr>
                          <m:t>𝑉</m:t>
                        </m:r>
                      </m:e>
                      <m:sub>
                        <m:r>
                          <a:rPr lang="en-US" altLang="zh-CN" sz="1400" i="1" kern="100">
                            <a:latin typeface="Cambria Math" panose="02040503050406030204" pitchFamily="18" charset="0"/>
                            <a:cs typeface="Times New Roman" panose="02020603050405020304" pitchFamily="18" charset="0"/>
                          </a:rPr>
                          <m:t>𝑇</m:t>
                        </m:r>
                        <m:r>
                          <a:rPr lang="en-US" altLang="zh-CN" sz="1400" i="1" kern="100">
                            <a:latin typeface="Cambria Math" panose="02040503050406030204" pitchFamily="18" charset="0"/>
                            <a:cs typeface="Times New Roman" panose="02020603050405020304" pitchFamily="18" charset="0"/>
                          </a:rPr>
                          <m:t>+</m:t>
                        </m:r>
                      </m:sub>
                    </m:sSub>
                  </m:oMath>
                </a14:m>
                <a:r>
                  <a:rPr lang="zh-CN" altLang="zh-CN" sz="1400" kern="100" dirty="0">
                    <a:latin typeface="Times New Roman" panose="02020603050405020304" pitchFamily="18" charset="0"/>
                    <a:cs typeface="Times New Roman" panose="02020603050405020304" pitchFamily="18" charset="0"/>
                  </a:rPr>
                  <a:t>和</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kern="100">
                            <a:latin typeface="Cambria Math" panose="02040503050406030204" pitchFamily="18" charset="0"/>
                            <a:cs typeface="Times New Roman" panose="02020603050405020304" pitchFamily="18" charset="0"/>
                          </a:rPr>
                          <m:t>𝑉</m:t>
                        </m:r>
                      </m:e>
                      <m:sub>
                        <m:r>
                          <a:rPr lang="en-US" altLang="zh-CN" sz="1400" i="1" kern="100">
                            <a:latin typeface="Cambria Math" panose="02040503050406030204" pitchFamily="18" charset="0"/>
                            <a:cs typeface="Times New Roman" panose="02020603050405020304" pitchFamily="18" charset="0"/>
                          </a:rPr>
                          <m:t>𝑇</m:t>
                        </m:r>
                        <m:r>
                          <a:rPr lang="en-US" altLang="zh-CN" sz="1400" i="1" kern="100">
                            <a:latin typeface="Cambria Math" panose="02040503050406030204" pitchFamily="18" charset="0"/>
                            <a:cs typeface="Times New Roman" panose="02020603050405020304" pitchFamily="18" charset="0"/>
                          </a:rPr>
                          <m:t>−</m:t>
                        </m:r>
                      </m:sub>
                    </m:sSub>
                  </m:oMath>
                </a14:m>
                <a:r>
                  <a:rPr lang="zh-CN" altLang="zh-CN" sz="1400" kern="100" dirty="0">
                    <a:latin typeface="Times New Roman" panose="02020603050405020304" pitchFamily="18" charset="0"/>
                    <a:cs typeface="Times New Roman" panose="02020603050405020304" pitchFamily="18" charset="0"/>
                  </a:rPr>
                  <a:t>，进而影响频率的稳定。由于电容两端的电压不会发生突变，所以对瞬态干扰有滤除作用。</a:t>
                </a:r>
                <a:endParaRPr lang="zh-CN" altLang="en-US" sz="1400" dirty="0">
                  <a:solidFill>
                    <a:prstClr val="black"/>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421691" y="5489347"/>
                <a:ext cx="6140348" cy="1060450"/>
              </a:xfrm>
              <a:prstGeom prst="rect">
                <a:avLst/>
              </a:prstGeom>
              <a:blipFill rotWithShape="1">
                <a:blip r:embed="rId4"/>
                <a:stretch>
                  <a:fillRect l="-1" t="-38" r="10" b="38"/>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12</a:t>
            </a:r>
            <a:endParaRPr lang="en-US" altLang="zh-CN" dirty="0"/>
          </a:p>
          <a:p>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478790" y="1326515"/>
                <a:ext cx="10373360" cy="4229100"/>
              </a:xfrm>
              <a:prstGeom prst="rect">
                <a:avLst/>
              </a:prstGeom>
              <a:noFill/>
            </p:spPr>
            <p:txBody>
              <a:bodyPr wrap="square" rtlCol="0">
                <a:spAutoFit/>
              </a:bodyPr>
              <a:lstStyle/>
              <a:p>
                <a:pPr>
                  <a:lnSpc>
                    <a:spcPct val="150000"/>
                  </a:lnSpc>
                </a:pPr>
                <a:r>
                  <a:rPr lang="en-US" altLang="zh-CN" dirty="0">
                    <a:solidFill>
                      <a:prstClr val="black"/>
                    </a:solidFill>
                  </a:rPr>
                  <a:t>1. </a:t>
                </a:r>
                <a:r>
                  <a:rPr lang="zh-CN" altLang="en-US" dirty="0">
                    <a:solidFill>
                      <a:prstClr val="black"/>
                    </a:solidFill>
                  </a:rPr>
                  <a:t>针对如图所示电路，采用</a:t>
                </a:r>
                <a:r>
                  <a:rPr lang="en-US" altLang="zh-CN" dirty="0">
                    <a:solidFill>
                      <a:prstClr val="black"/>
                    </a:solidFill>
                  </a:rPr>
                  <a:t>SA0</a:t>
                </a:r>
                <a:r>
                  <a:rPr lang="zh-CN" altLang="en-US" dirty="0">
                    <a:solidFill>
                      <a:prstClr val="black"/>
                    </a:solidFill>
                  </a:rPr>
                  <a:t>和</a:t>
                </a:r>
                <a:r>
                  <a:rPr lang="en-US" altLang="zh-CN" dirty="0">
                    <a:solidFill>
                      <a:prstClr val="black"/>
                    </a:solidFill>
                  </a:rPr>
                  <a:t>SA1</a:t>
                </a:r>
                <a:r>
                  <a:rPr lang="zh-CN" altLang="en-US" dirty="0">
                    <a:solidFill>
                      <a:prstClr val="black"/>
                    </a:solidFill>
                  </a:rPr>
                  <a:t>的故障模型，写出能检测图中故障点（标识</a:t>
                </a:r>
                <a:r>
                  <a:rPr lang="en-US" altLang="zh-CN" dirty="0">
                    <a:solidFill>
                      <a:prstClr val="black"/>
                    </a:solidFill>
                  </a:rPr>
                  <a:t>SA1</a:t>
                </a:r>
                <a:r>
                  <a:rPr lang="zh-CN" altLang="en-US" dirty="0">
                    <a:solidFill>
                      <a:prstClr val="black"/>
                    </a:solidFill>
                  </a:rPr>
                  <a:t>）的所有测试向量，说明理由。输入测试信号为</a:t>
                </a:r>
                <a:r>
                  <a:rPr lang="en-US" altLang="zh-CN" dirty="0">
                    <a:solidFill>
                      <a:prstClr val="black"/>
                    </a:solidFill>
                  </a:rPr>
                  <a:t>W1</a:t>
                </a:r>
                <a:r>
                  <a:rPr lang="zh-CN" altLang="en-US" dirty="0">
                    <a:solidFill>
                      <a:prstClr val="black"/>
                    </a:solidFill>
                  </a:rPr>
                  <a:t>，</a:t>
                </a:r>
                <a:r>
                  <a:rPr lang="en-US" altLang="zh-CN" dirty="0">
                    <a:solidFill>
                      <a:prstClr val="black"/>
                    </a:solidFill>
                  </a:rPr>
                  <a:t>W2</a:t>
                </a:r>
                <a:r>
                  <a:rPr lang="zh-CN" altLang="en-US" dirty="0">
                    <a:solidFill>
                      <a:prstClr val="black"/>
                    </a:solidFill>
                  </a:rPr>
                  <a:t>，</a:t>
                </a:r>
                <a:r>
                  <a:rPr lang="en-US" altLang="zh-CN" dirty="0">
                    <a:solidFill>
                      <a:prstClr val="black"/>
                    </a:solidFill>
                  </a:rPr>
                  <a:t>W3</a:t>
                </a:r>
                <a:r>
                  <a:rPr lang="zh-CN" altLang="en-US" dirty="0">
                    <a:solidFill>
                      <a:prstClr val="black"/>
                    </a:solidFill>
                  </a:rPr>
                  <a:t>，</a:t>
                </a:r>
                <a:r>
                  <a:rPr lang="en-US" altLang="zh-CN" dirty="0">
                    <a:solidFill>
                      <a:prstClr val="black"/>
                    </a:solidFill>
                  </a:rPr>
                  <a:t>W4</a:t>
                </a:r>
                <a:r>
                  <a:rPr lang="zh-CN" altLang="en-US" dirty="0">
                    <a:solidFill>
                      <a:prstClr val="black"/>
                    </a:solidFill>
                  </a:rPr>
                  <a:t>。</a:t>
                </a:r>
                <a:endParaRPr lang="en-US" altLang="zh-CN" dirty="0">
                  <a:solidFill>
                    <a:prstClr val="black"/>
                  </a:solidFill>
                </a:endParaRPr>
              </a:p>
              <a:p>
                <a:pPr>
                  <a:lnSpc>
                    <a:spcPct val="150000"/>
                  </a:lnSpc>
                </a:pPr>
                <a:r>
                  <a:rPr lang="zh-CN" altLang="zh-CN" kern="100" dirty="0">
                    <a:latin typeface="Times New Roman" panose="02020603050405020304" pitchFamily="18" charset="0"/>
                  </a:rPr>
                  <a:t>解：只要在正常时使</a:t>
                </a:r>
                <a:r>
                  <a:rPr lang="en-US" altLang="zh-CN" kern="100" dirty="0">
                    <a:latin typeface="Times New Roman" panose="02020603050405020304" pitchFamily="18" charset="0"/>
                  </a:rPr>
                  <a:t>E=0</a:t>
                </a:r>
                <a:r>
                  <a:rPr lang="zh-CN" altLang="zh-CN" kern="100" dirty="0">
                    <a:latin typeface="Times New Roman" panose="02020603050405020304" pitchFamily="18" charset="0"/>
                  </a:rPr>
                  <a:t>就可以检查该故障，所以有</a:t>
                </a:r>
                <a:endParaRPr lang="zh-CN" altLang="zh-CN" kern="100" dirty="0">
                  <a:latin typeface="Times New Roman" panose="02020603050405020304" pitchFamily="18" charset="0"/>
                </a:endParaRPr>
              </a:p>
              <a:p>
                <a:pPr>
                  <a:lnSpc>
                    <a:spcPct val="150000"/>
                  </a:lnSpc>
                </a:pPr>
                <a:r>
                  <a:rPr lang="en-US" altLang="zh-CN" kern="100" dirty="0">
                    <a:effectLst/>
                    <a:ea typeface="Cambria Math" panose="02040503050406030204" pitchFamily="18" charset="0"/>
                  </a:rPr>
                  <a:t>	</a:t>
                </a:r>
                <a14:m>
                  <m:oMath xmlns:m="http://schemas.openxmlformats.org/officeDocument/2006/math">
                    <m:d>
                      <m:dPr>
                        <m:begChr m:val="{"/>
                        <m:endChr m:val=""/>
                        <m:ctrlPr>
                          <a:rPr lang="zh-CN" altLang="zh-CN" i="1" kern="100">
                            <a:effectLst/>
                            <a:latin typeface="Cambria Math" panose="02040503050406030204" pitchFamily="18" charset="0"/>
                            <a:ea typeface="Cambria Math" panose="02040503050406030204" pitchFamily="18" charset="0"/>
                          </a:rPr>
                        </m:ctrlPr>
                      </m:dPr>
                      <m:e>
                        <m:eqArr>
                          <m:eqArrPr>
                            <m:ctrlPr>
                              <a:rPr lang="zh-CN" altLang="zh-CN" i="1" kern="100">
                                <a:effectLst/>
                                <a:latin typeface="Cambria Math" panose="02040503050406030204" pitchFamily="18" charset="0"/>
                                <a:ea typeface="Cambria Math" panose="02040503050406030204" pitchFamily="18" charset="0"/>
                              </a:rPr>
                            </m:ctrlPr>
                          </m:eqArrPr>
                          <m:e>
                            <m:r>
                              <a:rPr lang="en-US" altLang="zh-CN" i="1" kern="100">
                                <a:latin typeface="Cambria Math" panose="02040503050406030204" pitchFamily="18" charset="0"/>
                              </a:rPr>
                              <m:t>𝐹</m:t>
                            </m:r>
                            <m:r>
                              <a:rPr lang="en-US" altLang="zh-CN" i="1" kern="100">
                                <a:latin typeface="Cambria Math" panose="02040503050406030204" pitchFamily="18" charset="0"/>
                              </a:rPr>
                              <m:t>=</m:t>
                            </m:r>
                            <m:bar>
                              <m:barPr>
                                <m:pos m:val="top"/>
                                <m:ctrlPr>
                                  <a:rPr lang="zh-CN" altLang="zh-CN" i="1" kern="100">
                                    <a:effectLst/>
                                    <a:latin typeface="Cambria Math" panose="02040503050406030204" pitchFamily="18" charset="0"/>
                                    <a:ea typeface="Cambria Math" panose="02040503050406030204" pitchFamily="18" charset="0"/>
                                  </a:rPr>
                                </m:ctrlPr>
                              </m:barPr>
                              <m:e>
                                <m:r>
                                  <a:rPr lang="en-US" altLang="zh-CN" i="1" kern="100">
                                    <a:latin typeface="Cambria Math" panose="02040503050406030204" pitchFamily="18" charset="0"/>
                                    <a:cs typeface="Cambria Math" panose="02040503050406030204" pitchFamily="18" charset="0"/>
                                  </a:rPr>
                                  <m:t>𝐴𝐵</m:t>
                                </m:r>
                              </m:e>
                            </m:bar>
                            <m:r>
                              <a:rPr lang="en-US" altLang="zh-CN" i="1" kern="100">
                                <a:latin typeface="Cambria Math" panose="02040503050406030204" pitchFamily="18" charset="0"/>
                              </a:rPr>
                              <m:t>=</m:t>
                            </m:r>
                            <m:r>
                              <a:rPr lang="en-US" altLang="zh-CN" i="1" kern="100">
                                <a:latin typeface="Cambria Math" panose="02040503050406030204" pitchFamily="18" charset="0"/>
                              </a:rPr>
                              <m:t>0</m:t>
                            </m:r>
                          </m:e>
                          <m:e>
                            <m:r>
                              <a:rPr lang="en-US" altLang="zh-CN" i="1" kern="100">
                                <a:latin typeface="Cambria Math" panose="02040503050406030204" pitchFamily="18" charset="0"/>
                              </a:rPr>
                              <m:t>𝐺</m:t>
                            </m:r>
                            <m:r>
                              <a:rPr lang="en-US" altLang="zh-CN" i="1" kern="100">
                                <a:latin typeface="Cambria Math" panose="02040503050406030204" pitchFamily="18" charset="0"/>
                              </a:rPr>
                              <m:t>=</m:t>
                            </m:r>
                            <m:r>
                              <a:rPr lang="en-US" altLang="zh-CN" i="1" kern="100">
                                <a:latin typeface="Cambria Math" panose="02040503050406030204" pitchFamily="18" charset="0"/>
                              </a:rPr>
                              <m:t>𝐶</m:t>
                            </m:r>
                            <m:r>
                              <a:rPr lang="en-US" altLang="zh-CN" i="1" kern="100">
                                <a:latin typeface="Cambria Math" panose="02040503050406030204" pitchFamily="18" charset="0"/>
                              </a:rPr>
                              <m:t>⊙</m:t>
                            </m:r>
                            <m:r>
                              <a:rPr lang="en-US" altLang="zh-CN" i="1" kern="100">
                                <a:latin typeface="Cambria Math" panose="02040503050406030204" pitchFamily="18" charset="0"/>
                              </a:rPr>
                              <m:t>𝐷</m:t>
                            </m:r>
                            <m:r>
                              <a:rPr lang="en-US" altLang="zh-CN" i="1" kern="100">
                                <a:latin typeface="Cambria Math" panose="02040503050406030204" pitchFamily="18" charset="0"/>
                              </a:rPr>
                              <m:t>=</m:t>
                            </m:r>
                            <m:r>
                              <a:rPr lang="en-US" altLang="zh-CN" i="1" kern="100">
                                <a:latin typeface="Cambria Math" panose="02040503050406030204" pitchFamily="18" charset="0"/>
                              </a:rPr>
                              <m:t>0</m:t>
                            </m:r>
                          </m:e>
                        </m:eqArr>
                      </m:e>
                    </m:d>
                  </m:oMath>
                </a14:m>
                <a:endParaRPr lang="zh-CN" altLang="zh-CN" kern="100" dirty="0">
                  <a:latin typeface="Times New Roman" panose="02020603050405020304" pitchFamily="18" charset="0"/>
                </a:endParaRPr>
              </a:p>
              <a:p>
                <a:pPr>
                  <a:lnSpc>
                    <a:spcPct val="150000"/>
                  </a:lnSpc>
                </a:pPr>
                <a:r>
                  <a:rPr lang="zh-CN" altLang="zh-CN" kern="100" dirty="0">
                    <a:latin typeface="Times New Roman" panose="02020603050405020304" pitchFamily="18" charset="0"/>
                  </a:rPr>
                  <a:t>则有测试量</a:t>
                </a:r>
                <a:endParaRPr lang="en-US" altLang="zh-CN" kern="100" dirty="0">
                  <a:latin typeface="Times New Roman" panose="02020603050405020304" pitchFamily="18" charset="0"/>
                </a:endParaRPr>
              </a:p>
              <a:p>
                <a:pPr>
                  <a:lnSpc>
                    <a:spcPct val="150000"/>
                  </a:lnSpc>
                </a:pPr>
                <a:r>
                  <a:rPr lang="en-US" altLang="zh-CN" kern="100" dirty="0">
                    <a:effectLst/>
                    <a:latin typeface="Times New Roman" panose="02020603050405020304" pitchFamily="18" charset="0"/>
                    <a:ea typeface="Cambria Math" panose="02040503050406030204" pitchFamily="18" charset="0"/>
                  </a:rPr>
                  <a:t>	</a:t>
                </a:r>
                <a14:m>
                  <m:oMath xmlns:m="http://schemas.openxmlformats.org/officeDocument/2006/math">
                    <m:d>
                      <m:dPr>
                        <m:begChr m:val="{"/>
                        <m:endChr m:val=""/>
                        <m:ctrlPr>
                          <a:rPr lang="zh-CN" altLang="zh-CN" i="1" kern="100">
                            <a:effectLst/>
                            <a:latin typeface="Cambria Math" panose="02040503050406030204" pitchFamily="18" charset="0"/>
                            <a:ea typeface="Cambria Math" panose="02040503050406030204" pitchFamily="18" charset="0"/>
                          </a:rPr>
                        </m:ctrlPr>
                      </m:dPr>
                      <m:e>
                        <m:eqArr>
                          <m:eqArrPr>
                            <m:ctrlPr>
                              <a:rPr lang="zh-CN" altLang="zh-CN" i="1" kern="100">
                                <a:effectLst/>
                                <a:latin typeface="Cambria Math" panose="02040503050406030204" pitchFamily="18" charset="0"/>
                                <a:ea typeface="Cambria Math" panose="02040503050406030204" pitchFamily="18" charset="0"/>
                              </a:rPr>
                            </m:ctrlPr>
                          </m:eqArrPr>
                          <m:e>
                            <m:r>
                              <a:rPr lang="en-US" altLang="zh-CN" i="1" kern="100">
                                <a:latin typeface="Cambria Math" panose="02040503050406030204" pitchFamily="18" charset="0"/>
                              </a:rPr>
                              <m:t>𝑊</m:t>
                            </m:r>
                            <m:r>
                              <a:rPr lang="en-US" altLang="zh-CN" i="1" kern="100">
                                <a:latin typeface="Cambria Math" panose="02040503050406030204" pitchFamily="18" charset="0"/>
                              </a:rPr>
                              <m:t>2</m:t>
                            </m:r>
                            <m:r>
                              <a:rPr lang="en-US" altLang="zh-CN" i="1" kern="100">
                                <a:latin typeface="Cambria Math" panose="02040503050406030204" pitchFamily="18" charset="0"/>
                              </a:rPr>
                              <m:t> </m:t>
                            </m:r>
                            <m:r>
                              <a:rPr lang="en-US" altLang="zh-CN" i="1" kern="100">
                                <a:latin typeface="Cambria Math" panose="02040503050406030204" pitchFamily="18" charset="0"/>
                              </a:rPr>
                              <m:t>𝑊</m:t>
                            </m:r>
                            <m:r>
                              <a:rPr lang="en-US" altLang="zh-CN" i="1" kern="100">
                                <a:latin typeface="Cambria Math" panose="02040503050406030204" pitchFamily="18" charset="0"/>
                              </a:rPr>
                              <m:t>1</m:t>
                            </m:r>
                            <m:r>
                              <a:rPr lang="en-US" altLang="zh-CN" i="1" kern="100">
                                <a:latin typeface="Cambria Math" panose="02040503050406030204" pitchFamily="18" charset="0"/>
                              </a:rPr>
                              <m:t> </m:t>
                            </m:r>
                            <m:r>
                              <a:rPr lang="zh-CN" altLang="zh-CN" i="1" kern="100">
                                <a:latin typeface="Cambria Math" panose="02040503050406030204" pitchFamily="18" charset="0"/>
                              </a:rPr>
                              <m:t>为</m:t>
                            </m:r>
                            <m:r>
                              <a:rPr lang="en-US" altLang="zh-CN" i="1" kern="100">
                                <a:latin typeface="Cambria Math" panose="02040503050406030204" pitchFamily="18" charset="0"/>
                              </a:rPr>
                              <m:t> </m:t>
                            </m:r>
                            <m:r>
                              <a:rPr lang="en-US" altLang="zh-CN" i="1" kern="100">
                                <a:latin typeface="Cambria Math" panose="02040503050406030204" pitchFamily="18" charset="0"/>
                              </a:rPr>
                              <m:t>11</m:t>
                            </m:r>
                          </m:e>
                          <m:e>
                            <m:r>
                              <a:rPr lang="en-US" altLang="zh-CN" i="1" kern="100">
                                <a:latin typeface="Cambria Math" panose="02040503050406030204" pitchFamily="18" charset="0"/>
                              </a:rPr>
                              <m:t>𝑊</m:t>
                            </m:r>
                            <m:r>
                              <a:rPr lang="en-US" altLang="zh-CN" i="1" kern="100">
                                <a:latin typeface="Cambria Math" panose="02040503050406030204" pitchFamily="18" charset="0"/>
                              </a:rPr>
                              <m:t>4</m:t>
                            </m:r>
                            <m:r>
                              <a:rPr lang="en-US" altLang="zh-CN" i="1" kern="100">
                                <a:latin typeface="Cambria Math" panose="02040503050406030204" pitchFamily="18" charset="0"/>
                              </a:rPr>
                              <m:t> </m:t>
                            </m:r>
                            <m:r>
                              <a:rPr lang="en-US" altLang="zh-CN" i="1" kern="100">
                                <a:latin typeface="Cambria Math" panose="02040503050406030204" pitchFamily="18" charset="0"/>
                              </a:rPr>
                              <m:t>𝑊</m:t>
                            </m:r>
                            <m:r>
                              <a:rPr lang="en-US" altLang="zh-CN" i="1" kern="100">
                                <a:latin typeface="Cambria Math" panose="02040503050406030204" pitchFamily="18" charset="0"/>
                              </a:rPr>
                              <m:t>3</m:t>
                            </m:r>
                            <m:r>
                              <a:rPr lang="en-US" altLang="zh-CN" i="1" kern="100">
                                <a:latin typeface="Cambria Math" panose="02040503050406030204" pitchFamily="18" charset="0"/>
                              </a:rPr>
                              <m:t> </m:t>
                            </m:r>
                            <m:r>
                              <a:rPr lang="zh-CN" altLang="zh-CN" i="1" kern="100">
                                <a:latin typeface="Cambria Math" panose="02040503050406030204" pitchFamily="18" charset="0"/>
                              </a:rPr>
                              <m:t>为</m:t>
                            </m:r>
                            <m:r>
                              <a:rPr lang="en-US" altLang="zh-CN" i="1" kern="100">
                                <a:latin typeface="Cambria Math" panose="02040503050406030204" pitchFamily="18" charset="0"/>
                              </a:rPr>
                              <m:t> </m:t>
                            </m:r>
                            <m:r>
                              <a:rPr lang="en-US" altLang="zh-CN" i="1" kern="100">
                                <a:latin typeface="Cambria Math" panose="02040503050406030204" pitchFamily="18" charset="0"/>
                              </a:rPr>
                              <m:t>01</m:t>
                            </m:r>
                            <m:r>
                              <a:rPr lang="en-US" altLang="zh-CN" i="1" kern="100">
                                <a:latin typeface="Cambria Math" panose="02040503050406030204" pitchFamily="18" charset="0"/>
                              </a:rPr>
                              <m:t>, </m:t>
                            </m:r>
                            <m:r>
                              <a:rPr lang="en-US" altLang="zh-CN" i="1" kern="100">
                                <a:latin typeface="Cambria Math" panose="02040503050406030204" pitchFamily="18" charset="0"/>
                              </a:rPr>
                              <m:t>10</m:t>
                            </m:r>
                          </m:e>
                        </m:eqArr>
                      </m:e>
                    </m:d>
                  </m:oMath>
                </a14:m>
                <a:endParaRPr lang="zh-CN" altLang="zh-CN" kern="100" dirty="0">
                  <a:latin typeface="Times New Roman" panose="02020603050405020304" pitchFamily="18" charset="0"/>
                </a:endParaRPr>
              </a:p>
              <a:p>
                <a:pPr>
                  <a:lnSpc>
                    <a:spcPct val="150000"/>
                  </a:lnSpc>
                </a:pPr>
                <a:r>
                  <a:rPr lang="zh-CN" altLang="zh-CN" kern="100" dirty="0">
                    <a:latin typeface="Times New Roman" panose="02020603050405020304" pitchFamily="18" charset="0"/>
                  </a:rPr>
                  <a:t>所以寻找该故障点的测试向量为</a:t>
                </a:r>
                <a:endParaRPr lang="en-US" altLang="zh-CN" kern="100" dirty="0">
                  <a:latin typeface="Times New Roman" panose="02020603050405020304" pitchFamily="18" charset="0"/>
                </a:endParaRPr>
              </a:p>
              <a:p>
                <a:pPr>
                  <a:lnSpc>
                    <a:spcPct val="150000"/>
                  </a:lnSpc>
                </a:pPr>
                <a:r>
                  <a:rPr lang="en-US" altLang="zh-CN" kern="100" dirty="0"/>
                  <a:t>        </a:t>
                </a:r>
                <a14:m>
                  <m:oMath xmlns:m="http://schemas.openxmlformats.org/officeDocument/2006/math">
                    <m:r>
                      <m:rPr>
                        <m:sty m:val="p"/>
                      </m:rPr>
                      <a:rPr lang="en-US" altLang="zh-CN" kern="100">
                        <a:latin typeface="Cambria Math" panose="02040503050406030204" pitchFamily="18" charset="0"/>
                      </a:rPr>
                      <m:t>W</m:t>
                    </m:r>
                    <m:r>
                      <a:rPr lang="en-US" altLang="zh-CN" kern="100">
                        <a:latin typeface="Cambria Math" panose="02040503050406030204" pitchFamily="18" charset="0"/>
                      </a:rPr>
                      <m:t>4</m:t>
                    </m:r>
                    <m:r>
                      <a:rPr lang="en-US" altLang="zh-CN" kern="100">
                        <a:latin typeface="Cambria Math" panose="02040503050406030204" pitchFamily="18" charset="0"/>
                      </a:rPr>
                      <m:t> </m:t>
                    </m:r>
                    <m:r>
                      <m:rPr>
                        <m:sty m:val="p"/>
                      </m:rPr>
                      <a:rPr lang="en-US" altLang="zh-CN" kern="100">
                        <a:latin typeface="Cambria Math" panose="02040503050406030204" pitchFamily="18" charset="0"/>
                      </a:rPr>
                      <m:t>W</m:t>
                    </m:r>
                    <m:r>
                      <a:rPr lang="en-US" altLang="zh-CN" kern="100">
                        <a:latin typeface="Cambria Math" panose="02040503050406030204" pitchFamily="18" charset="0"/>
                      </a:rPr>
                      <m:t>3</m:t>
                    </m:r>
                    <m:r>
                      <a:rPr lang="en-US" altLang="zh-CN" kern="100">
                        <a:latin typeface="Cambria Math" panose="02040503050406030204" pitchFamily="18" charset="0"/>
                      </a:rPr>
                      <m:t> </m:t>
                    </m:r>
                    <m:r>
                      <m:rPr>
                        <m:sty m:val="p"/>
                      </m:rPr>
                      <a:rPr lang="en-US" altLang="zh-CN" kern="100">
                        <a:latin typeface="Cambria Math" panose="02040503050406030204" pitchFamily="18" charset="0"/>
                      </a:rPr>
                      <m:t>W</m:t>
                    </m:r>
                    <m:r>
                      <a:rPr lang="en-US" altLang="zh-CN" kern="100">
                        <a:latin typeface="Cambria Math" panose="02040503050406030204" pitchFamily="18" charset="0"/>
                      </a:rPr>
                      <m:t>2</m:t>
                    </m:r>
                    <m:r>
                      <a:rPr lang="en-US" altLang="zh-CN" kern="100">
                        <a:latin typeface="Cambria Math" panose="02040503050406030204" pitchFamily="18" charset="0"/>
                      </a:rPr>
                      <m:t> </m:t>
                    </m:r>
                    <m:r>
                      <m:rPr>
                        <m:sty m:val="p"/>
                      </m:rPr>
                      <a:rPr lang="en-US" altLang="zh-CN" kern="100">
                        <a:latin typeface="Cambria Math" panose="02040503050406030204" pitchFamily="18" charset="0"/>
                      </a:rPr>
                      <m:t>W</m:t>
                    </m:r>
                    <m:r>
                      <a:rPr lang="en-US" altLang="zh-CN" kern="100">
                        <a:latin typeface="Cambria Math" panose="02040503050406030204" pitchFamily="18" charset="0"/>
                      </a:rPr>
                      <m:t>1</m:t>
                    </m:r>
                    <m:r>
                      <a:rPr lang="en-US" altLang="zh-CN" kern="100">
                        <a:latin typeface="Cambria Math" panose="02040503050406030204" pitchFamily="18" charset="0"/>
                      </a:rPr>
                      <m:t>=</m:t>
                    </m:r>
                    <m:d>
                      <m:dPr>
                        <m:begChr m:val="{"/>
                        <m:endChr m:val="}"/>
                        <m:ctrlPr>
                          <a:rPr lang="zh-CN" altLang="zh-CN" i="1" kern="100">
                            <a:effectLst/>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rPr>
                          <m:t>0111</m:t>
                        </m:r>
                        <m:r>
                          <a:rPr lang="en-US" altLang="zh-CN" i="1" kern="100">
                            <a:latin typeface="Cambria Math" panose="02040503050406030204" pitchFamily="18" charset="0"/>
                          </a:rPr>
                          <m:t>,</m:t>
                        </m:r>
                        <m:r>
                          <a:rPr lang="en-US" altLang="zh-CN" i="1" kern="100">
                            <a:latin typeface="Cambria Math" panose="02040503050406030204" pitchFamily="18" charset="0"/>
                          </a:rPr>
                          <m:t>1011</m:t>
                        </m:r>
                      </m:e>
                    </m:d>
                  </m:oMath>
                </a14:m>
                <a:endParaRPr lang="zh-CN" altLang="zh-CN" kern="100" dirty="0">
                  <a:latin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478790" y="1326515"/>
                <a:ext cx="10373360" cy="4229100"/>
              </a:xfrm>
              <a:prstGeom prst="rect">
                <a:avLst/>
              </a:prstGeom>
              <a:blipFill rotWithShape="1">
                <a:blip r:embed="rId1"/>
                <a:stretch>
                  <a:fillRect/>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5699760" y="3429000"/>
          <a:ext cx="4690110" cy="1857375"/>
        </p:xfrm>
        <a:graphic>
          <a:graphicData uri="http://schemas.openxmlformats.org/presentationml/2006/ole">
            <mc:AlternateContent xmlns:mc="http://schemas.openxmlformats.org/markup-compatibility/2006">
              <mc:Choice xmlns:v="urn:schemas-microsoft-com:vml" Requires="v">
                <p:oleObj spid="_x0000_s7172" name="Visio" r:id="rId2" imgW="2051685" imgH="825500" progId="Visio.Drawing.15">
                  <p:embed/>
                </p:oleObj>
              </mc:Choice>
              <mc:Fallback>
                <p:oleObj name="Visio" r:id="rId2" imgW="2051685" imgH="825500"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9760" y="3429000"/>
                        <a:ext cx="4690110" cy="1857375"/>
                      </a:xfrm>
                      <a:prstGeom prst="rect">
                        <a:avLst/>
                      </a:prstGeom>
                      <a:noFill/>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12</a:t>
            </a:r>
            <a:endParaRPr lang="en-US" altLang="zh-CN" dirty="0"/>
          </a:p>
          <a:p>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5" name="文本框 4"/>
              <p:cNvSpPr txBox="1"/>
              <p:nvPr/>
            </p:nvSpPr>
            <p:spPr>
              <a:xfrm>
                <a:off x="660400" y="1174750"/>
                <a:ext cx="10826750" cy="5573395"/>
              </a:xfrm>
              <a:prstGeom prst="rect">
                <a:avLst/>
              </a:prstGeom>
              <a:noFill/>
            </p:spPr>
            <p:txBody>
              <a:bodyPr wrap="square" rtlCol="0">
                <a:spAutoFit/>
              </a:bodyPr>
              <a:lstStyle/>
              <a:p>
                <a:pPr>
                  <a:lnSpc>
                    <a:spcPct val="150000"/>
                  </a:lnSpc>
                </a:pPr>
                <a:r>
                  <a:rPr lang="en-US" altLang="zh-CN" dirty="0">
                    <a:solidFill>
                      <a:prstClr val="black"/>
                    </a:solidFill>
                  </a:rPr>
                  <a:t>2. </a:t>
                </a:r>
                <a:r>
                  <a:rPr lang="zh-CN" altLang="en-US" dirty="0">
                    <a:solidFill>
                      <a:prstClr val="black"/>
                    </a:solidFill>
                  </a:rPr>
                  <a:t>针对如图所示电路，采用</a:t>
                </a:r>
                <a:r>
                  <a:rPr lang="en-US" altLang="zh-CN" dirty="0">
                    <a:solidFill>
                      <a:prstClr val="black"/>
                    </a:solidFill>
                  </a:rPr>
                  <a:t>SA0</a:t>
                </a:r>
                <a:r>
                  <a:rPr lang="zh-CN" altLang="en-US" dirty="0">
                    <a:solidFill>
                      <a:prstClr val="black"/>
                    </a:solidFill>
                  </a:rPr>
                  <a:t>和</a:t>
                </a:r>
                <a:r>
                  <a:rPr lang="en-US" altLang="zh-CN" dirty="0">
                    <a:solidFill>
                      <a:prstClr val="black"/>
                    </a:solidFill>
                  </a:rPr>
                  <a:t>SA1</a:t>
                </a:r>
                <a:r>
                  <a:rPr lang="zh-CN" altLang="en-US" dirty="0">
                    <a:solidFill>
                      <a:prstClr val="black"/>
                    </a:solidFill>
                  </a:rPr>
                  <a:t>的故障模型，根据要求写出寻找图中故障点的测试向量。输入测试信号为</a:t>
                </a:r>
                <a:r>
                  <a:rPr lang="en-US" altLang="zh-CN" dirty="0">
                    <a:solidFill>
                      <a:prstClr val="black"/>
                    </a:solidFill>
                  </a:rPr>
                  <a:t>W1,W2,W3</a:t>
                </a:r>
                <a:r>
                  <a:rPr lang="zh-CN" altLang="en-US" dirty="0">
                    <a:solidFill>
                      <a:prstClr val="black"/>
                    </a:solidFill>
                  </a:rPr>
                  <a:t>。试求：</a:t>
                </a:r>
                <a:endParaRPr lang="zh-CN" altLang="en-US" dirty="0">
                  <a:solidFill>
                    <a:prstClr val="black"/>
                  </a:solidFill>
                </a:endParaRPr>
              </a:p>
              <a:p>
                <a:pPr>
                  <a:lnSpc>
                    <a:spcPct val="150000"/>
                  </a:lnSpc>
                </a:pPr>
                <a:r>
                  <a:rPr lang="en-US" altLang="zh-CN" dirty="0">
                    <a:solidFill>
                      <a:prstClr val="black"/>
                    </a:solidFill>
                  </a:rPr>
                  <a:t>a) </a:t>
                </a:r>
                <a:r>
                  <a:rPr lang="zh-CN" altLang="en-US" dirty="0">
                    <a:solidFill>
                      <a:prstClr val="black"/>
                    </a:solidFill>
                  </a:rPr>
                  <a:t>写出能检测</a:t>
                </a:r>
                <a:r>
                  <a:rPr lang="en-US" altLang="zh-CN" dirty="0">
                    <a:solidFill>
                      <a:prstClr val="black"/>
                    </a:solidFill>
                  </a:rPr>
                  <a:t>E</a:t>
                </a:r>
                <a:r>
                  <a:rPr lang="zh-CN" altLang="en-US" dirty="0">
                    <a:solidFill>
                      <a:prstClr val="black"/>
                    </a:solidFill>
                  </a:rPr>
                  <a:t>节点处的</a:t>
                </a:r>
                <a:r>
                  <a:rPr lang="en-US" altLang="zh-CN" dirty="0">
                    <a:solidFill>
                      <a:prstClr val="black"/>
                    </a:solidFill>
                  </a:rPr>
                  <a:t>SA0</a:t>
                </a:r>
                <a:r>
                  <a:rPr lang="zh-CN" altLang="en-US" dirty="0">
                    <a:solidFill>
                      <a:prstClr val="black"/>
                    </a:solidFill>
                  </a:rPr>
                  <a:t>故障的所有测试向量，并简要说明理由。</a:t>
                </a:r>
                <a:endParaRPr lang="zh-CN" altLang="en-US" dirty="0">
                  <a:solidFill>
                    <a:prstClr val="black"/>
                  </a:solidFill>
                </a:endParaRPr>
              </a:p>
              <a:p>
                <a:pPr>
                  <a:lnSpc>
                    <a:spcPct val="150000"/>
                  </a:lnSpc>
                </a:pPr>
                <a:r>
                  <a:rPr lang="en-US" altLang="zh-CN" dirty="0">
                    <a:solidFill>
                      <a:prstClr val="black"/>
                    </a:solidFill>
                  </a:rPr>
                  <a:t>b) </a:t>
                </a:r>
                <a:r>
                  <a:rPr lang="zh-CN" altLang="en-US" dirty="0">
                    <a:solidFill>
                      <a:prstClr val="black"/>
                    </a:solidFill>
                  </a:rPr>
                  <a:t>写出能检测</a:t>
                </a:r>
                <a:r>
                  <a:rPr lang="en-US" altLang="zh-CN" dirty="0">
                    <a:solidFill>
                      <a:prstClr val="black"/>
                    </a:solidFill>
                  </a:rPr>
                  <a:t>B</a:t>
                </a:r>
                <a:r>
                  <a:rPr lang="zh-CN" altLang="en-US" dirty="0">
                    <a:solidFill>
                      <a:prstClr val="black"/>
                    </a:solidFill>
                  </a:rPr>
                  <a:t>节点处的</a:t>
                </a:r>
                <a:r>
                  <a:rPr lang="en-US" altLang="zh-CN" dirty="0">
                    <a:solidFill>
                      <a:prstClr val="black"/>
                    </a:solidFill>
                  </a:rPr>
                  <a:t>SA1</a:t>
                </a:r>
                <a:r>
                  <a:rPr lang="zh-CN" altLang="en-US" dirty="0">
                    <a:solidFill>
                      <a:prstClr val="black"/>
                    </a:solidFill>
                  </a:rPr>
                  <a:t>故障的所有测试向量，并简要说明理由。</a:t>
                </a:r>
                <a:endParaRPr lang="zh-CN" altLang="en-US" dirty="0">
                  <a:solidFill>
                    <a:prstClr val="black"/>
                  </a:solidFill>
                </a:endParaRPr>
              </a:p>
              <a:p>
                <a:pPr>
                  <a:lnSpc>
                    <a:spcPct val="150000"/>
                  </a:lnSpc>
                </a:pPr>
                <a:r>
                  <a:rPr lang="zh-CN" altLang="zh-CN" kern="100" dirty="0">
                    <a:latin typeface="Times New Roman" panose="02020603050405020304" pitchFamily="18" charset="0"/>
                  </a:rPr>
                  <a:t>解：</a:t>
                </a:r>
                <a:r>
                  <a:rPr lang="en-US" altLang="zh-CN" kern="100" dirty="0">
                    <a:latin typeface="Times New Roman" panose="02020603050405020304" pitchFamily="18" charset="0"/>
                  </a:rPr>
                  <a:t>a) E</a:t>
                </a:r>
                <a:r>
                  <a:rPr lang="zh-CN" altLang="zh-CN" kern="100" dirty="0">
                    <a:latin typeface="Times New Roman" panose="02020603050405020304" pitchFamily="18" charset="0"/>
                  </a:rPr>
                  <a:t>节点</a:t>
                </a:r>
                <a:r>
                  <a:rPr lang="en-US" altLang="zh-CN" kern="100" dirty="0">
                    <a:latin typeface="Times New Roman" panose="02020603050405020304" pitchFamily="18" charset="0"/>
                  </a:rPr>
                  <a:t>SA0</a:t>
                </a:r>
                <a:r>
                  <a:rPr lang="zh-CN" altLang="zh-CN" kern="100" dirty="0">
                    <a:latin typeface="Times New Roman" panose="02020603050405020304" pitchFamily="18" charset="0"/>
                  </a:rPr>
                  <a:t>故障，则正常时使得</a:t>
                </a:r>
                <a:r>
                  <a:rPr lang="en-US" altLang="zh-CN" kern="100" dirty="0">
                    <a:latin typeface="Times New Roman" panose="02020603050405020304" pitchFamily="18" charset="0"/>
                  </a:rPr>
                  <a:t>E=1</a:t>
                </a:r>
                <a:r>
                  <a:rPr lang="zh-CN" altLang="zh-CN" kern="100" dirty="0">
                    <a:latin typeface="Times New Roman" panose="02020603050405020304" pitchFamily="18" charset="0"/>
                  </a:rPr>
                  <a:t>，则有</a:t>
                </a:r>
                <a:r>
                  <a:rPr lang="en-US" altLang="zh-CN" kern="100" dirty="0">
                    <a:latin typeface="Times New Roman" panose="02020603050405020304" pitchFamily="18" charset="0"/>
                  </a:rPr>
                  <a:t>A=0</a:t>
                </a:r>
                <a:r>
                  <a:rPr lang="zh-CN" altLang="zh-CN" kern="100" dirty="0">
                    <a:latin typeface="Times New Roman" panose="02020603050405020304" pitchFamily="18" charset="0"/>
                  </a:rPr>
                  <a:t>或</a:t>
                </a:r>
                <a14:m>
                  <m:oMath xmlns:m="http://schemas.openxmlformats.org/officeDocument/2006/math">
                    <m:r>
                      <a:rPr lang="zh-CN" altLang="zh-CN" kern="100">
                        <a:effectLst/>
                        <a:latin typeface="Cambria Math" panose="02040503050406030204" pitchFamily="18" charset="0"/>
                        <a:ea typeface="Cambria Math" panose="02040503050406030204" pitchFamily="18" charset="0"/>
                      </a:rPr>
                      <m:t> </m:t>
                    </m:r>
                    <m:r>
                      <a:rPr lang="en-US" altLang="zh-CN" i="1" kern="100">
                        <a:effectLst/>
                        <a:latin typeface="Cambria Math" panose="02040503050406030204" pitchFamily="18" charset="0"/>
                        <a:ea typeface="Cambria Math" panose="02040503050406030204" pitchFamily="18" charset="0"/>
                      </a:rPr>
                      <m:t>𝐷</m:t>
                    </m:r>
                    <m:r>
                      <a:rPr lang="en-US" altLang="zh-CN" kern="100">
                        <a:effectLst/>
                        <a:latin typeface="Cambria Math" panose="02040503050406030204" pitchFamily="18" charset="0"/>
                        <a:ea typeface="Cambria Math" panose="02040503050406030204" pitchFamily="18" charset="0"/>
                      </a:rPr>
                      <m:t>=</m:t>
                    </m:r>
                    <m:r>
                      <a:rPr lang="en-US" altLang="zh-CN" i="1" kern="100">
                        <a:effectLst/>
                        <a:latin typeface="Cambria Math" panose="02040503050406030204" pitchFamily="18" charset="0"/>
                        <a:ea typeface="Cambria Math" panose="02040503050406030204" pitchFamily="18" charset="0"/>
                      </a:rPr>
                      <m:t>𝐶</m:t>
                    </m:r>
                    <m:r>
                      <a:rPr lang="en-US" altLang="zh-CN" kern="100">
                        <a:effectLst/>
                        <a:latin typeface="Cambria Math" panose="02040503050406030204" pitchFamily="18" charset="0"/>
                        <a:ea typeface="Cambria Math" panose="02040503050406030204" pitchFamily="18" charset="0"/>
                      </a:rPr>
                      <m:t>⊙</m:t>
                    </m:r>
                    <m:r>
                      <a:rPr lang="en-US" altLang="zh-CN" i="1" kern="100">
                        <a:effectLst/>
                        <a:latin typeface="Cambria Math" panose="02040503050406030204" pitchFamily="18" charset="0"/>
                        <a:ea typeface="Cambria Math" panose="02040503050406030204" pitchFamily="18" charset="0"/>
                      </a:rPr>
                      <m:t>𝐵</m:t>
                    </m:r>
                    <m:r>
                      <a:rPr lang="en-US" altLang="zh-CN" kern="100">
                        <a:effectLst/>
                        <a:latin typeface="Cambria Math" panose="02040503050406030204" pitchFamily="18" charset="0"/>
                        <a:ea typeface="Cambria Math" panose="02040503050406030204" pitchFamily="18" charset="0"/>
                      </a:rPr>
                      <m:t>=</m:t>
                    </m:r>
                    <m:r>
                      <a:rPr lang="en-US" altLang="zh-CN" kern="100">
                        <a:effectLst/>
                        <a:latin typeface="Cambria Math" panose="02040503050406030204" pitchFamily="18" charset="0"/>
                        <a:ea typeface="Cambria Math" panose="02040503050406030204" pitchFamily="18" charset="0"/>
                      </a:rPr>
                      <m:t>0</m:t>
                    </m:r>
                  </m:oMath>
                </a14:m>
                <a:r>
                  <a:rPr lang="zh-CN" altLang="zh-CN" kern="100" dirty="0">
                    <a:latin typeface="Times New Roman" panose="02020603050405020304" pitchFamily="18" charset="0"/>
                  </a:rPr>
                  <a:t>，</a:t>
                </a:r>
                <a:endParaRPr lang="en-US" altLang="zh-CN" kern="100" dirty="0">
                  <a:latin typeface="Times New Roman" panose="02020603050405020304" pitchFamily="18" charset="0"/>
                </a:endParaRPr>
              </a:p>
              <a:p>
                <a:pPr>
                  <a:lnSpc>
                    <a:spcPct val="150000"/>
                  </a:lnSpc>
                </a:pPr>
                <a:r>
                  <a:rPr lang="zh-CN" altLang="zh-CN" kern="100" dirty="0">
                    <a:latin typeface="Times New Roman" panose="02020603050405020304" pitchFamily="18" charset="0"/>
                  </a:rPr>
                  <a:t>那么所有测试向量为</a:t>
                </a:r>
                <a:endParaRPr lang="en-US" altLang="zh-CN" kern="100" dirty="0">
                  <a:latin typeface="Times New Roman" panose="02020603050405020304" pitchFamily="18" charset="0"/>
                </a:endParaRPr>
              </a:p>
              <a:p>
                <a:pPr>
                  <a:lnSpc>
                    <a:spcPct val="150000"/>
                  </a:lnSpc>
                </a:pPr>
                <a:r>
                  <a:rPr lang="en-US" altLang="zh-CN" kern="100" dirty="0"/>
                  <a:t>	</a:t>
                </a:r>
                <a14:m>
                  <m:oMath xmlns:m="http://schemas.openxmlformats.org/officeDocument/2006/math">
                    <m:r>
                      <m:rPr>
                        <m:sty m:val="p"/>
                      </m:rPr>
                      <a:rPr lang="en-US" altLang="zh-CN" kern="100">
                        <a:latin typeface="Cambria Math" panose="02040503050406030204" pitchFamily="18" charset="0"/>
                      </a:rPr>
                      <m:t>W</m:t>
                    </m:r>
                    <m:r>
                      <a:rPr lang="en-US" altLang="zh-CN" kern="100">
                        <a:latin typeface="Cambria Math" panose="02040503050406030204" pitchFamily="18" charset="0"/>
                      </a:rPr>
                      <m:t>3</m:t>
                    </m:r>
                    <m:r>
                      <a:rPr lang="en-US" altLang="zh-CN" kern="100">
                        <a:latin typeface="Cambria Math" panose="02040503050406030204" pitchFamily="18" charset="0"/>
                      </a:rPr>
                      <m:t> </m:t>
                    </m:r>
                    <m:r>
                      <m:rPr>
                        <m:sty m:val="p"/>
                      </m:rPr>
                      <a:rPr lang="en-US" altLang="zh-CN" kern="100">
                        <a:latin typeface="Cambria Math" panose="02040503050406030204" pitchFamily="18" charset="0"/>
                      </a:rPr>
                      <m:t>W</m:t>
                    </m:r>
                    <m:r>
                      <a:rPr lang="en-US" altLang="zh-CN" kern="100">
                        <a:latin typeface="Cambria Math" panose="02040503050406030204" pitchFamily="18" charset="0"/>
                      </a:rPr>
                      <m:t>2</m:t>
                    </m:r>
                    <m:r>
                      <a:rPr lang="en-US" altLang="zh-CN" kern="100">
                        <a:latin typeface="Cambria Math" panose="02040503050406030204" pitchFamily="18" charset="0"/>
                      </a:rPr>
                      <m:t> </m:t>
                    </m:r>
                    <m:r>
                      <m:rPr>
                        <m:sty m:val="p"/>
                      </m:rPr>
                      <a:rPr lang="en-US" altLang="zh-CN" kern="100">
                        <a:latin typeface="Cambria Math" panose="02040503050406030204" pitchFamily="18" charset="0"/>
                      </a:rPr>
                      <m:t>W</m:t>
                    </m:r>
                    <m:r>
                      <a:rPr lang="en-US" altLang="zh-CN" kern="100">
                        <a:latin typeface="Cambria Math" panose="02040503050406030204" pitchFamily="18" charset="0"/>
                      </a:rPr>
                      <m:t>1</m:t>
                    </m:r>
                    <m:r>
                      <a:rPr lang="en-US" altLang="zh-CN" kern="100">
                        <a:latin typeface="Cambria Math" panose="02040503050406030204" pitchFamily="18" charset="0"/>
                      </a:rPr>
                      <m:t>=</m:t>
                    </m:r>
                    <m:d>
                      <m:dPr>
                        <m:begChr m:val="{"/>
                        <m:endChr m:val="}"/>
                        <m:ctrlPr>
                          <a:rPr lang="zh-CN" altLang="zh-CN" i="1" kern="100">
                            <a:effectLst/>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rPr>
                          <m:t>101</m:t>
                        </m:r>
                        <m:r>
                          <a:rPr lang="en-US" altLang="zh-CN" i="1" kern="100">
                            <a:latin typeface="Cambria Math" panose="02040503050406030204" pitchFamily="18" charset="0"/>
                          </a:rPr>
                          <m:t>,</m:t>
                        </m:r>
                        <m:r>
                          <a:rPr lang="en-US" altLang="zh-CN" i="1" kern="100">
                            <a:latin typeface="Cambria Math" panose="02040503050406030204" pitchFamily="18" charset="0"/>
                          </a:rPr>
                          <m:t>011</m:t>
                        </m:r>
                        <m:r>
                          <a:rPr lang="en-US" altLang="zh-CN" i="1" kern="100">
                            <a:latin typeface="Cambria Math" panose="02040503050406030204" pitchFamily="18" charset="0"/>
                          </a:rPr>
                          <m:t>,</m:t>
                        </m:r>
                        <m:r>
                          <a:rPr lang="en-US" altLang="zh-CN" i="1" kern="100">
                            <a:latin typeface="Cambria Math" panose="02040503050406030204" pitchFamily="18" charset="0"/>
                          </a:rPr>
                          <m:t>000</m:t>
                        </m:r>
                        <m:r>
                          <a:rPr lang="en-US" altLang="zh-CN" i="1" kern="100">
                            <a:latin typeface="Cambria Math" panose="02040503050406030204" pitchFamily="18" charset="0"/>
                          </a:rPr>
                          <m:t>,</m:t>
                        </m:r>
                        <m:r>
                          <a:rPr lang="en-US" altLang="zh-CN" i="1" kern="100">
                            <a:latin typeface="Cambria Math" panose="02040503050406030204" pitchFamily="18" charset="0"/>
                          </a:rPr>
                          <m:t>010</m:t>
                        </m:r>
                        <m:r>
                          <a:rPr lang="en-US" altLang="zh-CN" i="1" kern="100">
                            <a:latin typeface="Cambria Math" panose="02040503050406030204" pitchFamily="18" charset="0"/>
                          </a:rPr>
                          <m:t>,</m:t>
                        </m:r>
                        <m:r>
                          <a:rPr lang="en-US" altLang="zh-CN" i="1" kern="100">
                            <a:latin typeface="Cambria Math" panose="02040503050406030204" pitchFamily="18" charset="0"/>
                          </a:rPr>
                          <m:t>100</m:t>
                        </m:r>
                        <m:r>
                          <a:rPr lang="en-US" altLang="zh-CN" i="1" kern="100">
                            <a:latin typeface="Cambria Math" panose="02040503050406030204" pitchFamily="18" charset="0"/>
                          </a:rPr>
                          <m:t>,</m:t>
                        </m:r>
                        <m:r>
                          <a:rPr lang="en-US" altLang="zh-CN" i="1" kern="100">
                            <a:latin typeface="Cambria Math" panose="02040503050406030204" pitchFamily="18" charset="0"/>
                          </a:rPr>
                          <m:t>110</m:t>
                        </m:r>
                      </m:e>
                    </m:d>
                  </m:oMath>
                </a14:m>
                <a:r>
                  <a:rPr lang="zh-CN" altLang="zh-CN" kern="100" dirty="0">
                    <a:latin typeface="Times New Roman" panose="02020603050405020304" pitchFamily="18" charset="0"/>
                  </a:rPr>
                  <a:t>。</a:t>
                </a:r>
                <a:endParaRPr lang="zh-CN" altLang="zh-CN" kern="100" dirty="0">
                  <a:latin typeface="Times New Roman" panose="02020603050405020304" pitchFamily="18" charset="0"/>
                </a:endParaRPr>
              </a:p>
              <a:p>
                <a:pPr lvl="0">
                  <a:lnSpc>
                    <a:spcPct val="150000"/>
                  </a:lnSpc>
                  <a:buSzPts val="1200"/>
                </a:pPr>
                <a:r>
                  <a:rPr lang="en-US" altLang="zh-CN" kern="100" dirty="0">
                    <a:latin typeface="Times New Roman" panose="02020603050405020304" pitchFamily="18" charset="0"/>
                  </a:rPr>
                  <a:t>b) B</a:t>
                </a:r>
                <a:r>
                  <a:rPr lang="zh-CN" altLang="zh-CN" kern="100" dirty="0">
                    <a:latin typeface="Times New Roman" panose="02020603050405020304" pitchFamily="18" charset="0"/>
                  </a:rPr>
                  <a:t>节点</a:t>
                </a:r>
                <a:r>
                  <a:rPr lang="en-US" altLang="zh-CN" kern="100" dirty="0">
                    <a:latin typeface="Times New Roman" panose="02020603050405020304" pitchFamily="18" charset="0"/>
                  </a:rPr>
                  <a:t>SA1</a:t>
                </a:r>
                <a:r>
                  <a:rPr lang="zh-CN" altLang="zh-CN" kern="100" dirty="0">
                    <a:latin typeface="Times New Roman" panose="02020603050405020304" pitchFamily="18" charset="0"/>
                  </a:rPr>
                  <a:t>故障，故测试时</a:t>
                </a:r>
                <a14:m>
                  <m:oMath xmlns:m="http://schemas.openxmlformats.org/officeDocument/2006/math">
                    <m:r>
                      <m:rPr>
                        <m:sty m:val="p"/>
                      </m:rPr>
                      <a:rPr lang="en-US" altLang="zh-CN" kern="100">
                        <a:latin typeface="Cambria Math" panose="02040503050406030204" pitchFamily="18" charset="0"/>
                      </a:rPr>
                      <m:t>W</m:t>
                    </m:r>
                    <m:r>
                      <a:rPr lang="en-US" altLang="zh-CN" kern="100">
                        <a:latin typeface="Cambria Math" panose="02040503050406030204" pitchFamily="18" charset="0"/>
                      </a:rPr>
                      <m:t>2</m:t>
                    </m:r>
                    <m:r>
                      <a:rPr lang="en-US" altLang="zh-CN" kern="100">
                        <a:latin typeface="Cambria Math" panose="02040503050406030204" pitchFamily="18" charset="0"/>
                      </a:rPr>
                      <m:t>=</m:t>
                    </m:r>
                    <m:r>
                      <a:rPr lang="en-US" altLang="zh-CN" kern="100">
                        <a:latin typeface="Cambria Math" panose="02040503050406030204" pitchFamily="18" charset="0"/>
                      </a:rPr>
                      <m:t>0</m:t>
                    </m:r>
                  </m:oMath>
                </a14:m>
                <a:r>
                  <a:rPr lang="zh-CN" altLang="zh-CN" kern="100" dirty="0">
                    <a:latin typeface="Times New Roman" panose="02020603050405020304" pitchFamily="18" charset="0"/>
                  </a:rPr>
                  <a:t>，</a:t>
                </a:r>
                <a:endParaRPr lang="en-US" altLang="zh-CN" kern="100" dirty="0">
                  <a:latin typeface="Times New Roman" panose="02020603050405020304" pitchFamily="18" charset="0"/>
                </a:endParaRPr>
              </a:p>
              <a:p>
                <a:pPr lvl="0">
                  <a:lnSpc>
                    <a:spcPct val="150000"/>
                  </a:lnSpc>
                  <a:buSzPts val="1200"/>
                </a:pPr>
                <a:r>
                  <a:rPr lang="zh-CN" altLang="zh-CN" kern="100" dirty="0">
                    <a:latin typeface="Times New Roman" panose="02020603050405020304" pitchFamily="18" charset="0"/>
                  </a:rPr>
                  <a:t>要使得</a:t>
                </a:r>
                <a14:m>
                  <m:oMath xmlns:m="http://schemas.openxmlformats.org/officeDocument/2006/math">
                    <m:r>
                      <m:rPr>
                        <m:sty m:val="p"/>
                      </m:rPr>
                      <a:rPr lang="en-US" altLang="zh-CN" kern="100">
                        <a:latin typeface="Cambria Math" panose="02040503050406030204" pitchFamily="18" charset="0"/>
                      </a:rPr>
                      <m:t>W</m:t>
                    </m:r>
                    <m:r>
                      <a:rPr lang="en-US" altLang="zh-CN" kern="100">
                        <a:latin typeface="Cambria Math" panose="02040503050406030204" pitchFamily="18" charset="0"/>
                      </a:rPr>
                      <m:t>2</m:t>
                    </m:r>
                  </m:oMath>
                </a14:m>
                <a:r>
                  <a:rPr lang="zh-CN" altLang="zh-CN" kern="100" dirty="0">
                    <a:latin typeface="Times New Roman" panose="02020603050405020304" pitchFamily="18" charset="0"/>
                  </a:rPr>
                  <a:t>传递到输出</a:t>
                </a:r>
                <a:r>
                  <a:rPr lang="en-US" altLang="zh-CN" kern="100" dirty="0">
                    <a:latin typeface="Times New Roman" panose="02020603050405020304" pitchFamily="18" charset="0"/>
                  </a:rPr>
                  <a:t>E</a:t>
                </a:r>
                <a:r>
                  <a:rPr lang="zh-CN" altLang="zh-CN" kern="100" dirty="0">
                    <a:latin typeface="Times New Roman" panose="02020603050405020304" pitchFamily="18" charset="0"/>
                  </a:rPr>
                  <a:t>。 </a:t>
                </a:r>
                <a:endParaRPr lang="zh-CN" altLang="zh-CN" kern="100" dirty="0">
                  <a:latin typeface="Times New Roman" panose="02020603050405020304" pitchFamily="18" charset="0"/>
                </a:endParaRPr>
              </a:p>
              <a:p>
                <a:pPr>
                  <a:lnSpc>
                    <a:spcPct val="150000"/>
                  </a:lnSpc>
                </a:pPr>
                <a:r>
                  <a:rPr lang="zh-CN" altLang="zh-CN" kern="100" dirty="0">
                    <a:latin typeface="Times New Roman" panose="02020603050405020304" pitchFamily="18" charset="0"/>
                  </a:rPr>
                  <a:t>而</a:t>
                </a:r>
                <a14:m>
                  <m:oMath xmlns:m="http://schemas.openxmlformats.org/officeDocument/2006/math">
                    <m:r>
                      <a:rPr lang="en-US" altLang="zh-CN" i="1" kern="100">
                        <a:latin typeface="Cambria Math" panose="02040503050406030204" pitchFamily="18" charset="0"/>
                      </a:rPr>
                      <m:t>𝐷</m:t>
                    </m:r>
                    <m:r>
                      <a:rPr lang="en-US" altLang="zh-CN" kern="100">
                        <a:latin typeface="Cambria Math" panose="02040503050406030204" pitchFamily="18" charset="0"/>
                      </a:rPr>
                      <m:t>=</m:t>
                    </m:r>
                    <m:bar>
                      <m:barPr>
                        <m:pos m:val="top"/>
                        <m:ctrlPr>
                          <a:rPr lang="zh-CN" altLang="zh-CN" i="1" kern="100">
                            <a:effectLst/>
                            <a:latin typeface="Cambria Math" panose="02040503050406030204" pitchFamily="18" charset="0"/>
                            <a:ea typeface="Cambria Math" panose="02040503050406030204" pitchFamily="18" charset="0"/>
                          </a:rPr>
                        </m:ctrlPr>
                      </m:barPr>
                      <m:e>
                        <m:r>
                          <a:rPr lang="en-US" altLang="zh-CN" i="1" kern="100">
                            <a:latin typeface="Cambria Math" panose="02040503050406030204" pitchFamily="18" charset="0"/>
                          </a:rPr>
                          <m:t>𝐵</m:t>
                        </m:r>
                      </m:e>
                    </m:bar>
                    <m:r>
                      <a:rPr lang="en-US" altLang="zh-CN" kern="100">
                        <a:latin typeface="Cambria Math" panose="02040503050406030204" pitchFamily="18" charset="0"/>
                      </a:rPr>
                      <m:t>∙</m:t>
                    </m:r>
                    <m:bar>
                      <m:barPr>
                        <m:pos m:val="top"/>
                        <m:ctrlPr>
                          <a:rPr lang="zh-CN" altLang="zh-CN" i="1" kern="100">
                            <a:effectLst/>
                            <a:latin typeface="Cambria Math" panose="02040503050406030204" pitchFamily="18" charset="0"/>
                            <a:ea typeface="Cambria Math" panose="02040503050406030204" pitchFamily="18" charset="0"/>
                          </a:rPr>
                        </m:ctrlPr>
                      </m:barPr>
                      <m:e>
                        <m:r>
                          <a:rPr lang="en-US" altLang="zh-CN" i="1" kern="100">
                            <a:latin typeface="Cambria Math" panose="02040503050406030204" pitchFamily="18" charset="0"/>
                          </a:rPr>
                          <m:t>𝐶</m:t>
                        </m:r>
                      </m:e>
                    </m:bar>
                    <m:r>
                      <a:rPr lang="en-US" altLang="zh-CN" kern="100">
                        <a:latin typeface="Cambria Math" panose="02040503050406030204" pitchFamily="18" charset="0"/>
                      </a:rPr>
                      <m:t>+</m:t>
                    </m:r>
                    <m:r>
                      <a:rPr lang="en-US" altLang="zh-CN" i="1" kern="100">
                        <a:latin typeface="Cambria Math" panose="02040503050406030204" pitchFamily="18" charset="0"/>
                      </a:rPr>
                      <m:t>𝐵</m:t>
                    </m:r>
                    <m:r>
                      <a:rPr lang="en-US" altLang="zh-CN" kern="100">
                        <a:latin typeface="Cambria Math" panose="02040503050406030204" pitchFamily="18" charset="0"/>
                      </a:rPr>
                      <m:t>∙</m:t>
                    </m:r>
                    <m:r>
                      <a:rPr lang="en-US" altLang="zh-CN" i="1" kern="100">
                        <a:latin typeface="Cambria Math" panose="02040503050406030204" pitchFamily="18" charset="0"/>
                      </a:rPr>
                      <m:t>𝐶</m:t>
                    </m:r>
                  </m:oMath>
                </a14:m>
                <a:r>
                  <a:rPr lang="zh-CN" altLang="zh-CN" kern="100" dirty="0">
                    <a:latin typeface="Times New Roman" panose="02020603050405020304" pitchFamily="18" charset="0"/>
                  </a:rPr>
                  <a:t>，如果</a:t>
                </a:r>
                <a14:m>
                  <m:oMath xmlns:m="http://schemas.openxmlformats.org/officeDocument/2006/math">
                    <m:r>
                      <m:rPr>
                        <m:sty m:val="p"/>
                      </m:rPr>
                      <a:rPr lang="en-US" altLang="zh-CN" kern="100">
                        <a:latin typeface="Cambria Math" panose="02040503050406030204" pitchFamily="18" charset="0"/>
                      </a:rPr>
                      <m:t>W</m:t>
                    </m:r>
                    <m:r>
                      <a:rPr lang="en-US" altLang="zh-CN" kern="100">
                        <a:latin typeface="Cambria Math" panose="02040503050406030204" pitchFamily="18" charset="0"/>
                      </a:rPr>
                      <m:t>3</m:t>
                    </m:r>
                    <m:r>
                      <a:rPr lang="en-US" altLang="zh-CN" kern="100">
                        <a:latin typeface="Cambria Math" panose="02040503050406030204" pitchFamily="18" charset="0"/>
                      </a:rPr>
                      <m:t>=</m:t>
                    </m:r>
                    <m:r>
                      <a:rPr lang="en-US" altLang="zh-CN" kern="100">
                        <a:latin typeface="Cambria Math" panose="02040503050406030204" pitchFamily="18" charset="0"/>
                      </a:rPr>
                      <m:t>0</m:t>
                    </m:r>
                  </m:oMath>
                </a14:m>
                <a:r>
                  <a:rPr lang="zh-CN" altLang="zh-CN" kern="100" dirty="0">
                    <a:latin typeface="Times New Roman" panose="02020603050405020304" pitchFamily="18" charset="0"/>
                  </a:rPr>
                  <a:t>，则</a:t>
                </a:r>
                <a14:m>
                  <m:oMath xmlns:m="http://schemas.openxmlformats.org/officeDocument/2006/math">
                    <m:r>
                      <m:rPr>
                        <m:sty m:val="p"/>
                      </m:rPr>
                      <a:rPr lang="en-US" altLang="zh-CN" kern="100">
                        <a:latin typeface="Cambria Math" panose="02040503050406030204" pitchFamily="18" charset="0"/>
                      </a:rPr>
                      <m:t>D</m:t>
                    </m:r>
                    <m:r>
                      <a:rPr lang="en-US" altLang="zh-CN" kern="100">
                        <a:latin typeface="Cambria Math" panose="02040503050406030204" pitchFamily="18" charset="0"/>
                      </a:rPr>
                      <m:t>=</m:t>
                    </m:r>
                    <m:bar>
                      <m:barPr>
                        <m:pos m:val="top"/>
                        <m:ctrlPr>
                          <a:rPr lang="zh-CN" altLang="zh-CN" i="1" kern="100">
                            <a:effectLst/>
                            <a:latin typeface="Cambria Math" panose="02040503050406030204" pitchFamily="18" charset="0"/>
                            <a:ea typeface="Cambria Math" panose="02040503050406030204" pitchFamily="18" charset="0"/>
                          </a:rPr>
                        </m:ctrlPr>
                      </m:barPr>
                      <m:e>
                        <m:r>
                          <a:rPr lang="en-US" altLang="zh-CN" i="1" kern="100">
                            <a:latin typeface="Cambria Math" panose="02040503050406030204" pitchFamily="18" charset="0"/>
                          </a:rPr>
                          <m:t>𝐵</m:t>
                        </m:r>
                      </m:e>
                    </m:bar>
                  </m:oMath>
                </a14:m>
                <a:r>
                  <a:rPr lang="zh-CN" altLang="zh-CN" kern="100" dirty="0">
                    <a:latin typeface="Times New Roman" panose="02020603050405020304" pitchFamily="18" charset="0"/>
                  </a:rPr>
                  <a:t>；</a:t>
                </a:r>
                <a:endParaRPr lang="en-US" altLang="zh-CN" kern="100" dirty="0">
                  <a:latin typeface="Times New Roman" panose="02020603050405020304" pitchFamily="18" charset="0"/>
                </a:endParaRPr>
              </a:p>
              <a:p>
                <a:pPr>
                  <a:lnSpc>
                    <a:spcPct val="150000"/>
                  </a:lnSpc>
                </a:pPr>
                <a:r>
                  <a:rPr lang="zh-CN" altLang="zh-CN" kern="100" dirty="0">
                    <a:latin typeface="Times New Roman" panose="02020603050405020304" pitchFamily="18" charset="0"/>
                  </a:rPr>
                  <a:t>如果</a:t>
                </a:r>
                <a14:m>
                  <m:oMath xmlns:m="http://schemas.openxmlformats.org/officeDocument/2006/math">
                    <m:r>
                      <m:rPr>
                        <m:sty m:val="p"/>
                      </m:rPr>
                      <a:rPr lang="en-US" altLang="zh-CN" kern="100">
                        <a:latin typeface="Cambria Math" panose="02040503050406030204" pitchFamily="18" charset="0"/>
                      </a:rPr>
                      <m:t>W</m:t>
                    </m:r>
                    <m:r>
                      <a:rPr lang="en-US" altLang="zh-CN" kern="100">
                        <a:latin typeface="Cambria Math" panose="02040503050406030204" pitchFamily="18" charset="0"/>
                      </a:rPr>
                      <m:t>3</m:t>
                    </m:r>
                    <m:r>
                      <a:rPr lang="en-US" altLang="zh-CN" kern="100">
                        <a:latin typeface="Cambria Math" panose="02040503050406030204" pitchFamily="18" charset="0"/>
                      </a:rPr>
                      <m:t>=</m:t>
                    </m:r>
                    <m:r>
                      <a:rPr lang="en-US" altLang="zh-CN" kern="100">
                        <a:latin typeface="Cambria Math" panose="02040503050406030204" pitchFamily="18" charset="0"/>
                      </a:rPr>
                      <m:t>1</m:t>
                    </m:r>
                  </m:oMath>
                </a14:m>
                <a:r>
                  <a:rPr lang="zh-CN" altLang="zh-CN" kern="100" dirty="0">
                    <a:latin typeface="Times New Roman" panose="02020603050405020304" pitchFamily="18" charset="0"/>
                  </a:rPr>
                  <a:t>，则</a:t>
                </a:r>
                <a14:m>
                  <m:oMath xmlns:m="http://schemas.openxmlformats.org/officeDocument/2006/math">
                    <m:r>
                      <m:rPr>
                        <m:sty m:val="p"/>
                      </m:rPr>
                      <a:rPr lang="en-US" altLang="zh-CN" kern="100">
                        <a:latin typeface="Cambria Math" panose="02040503050406030204" pitchFamily="18" charset="0"/>
                      </a:rPr>
                      <m:t>D</m:t>
                    </m:r>
                    <m:r>
                      <a:rPr lang="en-US" altLang="zh-CN" kern="100">
                        <a:latin typeface="Cambria Math" panose="02040503050406030204" pitchFamily="18" charset="0"/>
                      </a:rPr>
                      <m:t>=</m:t>
                    </m:r>
                    <m:r>
                      <a:rPr lang="en-US" altLang="zh-CN" i="1" kern="100">
                        <a:latin typeface="Cambria Math" panose="02040503050406030204" pitchFamily="18" charset="0"/>
                      </a:rPr>
                      <m:t>𝐵</m:t>
                    </m:r>
                  </m:oMath>
                </a14:m>
                <a:r>
                  <a:rPr lang="zh-CN" altLang="zh-CN" kern="100" dirty="0">
                    <a:latin typeface="Times New Roman" panose="02020603050405020304" pitchFamily="18" charset="0"/>
                  </a:rPr>
                  <a:t>。且</a:t>
                </a:r>
                <a14:m>
                  <m:oMath xmlns:m="http://schemas.openxmlformats.org/officeDocument/2006/math">
                    <m:r>
                      <m:rPr>
                        <m:sty m:val="p"/>
                      </m:rPr>
                      <a:rPr lang="en-US" altLang="zh-CN" kern="100">
                        <a:latin typeface="Cambria Math" panose="02040503050406030204" pitchFamily="18" charset="0"/>
                      </a:rPr>
                      <m:t>W</m:t>
                    </m:r>
                    <m:r>
                      <a:rPr lang="en-US" altLang="zh-CN" kern="100">
                        <a:latin typeface="Cambria Math" panose="02040503050406030204" pitchFamily="18" charset="0"/>
                      </a:rPr>
                      <m:t>1</m:t>
                    </m:r>
                    <m:r>
                      <a:rPr lang="en-US" altLang="zh-CN" kern="100">
                        <a:latin typeface="Cambria Math" panose="02040503050406030204" pitchFamily="18" charset="0"/>
                      </a:rPr>
                      <m:t>=</m:t>
                    </m:r>
                    <m:r>
                      <a:rPr lang="en-US" altLang="zh-CN" kern="100">
                        <a:latin typeface="Cambria Math" panose="02040503050406030204" pitchFamily="18" charset="0"/>
                      </a:rPr>
                      <m:t>1</m:t>
                    </m:r>
                  </m:oMath>
                </a14:m>
                <a:r>
                  <a:rPr lang="zh-CN" altLang="zh-CN" kern="100" dirty="0">
                    <a:latin typeface="Times New Roman" panose="02020603050405020304" pitchFamily="18" charset="0"/>
                  </a:rPr>
                  <a:t>。那么所有的测试向量为：</a:t>
                </a:r>
                <a:endParaRPr lang="en-US" altLang="zh-CN" kern="100" dirty="0">
                  <a:latin typeface="Times New Roman" panose="02020603050405020304" pitchFamily="18" charset="0"/>
                </a:endParaRPr>
              </a:p>
              <a:p>
                <a:pPr>
                  <a:lnSpc>
                    <a:spcPct val="150000"/>
                  </a:lnSpc>
                </a:pPr>
                <a:r>
                  <a:rPr lang="en-US" altLang="zh-CN" kern="100" dirty="0">
                    <a:latin typeface="Times New Roman" panose="02020603050405020304" pitchFamily="18" charset="0"/>
                  </a:rPr>
                  <a:t>	</a:t>
                </a:r>
                <a14:m>
                  <m:oMath xmlns:m="http://schemas.openxmlformats.org/officeDocument/2006/math">
                    <m:r>
                      <m:rPr>
                        <m:sty m:val="p"/>
                      </m:rPr>
                      <a:rPr lang="en-US" altLang="zh-CN" kern="100">
                        <a:latin typeface="Cambria Math" panose="02040503050406030204" pitchFamily="18" charset="0"/>
                      </a:rPr>
                      <m:t>W</m:t>
                    </m:r>
                    <m:r>
                      <a:rPr lang="en-US" altLang="zh-CN" kern="100">
                        <a:latin typeface="Cambria Math" panose="02040503050406030204" pitchFamily="18" charset="0"/>
                      </a:rPr>
                      <m:t>3</m:t>
                    </m:r>
                    <m:r>
                      <a:rPr lang="en-US" altLang="zh-CN" kern="100">
                        <a:latin typeface="Cambria Math" panose="02040503050406030204" pitchFamily="18" charset="0"/>
                      </a:rPr>
                      <m:t> </m:t>
                    </m:r>
                    <m:r>
                      <m:rPr>
                        <m:sty m:val="p"/>
                      </m:rPr>
                      <a:rPr lang="en-US" altLang="zh-CN" kern="100">
                        <a:latin typeface="Cambria Math" panose="02040503050406030204" pitchFamily="18" charset="0"/>
                      </a:rPr>
                      <m:t>W</m:t>
                    </m:r>
                    <m:r>
                      <a:rPr lang="en-US" altLang="zh-CN" kern="100">
                        <a:latin typeface="Cambria Math" panose="02040503050406030204" pitchFamily="18" charset="0"/>
                      </a:rPr>
                      <m:t>2</m:t>
                    </m:r>
                    <m:r>
                      <a:rPr lang="en-US" altLang="zh-CN" kern="100">
                        <a:latin typeface="Cambria Math" panose="02040503050406030204" pitchFamily="18" charset="0"/>
                      </a:rPr>
                      <m:t> </m:t>
                    </m:r>
                    <m:r>
                      <m:rPr>
                        <m:sty m:val="p"/>
                      </m:rPr>
                      <a:rPr lang="en-US" altLang="zh-CN" kern="100">
                        <a:latin typeface="Cambria Math" panose="02040503050406030204" pitchFamily="18" charset="0"/>
                      </a:rPr>
                      <m:t>W</m:t>
                    </m:r>
                    <m:r>
                      <a:rPr lang="en-US" altLang="zh-CN" kern="100">
                        <a:latin typeface="Cambria Math" panose="02040503050406030204" pitchFamily="18" charset="0"/>
                      </a:rPr>
                      <m:t>1</m:t>
                    </m:r>
                    <m:r>
                      <a:rPr lang="en-US" altLang="zh-CN" kern="100">
                        <a:latin typeface="Cambria Math" panose="02040503050406030204" pitchFamily="18" charset="0"/>
                      </a:rPr>
                      <m:t>=</m:t>
                    </m:r>
                    <m:d>
                      <m:dPr>
                        <m:begChr m:val="{"/>
                        <m:endChr m:val="}"/>
                        <m:ctrlPr>
                          <a:rPr lang="zh-CN" altLang="zh-CN" i="1" kern="100">
                            <a:effectLst/>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rPr>
                          <m:t>001</m:t>
                        </m:r>
                        <m:r>
                          <a:rPr lang="en-US" altLang="zh-CN" i="1" kern="100">
                            <a:latin typeface="Cambria Math" panose="02040503050406030204" pitchFamily="18" charset="0"/>
                          </a:rPr>
                          <m:t>,</m:t>
                        </m:r>
                        <m:r>
                          <a:rPr lang="en-US" altLang="zh-CN" i="1" kern="100">
                            <a:latin typeface="Cambria Math" panose="02040503050406030204" pitchFamily="18" charset="0"/>
                          </a:rPr>
                          <m:t>101</m:t>
                        </m:r>
                      </m:e>
                    </m:d>
                  </m:oMath>
                </a14:m>
                <a:endParaRPr lang="zh-CN" altLang="zh-CN" kern="100" dirty="0">
                  <a:latin typeface="Times New Roman" panose="02020603050405020304" pitchFamily="18" charset="0"/>
                </a:endParaRPr>
              </a:p>
              <a:p>
                <a:pPr>
                  <a:lnSpc>
                    <a:spcPct val="150000"/>
                  </a:lnSpc>
                </a:pPr>
                <a:endParaRPr lang="zh-CN" altLang="zh-CN" kern="100" dirty="0">
                  <a:latin typeface="Times New Roman" panose="020206030504050203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660400" y="1174750"/>
                <a:ext cx="10826750" cy="5573395"/>
              </a:xfrm>
              <a:prstGeom prst="rect">
                <a:avLst/>
              </a:prstGeom>
              <a:blipFill rotWithShape="1">
                <a:blip r:embed="rId1"/>
                <a:stretch>
                  <a:fillRect/>
                </a:stretch>
              </a:blipFill>
            </p:spPr>
            <p:txBody>
              <a:bodyPr/>
              <a:lstStyle/>
              <a:p>
                <a:r>
                  <a:rPr lang="zh-CN" altLang="en-US">
                    <a:noFill/>
                  </a:rPr>
                  <a:t> </a:t>
                </a:r>
              </a:p>
            </p:txBody>
          </p:sp>
        </mc:Fallback>
      </mc:AlternateContent>
      <p:graphicFrame>
        <p:nvGraphicFramePr>
          <p:cNvPr id="6" name="对象 5"/>
          <p:cNvGraphicFramePr>
            <a:graphicFrameLocks noChangeAspect="1"/>
          </p:cNvGraphicFramePr>
          <p:nvPr/>
        </p:nvGraphicFramePr>
        <p:xfrm>
          <a:off x="6344920" y="3664585"/>
          <a:ext cx="4995545" cy="1689735"/>
        </p:xfrm>
        <a:graphic>
          <a:graphicData uri="http://schemas.openxmlformats.org/presentationml/2006/ole">
            <mc:AlternateContent xmlns:mc="http://schemas.openxmlformats.org/markup-compatibility/2006">
              <mc:Choice xmlns:v="urn:schemas-microsoft-com:vml" Requires="v">
                <p:oleObj spid="_x0000_s8196" name="Visio" r:id="rId2" imgW="1748155" imgH="591820" progId="Visio.Drawing.15">
                  <p:embed/>
                </p:oleObj>
              </mc:Choice>
              <mc:Fallback>
                <p:oleObj name="Visio" r:id="rId2" imgW="1748155" imgH="591820"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4920" y="3664585"/>
                        <a:ext cx="4995545" cy="1689735"/>
                      </a:xfrm>
                      <a:prstGeom prst="rect">
                        <a:avLst/>
                      </a:prstGeom>
                      <a:noFill/>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作业</a:t>
            </a:r>
            <a:r>
              <a:rPr lang="en-US" altLang="zh-CN" dirty="0"/>
              <a:t>12</a:t>
            </a:r>
            <a:endParaRPr lang="en-US" altLang="zh-CN" dirty="0"/>
          </a:p>
          <a:p>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660400" y="1144905"/>
                <a:ext cx="9573895" cy="1337945"/>
              </a:xfrm>
              <a:prstGeom prst="rect">
                <a:avLst/>
              </a:prstGeom>
              <a:noFill/>
            </p:spPr>
            <p:txBody>
              <a:bodyPr wrap="square" rtlCol="0">
                <a:spAutoFit/>
              </a:bodyPr>
              <a:lstStyle/>
              <a:p>
                <a:pPr lvl="0" algn="just">
                  <a:lnSpc>
                    <a:spcPct val="150000"/>
                  </a:lnSpc>
                  <a:spcAft>
                    <a:spcPts val="0"/>
                  </a:spcAft>
                </a:pPr>
                <a:r>
                  <a:rPr lang="en-US" altLang="zh-CN" kern="0" dirty="0">
                    <a:latin typeface="Times New Roman" panose="02020603050405020304" pitchFamily="18" charset="0"/>
                  </a:rPr>
                  <a:t>3. </a:t>
                </a:r>
                <a:r>
                  <a:rPr lang="zh-CN" altLang="zh-CN" kern="0" dirty="0">
                    <a:latin typeface="Times New Roman" panose="02020603050405020304" pitchFamily="18" charset="0"/>
                  </a:rPr>
                  <a:t>用16x4位的ROM设计一个将两个2位二进制数（</a:t>
                </a:r>
                <a14:m>
                  <m:oMath xmlns:m="http://schemas.openxmlformats.org/officeDocument/2006/math">
                    <m:sSub>
                      <m:sSubPr>
                        <m:ctrlPr>
                          <a:rPr lang="zh-CN" altLang="zh-CN" i="1" kern="0">
                            <a:effectLst/>
                            <a:latin typeface="Cambria Math" panose="02040503050406030204" pitchFamily="18" charset="0"/>
                            <a:ea typeface="Cambria Math" panose="02040503050406030204" pitchFamily="18" charset="0"/>
                          </a:rPr>
                        </m:ctrlPr>
                      </m:sSubPr>
                      <m:e>
                        <m:r>
                          <a:rPr lang="zh-CN" altLang="en-US" i="1" kern="0">
                            <a:effectLst/>
                            <a:latin typeface="Cambria Math" panose="02040503050406030204" pitchFamily="18" charset="0"/>
                            <a:ea typeface="Cambria Math" panose="02040503050406030204" pitchFamily="18" charset="0"/>
                          </a:rPr>
                          <m:t>𝐴</m:t>
                        </m:r>
                      </m:e>
                      <m:sub>
                        <m:r>
                          <a:rPr lang="zh-CN" altLang="zh-CN" i="1" kern="0">
                            <a:effectLst/>
                            <a:latin typeface="Cambria Math" panose="02040503050406030204" pitchFamily="18" charset="0"/>
                            <a:ea typeface="Cambria Math" panose="02040503050406030204" pitchFamily="18" charset="0"/>
                          </a:rPr>
                          <m:t>3</m:t>
                        </m:r>
                      </m:sub>
                    </m:sSub>
                    <m:sSub>
                      <m:sSubPr>
                        <m:ctrlPr>
                          <a:rPr lang="zh-CN" altLang="zh-CN" i="1" kern="0">
                            <a:effectLst/>
                            <a:latin typeface="Cambria Math" panose="02040503050406030204" pitchFamily="18" charset="0"/>
                            <a:ea typeface="Cambria Math" panose="02040503050406030204" pitchFamily="18" charset="0"/>
                          </a:rPr>
                        </m:ctrlPr>
                      </m:sSubPr>
                      <m:e>
                        <m:r>
                          <a:rPr lang="zh-CN" altLang="en-US" i="1" kern="0">
                            <a:effectLst/>
                            <a:latin typeface="Cambria Math" panose="02040503050406030204" pitchFamily="18" charset="0"/>
                            <a:ea typeface="Cambria Math" panose="02040503050406030204" pitchFamily="18" charset="0"/>
                          </a:rPr>
                          <m:t>𝐴</m:t>
                        </m:r>
                      </m:e>
                      <m:sub>
                        <m:r>
                          <a:rPr lang="zh-CN" altLang="zh-CN" i="1" kern="0">
                            <a:effectLst/>
                            <a:latin typeface="Cambria Math" panose="02040503050406030204" pitchFamily="18" charset="0"/>
                            <a:ea typeface="Cambria Math" panose="02040503050406030204" pitchFamily="18" charset="0"/>
                          </a:rPr>
                          <m:t>2</m:t>
                        </m:r>
                      </m:sub>
                    </m:sSub>
                  </m:oMath>
                </a14:m>
                <a:r>
                  <a:rPr lang="zh-CN" altLang="zh-CN" kern="0" dirty="0">
                    <a:latin typeface="Times New Roman" panose="02020603050405020304" pitchFamily="18" charset="0"/>
                  </a:rPr>
                  <a:t>和</a:t>
                </a:r>
                <a14:m>
                  <m:oMath xmlns:m="http://schemas.openxmlformats.org/officeDocument/2006/math">
                    <m:sSub>
                      <m:sSubPr>
                        <m:ctrlPr>
                          <a:rPr lang="zh-CN" altLang="zh-CN" i="1" kern="0">
                            <a:effectLst/>
                            <a:latin typeface="Cambria Math" panose="02040503050406030204" pitchFamily="18" charset="0"/>
                            <a:ea typeface="Cambria Math" panose="02040503050406030204" pitchFamily="18" charset="0"/>
                          </a:rPr>
                        </m:ctrlPr>
                      </m:sSubPr>
                      <m:e>
                        <m:r>
                          <a:rPr lang="zh-CN" altLang="en-US" i="1" kern="0">
                            <a:effectLst/>
                            <a:latin typeface="Cambria Math" panose="02040503050406030204" pitchFamily="18" charset="0"/>
                            <a:ea typeface="Cambria Math" panose="02040503050406030204" pitchFamily="18" charset="0"/>
                          </a:rPr>
                          <m:t>𝐴</m:t>
                        </m:r>
                      </m:e>
                      <m:sub>
                        <m:r>
                          <a:rPr lang="zh-CN" altLang="zh-CN" i="1" kern="0">
                            <a:effectLst/>
                            <a:latin typeface="Cambria Math" panose="02040503050406030204" pitchFamily="18" charset="0"/>
                            <a:ea typeface="Cambria Math" panose="02040503050406030204" pitchFamily="18" charset="0"/>
                          </a:rPr>
                          <m:t>1</m:t>
                        </m:r>
                      </m:sub>
                    </m:sSub>
                    <m:sSub>
                      <m:sSubPr>
                        <m:ctrlPr>
                          <a:rPr lang="zh-CN" altLang="zh-CN" i="1" kern="0">
                            <a:effectLst/>
                            <a:latin typeface="Cambria Math" panose="02040503050406030204" pitchFamily="18" charset="0"/>
                            <a:ea typeface="Cambria Math" panose="02040503050406030204" pitchFamily="18" charset="0"/>
                          </a:rPr>
                        </m:ctrlPr>
                      </m:sSubPr>
                      <m:e>
                        <m:r>
                          <a:rPr lang="zh-CN" altLang="en-US" i="1" kern="0">
                            <a:effectLst/>
                            <a:latin typeface="Cambria Math" panose="02040503050406030204" pitchFamily="18" charset="0"/>
                            <a:ea typeface="Cambria Math" panose="02040503050406030204" pitchFamily="18" charset="0"/>
                          </a:rPr>
                          <m:t>𝐴</m:t>
                        </m:r>
                      </m:e>
                      <m:sub>
                        <m:r>
                          <a:rPr lang="zh-CN" altLang="zh-CN" i="1" kern="0">
                            <a:effectLst/>
                            <a:latin typeface="Cambria Math" panose="02040503050406030204" pitchFamily="18" charset="0"/>
                            <a:ea typeface="Cambria Math" panose="02040503050406030204" pitchFamily="18" charset="0"/>
                          </a:rPr>
                          <m:t>0</m:t>
                        </m:r>
                      </m:sub>
                    </m:sSub>
                  </m:oMath>
                </a14:m>
                <a:r>
                  <a:rPr lang="zh-CN" altLang="zh-CN" kern="0" dirty="0">
                    <a:latin typeface="Times New Roman" panose="02020603050405020304" pitchFamily="18" charset="0"/>
                  </a:rPr>
                  <a:t>）相乘的乘法器电路，列出ROM中每个地址对应存储内容的数据表。</a:t>
                </a:r>
                <a:endParaRPr lang="zh-CN" altLang="zh-CN" kern="100" dirty="0">
                  <a:latin typeface="Times New Roman" panose="02020603050405020304" pitchFamily="18" charset="0"/>
                </a:endParaRPr>
              </a:p>
              <a:p>
                <a:pPr>
                  <a:lnSpc>
                    <a:spcPct val="150000"/>
                  </a:lnSpc>
                </a:pPr>
                <a:r>
                  <a:rPr lang="zh-CN" altLang="zh-CN" dirty="0">
                    <a:latin typeface="Times New Roman" panose="02020603050405020304" pitchFamily="18" charset="0"/>
                    <a:cs typeface="Times New Roman" panose="02020603050405020304" pitchFamily="18" charset="0"/>
                  </a:rPr>
                  <a:t>解：将两个相乘的数接到</a:t>
                </a:r>
                <a:r>
                  <a:rPr lang="zh-CN" altLang="zh-CN" dirty="0">
                    <a:effectLst/>
                    <a:ea typeface="Times New Roman" panose="02020603050405020304" pitchFamily="18" charset="0"/>
                  </a:rPr>
                  <a:t>ROM</a:t>
                </a:r>
                <a:r>
                  <a:rPr lang="zh-CN" altLang="zh-CN" dirty="0">
                    <a:latin typeface="Times New Roman" panose="02020603050405020304" pitchFamily="18" charset="0"/>
                    <a:cs typeface="Times New Roman" panose="02020603050405020304" pitchFamily="18" charset="0"/>
                  </a:rPr>
                  <a:t>的地址端</a:t>
                </a:r>
                <a14:m>
                  <m:oMath xmlns:m="http://schemas.openxmlformats.org/officeDocument/2006/math">
                    <m:sSub>
                      <m:sSubPr>
                        <m:ctrlPr>
                          <a:rPr lang="zh-CN" altLang="zh-CN" i="1" kern="0">
                            <a:effectLst/>
                            <a:latin typeface="Cambria Math" panose="02040503050406030204" pitchFamily="18" charset="0"/>
                            <a:ea typeface="Cambria Math" panose="02040503050406030204" pitchFamily="18" charset="0"/>
                          </a:rPr>
                        </m:ctrlPr>
                      </m:sSubPr>
                      <m:e>
                        <m:r>
                          <a:rPr lang="zh-CN" altLang="en-US" i="1">
                            <a:effectLst/>
                            <a:latin typeface="Cambria Math" panose="02040503050406030204" pitchFamily="18" charset="0"/>
                            <a:ea typeface="Cambria Math" panose="02040503050406030204" pitchFamily="18" charset="0"/>
                            <a:cs typeface="Times New Roman" panose="02020603050405020304" pitchFamily="18" charset="0"/>
                          </a:rPr>
                          <m:t>𝐴</m:t>
                        </m:r>
                      </m:e>
                      <m:sub>
                        <m:r>
                          <a:rPr lang="zh-CN" altLang="zh-CN" i="1">
                            <a:effectLst/>
                            <a:latin typeface="Cambria Math" panose="02040503050406030204" pitchFamily="18" charset="0"/>
                            <a:ea typeface="Cambria Math" panose="02040503050406030204" pitchFamily="18" charset="0"/>
                            <a:cs typeface="Times New Roman" panose="02020603050405020304" pitchFamily="18" charset="0"/>
                          </a:rPr>
                          <m:t>3</m:t>
                        </m:r>
                      </m:sub>
                    </m:sSub>
                    <m:sSub>
                      <m:sSubPr>
                        <m:ctrlPr>
                          <a:rPr lang="zh-CN" altLang="zh-CN" i="1" kern="0">
                            <a:effectLst/>
                            <a:latin typeface="Cambria Math" panose="02040503050406030204" pitchFamily="18" charset="0"/>
                            <a:ea typeface="Cambria Math" panose="02040503050406030204" pitchFamily="18" charset="0"/>
                          </a:rPr>
                        </m:ctrlPr>
                      </m:sSubPr>
                      <m:e>
                        <m:r>
                          <a:rPr lang="zh-CN" altLang="en-US" i="1">
                            <a:effectLst/>
                            <a:latin typeface="Cambria Math" panose="02040503050406030204" pitchFamily="18" charset="0"/>
                            <a:ea typeface="Cambria Math" panose="02040503050406030204" pitchFamily="18" charset="0"/>
                            <a:cs typeface="Times New Roman" panose="02020603050405020304" pitchFamily="18" charset="0"/>
                          </a:rPr>
                          <m:t>𝐴</m:t>
                        </m:r>
                      </m:e>
                      <m:sub>
                        <m:r>
                          <a:rPr lang="zh-CN" altLang="zh-CN" i="1">
                            <a:effectLst/>
                            <a:latin typeface="Cambria Math" panose="02040503050406030204" pitchFamily="18" charset="0"/>
                            <a:ea typeface="Cambria Math" panose="02040503050406030204" pitchFamily="18" charset="0"/>
                            <a:cs typeface="Times New Roman" panose="02020603050405020304" pitchFamily="18" charset="0"/>
                          </a:rPr>
                          <m:t>2</m:t>
                        </m:r>
                      </m:sub>
                    </m:sSub>
                    <m:sSub>
                      <m:sSubPr>
                        <m:ctrlPr>
                          <a:rPr lang="zh-CN" altLang="zh-CN" i="1" kern="0">
                            <a:effectLst/>
                            <a:latin typeface="Cambria Math" panose="02040503050406030204" pitchFamily="18" charset="0"/>
                            <a:ea typeface="Cambria Math" panose="02040503050406030204" pitchFamily="18" charset="0"/>
                          </a:rPr>
                        </m:ctrlPr>
                      </m:sSubPr>
                      <m:e>
                        <m:r>
                          <a:rPr lang="zh-CN" altLang="en-US" i="1">
                            <a:effectLst/>
                            <a:latin typeface="Cambria Math" panose="02040503050406030204" pitchFamily="18" charset="0"/>
                            <a:ea typeface="Cambria Math" panose="02040503050406030204" pitchFamily="18" charset="0"/>
                            <a:cs typeface="Times New Roman" panose="02020603050405020304" pitchFamily="18" charset="0"/>
                          </a:rPr>
                          <m:t>𝐴</m:t>
                        </m:r>
                      </m:e>
                      <m:sub>
                        <m:r>
                          <a:rPr lang="zh-CN" altLang="zh-CN" i="1">
                            <a:effectLst/>
                            <a:latin typeface="Cambria Math" panose="02040503050406030204" pitchFamily="18" charset="0"/>
                            <a:ea typeface="Cambria Math" panose="02040503050406030204" pitchFamily="18" charset="0"/>
                            <a:cs typeface="Times New Roman" panose="02020603050405020304" pitchFamily="18" charset="0"/>
                          </a:rPr>
                          <m:t>1</m:t>
                        </m:r>
                      </m:sub>
                    </m:sSub>
                    <m:sSub>
                      <m:sSubPr>
                        <m:ctrlPr>
                          <a:rPr lang="zh-CN" altLang="zh-CN" i="1" kern="0">
                            <a:effectLst/>
                            <a:latin typeface="Cambria Math" panose="02040503050406030204" pitchFamily="18" charset="0"/>
                            <a:ea typeface="Cambria Math" panose="02040503050406030204" pitchFamily="18" charset="0"/>
                          </a:rPr>
                        </m:ctrlPr>
                      </m:sSubPr>
                      <m:e>
                        <m:r>
                          <a:rPr lang="zh-CN" altLang="en-US" i="1">
                            <a:effectLst/>
                            <a:latin typeface="Cambria Math" panose="02040503050406030204" pitchFamily="18" charset="0"/>
                            <a:ea typeface="Cambria Math" panose="02040503050406030204" pitchFamily="18" charset="0"/>
                            <a:cs typeface="Times New Roman" panose="02020603050405020304" pitchFamily="18" charset="0"/>
                          </a:rPr>
                          <m:t>𝐴</m:t>
                        </m:r>
                      </m:e>
                      <m:sub>
                        <m:r>
                          <a:rPr lang="zh-CN" altLang="zh-CN" i="1">
                            <a:effectLst/>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zh-CN" altLang="zh-CN" dirty="0">
                    <a:latin typeface="Times New Roman" panose="02020603050405020304" pitchFamily="18" charset="0"/>
                    <a:cs typeface="Times New Roman" panose="02020603050405020304" pitchFamily="18" charset="0"/>
                  </a:rPr>
                  <a:t>，其对应地址的内容为</a:t>
                </a:r>
                <a14:m>
                  <m:oMath xmlns:m="http://schemas.openxmlformats.org/officeDocument/2006/math">
                    <m:sSub>
                      <m:sSubPr>
                        <m:ctrlPr>
                          <a:rPr lang="zh-CN" altLang="zh-CN" i="1" kern="0">
                            <a:effectLst/>
                            <a:latin typeface="Cambria Math" panose="02040503050406030204" pitchFamily="18" charset="0"/>
                            <a:ea typeface="Cambria Math" panose="02040503050406030204" pitchFamily="18" charset="0"/>
                          </a:rPr>
                        </m:ctrlPr>
                      </m:sSubPr>
                      <m:e>
                        <m:r>
                          <a:rPr lang="en-US" altLang="zh-CN" b="0" i="1" kern="0" smtClean="0">
                            <a:effectLst/>
                            <a:latin typeface="Cambria Math" panose="02040503050406030204" pitchFamily="18" charset="0"/>
                            <a:ea typeface="Cambria Math" panose="02040503050406030204" pitchFamily="18" charset="0"/>
                          </a:rPr>
                          <m:t>𝑃</m:t>
                        </m:r>
                      </m:e>
                      <m:sub>
                        <m:r>
                          <a:rPr lang="zh-CN" altLang="zh-CN" i="1">
                            <a:effectLst/>
                            <a:latin typeface="Cambria Math" panose="02040503050406030204" pitchFamily="18" charset="0"/>
                            <a:ea typeface="Cambria Math" panose="02040503050406030204" pitchFamily="18" charset="0"/>
                            <a:cs typeface="Times New Roman" panose="02020603050405020304" pitchFamily="18" charset="0"/>
                          </a:rPr>
                          <m:t>3</m:t>
                        </m:r>
                      </m:sub>
                    </m:sSub>
                    <m:sSub>
                      <m:sSubPr>
                        <m:ctrlPr>
                          <a:rPr lang="zh-CN" altLang="zh-CN" i="1" kern="0">
                            <a:effectLst/>
                            <a:latin typeface="Cambria Math" panose="02040503050406030204" pitchFamily="18" charset="0"/>
                            <a:ea typeface="Cambria Math" panose="02040503050406030204" pitchFamily="18" charset="0"/>
                          </a:rPr>
                        </m:ctrlPr>
                      </m:sSubPr>
                      <m:e>
                        <m:r>
                          <a:rPr lang="en-US" altLang="zh-CN" b="0" i="1" kern="0" smtClean="0">
                            <a:effectLst/>
                            <a:latin typeface="Cambria Math" panose="02040503050406030204" pitchFamily="18" charset="0"/>
                            <a:ea typeface="Cambria Math" panose="02040503050406030204" pitchFamily="18" charset="0"/>
                          </a:rPr>
                          <m:t>𝑃</m:t>
                        </m:r>
                      </m:e>
                      <m:sub>
                        <m:r>
                          <a:rPr lang="zh-CN" altLang="zh-CN" i="1">
                            <a:effectLst/>
                            <a:latin typeface="Cambria Math" panose="02040503050406030204" pitchFamily="18" charset="0"/>
                            <a:ea typeface="Cambria Math" panose="02040503050406030204" pitchFamily="18" charset="0"/>
                            <a:cs typeface="Times New Roman" panose="02020603050405020304" pitchFamily="18" charset="0"/>
                          </a:rPr>
                          <m:t>2</m:t>
                        </m:r>
                      </m:sub>
                    </m:sSub>
                    <m:sSub>
                      <m:sSubPr>
                        <m:ctrlPr>
                          <a:rPr lang="zh-CN" altLang="zh-CN" i="1" kern="0">
                            <a:effectLst/>
                            <a:latin typeface="Cambria Math" panose="02040503050406030204" pitchFamily="18" charset="0"/>
                            <a:ea typeface="Cambria Math" panose="02040503050406030204" pitchFamily="18" charset="0"/>
                          </a:rPr>
                        </m:ctrlPr>
                      </m:sSubPr>
                      <m:e>
                        <m:r>
                          <a:rPr lang="en-US" altLang="zh-CN" b="0" i="1" kern="0" smtClean="0">
                            <a:effectLst/>
                            <a:latin typeface="Cambria Math" panose="02040503050406030204" pitchFamily="18" charset="0"/>
                            <a:ea typeface="Cambria Math" panose="02040503050406030204" pitchFamily="18" charset="0"/>
                          </a:rPr>
                          <m:t>𝑃</m:t>
                        </m:r>
                      </m:e>
                      <m:sub>
                        <m:r>
                          <a:rPr lang="zh-CN" altLang="zh-CN" i="1">
                            <a:effectLst/>
                            <a:latin typeface="Cambria Math" panose="02040503050406030204" pitchFamily="18" charset="0"/>
                            <a:ea typeface="Cambria Math" panose="02040503050406030204" pitchFamily="18" charset="0"/>
                            <a:cs typeface="Times New Roman" panose="02020603050405020304" pitchFamily="18" charset="0"/>
                          </a:rPr>
                          <m:t>1</m:t>
                        </m:r>
                      </m:sub>
                    </m:sSub>
                    <m:sSub>
                      <m:sSubPr>
                        <m:ctrlPr>
                          <a:rPr lang="zh-CN" altLang="zh-CN" i="1" kern="0">
                            <a:effectLst/>
                            <a:latin typeface="Cambria Math" panose="02040503050406030204" pitchFamily="18" charset="0"/>
                            <a:ea typeface="Cambria Math" panose="02040503050406030204" pitchFamily="18" charset="0"/>
                          </a:rPr>
                        </m:ctrlPr>
                      </m:sSubPr>
                      <m:e>
                        <m:r>
                          <a:rPr lang="en-US" altLang="zh-CN" b="0" i="1" kern="0" smtClean="0">
                            <a:effectLst/>
                            <a:latin typeface="Cambria Math" panose="02040503050406030204" pitchFamily="18" charset="0"/>
                            <a:ea typeface="Cambria Math" panose="02040503050406030204" pitchFamily="18" charset="0"/>
                          </a:rPr>
                          <m:t>𝑃</m:t>
                        </m:r>
                      </m:e>
                      <m:sub>
                        <m:r>
                          <a:rPr lang="zh-CN" altLang="zh-CN" i="1">
                            <a:effectLst/>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zh-CN" altLang="zh-CN" dirty="0">
                    <a:latin typeface="Times New Roman" panose="02020603050405020304" pitchFamily="18" charset="0"/>
                    <a:cs typeface="Times New Roman" panose="02020603050405020304" pitchFamily="18" charset="0"/>
                  </a:rPr>
                  <a:t>。</a:t>
                </a:r>
                <a:endParaRPr lang="en-US" altLang="zh-CN" dirty="0">
                  <a:solidFill>
                    <a:prstClr val="black"/>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660400" y="1144905"/>
                <a:ext cx="9573895" cy="133794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9" name="表格 8"/>
              <p:cNvGraphicFramePr>
                <a:graphicFrameLocks noGrp="1"/>
              </p:cNvGraphicFramePr>
              <p:nvPr>
                <p:custDataLst>
                  <p:tags r:id="rId2"/>
                </p:custDataLst>
              </p:nvPr>
            </p:nvGraphicFramePr>
            <p:xfrm>
              <a:off x="882015" y="2537460"/>
              <a:ext cx="4434840" cy="3124200"/>
            </p:xfrm>
            <a:graphic>
              <a:graphicData uri="http://schemas.openxmlformats.org/drawingml/2006/table">
                <a:tbl>
                  <a:tblPr firstRow="1" firstCol="1" bandRow="1"/>
                  <a:tblGrid>
                    <a:gridCol w="554355"/>
                    <a:gridCol w="554355"/>
                    <a:gridCol w="554355"/>
                    <a:gridCol w="554355"/>
                    <a:gridCol w="554355"/>
                    <a:gridCol w="554355"/>
                    <a:gridCol w="554355"/>
                    <a:gridCol w="554355"/>
                  </a:tblGrid>
                  <a:tr h="312420">
                    <a:tc gridSpan="4">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地址</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gridSpan="4">
                      <a:txBody>
                        <a:bodyPr/>
                        <a:lstStyle/>
                        <a:p>
                          <a:pPr algn="ctr">
                            <a:spcAft>
                              <a:spcPts val="0"/>
                            </a:spcAft>
                          </a:pPr>
                          <a:r>
                            <a:rPr lang="zh-CN" sz="1400" kern="0">
                              <a:effectLst/>
                              <a:latin typeface="Times New Roman" panose="02020603050405020304" pitchFamily="18" charset="0"/>
                              <a:ea typeface="宋体" panose="02010600030101010101" pitchFamily="2" charset="-122"/>
                            </a:rPr>
                            <a:t>内容</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r>
                  <a:tr h="312420">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𝐴</m:t>
                                    </m:r>
                                  </m:e>
                                  <m:sub>
                                    <m:r>
                                      <a:rPr lang="zh-CN" sz="1400" i="1" kern="0">
                                        <a:effectLst/>
                                        <a:latin typeface="Cambria Math" panose="02040503050406030204" pitchFamily="18" charset="0"/>
                                        <a:ea typeface="Cambria Math" panose="02040503050406030204" pitchFamily="18" charset="0"/>
                                      </a:rPr>
                                      <m:t>3</m:t>
                                    </m:r>
                                  </m:sub>
                                </m:sSub>
                              </m:oMath>
                            </m:oMathPara>
                          </a14:m>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𝐴</m:t>
                                    </m:r>
                                  </m:e>
                                  <m:sub>
                                    <m:r>
                                      <a:rPr lang="zh-CN" sz="1400" i="1" kern="0">
                                        <a:effectLst/>
                                        <a:latin typeface="Cambria Math" panose="02040503050406030204" pitchFamily="18" charset="0"/>
                                        <a:ea typeface="Cambria Math" panose="02040503050406030204" pitchFamily="18" charset="0"/>
                                      </a:rPr>
                                      <m:t>2</m:t>
                                    </m:r>
                                  </m:sub>
                                </m:sSub>
                              </m:oMath>
                            </m:oMathPara>
                          </a14:m>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𝐴</m:t>
                                    </m:r>
                                  </m:e>
                                  <m:sub>
                                    <m:r>
                                      <a:rPr lang="zh-CN" sz="1400" i="1" kern="0">
                                        <a:effectLst/>
                                        <a:latin typeface="Cambria Math" panose="02040503050406030204" pitchFamily="18" charset="0"/>
                                        <a:ea typeface="Cambria Math" panose="02040503050406030204" pitchFamily="18" charset="0"/>
                                      </a:rPr>
                                      <m:t>1</m:t>
                                    </m:r>
                                  </m:sub>
                                </m:sSub>
                              </m:oMath>
                            </m:oMathPara>
                          </a14:m>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𝐴</m:t>
                                    </m:r>
                                  </m:e>
                                  <m:sub>
                                    <m:r>
                                      <a:rPr lang="zh-CN" sz="1400" i="1" kern="0">
                                        <a:effectLst/>
                                        <a:latin typeface="Cambria Math" panose="02040503050406030204" pitchFamily="18" charset="0"/>
                                        <a:ea typeface="Cambria Math" panose="02040503050406030204" pitchFamily="18" charset="0"/>
                                      </a:rPr>
                                      <m:t>0</m:t>
                                    </m:r>
                                  </m:sub>
                                </m:sSub>
                              </m:oMath>
                            </m:oMathPara>
                          </a14:m>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𝑃</m:t>
                                    </m:r>
                                  </m:e>
                                  <m:sub>
                                    <m:r>
                                      <a:rPr lang="zh-CN" sz="1400" i="1" kern="0">
                                        <a:effectLst/>
                                        <a:latin typeface="Cambria Math" panose="02040503050406030204" pitchFamily="18" charset="0"/>
                                        <a:ea typeface="Cambria Math" panose="02040503050406030204" pitchFamily="18" charset="0"/>
                                      </a:rPr>
                                      <m:t>3</m:t>
                                    </m:r>
                                  </m:sub>
                                </m:sSub>
                              </m:oMath>
                            </m:oMathPara>
                          </a14:m>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𝑃</m:t>
                                    </m:r>
                                  </m:e>
                                  <m:sub>
                                    <m:r>
                                      <a:rPr lang="zh-CN" sz="1400" i="1" kern="0">
                                        <a:effectLst/>
                                        <a:latin typeface="Cambria Math" panose="02040503050406030204" pitchFamily="18" charset="0"/>
                                        <a:ea typeface="Cambria Math" panose="02040503050406030204" pitchFamily="18" charset="0"/>
                                      </a:rPr>
                                      <m:t>2</m:t>
                                    </m:r>
                                  </m:sub>
                                </m:sSub>
                              </m:oMath>
                            </m:oMathPara>
                          </a14:m>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𝑃</m:t>
                                    </m:r>
                                  </m:e>
                                  <m:sub>
                                    <m:r>
                                      <a:rPr lang="zh-CN" sz="1400" i="1" kern="0">
                                        <a:effectLst/>
                                        <a:latin typeface="Cambria Math" panose="02040503050406030204" pitchFamily="18" charset="0"/>
                                        <a:ea typeface="Cambria Math" panose="02040503050406030204" pitchFamily="18" charset="0"/>
                                      </a:rPr>
                                      <m:t>1</m:t>
                                    </m:r>
                                  </m:sub>
                                </m:sSub>
                              </m:oMath>
                            </m:oMathPara>
                          </a14:m>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𝑃</m:t>
                                    </m:r>
                                  </m:e>
                                  <m:sub>
                                    <m:r>
                                      <a:rPr lang="zh-CN" sz="1400" i="1" kern="0">
                                        <a:effectLst/>
                                        <a:latin typeface="Cambria Math" panose="02040503050406030204" pitchFamily="18" charset="0"/>
                                        <a:ea typeface="Cambria Math" panose="02040503050406030204" pitchFamily="18" charset="0"/>
                                      </a:rPr>
                                      <m:t>0</m:t>
                                    </m:r>
                                  </m:sub>
                                </m:sSub>
                              </m:oMath>
                            </m:oMathPara>
                          </a14:m>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Choice>
        <mc:Fallback xmlns="">
          <p:graphicFrame>
            <p:nvGraphicFramePr>
              <p:cNvPr id="9" name="表格 8"/>
              <p:cNvGraphicFramePr>
                <a:graphicFrameLocks noGrp="1"/>
              </p:cNvGraphicFramePr>
              <p:nvPr>
                <p:custDataLst>
                  <p:tags r:id="rId3"/>
                </p:custDataLst>
              </p:nvPr>
            </p:nvGraphicFramePr>
            <p:xfrm>
              <a:off x="882015" y="2537460"/>
              <a:ext cx="4434840" cy="3124200"/>
            </p:xfrm>
            <a:graphic>
              <a:graphicData uri="http://schemas.openxmlformats.org/drawingml/2006/table">
                <a:tbl>
                  <a:tblPr firstRow="1" firstCol="1" bandRow="1"/>
                  <a:tblGrid>
                    <a:gridCol w="554355"/>
                    <a:gridCol w="554355"/>
                    <a:gridCol w="554355"/>
                    <a:gridCol w="554355"/>
                    <a:gridCol w="554355"/>
                    <a:gridCol w="554355"/>
                    <a:gridCol w="554355"/>
                    <a:gridCol w="554355"/>
                  </a:tblGrid>
                  <a:tr h="312420">
                    <a:tc gridSpan="4">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地址</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gridSpan="4">
                      <a:txBody>
                        <a:bodyPr/>
                        <a:lstStyle/>
                        <a:p>
                          <a:pPr algn="ctr">
                            <a:spcAft>
                              <a:spcPts val="0"/>
                            </a:spcAft>
                          </a:pPr>
                          <a:r>
                            <a:rPr lang="zh-CN" sz="1400" kern="0">
                              <a:effectLst/>
                              <a:latin typeface="Times New Roman" panose="02020603050405020304" pitchFamily="18" charset="0"/>
                              <a:ea typeface="宋体" panose="02010600030101010101" pitchFamily="2" charset="-122"/>
                            </a:rPr>
                            <a:t>内容</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r>
                  <a:tr h="312420">
                    <a:tc>
                      <a:txBody>
                        <a:bodyPr/>
                        <a:lstStyle/>
                        <a:p>
                          <a:endParaRPr lang="zh-CN"/>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4"/>
                        </a:blipFill>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9"/>
              <p:cNvGraphicFramePr>
                <a:graphicFrameLocks noGrp="1"/>
              </p:cNvGraphicFramePr>
              <p:nvPr/>
            </p:nvGraphicFramePr>
            <p:xfrm>
              <a:off x="5733415" y="2537460"/>
              <a:ext cx="4353560" cy="3124200"/>
            </p:xfrm>
            <a:graphic>
              <a:graphicData uri="http://schemas.openxmlformats.org/drawingml/2006/table">
                <a:tbl>
                  <a:tblPr firstRow="1" firstCol="1" bandRow="1"/>
                  <a:tblGrid>
                    <a:gridCol w="544195"/>
                    <a:gridCol w="544195"/>
                    <a:gridCol w="544195"/>
                    <a:gridCol w="544195"/>
                    <a:gridCol w="544195"/>
                    <a:gridCol w="544195"/>
                    <a:gridCol w="544195"/>
                    <a:gridCol w="544195"/>
                  </a:tblGrid>
                  <a:tr h="312420">
                    <a:tc gridSpan="4">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地址</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gridSpan="4">
                      <a:txBody>
                        <a:bodyPr/>
                        <a:lstStyle/>
                        <a:p>
                          <a:pPr algn="ctr">
                            <a:spcAft>
                              <a:spcPts val="0"/>
                            </a:spcAft>
                          </a:pPr>
                          <a:r>
                            <a:rPr lang="zh-CN" sz="1400" kern="0">
                              <a:effectLst/>
                              <a:latin typeface="Times New Roman" panose="02020603050405020304" pitchFamily="18" charset="0"/>
                              <a:ea typeface="宋体" panose="02010600030101010101" pitchFamily="2" charset="-122"/>
                            </a:rPr>
                            <a:t>内容</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r>
                  <a:tr h="312420">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𝐴</m:t>
                                    </m:r>
                                  </m:e>
                                  <m:sub>
                                    <m:r>
                                      <a:rPr lang="zh-CN" sz="1400" i="1" kern="0">
                                        <a:effectLst/>
                                        <a:latin typeface="Cambria Math" panose="02040503050406030204" pitchFamily="18" charset="0"/>
                                        <a:ea typeface="Cambria Math" panose="02040503050406030204" pitchFamily="18" charset="0"/>
                                      </a:rPr>
                                      <m:t>3</m:t>
                                    </m:r>
                                  </m:sub>
                                </m:sSub>
                              </m:oMath>
                            </m:oMathPara>
                          </a14:m>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𝐴</m:t>
                                    </m:r>
                                  </m:e>
                                  <m:sub>
                                    <m:r>
                                      <a:rPr lang="zh-CN" sz="1400" i="1" kern="0">
                                        <a:effectLst/>
                                        <a:latin typeface="Cambria Math" panose="02040503050406030204" pitchFamily="18" charset="0"/>
                                        <a:ea typeface="Cambria Math" panose="02040503050406030204" pitchFamily="18" charset="0"/>
                                      </a:rPr>
                                      <m:t>2</m:t>
                                    </m:r>
                                  </m:sub>
                                </m:sSub>
                              </m:oMath>
                            </m:oMathPara>
                          </a14:m>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𝐴</m:t>
                                    </m:r>
                                  </m:e>
                                  <m:sub>
                                    <m:r>
                                      <a:rPr lang="zh-CN" sz="1400" i="1" kern="0">
                                        <a:effectLst/>
                                        <a:latin typeface="Cambria Math" panose="02040503050406030204" pitchFamily="18" charset="0"/>
                                        <a:ea typeface="Cambria Math" panose="02040503050406030204" pitchFamily="18" charset="0"/>
                                      </a:rPr>
                                      <m:t>1</m:t>
                                    </m:r>
                                  </m:sub>
                                </m:sSub>
                              </m:oMath>
                            </m:oMathPara>
                          </a14:m>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𝐴</m:t>
                                    </m:r>
                                  </m:e>
                                  <m:sub>
                                    <m:r>
                                      <a:rPr lang="zh-CN" sz="1400" i="1" kern="0">
                                        <a:effectLst/>
                                        <a:latin typeface="Cambria Math" panose="02040503050406030204" pitchFamily="18" charset="0"/>
                                        <a:ea typeface="Cambria Math" panose="02040503050406030204" pitchFamily="18" charset="0"/>
                                      </a:rPr>
                                      <m:t>0</m:t>
                                    </m:r>
                                  </m:sub>
                                </m:sSub>
                              </m:oMath>
                            </m:oMathPara>
                          </a14:m>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𝑃</m:t>
                                    </m:r>
                                  </m:e>
                                  <m:sub>
                                    <m:r>
                                      <a:rPr lang="zh-CN" sz="1400" i="1" kern="0">
                                        <a:effectLst/>
                                        <a:latin typeface="Cambria Math" panose="02040503050406030204" pitchFamily="18" charset="0"/>
                                        <a:ea typeface="Cambria Math" panose="02040503050406030204" pitchFamily="18" charset="0"/>
                                      </a:rPr>
                                      <m:t>3</m:t>
                                    </m:r>
                                  </m:sub>
                                </m:sSub>
                              </m:oMath>
                            </m:oMathPara>
                          </a14:m>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𝑃</m:t>
                                    </m:r>
                                  </m:e>
                                  <m:sub>
                                    <m:r>
                                      <a:rPr lang="zh-CN" sz="1400" i="1" kern="0">
                                        <a:effectLst/>
                                        <a:latin typeface="Cambria Math" panose="02040503050406030204" pitchFamily="18" charset="0"/>
                                        <a:ea typeface="Cambria Math" panose="02040503050406030204" pitchFamily="18" charset="0"/>
                                      </a:rPr>
                                      <m:t>2</m:t>
                                    </m:r>
                                  </m:sub>
                                </m:sSub>
                              </m:oMath>
                            </m:oMathPara>
                          </a14:m>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𝑃</m:t>
                                    </m:r>
                                  </m:e>
                                  <m:sub>
                                    <m:r>
                                      <a:rPr lang="zh-CN" sz="1400" i="1" kern="0">
                                        <a:effectLst/>
                                        <a:latin typeface="Cambria Math" panose="02040503050406030204" pitchFamily="18" charset="0"/>
                                        <a:ea typeface="Cambria Math" panose="02040503050406030204" pitchFamily="18" charset="0"/>
                                      </a:rPr>
                                      <m:t>1</m:t>
                                    </m:r>
                                  </m:sub>
                                </m:sSub>
                              </m:oMath>
                            </m:oMathPara>
                          </a14:m>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400" i="1" kern="0">
                                        <a:effectLst/>
                                        <a:latin typeface="Cambria Math" panose="02040503050406030204" pitchFamily="18" charset="0"/>
                                        <a:ea typeface="Cambria Math" panose="02040503050406030204" pitchFamily="18" charset="0"/>
                                      </a:rPr>
                                    </m:ctrlPr>
                                  </m:sSubPr>
                                  <m:e>
                                    <m:r>
                                      <a:rPr lang="zh-CN" altLang="en-US" sz="1400" i="1" kern="0">
                                        <a:effectLst/>
                                        <a:latin typeface="Cambria Math" panose="02040503050406030204" pitchFamily="18" charset="0"/>
                                        <a:ea typeface="Cambria Math" panose="02040503050406030204" pitchFamily="18" charset="0"/>
                                      </a:rPr>
                                      <m:t>𝑃</m:t>
                                    </m:r>
                                  </m:e>
                                  <m:sub>
                                    <m:r>
                                      <a:rPr lang="zh-CN" sz="1400" i="1" kern="0">
                                        <a:effectLst/>
                                        <a:latin typeface="Cambria Math" panose="02040503050406030204" pitchFamily="18" charset="0"/>
                                        <a:ea typeface="Cambria Math" panose="02040503050406030204" pitchFamily="18" charset="0"/>
                                      </a:rPr>
                                      <m:t>0</m:t>
                                    </m:r>
                                  </m:sub>
                                </m:sSub>
                              </m:oMath>
                            </m:oMathPara>
                          </a14:m>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Choice>
        <mc:Fallback xmlns="">
          <p:graphicFrame>
            <p:nvGraphicFramePr>
              <p:cNvPr id="10" name="表格 9"/>
              <p:cNvGraphicFramePr>
                <a:graphicFrameLocks noGrp="1"/>
              </p:cNvGraphicFramePr>
              <p:nvPr/>
            </p:nvGraphicFramePr>
            <p:xfrm>
              <a:off x="5733415" y="2537460"/>
              <a:ext cx="4353560" cy="3124200"/>
            </p:xfrm>
            <a:graphic>
              <a:graphicData uri="http://schemas.openxmlformats.org/drawingml/2006/table">
                <a:tbl>
                  <a:tblPr firstRow="1" firstCol="1" bandRow="1"/>
                  <a:tblGrid>
                    <a:gridCol w="544195"/>
                    <a:gridCol w="544195"/>
                    <a:gridCol w="544195"/>
                    <a:gridCol w="544195"/>
                    <a:gridCol w="544195"/>
                    <a:gridCol w="544195"/>
                    <a:gridCol w="544195"/>
                    <a:gridCol w="544195"/>
                  </a:tblGrid>
                  <a:tr h="312420">
                    <a:tc gridSpan="4">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地址</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gridSpan="4">
                      <a:txBody>
                        <a:bodyPr/>
                        <a:lstStyle/>
                        <a:p>
                          <a:pPr algn="ctr">
                            <a:spcAft>
                              <a:spcPts val="0"/>
                            </a:spcAft>
                          </a:pPr>
                          <a:r>
                            <a:rPr lang="zh-CN" sz="1400" kern="0">
                              <a:effectLst/>
                              <a:latin typeface="Times New Roman" panose="02020603050405020304" pitchFamily="18" charset="0"/>
                              <a:ea typeface="宋体" panose="02010600030101010101" pitchFamily="2" charset="-122"/>
                            </a:rPr>
                            <a:t>内容</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r>
                  <a:tr h="312420">
                    <a:tc>
                      <a:txBody>
                        <a:bodyPr/>
                        <a:lstStyle/>
                        <a:p>
                          <a:endParaRPr lang="zh-CN"/>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5"/>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5"/>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5"/>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5"/>
                        </a:blipFill>
                      </a:tcPr>
                    </a:tc>
                    <a:tc>
                      <a:txBody>
                        <a:bodyPr/>
                        <a:lstStyle/>
                        <a:p>
                          <a:endParaRPr lang="zh-CN"/>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5"/>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5"/>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5"/>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blipFill>
                          <a:blip r:embed="rId5"/>
                        </a:blipFill>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420">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a:effectLst/>
                              <a:latin typeface="Times New Roman" panose="02020603050405020304" pitchFamily="18" charset="0"/>
                              <a:ea typeface="宋体" panose="02010600030101010101" pitchFamily="2" charset="-122"/>
                            </a:rPr>
                            <a:t>0</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0" dirty="0">
                              <a:effectLst/>
                              <a:latin typeface="Times New Roman" panose="02020603050405020304" pitchFamily="18" charset="0"/>
                              <a:ea typeface="宋体" panose="02010600030101010101" pitchFamily="2" charset="-122"/>
                            </a:rPr>
                            <a:t>1</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小测</a:t>
            </a:r>
            <a:r>
              <a:rPr lang="en-US" altLang="zh-CN" dirty="0">
                <a:sym typeface="+mn-ea"/>
              </a:rPr>
              <a:t>3</a:t>
            </a:r>
            <a:endParaRPr lang="en-US" altLang="zh-CN"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38" name="文本框 37"/>
          <p:cNvSpPr txBox="1"/>
          <p:nvPr/>
        </p:nvSpPr>
        <p:spPr>
          <a:xfrm>
            <a:off x="188595" y="1092200"/>
            <a:ext cx="11139170" cy="645160"/>
          </a:xfrm>
          <a:prstGeom prst="rect">
            <a:avLst/>
          </a:prstGeom>
          <a:noFill/>
        </p:spPr>
        <p:txBody>
          <a:bodyPr wrap="square">
            <a:spAutoFit/>
          </a:bodyPr>
          <a:lstStyle/>
          <a:p>
            <a:pPr indent="0">
              <a:buFont typeface="Arial" panose="020B0604020202020204" pitchFamily="34" charset="0"/>
              <a:buNone/>
            </a:pPr>
            <a:r>
              <a:rPr lang="zh-CN" altLang="en-US" dirty="0">
                <a:latin typeface="+mn-ea"/>
              </a:rPr>
              <a:t>1. 某控制器的状态转移图如下所示，其中</a:t>
            </a:r>
            <a:r>
              <a:rPr lang="en-US" altLang="zh-CN" dirty="0">
                <a:latin typeface="+mn-ea"/>
              </a:rPr>
              <a:t>X</a:t>
            </a:r>
            <a:r>
              <a:rPr lang="zh-CN" altLang="en-US" dirty="0">
                <a:latin typeface="+mn-ea"/>
              </a:rPr>
              <a:t>为输入信号，</a:t>
            </a:r>
            <a:r>
              <a:rPr lang="en-US" altLang="zh-CN" dirty="0">
                <a:latin typeface="+mn-ea"/>
              </a:rPr>
              <a:t>Y0、Y1</a:t>
            </a:r>
            <a:r>
              <a:rPr lang="zh-CN" altLang="en-US" dirty="0">
                <a:latin typeface="+mn-ea"/>
              </a:rPr>
              <a:t>为输出信号。要求。</a:t>
            </a:r>
            <a:endParaRPr lang="zh-CN" altLang="en-US" dirty="0">
              <a:latin typeface="+mn-ea"/>
            </a:endParaRPr>
          </a:p>
          <a:p>
            <a:pPr indent="0">
              <a:buFont typeface="Arial" panose="020B0604020202020204" pitchFamily="34" charset="0"/>
              <a:buNone/>
            </a:pPr>
            <a:r>
              <a:rPr lang="zh-CN" altLang="en-US" dirty="0">
                <a:latin typeface="+mn-ea"/>
              </a:rPr>
              <a:t>1)画出</a:t>
            </a:r>
            <a:r>
              <a:rPr lang="en-US" altLang="zh-CN" dirty="0">
                <a:latin typeface="+mn-ea"/>
              </a:rPr>
              <a:t>ASM</a:t>
            </a:r>
            <a:r>
              <a:rPr lang="zh-CN" altLang="en-US" dirty="0">
                <a:latin typeface="+mn-ea"/>
              </a:rPr>
              <a:t>流程图，写出状态转移表；</a:t>
            </a:r>
            <a:endParaRPr lang="zh-CN" altLang="en-US" dirty="0">
              <a:latin typeface="+mn-ea"/>
            </a:endParaRPr>
          </a:p>
        </p:txBody>
      </p:sp>
      <p:pic>
        <p:nvPicPr>
          <p:cNvPr id="39" name="图片 38"/>
          <p:cNvPicPr>
            <a:picLocks noChangeAspect="1"/>
          </p:cNvPicPr>
          <p:nvPr/>
        </p:nvPicPr>
        <p:blipFill>
          <a:blip r:embed="rId1"/>
          <a:stretch>
            <a:fillRect/>
          </a:stretch>
        </p:blipFill>
        <p:spPr>
          <a:xfrm>
            <a:off x="483870" y="2226310"/>
            <a:ext cx="5036185" cy="3558540"/>
          </a:xfrm>
          <a:prstGeom prst="rect">
            <a:avLst/>
          </a:prstGeom>
        </p:spPr>
      </p:pic>
      <p:pic>
        <p:nvPicPr>
          <p:cNvPr id="42" name="图片 41" descr="Gemini_Generated_Image_3fhqa43fhqa43fhq"/>
          <p:cNvPicPr>
            <a:picLocks noChangeAspect="1"/>
          </p:cNvPicPr>
          <p:nvPr/>
        </p:nvPicPr>
        <p:blipFill>
          <a:blip r:embed="rId2"/>
          <a:stretch>
            <a:fillRect/>
          </a:stretch>
        </p:blipFill>
        <p:spPr>
          <a:xfrm>
            <a:off x="6462395" y="1737360"/>
            <a:ext cx="3439160" cy="4587875"/>
          </a:xfrm>
          <a:prstGeom prst="rect">
            <a:avLst/>
          </a:prstGeom>
        </p:spPr>
      </p:pic>
      <p:sp>
        <p:nvSpPr>
          <p:cNvPr id="4" name="圆角矩形 3"/>
          <p:cNvSpPr/>
          <p:nvPr/>
        </p:nvSpPr>
        <p:spPr>
          <a:xfrm>
            <a:off x="9091930" y="5308600"/>
            <a:ext cx="479425" cy="405130"/>
          </a:xfrm>
          <a:prstGeom prst="roundRect">
            <a:avLst/>
          </a:prstGeom>
          <a:noFill/>
          <a:ln>
            <a:solidFill>
              <a:srgbClr val="FF0000"/>
            </a:solid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圆角矩形 4"/>
          <p:cNvSpPr/>
          <p:nvPr/>
        </p:nvSpPr>
        <p:spPr>
          <a:xfrm>
            <a:off x="9669780" y="5784850"/>
            <a:ext cx="711200" cy="239395"/>
          </a:xfrm>
          <a:prstGeom prst="roundRect">
            <a:avLst/>
          </a:prstGeom>
          <a:noFill/>
          <a:ln>
            <a:solidFill>
              <a:srgbClr val="FF0000"/>
            </a:solid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900">
                <a:solidFill>
                  <a:srgbClr val="FF0000"/>
                </a:solidFill>
              </a:rPr>
              <a:t>Y1Y0=00</a:t>
            </a:r>
            <a:endParaRPr lang="en-US" altLang="zh-CN" sz="90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小测</a:t>
            </a:r>
            <a:r>
              <a:rPr lang="en-US" altLang="zh-CN" dirty="0">
                <a:sym typeface="+mn-ea"/>
              </a:rPr>
              <a:t>3</a:t>
            </a:r>
            <a:endParaRPr lang="en-US" altLang="zh-CN"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38" name="文本框 37"/>
          <p:cNvSpPr txBox="1"/>
          <p:nvPr/>
        </p:nvSpPr>
        <p:spPr>
          <a:xfrm>
            <a:off x="188595" y="4387850"/>
            <a:ext cx="11139170" cy="368300"/>
          </a:xfrm>
          <a:prstGeom prst="rect">
            <a:avLst/>
          </a:prstGeom>
          <a:noFill/>
        </p:spPr>
        <p:txBody>
          <a:bodyPr wrap="square">
            <a:spAutoFit/>
          </a:bodyPr>
          <a:lstStyle/>
          <a:p>
            <a:pPr indent="0">
              <a:buFont typeface="Arial" panose="020B0604020202020204" pitchFamily="34" charset="0"/>
              <a:buNone/>
            </a:pPr>
            <a:r>
              <a:rPr lang="zh-CN" altLang="en-US" dirty="0">
                <a:latin typeface="+mn-ea"/>
                <a:sym typeface="+mn-ea"/>
              </a:rPr>
              <a:t>3)如果采用微程序控制器，请设计微指令格式，并对每部分名称和含义加以说明。</a:t>
            </a:r>
            <a:endParaRPr lang="zh-CN" altLang="en-US" dirty="0">
              <a:latin typeface="+mn-ea"/>
            </a:endParaRPr>
          </a:p>
        </p:txBody>
      </p:sp>
      <p:graphicFrame>
        <p:nvGraphicFramePr>
          <p:cNvPr id="40" name="表格 39"/>
          <p:cNvGraphicFramePr/>
          <p:nvPr/>
        </p:nvGraphicFramePr>
        <p:xfrm>
          <a:off x="767080" y="1498600"/>
          <a:ext cx="5411470" cy="2784475"/>
        </p:xfrm>
        <a:graphic>
          <a:graphicData uri="http://schemas.openxmlformats.org/drawingml/2006/table">
            <a:tbl>
              <a:tblPr/>
              <a:tblGrid>
                <a:gridCol w="676275"/>
                <a:gridCol w="676275"/>
                <a:gridCol w="676275"/>
                <a:gridCol w="676275"/>
                <a:gridCol w="676275"/>
                <a:gridCol w="676275"/>
                <a:gridCol w="676910"/>
                <a:gridCol w="676910"/>
              </a:tblGrid>
              <a:tr h="269875">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Q2</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X</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Y1Y0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Q2*</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vMerge="1">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3" name="文本框 2"/>
          <p:cNvSpPr txBox="1"/>
          <p:nvPr/>
        </p:nvSpPr>
        <p:spPr>
          <a:xfrm>
            <a:off x="315595" y="1025525"/>
            <a:ext cx="11139170" cy="368300"/>
          </a:xfrm>
          <a:prstGeom prst="rect">
            <a:avLst/>
          </a:prstGeom>
          <a:noFill/>
        </p:spPr>
        <p:txBody>
          <a:bodyPr wrap="square">
            <a:spAutoFit/>
          </a:bodyPr>
          <a:lstStyle/>
          <a:p>
            <a:pPr indent="0">
              <a:buFont typeface="Arial" panose="020B0604020202020204" pitchFamily="34" charset="0"/>
              <a:buNone/>
            </a:pPr>
            <a:r>
              <a:rPr lang="en-US" altLang="zh-CN" dirty="0">
                <a:latin typeface="+mn-ea"/>
                <a:sym typeface="+mn-ea"/>
              </a:rPr>
              <a:t>1</a:t>
            </a:r>
            <a:r>
              <a:rPr lang="zh-CN" altLang="en-US" dirty="0">
                <a:latin typeface="+mn-ea"/>
                <a:sym typeface="+mn-ea"/>
              </a:rPr>
              <a:t>)状态转移</a:t>
            </a:r>
            <a:r>
              <a:rPr lang="zh-CN" altLang="en-US" dirty="0">
                <a:latin typeface="+mn-ea"/>
                <a:sym typeface="+mn-ea"/>
              </a:rPr>
              <a:t>表</a:t>
            </a:r>
            <a:endParaRPr lang="zh-CN" altLang="en-US" dirty="0">
              <a:latin typeface="+mn-ea"/>
              <a:sym typeface="+mn-ea"/>
            </a:endParaRPr>
          </a:p>
        </p:txBody>
      </p:sp>
      <p:graphicFrame>
        <p:nvGraphicFramePr>
          <p:cNvPr id="4" name="表格 3"/>
          <p:cNvGraphicFramePr/>
          <p:nvPr>
            <p:custDataLst>
              <p:tags r:id="rId1"/>
            </p:custDataLst>
          </p:nvPr>
        </p:nvGraphicFramePr>
        <p:xfrm>
          <a:off x="765810" y="4860925"/>
          <a:ext cx="6848475" cy="731520"/>
        </p:xfrm>
        <a:graphic>
          <a:graphicData uri="http://schemas.openxmlformats.org/drawingml/2006/table">
            <a:tbl>
              <a:tblPr firstRow="1" bandRow="1">
                <a:tableStyleId>{5940675A-B579-460E-94D1-54222C63F5DA}</a:tableStyleId>
              </a:tblPr>
              <a:tblGrid>
                <a:gridCol w="2282825"/>
                <a:gridCol w="2282825"/>
                <a:gridCol w="2282825"/>
              </a:tblGrid>
              <a:tr h="365760">
                <a:tc>
                  <a:txBody>
                    <a:bodyPr/>
                    <a:p>
                      <a:pPr algn="ctr">
                        <a:buNone/>
                      </a:pPr>
                      <a:r>
                        <a:rPr lang="en-US" altLang="zh-CN"/>
                        <a:t>Y1</a:t>
                      </a:r>
                      <a:r>
                        <a:rPr lang="en-US" altLang="zh-CN"/>
                        <a:t>Y0</a:t>
                      </a:r>
                      <a:endParaRPr lang="en-US" altLang="zh-CN"/>
                    </a:p>
                  </a:txBody>
                  <a:tcPr anchor="ctr" anchorCtr="0"/>
                </a:tc>
                <a:tc>
                  <a:txBody>
                    <a:bodyPr/>
                    <a:p>
                      <a:pPr algn="ctr">
                        <a:buNone/>
                      </a:pPr>
                      <a:r>
                        <a:rPr lang="en-US" altLang="zh-CN"/>
                        <a:t>P(1)</a:t>
                      </a:r>
                      <a:endParaRPr lang="zh-CN" altLang="en-US"/>
                    </a:p>
                  </a:txBody>
                  <a:tcPr anchor="ctr" anchorCtr="0"/>
                </a:tc>
                <a:tc>
                  <a:txBody>
                    <a:bodyPr/>
                    <a:p>
                      <a:pPr algn="ctr">
                        <a:buNone/>
                      </a:pPr>
                      <a:r>
                        <a:rPr lang="en-US" altLang="zh-CN"/>
                        <a:t>uA2 uA1 uA0</a:t>
                      </a:r>
                      <a:endParaRPr lang="en-US" altLang="zh-CN"/>
                    </a:p>
                  </a:txBody>
                  <a:tcPr anchor="ctr" anchorCtr="0"/>
                </a:tc>
              </a:tr>
              <a:tr h="365760">
                <a:tc>
                  <a:txBody>
                    <a:bodyPr/>
                    <a:p>
                      <a:pPr algn="ctr">
                        <a:buNone/>
                      </a:pPr>
                      <a:r>
                        <a:rPr lang="zh-CN" altLang="en-US"/>
                        <a:t>微命令</a:t>
                      </a:r>
                      <a:endParaRPr lang="zh-CN" altLang="en-US"/>
                    </a:p>
                  </a:txBody>
                  <a:tcPr anchor="ctr" anchorCtr="0"/>
                </a:tc>
                <a:tc>
                  <a:txBody>
                    <a:bodyPr/>
                    <a:p>
                      <a:pPr algn="ctr">
                        <a:buNone/>
                      </a:pPr>
                      <a:r>
                        <a:rPr lang="zh-CN" altLang="en-US"/>
                        <a:t>判别</a:t>
                      </a:r>
                      <a:r>
                        <a:rPr lang="zh-CN" altLang="en-US"/>
                        <a:t>字段</a:t>
                      </a:r>
                      <a:endParaRPr lang="zh-CN" altLang="en-US"/>
                    </a:p>
                  </a:txBody>
                  <a:tcPr anchor="ctr" anchorCtr="0"/>
                </a:tc>
                <a:tc>
                  <a:txBody>
                    <a:bodyPr/>
                    <a:p>
                      <a:pPr algn="ctr">
                        <a:buNone/>
                      </a:pPr>
                      <a:r>
                        <a:rPr lang="zh-CN" altLang="en-US"/>
                        <a:t>下</a:t>
                      </a:r>
                      <a:r>
                        <a:rPr lang="zh-CN" altLang="en-US"/>
                        <a:t>地址</a:t>
                      </a:r>
                      <a:endParaRPr lang="zh-CN" altLang="en-US"/>
                    </a:p>
                  </a:txBody>
                  <a:tcPr anchor="ctr" anchorCtr="0"/>
                </a:tc>
              </a:tr>
            </a:tbl>
          </a:graphicData>
        </a:graphic>
      </p:graphicFrame>
      <p:sp>
        <p:nvSpPr>
          <p:cNvPr id="5" name="文本框 4"/>
          <p:cNvSpPr txBox="1"/>
          <p:nvPr/>
        </p:nvSpPr>
        <p:spPr>
          <a:xfrm>
            <a:off x="315595" y="5697220"/>
            <a:ext cx="7519670" cy="368300"/>
          </a:xfrm>
          <a:prstGeom prst="rect">
            <a:avLst/>
          </a:prstGeom>
          <a:noFill/>
        </p:spPr>
        <p:txBody>
          <a:bodyPr wrap="square">
            <a:spAutoFit/>
          </a:bodyPr>
          <a:lstStyle/>
          <a:p>
            <a:pPr indent="0">
              <a:buFont typeface="Arial" panose="020B0604020202020204" pitchFamily="34" charset="0"/>
              <a:buNone/>
            </a:pPr>
            <a:r>
              <a:rPr lang="zh-CN" altLang="en-US" dirty="0">
                <a:latin typeface="+mn-ea"/>
                <a:sym typeface="+mn-ea"/>
              </a:rPr>
              <a:t>微命令字段是用于操作控制；判别字段和下地址一起实现顺序</a:t>
            </a:r>
            <a:r>
              <a:rPr lang="zh-CN" altLang="en-US" dirty="0">
                <a:latin typeface="+mn-ea"/>
                <a:sym typeface="+mn-ea"/>
              </a:rPr>
              <a:t>控制。</a:t>
            </a:r>
            <a:endParaRPr lang="zh-CN" altLang="en-US" dirty="0">
              <a:latin typeface="+mn-ea"/>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sym typeface="+mn-ea"/>
              </a:rPr>
              <a:t>小测</a:t>
            </a:r>
            <a:r>
              <a:rPr lang="en-US" altLang="zh-CN" dirty="0">
                <a:sym typeface="+mn-ea"/>
              </a:rPr>
              <a:t>3</a:t>
            </a:r>
            <a:endParaRPr lang="en-US" altLang="zh-CN" dirty="0">
              <a:sym typeface="+mn-ea"/>
            </a:endParaRPr>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38" name="文本框 37"/>
          <p:cNvSpPr txBox="1"/>
          <p:nvPr/>
        </p:nvSpPr>
        <p:spPr>
          <a:xfrm>
            <a:off x="188595" y="1092200"/>
            <a:ext cx="11139170" cy="368300"/>
          </a:xfrm>
          <a:prstGeom prst="rect">
            <a:avLst/>
          </a:prstGeom>
          <a:noFill/>
        </p:spPr>
        <p:txBody>
          <a:bodyPr wrap="square">
            <a:spAutoFit/>
          </a:bodyPr>
          <a:lstStyle/>
          <a:p>
            <a:pPr indent="0">
              <a:buFont typeface="Arial" panose="020B0604020202020204" pitchFamily="34" charset="0"/>
              <a:buNone/>
            </a:pPr>
            <a:r>
              <a:rPr lang="zh-CN" altLang="en-US" dirty="0">
                <a:latin typeface="+mn-ea"/>
              </a:rPr>
              <a:t>2)设计一个</a:t>
            </a:r>
            <a:r>
              <a:rPr lang="en-US" altLang="zh-CN" dirty="0">
                <a:latin typeface="+mn-ea"/>
              </a:rPr>
              <a:t>MUX</a:t>
            </a:r>
            <a:r>
              <a:rPr lang="zh-CN" altLang="en-US" dirty="0">
                <a:latin typeface="+mn-ea"/>
              </a:rPr>
              <a:t>型控制器，画出电路图；</a:t>
            </a:r>
            <a:endParaRPr lang="zh-CN" altLang="en-US" dirty="0">
              <a:latin typeface="+mn-ea"/>
            </a:endParaRPr>
          </a:p>
        </p:txBody>
      </p:sp>
      <p:graphicFrame>
        <p:nvGraphicFramePr>
          <p:cNvPr id="3" name="表格 2"/>
          <p:cNvGraphicFramePr/>
          <p:nvPr>
            <p:custDataLst>
              <p:tags r:id="rId1"/>
            </p:custDataLst>
          </p:nvPr>
        </p:nvGraphicFramePr>
        <p:xfrm>
          <a:off x="188595" y="1609725"/>
          <a:ext cx="6405880" cy="3268980"/>
        </p:xfrm>
        <a:graphic>
          <a:graphicData uri="http://schemas.openxmlformats.org/drawingml/2006/table">
            <a:tbl>
              <a:tblPr/>
              <a:tblGrid>
                <a:gridCol w="752475"/>
                <a:gridCol w="753745"/>
                <a:gridCol w="751840"/>
                <a:gridCol w="365125"/>
                <a:gridCol w="370205"/>
                <a:gridCol w="370840"/>
                <a:gridCol w="856615"/>
                <a:gridCol w="713740"/>
                <a:gridCol w="720725"/>
                <a:gridCol w="750570"/>
              </a:tblGrid>
              <a:tr h="251460">
                <a:tc gridSpan="2">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现态</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gridSpan="4">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次态</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rowSpan="2">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转换条件</a:t>
                      </a:r>
                      <a:endParaRPr lang="zh-CN" sz="1100">
                        <a:latin typeface="Times New Roman" panose="02020603050405020304"/>
                        <a:ea typeface="宋体" panose="02010600030101010101" pitchFamily="2" charset="-122"/>
                      </a:endParaRPr>
                    </a:p>
                    <a:p>
                      <a:pPr marL="0" indent="0" algn="ctr">
                        <a:lnSpc>
                          <a:spcPct val="150000"/>
                        </a:lnSpc>
                        <a:spcBef>
                          <a:spcPct val="0"/>
                        </a:spcBef>
                        <a:spcAft>
                          <a:spcPct val="0"/>
                        </a:spcAft>
                      </a:pPr>
                      <a:r>
                        <a:rPr lang="en-US" altLang="zh-CN" sz="1100">
                          <a:latin typeface="Times New Roman" panose="02020603050405020304"/>
                          <a:ea typeface="宋体" panose="02010600030101010101" pitchFamily="2" charset="-122"/>
                        </a:rPr>
                        <a:t>X</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MUXA</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MUXB</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MUXC</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状态</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编码</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状态</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Q2*</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Q0*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25146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000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宋体" panose="02010600030101010101" pitchFamily="2" charset="-122"/>
                        </a:rPr>
                        <a:t> 0</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0</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0</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 X </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宋体" panose="02010600030101010101" pitchFamily="2" charset="-122"/>
                        </a:rPr>
                        <a:t> 1</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25146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001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宋体" panose="02010600030101010101" pitchFamily="2" charset="-122"/>
                        </a:rPr>
                        <a:t> 0</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0</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X</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0</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S2</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宋体" panose="02010600030101010101" pitchFamily="2" charset="-122"/>
                        </a:rPr>
                        <a:t> 1</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25146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S2</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010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S3</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宋体" panose="02010600030101010101" pitchFamily="2" charset="-122"/>
                        </a:rPr>
                        <a:t> 0</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0</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 1</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   X’</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S2</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宋体" panose="02010600030101010101" pitchFamily="2" charset="-122"/>
                        </a:rPr>
                        <a:t> 1</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25146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S3</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011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宋体" panose="02010600030101010101" pitchFamily="2" charset="-122"/>
                        </a:rPr>
                        <a:t> 0</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X </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0</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0</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S4</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宋体" panose="02010600030101010101" pitchFamily="2" charset="-122"/>
                        </a:rPr>
                        <a:t> 1</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r h="251460">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S4</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100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宋体" panose="02010600030101010101" pitchFamily="2" charset="-122"/>
                        </a:rPr>
                        <a:t> 0</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0 </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X</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lnSpc>
                          <a:spcPct val="150000"/>
                        </a:lnSpc>
                        <a:spcBef>
                          <a:spcPct val="0"/>
                        </a:spcBef>
                        <a:spcAft>
                          <a:spcPct val="0"/>
                        </a:spcAft>
                      </a:pPr>
                      <a:r>
                        <a:rPr lang="en-US" altLang="zh-CN" sz="1100">
                          <a:latin typeface="微软雅黑" panose="020B0503020204020204" charset="-122"/>
                          <a:ea typeface="微软雅黑" panose="020B0503020204020204" charset="-122"/>
                        </a:rPr>
                        <a:t>  X’</a:t>
                      </a:r>
                      <a:endParaRPr lang="en-US" altLang="zh-CN" sz="1100">
                        <a:latin typeface="微软雅黑" panose="020B0503020204020204" charset="-122"/>
                        <a:ea typeface="微软雅黑" panose="020B0503020204020204"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S2</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宋体" panose="02010600030101010101" pitchFamily="2" charset="-122"/>
                        </a:rPr>
                        <a:t> 1</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r>
            </a:tbl>
          </a:graphicData>
        </a:graphic>
      </p:graphicFrame>
      <p:pic>
        <p:nvPicPr>
          <p:cNvPr id="28" name="图片 27" descr="Gemini_Generated_Image_mbla05mbla05mbla"/>
          <p:cNvPicPr>
            <a:picLocks noChangeAspect="1"/>
          </p:cNvPicPr>
          <p:nvPr/>
        </p:nvPicPr>
        <p:blipFill>
          <a:blip r:embed="rId2"/>
          <a:stretch>
            <a:fillRect/>
          </a:stretch>
        </p:blipFill>
        <p:spPr>
          <a:xfrm>
            <a:off x="6790690" y="1215390"/>
            <a:ext cx="5292725" cy="500507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小测</a:t>
            </a:r>
            <a:r>
              <a:rPr lang="en-US" altLang="zh-CN" dirty="0"/>
              <a:t>3</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38" name="文本框 37"/>
          <p:cNvSpPr txBox="1"/>
          <p:nvPr/>
        </p:nvSpPr>
        <p:spPr>
          <a:xfrm>
            <a:off x="188595" y="1092200"/>
            <a:ext cx="11139170" cy="2584450"/>
          </a:xfrm>
          <a:prstGeom prst="rect">
            <a:avLst/>
          </a:prstGeom>
          <a:noFill/>
        </p:spPr>
        <p:txBody>
          <a:bodyPr wrap="square">
            <a:spAutoFit/>
          </a:bodyPr>
          <a:lstStyle/>
          <a:p>
            <a:pPr indent="0">
              <a:buFont typeface="Arial" panose="020B0604020202020204" pitchFamily="34" charset="0"/>
              <a:buNone/>
            </a:pPr>
            <a:r>
              <a:rPr lang="zh-CN" altLang="en-US" dirty="0">
                <a:latin typeface="+mn-ea"/>
              </a:rPr>
              <a:t>2. 有一自动加工设备，在控制器的控制下，其工作过程如下：</a:t>
            </a:r>
            <a:endParaRPr lang="zh-CN" altLang="en-US" dirty="0">
              <a:latin typeface="+mn-ea"/>
            </a:endParaRPr>
          </a:p>
          <a:p>
            <a:pPr indent="0">
              <a:buFont typeface="Arial" panose="020B0604020202020204" pitchFamily="34" charset="0"/>
              <a:buNone/>
            </a:pPr>
            <a:r>
              <a:rPr lang="zh-CN" altLang="en-US" dirty="0">
                <a:latin typeface="+mn-ea"/>
              </a:rPr>
              <a:t>（1）开机启动加工设备；</a:t>
            </a:r>
            <a:endParaRPr lang="zh-CN" altLang="en-US" dirty="0">
              <a:latin typeface="+mn-ea"/>
            </a:endParaRPr>
          </a:p>
          <a:p>
            <a:pPr indent="0">
              <a:buFont typeface="Arial" panose="020B0604020202020204" pitchFamily="34" charset="0"/>
              <a:buNone/>
            </a:pPr>
            <a:r>
              <a:rPr lang="zh-CN" altLang="en-US" dirty="0">
                <a:latin typeface="+mn-ea"/>
              </a:rPr>
              <a:t>（2）启动送料机构送料；</a:t>
            </a:r>
            <a:endParaRPr lang="zh-CN" altLang="en-US" dirty="0">
              <a:latin typeface="+mn-ea"/>
            </a:endParaRPr>
          </a:p>
          <a:p>
            <a:pPr indent="0">
              <a:buFont typeface="Arial" panose="020B0604020202020204" pitchFamily="34" charset="0"/>
              <a:buNone/>
            </a:pPr>
            <a:r>
              <a:rPr lang="zh-CN" altLang="en-US" dirty="0">
                <a:latin typeface="+mn-ea"/>
              </a:rPr>
              <a:t>（3）检测送料机构原料状态，如有原料，继续加工；如无原料，则延时</a:t>
            </a:r>
            <a:r>
              <a:rPr lang="en-US" altLang="zh-CN" dirty="0">
                <a:latin typeface="+mn-ea"/>
              </a:rPr>
              <a:t>T=3</a:t>
            </a:r>
            <a:r>
              <a:rPr lang="zh-CN" altLang="en-US" dirty="0">
                <a:latin typeface="+mn-ea"/>
              </a:rPr>
              <a:t>秒时间后停止加工设备及送料机构。</a:t>
            </a:r>
            <a:endParaRPr lang="zh-CN" altLang="en-US" dirty="0">
              <a:latin typeface="+mn-ea"/>
            </a:endParaRPr>
          </a:p>
          <a:p>
            <a:pPr indent="0">
              <a:buFont typeface="Arial" panose="020B0604020202020204" pitchFamily="34" charset="0"/>
              <a:buNone/>
            </a:pPr>
            <a:r>
              <a:rPr lang="zh-CN" altLang="en-US" dirty="0">
                <a:latin typeface="+mn-ea"/>
              </a:rPr>
              <a:t>现设计此加工设备的控制器。请用微程序控制器设计此控制器（注：延时由一个3秒单稳态电路模块实现）。要求： </a:t>
            </a:r>
            <a:endParaRPr lang="zh-CN" altLang="en-US" dirty="0">
              <a:latin typeface="+mn-ea"/>
            </a:endParaRPr>
          </a:p>
          <a:p>
            <a:pPr indent="0">
              <a:buFont typeface="Arial" panose="020B0604020202020204" pitchFamily="34" charset="0"/>
              <a:buNone/>
            </a:pPr>
            <a:r>
              <a:rPr lang="zh-CN" altLang="en-US" dirty="0">
                <a:latin typeface="+mn-ea"/>
              </a:rPr>
              <a:t>1)画出其算法流程图（</a:t>
            </a:r>
            <a:r>
              <a:rPr lang="en-US" altLang="zh-CN" dirty="0">
                <a:latin typeface="+mn-ea"/>
              </a:rPr>
              <a:t>ASM</a:t>
            </a:r>
            <a:r>
              <a:rPr lang="zh-CN" altLang="en-US" dirty="0">
                <a:latin typeface="+mn-ea"/>
              </a:rPr>
              <a:t>图）；</a:t>
            </a:r>
            <a:endParaRPr lang="zh-CN" altLang="en-US" dirty="0">
              <a:latin typeface="+mn-ea"/>
            </a:endParaRPr>
          </a:p>
          <a:p>
            <a:pPr indent="0">
              <a:buFont typeface="Arial" panose="020B0604020202020204" pitchFamily="34" charset="0"/>
              <a:buNone/>
            </a:pPr>
            <a:r>
              <a:rPr lang="zh-CN" altLang="en-US" dirty="0">
                <a:latin typeface="+mn-ea"/>
              </a:rPr>
              <a:t>4)写出相应的控制器微程序代码。</a:t>
            </a:r>
            <a:endParaRPr lang="zh-CN" altLang="en-US" dirty="0">
              <a:latin typeface="+mn-ea"/>
            </a:endParaRPr>
          </a:p>
        </p:txBody>
      </p:sp>
      <p:sp>
        <p:nvSpPr>
          <p:cNvPr id="4" name="文本框 3"/>
          <p:cNvSpPr txBox="1"/>
          <p:nvPr/>
        </p:nvSpPr>
        <p:spPr>
          <a:xfrm>
            <a:off x="188595" y="3956050"/>
            <a:ext cx="11139170" cy="1476375"/>
          </a:xfrm>
          <a:prstGeom prst="rect">
            <a:avLst/>
          </a:prstGeom>
          <a:noFill/>
        </p:spPr>
        <p:txBody>
          <a:bodyPr wrap="square">
            <a:spAutoFit/>
          </a:bodyPr>
          <a:lstStyle/>
          <a:p>
            <a:pPr indent="0">
              <a:buFont typeface="Arial" panose="020B0604020202020204" pitchFamily="34" charset="0"/>
              <a:buNone/>
            </a:pPr>
            <a:r>
              <a:rPr lang="zh-CN" altLang="en-US" dirty="0">
                <a:latin typeface="宋体" panose="02010600030101010101" pitchFamily="2" charset="-122"/>
                <a:ea typeface="宋体" panose="02010600030101010101" pitchFamily="2" charset="-122"/>
                <a:cs typeface="宋体" panose="02010600030101010101" pitchFamily="2" charset="-122"/>
              </a:rPr>
              <a:t>前置说明：</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indent="0">
              <a:buFont typeface="Arial" panose="020B0604020202020204" pitchFamily="34" charset="0"/>
              <a:buNone/>
            </a:pPr>
            <a:r>
              <a:rPr lang="zh-CN" altLang="en-US" dirty="0">
                <a:latin typeface="宋体" panose="02010600030101010101" pitchFamily="2" charset="-122"/>
                <a:ea typeface="宋体" panose="02010600030101010101" pitchFamily="2" charset="-122"/>
                <a:cs typeface="宋体" panose="02010600030101010101" pitchFamily="2" charset="-122"/>
              </a:rPr>
              <a:t>按照工作过程，我们可以抽象出控制信号：（</a:t>
            </a:r>
            <a:r>
              <a:rPr lang="en-US" altLang="zh-CN" dirty="0">
                <a:latin typeface="宋体" panose="02010600030101010101" pitchFamily="2" charset="-122"/>
                <a:ea typeface="宋体" panose="02010600030101010101" pitchFamily="2" charset="-122"/>
                <a:cs typeface="宋体" panose="02010600030101010101" pitchFamily="2" charset="-122"/>
              </a:rPr>
              <a:t>1</a:t>
            </a:r>
            <a:r>
              <a:rPr lang="zh-CN" altLang="en-US" dirty="0">
                <a:latin typeface="宋体" panose="02010600030101010101" pitchFamily="2" charset="-122"/>
                <a:ea typeface="宋体" panose="02010600030101010101" pitchFamily="2" charset="-122"/>
                <a:cs typeface="宋体" panose="02010600030101010101" pitchFamily="2" charset="-122"/>
              </a:rPr>
              <a:t>）启动加工设备信号</a:t>
            </a:r>
            <a:r>
              <a:rPr lang="en-US" altLang="zh-CN" dirty="0">
                <a:latin typeface="宋体" panose="02010600030101010101" pitchFamily="2" charset="-122"/>
                <a:ea typeface="宋体" panose="02010600030101010101" pitchFamily="2" charset="-122"/>
                <a:cs typeface="宋体" panose="02010600030101010101" pitchFamily="2" charset="-122"/>
              </a:rPr>
              <a:t>A</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2</a:t>
            </a:r>
            <a:r>
              <a:rPr lang="zh-CN" altLang="en-US" dirty="0">
                <a:latin typeface="宋体" panose="02010600030101010101" pitchFamily="2" charset="-122"/>
                <a:ea typeface="宋体" panose="02010600030101010101" pitchFamily="2" charset="-122"/>
                <a:cs typeface="宋体" panose="02010600030101010101" pitchFamily="2" charset="-122"/>
              </a:rPr>
              <a:t>）启动送料信号</a:t>
            </a:r>
            <a:r>
              <a:rPr lang="en-US" altLang="zh-CN" dirty="0">
                <a:latin typeface="宋体" panose="02010600030101010101" pitchFamily="2" charset="-122"/>
                <a:ea typeface="宋体" panose="02010600030101010101" pitchFamily="2" charset="-122"/>
                <a:cs typeface="宋体" panose="02010600030101010101" pitchFamily="2" charset="-122"/>
              </a:rPr>
              <a:t>B</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indent="0">
              <a:buFont typeface="Arial" panose="020B0604020202020204" pitchFamily="34" charset="0"/>
              <a:buNone/>
            </a:pP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3</a:t>
            </a:r>
            <a:r>
              <a:rPr lang="zh-CN" altLang="en-US" dirty="0">
                <a:latin typeface="宋体" panose="02010600030101010101" pitchFamily="2" charset="-122"/>
                <a:ea typeface="宋体" panose="02010600030101010101" pitchFamily="2" charset="-122"/>
                <a:cs typeface="宋体" panose="02010600030101010101" pitchFamily="2" charset="-122"/>
              </a:rPr>
              <a:t>）启动延时电路信号</a:t>
            </a:r>
            <a:r>
              <a:rPr lang="en-US" altLang="zh-CN" dirty="0">
                <a:latin typeface="宋体" panose="02010600030101010101" pitchFamily="2" charset="-122"/>
                <a:ea typeface="宋体" panose="02010600030101010101" pitchFamily="2" charset="-122"/>
                <a:cs typeface="宋体" panose="02010600030101010101" pitchFamily="2" charset="-122"/>
              </a:rPr>
              <a:t>D</a:t>
            </a:r>
            <a:r>
              <a:rPr lang="zh-CN" altLang="en-US" dirty="0">
                <a:latin typeface="宋体" panose="02010600030101010101" pitchFamily="2" charset="-122"/>
                <a:ea typeface="宋体" panose="02010600030101010101" pitchFamily="2" charset="-122"/>
                <a:cs typeface="宋体" panose="02010600030101010101" pitchFamily="2" charset="-122"/>
              </a:rPr>
              <a:t>，延时时间</a:t>
            </a:r>
            <a:r>
              <a:rPr lang="en-US" altLang="zh-CN" dirty="0">
                <a:latin typeface="宋体" panose="02010600030101010101" pitchFamily="2" charset="-122"/>
                <a:ea typeface="宋体" panose="02010600030101010101" pitchFamily="2" charset="-122"/>
                <a:cs typeface="宋体" panose="02010600030101010101" pitchFamily="2" charset="-122"/>
              </a:rPr>
              <a:t>T=3</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4</a:t>
            </a:r>
            <a:r>
              <a:rPr lang="zh-CN" altLang="en-US" dirty="0">
                <a:latin typeface="宋体" panose="02010600030101010101" pitchFamily="2" charset="-122"/>
                <a:ea typeface="宋体" panose="02010600030101010101" pitchFamily="2" charset="-122"/>
                <a:cs typeface="宋体" panose="02010600030101010101" pitchFamily="2" charset="-122"/>
              </a:rPr>
              <a:t>）停止加工设备信号</a:t>
            </a:r>
            <a:r>
              <a:rPr lang="en-US" altLang="zh-CN" dirty="0">
                <a:latin typeface="宋体" panose="02010600030101010101" pitchFamily="2" charset="-122"/>
                <a:ea typeface="宋体" panose="02010600030101010101" pitchFamily="2" charset="-122"/>
                <a:cs typeface="宋体" panose="02010600030101010101" pitchFamily="2" charset="-122"/>
              </a:rPr>
              <a:t>X</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5</a:t>
            </a:r>
            <a:r>
              <a:rPr lang="zh-CN" altLang="en-US" dirty="0">
                <a:latin typeface="宋体" panose="02010600030101010101" pitchFamily="2" charset="-122"/>
                <a:ea typeface="宋体" panose="02010600030101010101" pitchFamily="2" charset="-122"/>
                <a:cs typeface="宋体" panose="02010600030101010101" pitchFamily="2" charset="-122"/>
              </a:rPr>
              <a:t>）停止送料信号</a:t>
            </a:r>
            <a:r>
              <a:rPr lang="en-US" altLang="zh-CN" dirty="0">
                <a:latin typeface="宋体" panose="02010600030101010101" pitchFamily="2" charset="-122"/>
                <a:ea typeface="宋体" panose="02010600030101010101" pitchFamily="2" charset="-122"/>
                <a:cs typeface="宋体" panose="02010600030101010101" pitchFamily="2" charset="-122"/>
              </a:rPr>
              <a:t>Y</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indent="0">
              <a:buFont typeface="Arial" panose="020B0604020202020204" pitchFamily="34" charset="0"/>
              <a:buNone/>
            </a:pPr>
            <a:r>
              <a:rPr lang="zh-CN" altLang="en-US" dirty="0">
                <a:latin typeface="宋体" panose="02010600030101010101" pitchFamily="2" charset="-122"/>
                <a:ea typeface="宋体" panose="02010600030101010101" pitchFamily="2" charset="-122"/>
                <a:cs typeface="宋体" panose="02010600030101010101" pitchFamily="2" charset="-122"/>
              </a:rPr>
              <a:t>同样可以抽象出反馈信号（外部输入</a:t>
            </a:r>
            <a:r>
              <a:rPr lang="en-US" altLang="zh-CN" dirty="0">
                <a:latin typeface="宋体" panose="02010600030101010101" pitchFamily="2" charset="-122"/>
                <a:ea typeface="宋体" panose="02010600030101010101" pitchFamily="2" charset="-122"/>
                <a:cs typeface="宋体" panose="02010600030101010101" pitchFamily="2" charset="-122"/>
              </a:rPr>
              <a:t>/</a:t>
            </a:r>
            <a:r>
              <a:rPr lang="zh-CN" altLang="en-US" dirty="0">
                <a:latin typeface="宋体" panose="02010600030101010101" pitchFamily="2" charset="-122"/>
                <a:ea typeface="宋体" panose="02010600030101010101" pitchFamily="2" charset="-122"/>
                <a:cs typeface="宋体" panose="02010600030101010101" pitchFamily="2" charset="-122"/>
              </a:rPr>
              <a:t>判别信号）：（</a:t>
            </a:r>
            <a:r>
              <a:rPr lang="en-US" altLang="zh-CN" dirty="0">
                <a:latin typeface="宋体" panose="02010600030101010101" pitchFamily="2" charset="-122"/>
                <a:ea typeface="宋体" panose="02010600030101010101" pitchFamily="2" charset="-122"/>
                <a:cs typeface="宋体" panose="02010600030101010101" pitchFamily="2" charset="-122"/>
              </a:rPr>
              <a:t>1</a:t>
            </a:r>
            <a:r>
              <a:rPr lang="zh-CN" altLang="en-US" dirty="0">
                <a:latin typeface="宋体" panose="02010600030101010101" pitchFamily="2" charset="-122"/>
                <a:ea typeface="宋体" panose="02010600030101010101" pitchFamily="2" charset="-122"/>
                <a:cs typeface="宋体" panose="02010600030101010101" pitchFamily="2" charset="-122"/>
              </a:rPr>
              <a:t>）检测原料状态信号</a:t>
            </a:r>
            <a:r>
              <a:rPr lang="en-US" altLang="zh-CN" dirty="0">
                <a:latin typeface="宋体" panose="02010600030101010101" pitchFamily="2" charset="-122"/>
                <a:ea typeface="宋体" panose="02010600030101010101" pitchFamily="2" charset="-122"/>
                <a:cs typeface="宋体" panose="02010600030101010101" pitchFamily="2" charset="-122"/>
              </a:rPr>
              <a:t>w</a:t>
            </a:r>
            <a:r>
              <a:rPr lang="zh-CN" altLang="en-US" dirty="0">
                <a:latin typeface="宋体" panose="02010600030101010101" pitchFamily="2" charset="-122"/>
                <a:ea typeface="宋体" panose="02010600030101010101" pitchFamily="2" charset="-122"/>
                <a:cs typeface="宋体" panose="02010600030101010101" pitchFamily="2" charset="-122"/>
              </a:rPr>
              <a:t>，在</a:t>
            </a:r>
            <a:r>
              <a:rPr lang="en-US" altLang="zh-CN" dirty="0">
                <a:latin typeface="宋体" panose="02010600030101010101" pitchFamily="2" charset="-122"/>
                <a:ea typeface="宋体" panose="02010600030101010101" pitchFamily="2" charset="-122"/>
                <a:cs typeface="宋体" panose="02010600030101010101" pitchFamily="2" charset="-122"/>
              </a:rPr>
              <a:t>P(1)</a:t>
            </a:r>
            <a:r>
              <a:rPr lang="zh-CN" altLang="en-US" dirty="0">
                <a:latin typeface="宋体" panose="02010600030101010101" pitchFamily="2" charset="-122"/>
                <a:ea typeface="宋体" panose="02010600030101010101" pitchFamily="2" charset="-122"/>
                <a:cs typeface="宋体" panose="02010600030101010101" pitchFamily="2" charset="-122"/>
              </a:rPr>
              <a:t>有效时间测试判别（</a:t>
            </a:r>
            <a:r>
              <a:rPr lang="en-US" altLang="zh-CN" dirty="0">
                <a:latin typeface="宋体" panose="02010600030101010101" pitchFamily="2" charset="-122"/>
                <a:ea typeface="宋体" panose="02010600030101010101" pitchFamily="2" charset="-122"/>
                <a:cs typeface="宋体" panose="02010600030101010101" pitchFamily="2" charset="-122"/>
              </a:rPr>
              <a:t>2</a:t>
            </a:r>
            <a:r>
              <a:rPr lang="zh-CN" altLang="en-US" dirty="0">
                <a:latin typeface="宋体" panose="02010600030101010101" pitchFamily="2" charset="-122"/>
                <a:ea typeface="宋体" panose="02010600030101010101" pitchFamily="2" charset="-122"/>
                <a:cs typeface="宋体" panose="02010600030101010101" pitchFamily="2" charset="-122"/>
              </a:rPr>
              <a:t>）延时单稳态电路输出信号</a:t>
            </a:r>
            <a:r>
              <a:rPr lang="en-US" altLang="zh-CN" dirty="0">
                <a:latin typeface="宋体" panose="02010600030101010101" pitchFamily="2" charset="-122"/>
                <a:ea typeface="宋体" panose="02010600030101010101" pitchFamily="2" charset="-122"/>
                <a:cs typeface="宋体" panose="02010600030101010101" pitchFamily="2" charset="-122"/>
              </a:rPr>
              <a:t>R</a:t>
            </a:r>
            <a:r>
              <a:rPr lang="zh-CN" altLang="en-US" dirty="0">
                <a:latin typeface="宋体" panose="02010600030101010101" pitchFamily="2" charset="-122"/>
                <a:ea typeface="宋体" panose="02010600030101010101" pitchFamily="2" charset="-122"/>
                <a:cs typeface="宋体" panose="02010600030101010101" pitchFamily="2" charset="-122"/>
              </a:rPr>
              <a:t>，在</a:t>
            </a:r>
            <a:r>
              <a:rPr lang="en-US" altLang="zh-CN" dirty="0">
                <a:latin typeface="宋体" panose="02010600030101010101" pitchFamily="2" charset="-122"/>
                <a:ea typeface="宋体" panose="02010600030101010101" pitchFamily="2" charset="-122"/>
                <a:cs typeface="宋体" panose="02010600030101010101" pitchFamily="2" charset="-122"/>
              </a:rPr>
              <a:t>P</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0</a:t>
            </a:r>
            <a:r>
              <a:rPr lang="zh-CN" altLang="en-US" dirty="0">
                <a:latin typeface="宋体" panose="02010600030101010101" pitchFamily="2" charset="-122"/>
                <a:ea typeface="宋体" panose="02010600030101010101" pitchFamily="2" charset="-122"/>
                <a:cs typeface="宋体" panose="02010600030101010101" pitchFamily="2" charset="-122"/>
              </a:rPr>
              <a:t>）有效时间判别。</a:t>
            </a:r>
            <a:endParaRPr lang="zh-CN" altLang="en-US"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小测</a:t>
            </a:r>
            <a:r>
              <a:rPr lang="en-US" altLang="zh-CN" dirty="0"/>
              <a:t>3</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38" name="文本框 37"/>
          <p:cNvSpPr txBox="1"/>
          <p:nvPr/>
        </p:nvSpPr>
        <p:spPr>
          <a:xfrm>
            <a:off x="188595" y="1092200"/>
            <a:ext cx="11139170" cy="368300"/>
          </a:xfrm>
          <a:prstGeom prst="rect">
            <a:avLst/>
          </a:prstGeom>
          <a:noFill/>
        </p:spPr>
        <p:txBody>
          <a:bodyPr wrap="square">
            <a:spAutoFit/>
          </a:bodyPr>
          <a:lstStyle/>
          <a:p>
            <a:pPr indent="0">
              <a:buFont typeface="Arial" panose="020B0604020202020204" pitchFamily="34" charset="0"/>
              <a:buNone/>
            </a:pPr>
            <a:r>
              <a:rPr lang="zh-CN" altLang="en-US" dirty="0">
                <a:latin typeface="+mn-ea"/>
              </a:rPr>
              <a:t>1)画出其算法流程图（</a:t>
            </a:r>
            <a:r>
              <a:rPr lang="en-US" altLang="zh-CN" dirty="0">
                <a:latin typeface="+mn-ea"/>
              </a:rPr>
              <a:t>ASM</a:t>
            </a:r>
            <a:r>
              <a:rPr lang="zh-CN" altLang="en-US" dirty="0">
                <a:latin typeface="+mn-ea"/>
              </a:rPr>
              <a:t>图）；</a:t>
            </a:r>
            <a:endParaRPr lang="zh-CN" altLang="en-US" dirty="0">
              <a:latin typeface="+mn-ea"/>
            </a:endParaRPr>
          </a:p>
        </p:txBody>
      </p:sp>
      <p:pic>
        <p:nvPicPr>
          <p:cNvPr id="6" name="图片 5"/>
          <p:cNvPicPr>
            <a:picLocks noChangeAspect="1"/>
          </p:cNvPicPr>
          <p:nvPr/>
        </p:nvPicPr>
        <p:blipFill>
          <a:blip r:embed="rId1"/>
          <a:stretch>
            <a:fillRect/>
          </a:stretch>
        </p:blipFill>
        <p:spPr>
          <a:xfrm>
            <a:off x="4709160" y="1642745"/>
            <a:ext cx="5553075" cy="1028700"/>
          </a:xfrm>
          <a:prstGeom prst="rect">
            <a:avLst/>
          </a:prstGeom>
        </p:spPr>
      </p:pic>
      <p:sp>
        <p:nvSpPr>
          <p:cNvPr id="7" name="文本框 6"/>
          <p:cNvSpPr txBox="1"/>
          <p:nvPr/>
        </p:nvSpPr>
        <p:spPr>
          <a:xfrm>
            <a:off x="4836795" y="2870200"/>
            <a:ext cx="6096000" cy="368300"/>
          </a:xfrm>
          <a:prstGeom prst="rect">
            <a:avLst/>
          </a:prstGeom>
          <a:noFill/>
        </p:spPr>
        <p:txBody>
          <a:bodyPr wrap="square" rtlCol="0" anchor="t">
            <a:spAutoFit/>
          </a:bodyPr>
          <a:p>
            <a:pPr indent="0">
              <a:buFont typeface="Arial" panose="020B0604020202020204" pitchFamily="34" charset="0"/>
              <a:buNone/>
            </a:pPr>
            <a:r>
              <a:rPr lang="zh-CN" altLang="en-US" dirty="0">
                <a:latin typeface="+mn-ea"/>
                <a:sym typeface="+mn-ea"/>
              </a:rPr>
              <a:t>3)画出控制器电路框图；</a:t>
            </a:r>
            <a:endParaRPr lang="zh-CN" altLang="en-US" dirty="0">
              <a:latin typeface="+mn-ea"/>
              <a:sym typeface="+mn-ea"/>
            </a:endParaRPr>
          </a:p>
        </p:txBody>
      </p:sp>
      <p:sp>
        <p:nvSpPr>
          <p:cNvPr id="10" name="文本框 9"/>
          <p:cNvSpPr txBox="1"/>
          <p:nvPr/>
        </p:nvSpPr>
        <p:spPr>
          <a:xfrm>
            <a:off x="7172960" y="3211830"/>
            <a:ext cx="4914265" cy="368300"/>
          </a:xfrm>
          <a:prstGeom prst="rect">
            <a:avLst/>
          </a:prstGeom>
          <a:noFill/>
        </p:spPr>
        <p:txBody>
          <a:bodyPr wrap="square" rtlCol="0" anchor="t">
            <a:spAutoFit/>
          </a:bodyPr>
          <a:p>
            <a:pPr indent="0">
              <a:buFont typeface="Arial" panose="020B0604020202020204" pitchFamily="34" charset="0"/>
              <a:buNone/>
            </a:pPr>
            <a:r>
              <a:rPr lang="zh-CN" altLang="en-US" dirty="0">
                <a:latin typeface="+mn-ea"/>
                <a:sym typeface="+mn-ea"/>
              </a:rPr>
              <a:t>微地址修改逻辑改连到微地址寄存器</a:t>
            </a:r>
            <a:r>
              <a:rPr lang="en-US" altLang="zh-CN" dirty="0">
                <a:latin typeface="+mn-ea"/>
                <a:sym typeface="+mn-ea"/>
              </a:rPr>
              <a:t>SD</a:t>
            </a:r>
            <a:r>
              <a:rPr lang="zh-CN" altLang="en-US" dirty="0">
                <a:latin typeface="+mn-ea"/>
                <a:sym typeface="+mn-ea"/>
              </a:rPr>
              <a:t>置数</a:t>
            </a:r>
            <a:r>
              <a:rPr lang="zh-CN" altLang="en-US" dirty="0">
                <a:latin typeface="+mn-ea"/>
                <a:sym typeface="+mn-ea"/>
              </a:rPr>
              <a:t>端</a:t>
            </a:r>
            <a:endParaRPr lang="zh-CN" altLang="en-US" dirty="0">
              <a:latin typeface="+mn-ea"/>
              <a:sym typeface="+mn-ea"/>
            </a:endParaRPr>
          </a:p>
        </p:txBody>
      </p:sp>
      <p:sp>
        <p:nvSpPr>
          <p:cNvPr id="11" name="文本框 10"/>
          <p:cNvSpPr txBox="1"/>
          <p:nvPr/>
        </p:nvSpPr>
        <p:spPr>
          <a:xfrm>
            <a:off x="4836795" y="1219200"/>
            <a:ext cx="11139170" cy="368300"/>
          </a:xfrm>
          <a:prstGeom prst="rect">
            <a:avLst/>
          </a:prstGeom>
          <a:noFill/>
        </p:spPr>
        <p:txBody>
          <a:bodyPr wrap="square">
            <a:spAutoFit/>
          </a:bodyPr>
          <a:lstStyle/>
          <a:p>
            <a:pPr indent="0">
              <a:buFont typeface="Arial" panose="020B0604020202020204" pitchFamily="34" charset="0"/>
              <a:buNone/>
            </a:pPr>
            <a:r>
              <a:rPr lang="zh-CN" altLang="en-US" dirty="0">
                <a:latin typeface="+mn-ea"/>
                <a:sym typeface="+mn-ea"/>
              </a:rPr>
              <a:t>2)设计其指令格式并做必要说明；</a:t>
            </a:r>
            <a:endParaRPr lang="en-US" altLang="zh-CN" dirty="0">
              <a:latin typeface="+mn-ea"/>
              <a:sym typeface="+mn-ea"/>
            </a:endParaRPr>
          </a:p>
        </p:txBody>
      </p:sp>
      <p:pic>
        <p:nvPicPr>
          <p:cNvPr id="12" name="图片 11"/>
          <p:cNvPicPr>
            <a:picLocks noChangeAspect="1"/>
          </p:cNvPicPr>
          <p:nvPr/>
        </p:nvPicPr>
        <p:blipFill>
          <a:blip r:embed="rId2"/>
          <a:stretch>
            <a:fillRect/>
          </a:stretch>
        </p:blipFill>
        <p:spPr>
          <a:xfrm>
            <a:off x="4836795" y="3580130"/>
            <a:ext cx="4791710" cy="2844800"/>
          </a:xfrm>
          <a:prstGeom prst="rect">
            <a:avLst/>
          </a:prstGeom>
        </p:spPr>
      </p:pic>
      <p:pic>
        <p:nvPicPr>
          <p:cNvPr id="13" name="图片 12" descr="Gemini_Generated_Image_r2jzyir2jzyir2jz"/>
          <p:cNvPicPr>
            <a:picLocks noChangeAspect="1"/>
          </p:cNvPicPr>
          <p:nvPr/>
        </p:nvPicPr>
        <p:blipFill>
          <a:blip r:embed="rId3"/>
          <a:srcRect t="5694" r="16299" b="13328"/>
          <a:stretch>
            <a:fillRect/>
          </a:stretch>
        </p:blipFill>
        <p:spPr>
          <a:xfrm>
            <a:off x="866775" y="1642745"/>
            <a:ext cx="2701925" cy="4643755"/>
          </a:xfrm>
          <a:prstGeom prst="rect">
            <a:avLst/>
          </a:prstGeom>
        </p:spPr>
      </p:pic>
      <p:pic>
        <p:nvPicPr>
          <p:cNvPr id="14" name="图片 13"/>
          <p:cNvPicPr>
            <a:picLocks noChangeAspect="1"/>
          </p:cNvPicPr>
          <p:nvPr/>
        </p:nvPicPr>
        <p:blipFill>
          <a:blip r:embed="rId4">
            <a:lum bright="12000" contrast="-18000"/>
          </a:blip>
          <a:stretch>
            <a:fillRect/>
          </a:stretch>
        </p:blipFill>
        <p:spPr>
          <a:xfrm>
            <a:off x="1951355" y="3303905"/>
            <a:ext cx="184150" cy="19748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小测</a:t>
            </a:r>
            <a:r>
              <a:rPr lang="en-US" altLang="zh-CN" dirty="0"/>
              <a:t>3</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38" name="文本框 37"/>
          <p:cNvSpPr txBox="1"/>
          <p:nvPr/>
        </p:nvSpPr>
        <p:spPr>
          <a:xfrm>
            <a:off x="188595" y="1092200"/>
            <a:ext cx="11139170" cy="368300"/>
          </a:xfrm>
          <a:prstGeom prst="rect">
            <a:avLst/>
          </a:prstGeom>
          <a:noFill/>
        </p:spPr>
        <p:txBody>
          <a:bodyPr wrap="square">
            <a:spAutoFit/>
          </a:bodyPr>
          <a:lstStyle/>
          <a:p>
            <a:pPr indent="0">
              <a:buFont typeface="Arial" panose="020B0604020202020204" pitchFamily="34" charset="0"/>
              <a:buNone/>
            </a:pPr>
            <a:r>
              <a:rPr lang="zh-CN" altLang="en-US" dirty="0">
                <a:latin typeface="+mn-ea"/>
                <a:sym typeface="+mn-ea"/>
              </a:rPr>
              <a:t>4)写出相应的控制器微程序代码</a:t>
            </a:r>
            <a:endParaRPr lang="en-US" altLang="zh-CN" dirty="0">
              <a:latin typeface="+mn-ea"/>
              <a:sym typeface="+mn-ea"/>
            </a:endParaRPr>
          </a:p>
        </p:txBody>
      </p:sp>
      <p:graphicFrame>
        <p:nvGraphicFramePr>
          <p:cNvPr id="6" name="表格 5"/>
          <p:cNvGraphicFramePr/>
          <p:nvPr/>
        </p:nvGraphicFramePr>
        <p:xfrm>
          <a:off x="299085" y="2981960"/>
          <a:ext cx="7211060" cy="2011680"/>
        </p:xfrm>
        <a:graphic>
          <a:graphicData uri="http://schemas.openxmlformats.org/drawingml/2006/table">
            <a:tbl>
              <a:tblPr/>
              <a:tblGrid>
                <a:gridCol w="761365"/>
                <a:gridCol w="760730"/>
                <a:gridCol w="765175"/>
                <a:gridCol w="1388745"/>
                <a:gridCol w="686435"/>
                <a:gridCol w="640080"/>
                <a:gridCol w="736600"/>
                <a:gridCol w="735330"/>
                <a:gridCol w="736600"/>
              </a:tblGrid>
              <a:tr h="251460">
                <a:tc rowSpan="2" gridSpan="3">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当前微地址</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hMerge="1">
                  <a:tcPr>
                    <a:lnT w="6350" cap="flat" cmpd="sng">
                      <a:solidFill>
                        <a:srgbClr val="000008"/>
                      </a:solidFill>
                      <a:prstDash val="solid"/>
                      <a:headEnd type="none" w="med" len="med"/>
                      <a:tailEnd type="none" w="med" len="med"/>
                    </a:lnT>
                  </a:tcPr>
                </a:tc>
                <a:tc rowSpan="2"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tcPr>
                </a:tc>
                <a:tc gridSpan="6">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微指令二进制代码</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r>
              <a:tr h="251460">
                <a:tc vMerge="1" gridSpan="3">
                  <a:tcPr>
                    <a:lnL w="6350" cap="flat" cmpd="sng">
                      <a:solidFill>
                        <a:srgbClr val="000008"/>
                      </a:solidFill>
                      <a:prstDash val="solid"/>
                      <a:headEnd type="none" w="med" len="med"/>
                      <a:tailEnd type="none" w="med" len="med"/>
                    </a:lnL>
                    <a:lnB w="6350" cap="flat" cmpd="sng">
                      <a:solidFill>
                        <a:srgbClr val="000008"/>
                      </a:solidFill>
                      <a:prstDash val="solid"/>
                      <a:headEnd type="none" w="med" len="med"/>
                      <a:tailEnd type="none" w="med" len="med"/>
                    </a:lnB>
                  </a:tcPr>
                </a:tc>
                <a:tc vMerge="1" hMerge="1">
                  <a:tcPr>
                    <a:lnB w="6350" cap="flat" cmpd="sng">
                      <a:solidFill>
                        <a:srgbClr val="000008"/>
                      </a:solidFill>
                      <a:prstDash val="solid"/>
                      <a:headEnd type="none" w="med" len="med"/>
                      <a:tailEnd type="none" w="med" len="med"/>
                    </a:lnB>
                  </a:tcPr>
                </a:tc>
                <a:tc vMerge="1" hMerge="1">
                  <a:tcPr>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微命令</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gridSpan="2">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判别</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gridSpan="3">
                  <a:txBody>
                    <a:bodyPr/>
                    <a:p>
                      <a:pPr marL="0" indent="0" algn="ctr">
                        <a:lnSpc>
                          <a:spcPct val="150000"/>
                        </a:lnSpc>
                        <a:spcBef>
                          <a:spcPct val="0"/>
                        </a:spcBef>
                        <a:spcAft>
                          <a:spcPct val="0"/>
                        </a:spcAft>
                      </a:pPr>
                      <a:r>
                        <a:rPr lang="zh-CN" sz="1100">
                          <a:latin typeface="Times New Roman" panose="02020603050405020304"/>
                          <a:ea typeface="宋体" panose="02010600030101010101" pitchFamily="2" charset="-122"/>
                        </a:rPr>
                        <a:t>下地址</a:t>
                      </a:r>
                      <a:endParaRPr 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10000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01000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00100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00000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buNone/>
                      </a:pPr>
                      <a:r>
                        <a:rPr lang="en-US" altLang="zh-CN" sz="1100">
                          <a:latin typeface="Times New Roman" panose="02020603050405020304"/>
                          <a:ea typeface="宋体" panose="02010600030101010101" pitchFamily="2" charset="-122"/>
                        </a:rPr>
                        <a:t>...</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宋体" panose="02010600030101010101" pitchFamily="2" charset="-122"/>
                        </a:rPr>
                        <a:t>...</a:t>
                      </a:r>
                      <a:endParaRPr lang="en-US" altLang="zh-CN" sz="11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buNone/>
                      </a:pPr>
                      <a:r>
                        <a:rPr lang="en-US" altLang="zh-CN" sz="1100">
                          <a:latin typeface="Times New Roman" panose="02020603050405020304"/>
                          <a:ea typeface="Times New Roman" panose="02020603050405020304"/>
                        </a:rPr>
                        <a:t>...</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1460">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00011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0</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100">
                          <a:latin typeface="Times New Roman" panose="02020603050405020304"/>
                          <a:ea typeface="Times New Roman" panose="02020603050405020304"/>
                        </a:rPr>
                        <a:t>1</a:t>
                      </a:r>
                      <a:endParaRPr lang="en-US" altLang="zh-CN" sz="11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pic>
        <p:nvPicPr>
          <p:cNvPr id="7" name="图片 6"/>
          <p:cNvPicPr>
            <a:picLocks noChangeAspect="1"/>
          </p:cNvPicPr>
          <p:nvPr/>
        </p:nvPicPr>
        <p:blipFill>
          <a:blip r:embed="rId1"/>
          <a:stretch>
            <a:fillRect/>
          </a:stretch>
        </p:blipFill>
        <p:spPr>
          <a:xfrm>
            <a:off x="60960" y="1625600"/>
            <a:ext cx="5553075" cy="1028700"/>
          </a:xfrm>
          <a:prstGeom prst="rect">
            <a:avLst/>
          </a:prstGeom>
        </p:spPr>
      </p:pic>
      <p:sp>
        <p:nvSpPr>
          <p:cNvPr id="9" name="文本框 8"/>
          <p:cNvSpPr txBox="1"/>
          <p:nvPr/>
        </p:nvSpPr>
        <p:spPr>
          <a:xfrm>
            <a:off x="188595" y="5219700"/>
            <a:ext cx="11139170" cy="922020"/>
          </a:xfrm>
          <a:prstGeom prst="rect">
            <a:avLst/>
          </a:prstGeom>
          <a:noFill/>
        </p:spPr>
        <p:txBody>
          <a:bodyPr wrap="square">
            <a:spAutoFit/>
          </a:bodyPr>
          <a:lstStyle/>
          <a:p>
            <a:pPr indent="0">
              <a:buFont typeface="Arial" panose="020B0604020202020204" pitchFamily="34" charset="0"/>
              <a:buNone/>
            </a:pPr>
            <a:r>
              <a:rPr lang="zh-CN" altLang="en-US" dirty="0">
                <a:latin typeface="+mn-ea"/>
                <a:sym typeface="+mn-ea"/>
              </a:rPr>
              <a:t>注意到有两个地方需要修改</a:t>
            </a:r>
            <a:r>
              <a:rPr lang="zh-CN" altLang="en-US" dirty="0">
                <a:latin typeface="+mn-ea"/>
                <a:sym typeface="+mn-ea"/>
              </a:rPr>
              <a:t>地址：</a:t>
            </a:r>
            <a:endParaRPr lang="zh-CN" altLang="en-US" dirty="0">
              <a:latin typeface="+mn-ea"/>
              <a:sym typeface="+mn-ea"/>
            </a:endParaRPr>
          </a:p>
          <a:p>
            <a:pPr indent="0">
              <a:buFont typeface="Arial" panose="020B0604020202020204" pitchFamily="34" charset="0"/>
              <a:buNone/>
            </a:pPr>
            <a:r>
              <a:rPr lang="zh-CN" altLang="en-US" dirty="0">
                <a:latin typeface="+mn-ea"/>
                <a:sym typeface="+mn-ea"/>
              </a:rPr>
              <a:t>在</a:t>
            </a:r>
            <a:r>
              <a:rPr lang="en-US" altLang="zh-CN" dirty="0">
                <a:latin typeface="+mn-ea"/>
                <a:sym typeface="+mn-ea"/>
              </a:rPr>
              <a:t>S2</a:t>
            </a:r>
            <a:r>
              <a:rPr lang="zh-CN" altLang="en-US" dirty="0">
                <a:latin typeface="+mn-ea"/>
                <a:sym typeface="+mn-ea"/>
              </a:rPr>
              <a:t>（微地址</a:t>
            </a:r>
            <a:r>
              <a:rPr lang="en-US" altLang="zh-CN" dirty="0">
                <a:latin typeface="+mn-ea"/>
                <a:sym typeface="+mn-ea"/>
              </a:rPr>
              <a:t>010</a:t>
            </a:r>
            <a:r>
              <a:rPr lang="zh-CN" altLang="en-US" dirty="0">
                <a:latin typeface="+mn-ea"/>
                <a:sym typeface="+mn-ea"/>
              </a:rPr>
              <a:t>）状态，当</a:t>
            </a:r>
            <a:r>
              <a:rPr lang="en-US" altLang="zh-CN" dirty="0">
                <a:latin typeface="+mn-ea"/>
                <a:sym typeface="+mn-ea"/>
              </a:rPr>
              <a:t>P(1)</a:t>
            </a:r>
            <a:r>
              <a:rPr lang="zh-CN" altLang="en-US" dirty="0">
                <a:latin typeface="+mn-ea"/>
                <a:sym typeface="+mn-ea"/>
              </a:rPr>
              <a:t>有效时回到</a:t>
            </a:r>
            <a:r>
              <a:rPr lang="en-US" altLang="zh-CN" dirty="0">
                <a:latin typeface="+mn-ea"/>
                <a:sym typeface="+mn-ea"/>
              </a:rPr>
              <a:t>S2</a:t>
            </a:r>
            <a:r>
              <a:rPr lang="zh-CN" altLang="en-US" dirty="0">
                <a:latin typeface="+mn-ea"/>
                <a:sym typeface="+mn-ea"/>
              </a:rPr>
              <a:t>；在</a:t>
            </a:r>
            <a:r>
              <a:rPr lang="en-US" altLang="zh-CN" dirty="0">
                <a:latin typeface="+mn-ea"/>
                <a:sym typeface="+mn-ea"/>
              </a:rPr>
              <a:t>S3</a:t>
            </a:r>
            <a:r>
              <a:rPr lang="zh-CN" altLang="en-US" dirty="0">
                <a:latin typeface="+mn-ea"/>
                <a:sym typeface="+mn-ea"/>
              </a:rPr>
              <a:t>（微地址</a:t>
            </a:r>
            <a:r>
              <a:rPr lang="en-US" altLang="zh-CN" dirty="0">
                <a:latin typeface="+mn-ea"/>
                <a:sym typeface="+mn-ea"/>
              </a:rPr>
              <a:t>011</a:t>
            </a:r>
            <a:r>
              <a:rPr lang="zh-CN" altLang="en-US" dirty="0">
                <a:latin typeface="+mn-ea"/>
                <a:sym typeface="+mn-ea"/>
              </a:rPr>
              <a:t>）状态，当</a:t>
            </a:r>
            <a:r>
              <a:rPr lang="en-US" altLang="zh-CN" dirty="0">
                <a:latin typeface="+mn-ea"/>
                <a:sym typeface="+mn-ea"/>
              </a:rPr>
              <a:t>P(0)</a:t>
            </a:r>
            <a:r>
              <a:rPr lang="zh-CN" altLang="en-US" dirty="0">
                <a:latin typeface="+mn-ea"/>
                <a:sym typeface="+mn-ea"/>
              </a:rPr>
              <a:t>有效时回到</a:t>
            </a:r>
            <a:r>
              <a:rPr lang="en-US" altLang="zh-CN" dirty="0">
                <a:latin typeface="+mn-ea"/>
                <a:sym typeface="+mn-ea"/>
              </a:rPr>
              <a:t>S3</a:t>
            </a:r>
            <a:r>
              <a:rPr lang="zh-CN" altLang="en-US" dirty="0">
                <a:latin typeface="+mn-ea"/>
                <a:sym typeface="+mn-ea"/>
              </a:rPr>
              <a:t>；</a:t>
            </a:r>
            <a:endParaRPr lang="zh-CN" altLang="en-US" dirty="0">
              <a:latin typeface="+mn-ea"/>
              <a:sym typeface="+mn-ea"/>
            </a:endParaRPr>
          </a:p>
          <a:p>
            <a:pPr indent="0">
              <a:buFont typeface="Arial" panose="020B0604020202020204" pitchFamily="34" charset="0"/>
              <a:buNone/>
            </a:pPr>
            <a:r>
              <a:rPr lang="zh-CN" altLang="en-US" dirty="0">
                <a:latin typeface="+mn-ea"/>
                <a:sym typeface="+mn-ea"/>
              </a:rPr>
              <a:t>添加</a:t>
            </a:r>
            <a:r>
              <a:rPr lang="en-US" altLang="zh-CN" dirty="0">
                <a:latin typeface="+mn-ea"/>
                <a:sym typeface="+mn-ea"/>
              </a:rPr>
              <a:t>uA2 = P(0)·R·T3 </a:t>
            </a:r>
            <a:r>
              <a:rPr lang="zh-CN" altLang="en-US" dirty="0">
                <a:latin typeface="+mn-ea"/>
                <a:sym typeface="+mn-ea"/>
              </a:rPr>
              <a:t>；</a:t>
            </a:r>
            <a:r>
              <a:rPr lang="en-US" altLang="zh-CN" dirty="0">
                <a:latin typeface="+mn-ea"/>
                <a:sym typeface="+mn-ea"/>
              </a:rPr>
              <a:t> uA0 = P(1)·W·</a:t>
            </a:r>
            <a:r>
              <a:rPr lang="en-US" altLang="zh-CN" dirty="0">
                <a:latin typeface="+mn-ea"/>
                <a:sym typeface="+mn-ea"/>
              </a:rPr>
              <a:t>T3</a:t>
            </a:r>
            <a:endParaRPr lang="en-US" altLang="zh-CN" dirty="0">
              <a:latin typeface="+mn-ea"/>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小测</a:t>
            </a:r>
            <a:r>
              <a:rPr lang="en-US" altLang="zh-CN" dirty="0"/>
              <a:t>4</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38" name="文本框 37"/>
          <p:cNvSpPr txBox="1"/>
          <p:nvPr/>
        </p:nvSpPr>
        <p:spPr>
          <a:xfrm>
            <a:off x="188595" y="1092200"/>
            <a:ext cx="11139170" cy="1476375"/>
          </a:xfrm>
          <a:prstGeom prst="rect">
            <a:avLst/>
          </a:prstGeom>
          <a:noFill/>
        </p:spPr>
        <p:txBody>
          <a:bodyPr wrap="square">
            <a:spAutoFit/>
          </a:bodyPr>
          <a:lstStyle/>
          <a:p>
            <a:pPr indent="0">
              <a:buFont typeface="Arial" panose="020B0604020202020204" pitchFamily="34" charset="0"/>
              <a:buNone/>
            </a:pPr>
            <a:r>
              <a:rPr lang="zh-CN" altLang="en-US" dirty="0">
                <a:latin typeface="+mn-ea"/>
                <a:sym typeface="+mn-ea"/>
              </a:rPr>
              <a:t>1. 由主从</a:t>
            </a:r>
            <a:r>
              <a:rPr lang="en-US" altLang="zh-CN" dirty="0">
                <a:latin typeface="+mn-ea"/>
                <a:sym typeface="+mn-ea"/>
              </a:rPr>
              <a:t>JK</a:t>
            </a:r>
            <a:r>
              <a:rPr lang="zh-CN" altLang="en-US" dirty="0">
                <a:latin typeface="+mn-ea"/>
                <a:sym typeface="+mn-ea"/>
              </a:rPr>
              <a:t>触发器和555定时器组成的电路如题1图(</a:t>
            </a:r>
            <a:r>
              <a:rPr lang="en-US" altLang="zh-CN" dirty="0">
                <a:latin typeface="+mn-ea"/>
                <a:sym typeface="+mn-ea"/>
              </a:rPr>
              <a:t>a)</a:t>
            </a:r>
            <a:r>
              <a:rPr lang="zh-CN" altLang="en-US" dirty="0">
                <a:latin typeface="+mn-ea"/>
                <a:sym typeface="+mn-ea"/>
              </a:rPr>
              <a:t>所示，已知：</a:t>
            </a:r>
            <a:r>
              <a:rPr lang="en-US" altLang="zh-CN" dirty="0">
                <a:latin typeface="+mn-ea"/>
                <a:sym typeface="+mn-ea"/>
              </a:rPr>
              <a:t>CP</a:t>
            </a:r>
            <a:r>
              <a:rPr lang="zh-CN" altLang="en-US" dirty="0">
                <a:latin typeface="+mn-ea"/>
                <a:sym typeface="+mn-ea"/>
              </a:rPr>
              <a:t>为10</a:t>
            </a:r>
            <a:r>
              <a:rPr lang="en-US" altLang="zh-CN" dirty="0">
                <a:latin typeface="+mn-ea"/>
                <a:sym typeface="+mn-ea"/>
              </a:rPr>
              <a:t>Hz</a:t>
            </a:r>
            <a:r>
              <a:rPr lang="zh-CN" altLang="en-US" dirty="0">
                <a:latin typeface="+mn-ea"/>
                <a:sym typeface="+mn-ea"/>
              </a:rPr>
              <a:t>的方波，</a:t>
            </a:r>
            <a:r>
              <a:rPr lang="en-US" altLang="zh-CN" dirty="0">
                <a:latin typeface="+mn-ea"/>
                <a:sym typeface="+mn-ea"/>
              </a:rPr>
              <a:t>R1＝10kΩ，R2＝56 kΩ。C1＝1000pF，C2＝4.7μF。</a:t>
            </a:r>
            <a:r>
              <a:rPr lang="zh-CN" altLang="en-US" dirty="0">
                <a:latin typeface="+mn-ea"/>
                <a:sym typeface="+mn-ea"/>
              </a:rPr>
              <a:t>触发器</a:t>
            </a:r>
            <a:r>
              <a:rPr lang="en-US" altLang="zh-CN" dirty="0">
                <a:latin typeface="+mn-ea"/>
                <a:sym typeface="+mn-ea"/>
              </a:rPr>
              <a:t>Q</a:t>
            </a:r>
            <a:r>
              <a:rPr lang="zh-CN" altLang="en-US" dirty="0">
                <a:latin typeface="+mn-ea"/>
                <a:sym typeface="+mn-ea"/>
              </a:rPr>
              <a:t>及555(题1图</a:t>
            </a:r>
            <a:r>
              <a:rPr lang="en-US" altLang="zh-CN" dirty="0">
                <a:latin typeface="+mn-ea"/>
                <a:sym typeface="+mn-ea"/>
              </a:rPr>
              <a:t>b)</a:t>
            </a:r>
            <a:r>
              <a:rPr lang="zh-CN" altLang="en-US" dirty="0">
                <a:latin typeface="+mn-ea"/>
                <a:sym typeface="+mn-ea"/>
              </a:rPr>
              <a:t>输出端（3端）初态为0。（</a:t>
            </a:r>
            <a:r>
              <a:rPr lang="en-US" altLang="zh-CN" dirty="0">
                <a:latin typeface="+mn-ea"/>
                <a:sym typeface="+mn-ea"/>
              </a:rPr>
              <a:t>hint：2</a:t>
            </a:r>
            <a:r>
              <a:rPr lang="zh-CN" altLang="en-US" dirty="0">
                <a:latin typeface="+mn-ea"/>
                <a:sym typeface="+mn-ea"/>
              </a:rPr>
              <a:t>脚的前面的“取反”实际上是</a:t>
            </a:r>
            <a:r>
              <a:rPr lang="en-US" altLang="zh-CN" dirty="0">
                <a:latin typeface="+mn-ea"/>
                <a:sym typeface="+mn-ea"/>
              </a:rPr>
              <a:t>ui</a:t>
            </a:r>
            <a:r>
              <a:rPr lang="zh-CN" altLang="en-US" dirty="0">
                <a:latin typeface="+mn-ea"/>
                <a:sym typeface="+mn-ea"/>
              </a:rPr>
              <a:t>直接输入到2脚，实际上表达低电平有效触发单稳态过程）</a:t>
            </a:r>
            <a:endParaRPr lang="zh-CN" altLang="en-US" dirty="0">
              <a:latin typeface="+mn-ea"/>
              <a:sym typeface="+mn-ea"/>
            </a:endParaRPr>
          </a:p>
          <a:p>
            <a:pPr indent="0">
              <a:buFont typeface="Arial" panose="020B0604020202020204" pitchFamily="34" charset="0"/>
              <a:buNone/>
            </a:pPr>
            <a:r>
              <a:rPr lang="zh-CN" altLang="en-US" dirty="0">
                <a:latin typeface="+mn-ea"/>
                <a:sym typeface="+mn-ea"/>
              </a:rPr>
              <a:t>（1）画出触发器</a:t>
            </a:r>
            <a:r>
              <a:rPr lang="en-US" altLang="zh-CN" dirty="0">
                <a:latin typeface="+mn-ea"/>
                <a:sym typeface="+mn-ea"/>
              </a:rPr>
              <a:t>Q</a:t>
            </a:r>
            <a:r>
              <a:rPr lang="zh-CN" altLang="en-US" dirty="0">
                <a:latin typeface="+mn-ea"/>
                <a:sym typeface="+mn-ea"/>
              </a:rPr>
              <a:t>端、</a:t>
            </a:r>
            <a:r>
              <a:rPr lang="en-US" altLang="zh-CN" dirty="0">
                <a:latin typeface="+mn-ea"/>
                <a:sym typeface="+mn-ea"/>
              </a:rPr>
              <a:t>ui、uo</a:t>
            </a:r>
            <a:r>
              <a:rPr lang="zh-CN" altLang="en-US" dirty="0">
                <a:latin typeface="+mn-ea"/>
                <a:sym typeface="+mn-ea"/>
              </a:rPr>
              <a:t>相对于</a:t>
            </a:r>
            <a:r>
              <a:rPr lang="en-US" altLang="zh-CN" dirty="0">
                <a:latin typeface="+mn-ea"/>
                <a:sym typeface="+mn-ea"/>
              </a:rPr>
              <a:t>CP</a:t>
            </a:r>
            <a:r>
              <a:rPr lang="zh-CN" altLang="en-US" dirty="0">
                <a:latin typeface="+mn-ea"/>
                <a:sym typeface="+mn-ea"/>
              </a:rPr>
              <a:t>的波形。</a:t>
            </a:r>
            <a:endParaRPr lang="zh-CN" altLang="en-US" dirty="0">
              <a:latin typeface="+mn-ea"/>
              <a:sym typeface="+mn-ea"/>
            </a:endParaRPr>
          </a:p>
          <a:p>
            <a:pPr indent="0">
              <a:buFont typeface="Arial" panose="020B0604020202020204" pitchFamily="34" charset="0"/>
              <a:buNone/>
            </a:pPr>
            <a:r>
              <a:rPr lang="zh-CN" altLang="en-US" dirty="0">
                <a:latin typeface="+mn-ea"/>
                <a:sym typeface="+mn-ea"/>
              </a:rPr>
              <a:t>（2）求触发器</a:t>
            </a:r>
            <a:r>
              <a:rPr lang="en-US" altLang="zh-CN" dirty="0">
                <a:latin typeface="+mn-ea"/>
                <a:sym typeface="+mn-ea"/>
              </a:rPr>
              <a:t>Q</a:t>
            </a:r>
            <a:r>
              <a:rPr lang="zh-CN" altLang="en-US" dirty="0">
                <a:latin typeface="+mn-ea"/>
                <a:sym typeface="+mn-ea"/>
              </a:rPr>
              <a:t>端输出波形的周期。</a:t>
            </a:r>
            <a:endParaRPr lang="zh-CN" altLang="en-US" dirty="0">
              <a:latin typeface="+mn-ea"/>
              <a:sym typeface="+mn-ea"/>
            </a:endParaRPr>
          </a:p>
        </p:txBody>
      </p:sp>
      <p:graphicFrame>
        <p:nvGraphicFramePr>
          <p:cNvPr id="1073742850" name="对象 1073742849"/>
          <p:cNvGraphicFramePr>
            <a:graphicFrameLocks noChangeAspect="1"/>
          </p:cNvGraphicFramePr>
          <p:nvPr/>
        </p:nvGraphicFramePr>
        <p:xfrm>
          <a:off x="535940" y="2847975"/>
          <a:ext cx="4316095" cy="2641600"/>
        </p:xfrm>
        <a:graphic>
          <a:graphicData uri="http://schemas.openxmlformats.org/presentationml/2006/ole">
            <mc:AlternateContent xmlns:mc="http://schemas.openxmlformats.org/markup-compatibility/2006">
              <mc:Choice xmlns:v="urn:schemas-microsoft-com:vml" Requires="v">
                <p:oleObj spid="_x0000_s3076" name="" r:id="rId1" imgW="2961640" imgH="1801495" progId="Visio.Drawing.11">
                  <p:embed/>
                </p:oleObj>
              </mc:Choice>
              <mc:Fallback>
                <p:oleObj name="" r:id="rId1" imgW="2961640" imgH="1801495" progId="Visio.Drawing.11">
                  <p:embed/>
                  <p:pic>
                    <p:nvPicPr>
                      <p:cNvPr id="0" name="图片 3075"/>
                      <p:cNvPicPr/>
                      <p:nvPr/>
                    </p:nvPicPr>
                    <p:blipFill>
                      <a:blip r:embed="rId2"/>
                      <a:stretch>
                        <a:fillRect/>
                      </a:stretch>
                    </p:blipFill>
                    <p:spPr>
                      <a:xfrm>
                        <a:off x="535940" y="2847975"/>
                        <a:ext cx="4316095" cy="2641600"/>
                      </a:xfrm>
                      <a:prstGeom prst="rect">
                        <a:avLst/>
                      </a:prstGeom>
                      <a:noFill/>
                      <a:ln w="38100">
                        <a:noFill/>
                        <a:miter/>
                      </a:ln>
                    </p:spPr>
                  </p:pic>
                </p:oleObj>
              </mc:Fallback>
            </mc:AlternateContent>
          </a:graphicData>
        </a:graphic>
      </p:graphicFrame>
      <p:graphicFrame>
        <p:nvGraphicFramePr>
          <p:cNvPr id="1073742851" name="对象 1073742850"/>
          <p:cNvGraphicFramePr>
            <a:graphicFrameLocks noChangeAspect="1"/>
          </p:cNvGraphicFramePr>
          <p:nvPr/>
        </p:nvGraphicFramePr>
        <p:xfrm>
          <a:off x="5994400" y="2406015"/>
          <a:ext cx="4908550" cy="3386455"/>
        </p:xfrm>
        <a:graphic>
          <a:graphicData uri="http://schemas.openxmlformats.org/presentationml/2006/ole">
            <mc:AlternateContent xmlns:mc="http://schemas.openxmlformats.org/markup-compatibility/2006">
              <mc:Choice xmlns:v="urn:schemas-microsoft-com:vml" Requires="v">
                <p:oleObj spid="_x0000_s3" name="" r:id="rId3" imgW="2928620" imgH="1880235" progId="Visio.Drawing.11">
                  <p:embed/>
                </p:oleObj>
              </mc:Choice>
              <mc:Fallback>
                <p:oleObj name="" r:id="rId3" imgW="2928620" imgH="1880235" progId="Visio.Drawing.11">
                  <p:embed/>
                  <p:pic>
                    <p:nvPicPr>
                      <p:cNvPr id="0" name="图片 2"/>
                      <p:cNvPicPr/>
                      <p:nvPr/>
                    </p:nvPicPr>
                    <p:blipFill>
                      <a:blip r:embed="rId4"/>
                      <a:stretch>
                        <a:fillRect/>
                      </a:stretch>
                    </p:blipFill>
                    <p:spPr>
                      <a:xfrm>
                        <a:off x="5994400" y="2406015"/>
                        <a:ext cx="4908550" cy="3386455"/>
                      </a:xfrm>
                      <a:prstGeom prst="rect">
                        <a:avLst/>
                      </a:prstGeom>
                      <a:noFill/>
                      <a:ln w="38100">
                        <a:noFill/>
                        <a:miter/>
                      </a:ln>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小测</a:t>
            </a:r>
            <a:r>
              <a:rPr lang="en-US" altLang="zh-CN" dirty="0"/>
              <a:t>4</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graphicFrame>
        <p:nvGraphicFramePr>
          <p:cNvPr id="1073742850" name="对象 1073742849"/>
          <p:cNvGraphicFramePr>
            <a:graphicFrameLocks noChangeAspect="1"/>
          </p:cNvGraphicFramePr>
          <p:nvPr/>
        </p:nvGraphicFramePr>
        <p:xfrm>
          <a:off x="535940" y="3150235"/>
          <a:ext cx="4316095" cy="2641600"/>
        </p:xfrm>
        <a:graphic>
          <a:graphicData uri="http://schemas.openxmlformats.org/presentationml/2006/ole">
            <mc:AlternateContent xmlns:mc="http://schemas.openxmlformats.org/markup-compatibility/2006">
              <mc:Choice xmlns:v="urn:schemas-microsoft-com:vml" Requires="v">
                <p:oleObj spid="_x0000_s3076" name="" r:id="rId1" imgW="2961640" imgH="1801495" progId="Visio.Drawing.11">
                  <p:embed/>
                </p:oleObj>
              </mc:Choice>
              <mc:Fallback>
                <p:oleObj name="" r:id="rId1" imgW="2961640" imgH="1801495" progId="Visio.Drawing.11">
                  <p:embed/>
                  <p:pic>
                    <p:nvPicPr>
                      <p:cNvPr id="0" name="图片 3075"/>
                      <p:cNvPicPr/>
                      <p:nvPr/>
                    </p:nvPicPr>
                    <p:blipFill>
                      <a:blip r:embed="rId2"/>
                      <a:stretch>
                        <a:fillRect/>
                      </a:stretch>
                    </p:blipFill>
                    <p:spPr>
                      <a:xfrm>
                        <a:off x="535940" y="3150235"/>
                        <a:ext cx="4316095" cy="2641600"/>
                      </a:xfrm>
                      <a:prstGeom prst="rect">
                        <a:avLst/>
                      </a:prstGeom>
                      <a:noFill/>
                      <a:ln w="38100">
                        <a:noFill/>
                        <a:miter/>
                      </a:ln>
                    </p:spPr>
                  </p:pic>
                </p:oleObj>
              </mc:Fallback>
            </mc:AlternateContent>
          </a:graphicData>
        </a:graphic>
      </p:graphicFrame>
      <p:graphicFrame>
        <p:nvGraphicFramePr>
          <p:cNvPr id="1073742851" name="对象 1073742850"/>
          <p:cNvGraphicFramePr>
            <a:graphicFrameLocks noChangeAspect="1"/>
          </p:cNvGraphicFramePr>
          <p:nvPr/>
        </p:nvGraphicFramePr>
        <p:xfrm>
          <a:off x="6234430" y="3091180"/>
          <a:ext cx="4908550" cy="3386455"/>
        </p:xfrm>
        <a:graphic>
          <a:graphicData uri="http://schemas.openxmlformats.org/presentationml/2006/ole">
            <mc:AlternateContent xmlns:mc="http://schemas.openxmlformats.org/markup-compatibility/2006">
              <mc:Choice xmlns:v="urn:schemas-microsoft-com:vml" Requires="v">
                <p:oleObj spid="_x0000_s3" name="" r:id="rId3" imgW="2928620" imgH="1880235" progId="Visio.Drawing.11">
                  <p:embed/>
                </p:oleObj>
              </mc:Choice>
              <mc:Fallback>
                <p:oleObj name="" r:id="rId3" imgW="2928620" imgH="1880235" progId="Visio.Drawing.11">
                  <p:embed/>
                  <p:pic>
                    <p:nvPicPr>
                      <p:cNvPr id="0" name="图片 2"/>
                      <p:cNvPicPr/>
                      <p:nvPr/>
                    </p:nvPicPr>
                    <p:blipFill>
                      <a:blip r:embed="rId4"/>
                      <a:stretch>
                        <a:fillRect/>
                      </a:stretch>
                    </p:blipFill>
                    <p:spPr>
                      <a:xfrm>
                        <a:off x="6234430" y="3091180"/>
                        <a:ext cx="4908550" cy="3386455"/>
                      </a:xfrm>
                      <a:prstGeom prst="rect">
                        <a:avLst/>
                      </a:prstGeom>
                      <a:noFill/>
                      <a:ln w="38100">
                        <a:noFill/>
                        <a:miter/>
                      </a:ln>
                    </p:spPr>
                  </p:pic>
                </p:oleObj>
              </mc:Fallback>
            </mc:AlternateContent>
          </a:graphicData>
        </a:graphic>
      </p:graphicFrame>
      <p:pic>
        <p:nvPicPr>
          <p:cNvPr id="10" name="图片 9"/>
          <p:cNvPicPr>
            <a:picLocks noChangeAspect="1"/>
          </p:cNvPicPr>
          <p:nvPr/>
        </p:nvPicPr>
        <p:blipFill>
          <a:blip r:embed="rId5"/>
          <a:stretch>
            <a:fillRect/>
          </a:stretch>
        </p:blipFill>
        <p:spPr>
          <a:xfrm>
            <a:off x="126365" y="1049020"/>
            <a:ext cx="5618480" cy="1864995"/>
          </a:xfrm>
          <a:prstGeom prst="rect">
            <a:avLst/>
          </a:prstGeom>
        </p:spPr>
      </p:pic>
      <p:pic>
        <p:nvPicPr>
          <p:cNvPr id="11" name="图片 10"/>
          <p:cNvPicPr>
            <a:picLocks noChangeAspect="1"/>
          </p:cNvPicPr>
          <p:nvPr/>
        </p:nvPicPr>
        <p:blipFill>
          <a:blip r:embed="rId6"/>
          <a:srcRect l="127" t="2234" r="2586" b="-2234"/>
          <a:stretch>
            <a:fillRect/>
          </a:stretch>
        </p:blipFill>
        <p:spPr>
          <a:xfrm>
            <a:off x="5776595" y="1098550"/>
            <a:ext cx="6306820" cy="221678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小测</a:t>
            </a:r>
            <a:r>
              <a:rPr lang="en-US" altLang="zh-CN" dirty="0"/>
              <a:t>4</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graphicFrame>
        <p:nvGraphicFramePr>
          <p:cNvPr id="1073742850" name="对象 1073742849"/>
          <p:cNvGraphicFramePr>
            <a:graphicFrameLocks noChangeAspect="1"/>
          </p:cNvGraphicFramePr>
          <p:nvPr/>
        </p:nvGraphicFramePr>
        <p:xfrm>
          <a:off x="535940" y="4042410"/>
          <a:ext cx="3952875" cy="2419350"/>
        </p:xfrm>
        <a:graphic>
          <a:graphicData uri="http://schemas.openxmlformats.org/presentationml/2006/ole">
            <mc:AlternateContent xmlns:mc="http://schemas.openxmlformats.org/markup-compatibility/2006">
              <mc:Choice xmlns:v="urn:schemas-microsoft-com:vml" Requires="v">
                <p:oleObj spid="_x0000_s3076" name="" r:id="rId1" imgW="2961640" imgH="1801495" progId="Visio.Drawing.11">
                  <p:embed/>
                </p:oleObj>
              </mc:Choice>
              <mc:Fallback>
                <p:oleObj name="" r:id="rId1" imgW="2961640" imgH="1801495" progId="Visio.Drawing.11">
                  <p:embed/>
                  <p:pic>
                    <p:nvPicPr>
                      <p:cNvPr id="0" name="图片 3075"/>
                      <p:cNvPicPr/>
                      <p:nvPr/>
                    </p:nvPicPr>
                    <p:blipFill>
                      <a:blip r:embed="rId2"/>
                      <a:stretch>
                        <a:fillRect/>
                      </a:stretch>
                    </p:blipFill>
                    <p:spPr>
                      <a:xfrm>
                        <a:off x="535940" y="4042410"/>
                        <a:ext cx="3952875" cy="2419350"/>
                      </a:xfrm>
                      <a:prstGeom prst="rect">
                        <a:avLst/>
                      </a:prstGeom>
                      <a:noFill/>
                      <a:ln w="38100">
                        <a:noFill/>
                        <a:miter/>
                      </a:ln>
                    </p:spPr>
                  </p:pic>
                </p:oleObj>
              </mc:Fallback>
            </mc:AlternateContent>
          </a:graphicData>
        </a:graphic>
      </p:graphicFrame>
      <p:graphicFrame>
        <p:nvGraphicFramePr>
          <p:cNvPr id="1073742851" name="对象 1073742850"/>
          <p:cNvGraphicFramePr>
            <a:graphicFrameLocks noChangeAspect="1"/>
          </p:cNvGraphicFramePr>
          <p:nvPr/>
        </p:nvGraphicFramePr>
        <p:xfrm>
          <a:off x="6234430" y="3157855"/>
          <a:ext cx="4908550" cy="3386455"/>
        </p:xfrm>
        <a:graphic>
          <a:graphicData uri="http://schemas.openxmlformats.org/presentationml/2006/ole">
            <mc:AlternateContent xmlns:mc="http://schemas.openxmlformats.org/markup-compatibility/2006">
              <mc:Choice xmlns:v="urn:schemas-microsoft-com:vml" Requires="v">
                <p:oleObj spid="_x0000_s3" name="" r:id="rId3" imgW="2928620" imgH="1880235" progId="Visio.Drawing.11">
                  <p:embed/>
                </p:oleObj>
              </mc:Choice>
              <mc:Fallback>
                <p:oleObj name="" r:id="rId3" imgW="2928620" imgH="1880235" progId="Visio.Drawing.11">
                  <p:embed/>
                  <p:pic>
                    <p:nvPicPr>
                      <p:cNvPr id="0" name="图片 2"/>
                      <p:cNvPicPr/>
                      <p:nvPr/>
                    </p:nvPicPr>
                    <p:blipFill>
                      <a:blip r:embed="rId4"/>
                      <a:stretch>
                        <a:fillRect/>
                      </a:stretch>
                    </p:blipFill>
                    <p:spPr>
                      <a:xfrm>
                        <a:off x="6234430" y="3157855"/>
                        <a:ext cx="4908550" cy="3386455"/>
                      </a:xfrm>
                      <a:prstGeom prst="rect">
                        <a:avLst/>
                      </a:prstGeom>
                      <a:noFill/>
                      <a:ln w="38100">
                        <a:noFill/>
                        <a:miter/>
                      </a:ln>
                    </p:spPr>
                  </p:pic>
                </p:oleObj>
              </mc:Fallback>
            </mc:AlternateContent>
          </a:graphicData>
        </a:graphic>
      </p:graphicFrame>
      <p:pic>
        <p:nvPicPr>
          <p:cNvPr id="6" name="图片 5"/>
          <p:cNvPicPr>
            <a:picLocks noChangeAspect="1"/>
          </p:cNvPicPr>
          <p:nvPr/>
        </p:nvPicPr>
        <p:blipFill>
          <a:blip r:embed="rId5"/>
          <a:stretch>
            <a:fillRect/>
          </a:stretch>
        </p:blipFill>
        <p:spPr>
          <a:xfrm>
            <a:off x="313690" y="992505"/>
            <a:ext cx="5820410" cy="3049905"/>
          </a:xfrm>
          <a:prstGeom prst="rect">
            <a:avLst/>
          </a:prstGeom>
        </p:spPr>
      </p:pic>
      <p:pic>
        <p:nvPicPr>
          <p:cNvPr id="7" name="图片 6"/>
          <p:cNvPicPr>
            <a:picLocks noChangeAspect="1"/>
          </p:cNvPicPr>
          <p:nvPr/>
        </p:nvPicPr>
        <p:blipFill>
          <a:blip r:embed="rId6"/>
          <a:stretch>
            <a:fillRect/>
          </a:stretch>
        </p:blipFill>
        <p:spPr>
          <a:xfrm>
            <a:off x="6167120" y="1327785"/>
            <a:ext cx="5916295" cy="195389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小测</a:t>
            </a:r>
            <a:r>
              <a:rPr lang="en-US" altLang="zh-CN" dirty="0"/>
              <a:t>4</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pic>
        <p:nvPicPr>
          <p:cNvPr id="9" name="图片 8"/>
          <p:cNvPicPr/>
          <p:nvPr/>
        </p:nvPicPr>
        <p:blipFill>
          <a:blip r:embed="rId1"/>
          <a:stretch>
            <a:fillRect/>
          </a:stretch>
        </p:blipFill>
        <p:spPr>
          <a:xfrm>
            <a:off x="1892300" y="3451860"/>
            <a:ext cx="7572375" cy="2886075"/>
          </a:xfrm>
          <a:prstGeom prst="rect">
            <a:avLst/>
          </a:prstGeom>
        </p:spPr>
      </p:pic>
      <p:pic>
        <p:nvPicPr>
          <p:cNvPr id="10" name="图片 9"/>
          <p:cNvPicPr>
            <a:picLocks noChangeAspect="1"/>
          </p:cNvPicPr>
          <p:nvPr/>
        </p:nvPicPr>
        <p:blipFill>
          <a:blip r:embed="rId2"/>
          <a:stretch>
            <a:fillRect/>
          </a:stretch>
        </p:blipFill>
        <p:spPr>
          <a:xfrm>
            <a:off x="4043680" y="1233805"/>
            <a:ext cx="3019425" cy="2047875"/>
          </a:xfrm>
          <a:prstGeom prst="rect">
            <a:avLst/>
          </a:prstGeom>
        </p:spPr>
      </p:pic>
      <p:sp>
        <p:nvSpPr>
          <p:cNvPr id="11" name="任意多边形 10"/>
          <p:cNvSpPr/>
          <p:nvPr/>
        </p:nvSpPr>
        <p:spPr>
          <a:xfrm flipH="1" flipV="1">
            <a:off x="2010410" y="2098675"/>
            <a:ext cx="539750" cy="172085"/>
          </a:xfrm>
          <a:custGeom>
            <a:avLst/>
            <a:gdLst>
              <a:gd name="connisteX0" fmla="*/ 25400 w 25964"/>
              <a:gd name="connsiteY0" fmla="*/ 0 h 387350"/>
              <a:gd name="connisteX1" fmla="*/ 25400 w 25964"/>
              <a:gd name="connsiteY1" fmla="*/ 69850 h 387350"/>
              <a:gd name="connisteX2" fmla="*/ 25400 w 25964"/>
              <a:gd name="connsiteY2" fmla="*/ 152400 h 387350"/>
              <a:gd name="connisteX3" fmla="*/ 19050 w 25964"/>
              <a:gd name="connsiteY3" fmla="*/ 234950 h 387350"/>
              <a:gd name="connisteX4" fmla="*/ 6350 w 25964"/>
              <a:gd name="connsiteY4" fmla="*/ 311150 h 387350"/>
              <a:gd name="connisteX5" fmla="*/ 0 w 25964"/>
              <a:gd name="connsiteY5" fmla="*/ 387350 h 3873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25964" h="387350">
                <a:moveTo>
                  <a:pt x="25400" y="0"/>
                </a:moveTo>
                <a:cubicBezTo>
                  <a:pt x="25400" y="12065"/>
                  <a:pt x="25400" y="39370"/>
                  <a:pt x="25400" y="69850"/>
                </a:cubicBezTo>
                <a:cubicBezTo>
                  <a:pt x="25400" y="100330"/>
                  <a:pt x="26670" y="119380"/>
                  <a:pt x="25400" y="152400"/>
                </a:cubicBezTo>
                <a:cubicBezTo>
                  <a:pt x="24130" y="185420"/>
                  <a:pt x="22860" y="203200"/>
                  <a:pt x="19050" y="234950"/>
                </a:cubicBezTo>
                <a:cubicBezTo>
                  <a:pt x="15240" y="266700"/>
                  <a:pt x="10160" y="280670"/>
                  <a:pt x="6350" y="311150"/>
                </a:cubicBezTo>
                <a:cubicBezTo>
                  <a:pt x="2540" y="341630"/>
                  <a:pt x="1270" y="373380"/>
                  <a:pt x="0" y="387350"/>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弧形 12"/>
          <p:cNvSpPr/>
          <p:nvPr/>
        </p:nvSpPr>
        <p:spPr>
          <a:xfrm flipH="1" flipV="1">
            <a:off x="2917825" y="4549140"/>
            <a:ext cx="184150" cy="183515"/>
          </a:xfrm>
          <a:prstGeom prst="arc">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弧形 13"/>
          <p:cNvSpPr/>
          <p:nvPr/>
        </p:nvSpPr>
        <p:spPr>
          <a:xfrm flipH="1" flipV="1">
            <a:off x="6346825" y="4587240"/>
            <a:ext cx="184150" cy="183515"/>
          </a:xfrm>
          <a:prstGeom prst="arc">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小测</a:t>
            </a:r>
            <a:r>
              <a:rPr lang="en-US" altLang="zh-CN" dirty="0"/>
              <a:t>4</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3" name="文本框 2"/>
          <p:cNvSpPr txBox="1"/>
          <p:nvPr/>
        </p:nvSpPr>
        <p:spPr>
          <a:xfrm>
            <a:off x="479425" y="1183640"/>
            <a:ext cx="10318750" cy="1445260"/>
          </a:xfrm>
          <a:prstGeom prst="rect">
            <a:avLst/>
          </a:prstGeom>
        </p:spPr>
        <p:txBody>
          <a:bodyPr wrap="square">
            <a:spAutoFit/>
          </a:bodyPr>
          <a:p>
            <a:pPr marL="0" indent="0" algn="just" defTabSz="266700">
              <a:spcBef>
                <a:spcPct val="0"/>
              </a:spcBef>
              <a:spcAft>
                <a:spcPct val="0"/>
              </a:spcAft>
            </a:pPr>
            <a:r>
              <a:rPr lang="en-US" altLang="zh-CN">
                <a:latin typeface="Arial" panose="020B0604020202020204"/>
                <a:ea typeface="宋体" panose="02010600030101010101" pitchFamily="2" charset="-122"/>
              </a:rPr>
              <a:t>2</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由</a:t>
            </a:r>
            <a:r>
              <a:rPr lang="en-US" altLang="zh-CN">
                <a:latin typeface="宋体" panose="02010600030101010101" pitchFamily="2" charset="-122"/>
                <a:ea typeface="宋体" panose="02010600030101010101" pitchFamily="2" charset="-122"/>
              </a:rPr>
              <a:t>555</a:t>
            </a:r>
            <a:r>
              <a:rPr lang="zh-CN" altLang="en-US">
                <a:latin typeface="宋体" panose="02010600030101010101" pitchFamily="2" charset="-122"/>
                <a:ea typeface="宋体" panose="02010600030101010101" pitchFamily="2" charset="-122"/>
              </a:rPr>
              <a:t>定时器和负边沿</a:t>
            </a:r>
            <a:r>
              <a:rPr lang="en-US" altLang="zh-CN">
                <a:latin typeface="Arial" panose="020B0604020202020204"/>
                <a:ea typeface="宋体" panose="02010600030101010101" pitchFamily="2" charset="-122"/>
              </a:rPr>
              <a:t>JK</a:t>
            </a:r>
            <a:r>
              <a:rPr lang="zh-CN" altLang="en-US">
                <a:latin typeface="宋体" panose="02010600030101010101" pitchFamily="2" charset="-122"/>
                <a:ea typeface="宋体" panose="02010600030101010101" pitchFamily="2" charset="-122"/>
              </a:rPr>
              <a:t>触发器组成的两相时钟产生电路如题</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图所示，已知</a:t>
            </a:r>
            <a:r>
              <a:rPr lang="en-US" altLang="zh-CN">
                <a:latin typeface="Arial" panose="020B0604020202020204"/>
                <a:ea typeface="宋体" panose="02010600030101010101" pitchFamily="2" charset="-122"/>
              </a:rPr>
              <a:t>R</a:t>
            </a:r>
            <a:r>
              <a:rPr lang="en-US" altLang="zh-CN" baseline="-25000">
                <a:latin typeface="Arial" panose="020B0604020202020204"/>
                <a:ea typeface="宋体" panose="02010600030101010101" pitchFamily="2" charset="-122"/>
              </a:rPr>
              <a:t>1</a:t>
            </a:r>
            <a:r>
              <a:rPr lang="zh-CN" altLang="en-US">
                <a:latin typeface="宋体" panose="02010600030101010101" pitchFamily="2" charset="-122"/>
                <a:ea typeface="宋体" panose="02010600030101010101" pitchFamily="2" charset="-122"/>
              </a:rPr>
              <a:t>＝</a:t>
            </a:r>
            <a:r>
              <a:rPr lang="en-US" altLang="zh-CN">
                <a:latin typeface="Arial" panose="020B0604020202020204"/>
                <a:ea typeface="宋体" panose="02010600030101010101" pitchFamily="2" charset="-122"/>
              </a:rPr>
              <a:t>510Ω</a:t>
            </a:r>
            <a:r>
              <a:rPr lang="zh-CN" altLang="en-US">
                <a:latin typeface="宋体" panose="02010600030101010101" pitchFamily="2" charset="-122"/>
                <a:ea typeface="宋体" panose="02010600030101010101" pitchFamily="2" charset="-122"/>
              </a:rPr>
              <a:t>，</a:t>
            </a:r>
            <a:r>
              <a:rPr lang="en-US" altLang="zh-CN">
                <a:latin typeface="Arial" panose="020B0604020202020204"/>
                <a:ea typeface="宋体" panose="02010600030101010101" pitchFamily="2" charset="-122"/>
              </a:rPr>
              <a:t>R</a:t>
            </a:r>
            <a:r>
              <a:rPr lang="en-US" altLang="zh-CN" baseline="-25000">
                <a:latin typeface="Arial" panose="020B0604020202020204"/>
                <a:ea typeface="宋体" panose="02010600030101010101" pitchFamily="2" charset="-122"/>
              </a:rPr>
              <a:t>2</a:t>
            </a:r>
            <a:r>
              <a:rPr lang="zh-CN" altLang="en-US">
                <a:latin typeface="宋体" panose="02010600030101010101" pitchFamily="2" charset="-122"/>
                <a:ea typeface="宋体" panose="02010600030101010101" pitchFamily="2" charset="-122"/>
              </a:rPr>
              <a:t>＝</a:t>
            </a:r>
            <a:r>
              <a:rPr lang="en-US" altLang="zh-CN">
                <a:latin typeface="Arial" panose="020B0604020202020204"/>
                <a:ea typeface="宋体" panose="02010600030101010101" pitchFamily="2" charset="-122"/>
              </a:rPr>
              <a:t>10 kΩ</a:t>
            </a:r>
            <a:r>
              <a:rPr lang="zh-CN" altLang="en-US">
                <a:latin typeface="宋体" panose="02010600030101010101" pitchFamily="2" charset="-122"/>
                <a:ea typeface="宋体" panose="02010600030101010101" pitchFamily="2" charset="-122"/>
              </a:rPr>
              <a:t>，</a:t>
            </a:r>
            <a:r>
              <a:rPr lang="en-US" altLang="zh-CN">
                <a:latin typeface="Arial" panose="020B0604020202020204"/>
                <a:ea typeface="宋体" panose="02010600030101010101" pitchFamily="2" charset="-122"/>
              </a:rPr>
              <a:t>C</a:t>
            </a:r>
            <a:r>
              <a:rPr lang="zh-CN" altLang="en-US">
                <a:latin typeface="宋体" panose="02010600030101010101" pitchFamily="2" charset="-122"/>
                <a:ea typeface="宋体" panose="02010600030101010101" pitchFamily="2" charset="-122"/>
              </a:rPr>
              <a:t>＝</a:t>
            </a:r>
            <a:r>
              <a:rPr lang="en-US" altLang="zh-CN">
                <a:latin typeface="Arial" panose="020B0604020202020204"/>
                <a:ea typeface="宋体" panose="02010600030101010101" pitchFamily="2" charset="-122"/>
              </a:rPr>
              <a:t>0.1μF</a:t>
            </a:r>
            <a:r>
              <a:rPr lang="zh-CN" altLang="en-US">
                <a:latin typeface="宋体" panose="02010600030101010101" pitchFamily="2" charset="-122"/>
                <a:ea typeface="宋体" panose="02010600030101010101" pitchFamily="2" charset="-122"/>
              </a:rPr>
              <a:t>。</a:t>
            </a:r>
            <a:endParaRPr lang="zh-CN" altLang="en-US">
              <a:latin typeface="宋体" panose="02010600030101010101" pitchFamily="2" charset="-122"/>
              <a:ea typeface="宋体" panose="02010600030101010101" pitchFamily="2" charset="-122"/>
            </a:endParaRPr>
          </a:p>
          <a:p>
            <a:pPr marL="0" indent="-112395" algn="just" defTabSz="266700">
              <a:spcBef>
                <a:spcPct val="0"/>
              </a:spcBef>
              <a:spcAft>
                <a:spcPct val="0"/>
              </a:spcAft>
            </a:pP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）画出</a:t>
            </a:r>
            <a:r>
              <a:rPr lang="en-US" altLang="zh-CN">
                <a:latin typeface="宋体" panose="02010600030101010101" pitchFamily="2" charset="-122"/>
                <a:ea typeface="宋体" panose="02010600030101010101" pitchFamily="2" charset="-122"/>
              </a:rPr>
              <a:t>555</a:t>
            </a:r>
            <a:r>
              <a:rPr lang="zh-CN" altLang="en-US">
                <a:latin typeface="宋体" panose="02010600030101010101" pitchFamily="2" charset="-122"/>
                <a:ea typeface="宋体" panose="02010600030101010101" pitchFamily="2" charset="-122"/>
              </a:rPr>
              <a:t>定时器的输出</a:t>
            </a:r>
            <a:r>
              <a:rPr lang="en-US" altLang="zh-CN">
                <a:latin typeface="Arial" panose="020B0604020202020204"/>
                <a:ea typeface="宋体" panose="02010600030101010101" pitchFamily="2" charset="-122"/>
              </a:rPr>
              <a:t>V</a:t>
            </a:r>
            <a:r>
              <a:rPr lang="en-US" altLang="zh-CN" baseline="-25000">
                <a:latin typeface="Arial" panose="020B0604020202020204"/>
                <a:ea typeface="宋体" panose="02010600030101010101" pitchFamily="2" charset="-122"/>
              </a:rPr>
              <a:t>O</a:t>
            </a:r>
            <a:r>
              <a:rPr lang="zh-CN" altLang="en-US">
                <a:latin typeface="宋体" panose="02010600030101010101" pitchFamily="2" charset="-122"/>
                <a:ea typeface="宋体" panose="02010600030101010101" pitchFamily="2" charset="-122"/>
              </a:rPr>
              <a:t>以及</a:t>
            </a:r>
            <a:r>
              <a:rPr lang="en-US" altLang="zh-CN">
                <a:latin typeface="Arial" panose="020B0604020202020204"/>
                <a:ea typeface="宋体" panose="02010600030101010101" pitchFamily="2" charset="-122"/>
              </a:rPr>
              <a:t>Clk1</a:t>
            </a:r>
            <a:r>
              <a:rPr lang="zh-CN" altLang="en-US">
                <a:latin typeface="宋体" panose="02010600030101010101" pitchFamily="2" charset="-122"/>
                <a:ea typeface="宋体" panose="02010600030101010101" pitchFamily="2" charset="-122"/>
              </a:rPr>
              <a:t>和</a:t>
            </a:r>
            <a:r>
              <a:rPr lang="en-US" altLang="zh-CN">
                <a:latin typeface="Arial" panose="020B0604020202020204"/>
                <a:ea typeface="宋体" panose="02010600030101010101" pitchFamily="2" charset="-122"/>
              </a:rPr>
              <a:t>Clk2</a:t>
            </a:r>
            <a:r>
              <a:rPr lang="zh-CN" altLang="en-US">
                <a:latin typeface="宋体" panose="02010600030101010101" pitchFamily="2" charset="-122"/>
                <a:ea typeface="宋体" panose="02010600030101010101" pitchFamily="2" charset="-122"/>
              </a:rPr>
              <a:t>端的波形，</a:t>
            </a:r>
            <a:r>
              <a:rPr lang="en-US" altLang="zh-CN">
                <a:latin typeface="Arial" panose="020B0604020202020204"/>
                <a:ea typeface="宋体" panose="02010600030101010101" pitchFamily="2" charset="-122"/>
              </a:rPr>
              <a:t>Q</a:t>
            </a:r>
            <a:r>
              <a:rPr lang="zh-CN" altLang="en-US">
                <a:latin typeface="宋体" panose="02010600030101010101" pitchFamily="2" charset="-122"/>
                <a:ea typeface="宋体" panose="02010600030101010101" pitchFamily="2" charset="-122"/>
              </a:rPr>
              <a:t>初始状态为</a:t>
            </a:r>
            <a:r>
              <a:rPr lang="en-US" altLang="zh-CN">
                <a:latin typeface="Arial" panose="020B0604020202020204"/>
                <a:ea typeface="宋体" panose="02010600030101010101" pitchFamily="2" charset="-122"/>
              </a:rPr>
              <a:t>0</a:t>
            </a:r>
            <a:r>
              <a:rPr lang="zh-CN" altLang="en-US">
                <a:latin typeface="宋体" panose="02010600030101010101" pitchFamily="2" charset="-122"/>
                <a:ea typeface="宋体" panose="02010600030101010101" pitchFamily="2" charset="-122"/>
              </a:rPr>
              <a:t>。</a:t>
            </a:r>
            <a:endParaRPr lang="zh-CN" altLang="en-US">
              <a:latin typeface="宋体" panose="02010600030101010101" pitchFamily="2" charset="-122"/>
              <a:ea typeface="宋体" panose="02010600030101010101" pitchFamily="2" charset="-122"/>
            </a:endParaRPr>
          </a:p>
          <a:p>
            <a:pPr marL="0" indent="-112395" algn="just" defTabSz="266700">
              <a:spcBef>
                <a:spcPct val="0"/>
              </a:spcBef>
              <a:spcAft>
                <a:spcPct val="0"/>
              </a:spcAft>
            </a:pP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）计算</a:t>
            </a:r>
            <a:r>
              <a:rPr lang="en-US" altLang="zh-CN">
                <a:latin typeface="Arial" panose="020B0604020202020204"/>
                <a:ea typeface="宋体" panose="02010600030101010101" pitchFamily="2" charset="-122"/>
              </a:rPr>
              <a:t>Clk1</a:t>
            </a:r>
            <a:r>
              <a:rPr lang="zh-CN" altLang="en-US">
                <a:latin typeface="宋体" panose="02010600030101010101" pitchFamily="2" charset="-122"/>
                <a:ea typeface="宋体" panose="02010600030101010101" pitchFamily="2" charset="-122"/>
              </a:rPr>
              <a:t>的周期</a:t>
            </a:r>
            <a:r>
              <a:rPr lang="en-US" altLang="zh-CN">
                <a:latin typeface="Arial" panose="020B0604020202020204"/>
                <a:ea typeface="宋体" panose="02010600030101010101" pitchFamily="2" charset="-122"/>
              </a:rPr>
              <a:t>T</a:t>
            </a:r>
            <a:r>
              <a:rPr lang="en-US" altLang="zh-CN" baseline="-25000">
                <a:latin typeface="Arial" panose="020B0604020202020204"/>
                <a:ea typeface="宋体" panose="02010600030101010101" pitchFamily="2" charset="-122"/>
              </a:rPr>
              <a:t>clk1</a:t>
            </a:r>
            <a:r>
              <a:rPr lang="zh-CN" altLang="en-US">
                <a:latin typeface="宋体" panose="02010600030101010101" pitchFamily="2" charset="-122"/>
                <a:ea typeface="宋体" panose="02010600030101010101" pitchFamily="2" charset="-122"/>
              </a:rPr>
              <a:t>和脉冲宽度</a:t>
            </a:r>
            <a:r>
              <a:rPr lang="en-US" altLang="zh-CN">
                <a:latin typeface="Arial" panose="020B0604020202020204"/>
                <a:ea typeface="宋体" panose="02010600030101010101" pitchFamily="2" charset="-122"/>
              </a:rPr>
              <a:t>T</a:t>
            </a:r>
            <a:r>
              <a:rPr lang="en-US" altLang="zh-CN" baseline="-25000">
                <a:latin typeface="Arial" panose="020B0604020202020204"/>
                <a:ea typeface="宋体" panose="02010600030101010101" pitchFamily="2" charset="-122"/>
              </a:rPr>
              <a:t>W</a:t>
            </a:r>
            <a:r>
              <a:rPr lang="zh-CN" altLang="en-US">
                <a:latin typeface="Times New Roman" panose="02020603050405020304"/>
                <a:ea typeface="宋体" panose="02010600030101010101" pitchFamily="2" charset="-122"/>
              </a:rPr>
              <a:t>。</a:t>
            </a:r>
            <a:endParaRPr lang="zh-CN" altLang="en-US">
              <a:latin typeface="Times New Roman" panose="02020603050405020304"/>
              <a:ea typeface="宋体" panose="02010600030101010101" pitchFamily="2" charset="-122"/>
            </a:endParaRPr>
          </a:p>
          <a:p>
            <a:pPr marL="0" indent="0" algn="just" defTabSz="266700">
              <a:spcBef>
                <a:spcPct val="0"/>
              </a:spcBef>
              <a:spcAft>
                <a:spcPct val="0"/>
              </a:spcAft>
            </a:pPr>
            <a:r>
              <a:rPr lang="en-US" altLang="zh-CN" sz="1600" b="1">
                <a:latin typeface="Times New Roman" panose="02020603050405020304"/>
                <a:ea typeface="宋体" panose="02010600030101010101" pitchFamily="2" charset="-122"/>
              </a:rPr>
              <a:t> </a:t>
            </a:r>
            <a:endParaRPr lang="en-US" altLang="zh-CN" sz="1600" b="1">
              <a:latin typeface="Times New Roman" panose="02020603050405020304"/>
              <a:ea typeface="宋体" panose="02010600030101010101" pitchFamily="2" charset="-122"/>
            </a:endParaRPr>
          </a:p>
        </p:txBody>
      </p:sp>
      <p:pic>
        <p:nvPicPr>
          <p:cNvPr id="4" name="图片 3"/>
          <p:cNvPicPr/>
          <p:nvPr/>
        </p:nvPicPr>
        <p:blipFill>
          <a:blip r:embed="rId1"/>
          <a:stretch>
            <a:fillRect/>
          </a:stretch>
        </p:blipFill>
        <p:spPr>
          <a:xfrm>
            <a:off x="365125" y="3242945"/>
            <a:ext cx="4514850" cy="1896745"/>
          </a:xfrm>
          <a:prstGeom prst="rect">
            <a:avLst/>
          </a:prstGeom>
        </p:spPr>
      </p:pic>
      <p:pic>
        <p:nvPicPr>
          <p:cNvPr id="5"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337175" y="4994275"/>
            <a:ext cx="6444615" cy="1431290"/>
          </a:xfrm>
          <a:prstGeom prst="rect">
            <a:avLst/>
          </a:prstGeom>
          <a:noFill/>
          <a:ln>
            <a:noFill/>
          </a:ln>
        </p:spPr>
      </p:pic>
      <p:pic>
        <p:nvPicPr>
          <p:cNvPr id="6" name="图片 5"/>
          <p:cNvPicPr>
            <a:picLocks noChangeAspect="1"/>
          </p:cNvPicPr>
          <p:nvPr/>
        </p:nvPicPr>
        <p:blipFill>
          <a:blip r:embed="rId3">
            <a:lum bright="-30000" contrast="30000"/>
          </a:blip>
          <a:stretch>
            <a:fillRect/>
          </a:stretch>
        </p:blipFill>
        <p:spPr>
          <a:xfrm>
            <a:off x="5337175" y="2354580"/>
            <a:ext cx="5835650" cy="256159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小测</a:t>
            </a:r>
            <a:r>
              <a:rPr lang="en-US" altLang="zh-CN" dirty="0"/>
              <a:t>4</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pic>
        <p:nvPicPr>
          <p:cNvPr id="53" name="图片 52"/>
          <p:cNvPicPr>
            <a:picLocks noChangeAspect="1"/>
          </p:cNvPicPr>
          <p:nvPr/>
        </p:nvPicPr>
        <p:blipFill>
          <a:blip r:embed="rId1"/>
          <a:stretch>
            <a:fillRect/>
          </a:stretch>
        </p:blipFill>
        <p:spPr>
          <a:xfrm>
            <a:off x="6322060" y="3724910"/>
            <a:ext cx="4257675" cy="1457325"/>
          </a:xfrm>
          <a:prstGeom prst="rect">
            <a:avLst/>
          </a:prstGeom>
        </p:spPr>
      </p:pic>
      <p:pic>
        <p:nvPicPr>
          <p:cNvPr id="54" name="图片 53"/>
          <p:cNvPicPr>
            <a:picLocks noChangeAspect="1"/>
          </p:cNvPicPr>
          <p:nvPr/>
        </p:nvPicPr>
        <p:blipFill>
          <a:blip r:embed="rId2"/>
          <a:stretch>
            <a:fillRect/>
          </a:stretch>
        </p:blipFill>
        <p:spPr>
          <a:xfrm>
            <a:off x="251460" y="989330"/>
            <a:ext cx="7658100" cy="923925"/>
          </a:xfrm>
          <a:prstGeom prst="rect">
            <a:avLst/>
          </a:prstGeom>
        </p:spPr>
      </p:pic>
      <p:graphicFrame>
        <p:nvGraphicFramePr>
          <p:cNvPr id="3" name="对象 -2147482623"/>
          <p:cNvGraphicFramePr>
            <a:graphicFrameLocks noChangeAspect="1"/>
          </p:cNvGraphicFramePr>
          <p:nvPr/>
        </p:nvGraphicFramePr>
        <p:xfrm>
          <a:off x="251460" y="2625090"/>
          <a:ext cx="5610860" cy="2945130"/>
        </p:xfrm>
        <a:graphic>
          <a:graphicData uri="http://schemas.openxmlformats.org/presentationml/2006/ole">
            <mc:AlternateContent xmlns:mc="http://schemas.openxmlformats.org/markup-compatibility/2006">
              <mc:Choice xmlns:v="urn:schemas-microsoft-com:vml" Requires="v">
                <p:oleObj spid="_x0000_s3076" name="" r:id="rId3" imgW="3434080" imgH="1809115" progId="Visio.Drawing.15">
                  <p:embed/>
                </p:oleObj>
              </mc:Choice>
              <mc:Fallback>
                <p:oleObj name="" r:id="rId3" imgW="3434080" imgH="1809115" progId="Visio.Drawing.15">
                  <p:embed/>
                  <p:pic>
                    <p:nvPicPr>
                      <p:cNvPr id="0" name="图片 3075"/>
                      <p:cNvPicPr/>
                      <p:nvPr/>
                    </p:nvPicPr>
                    <p:blipFill>
                      <a:blip r:embed="rId4"/>
                      <a:stretch>
                        <a:fillRect/>
                      </a:stretch>
                    </p:blipFill>
                    <p:spPr>
                      <a:xfrm>
                        <a:off x="251460" y="2625090"/>
                        <a:ext cx="5610860" cy="2945130"/>
                      </a:xfrm>
                      <a:prstGeom prst="rect">
                        <a:avLst/>
                      </a:prstGeom>
                      <a:noFill/>
                      <a:ln w="38100">
                        <a:noFill/>
                        <a:miter/>
                      </a:ln>
                    </p:spPr>
                  </p:pic>
                </p:oleObj>
              </mc:Fallback>
            </mc:AlternateContent>
          </a:graphicData>
        </a:graphic>
      </p:graphicFrame>
      <p:pic>
        <p:nvPicPr>
          <p:cNvPr id="55" name="图片 54"/>
          <p:cNvPicPr>
            <a:picLocks noChangeAspect="1"/>
          </p:cNvPicPr>
          <p:nvPr/>
        </p:nvPicPr>
        <p:blipFill>
          <a:blip r:embed="rId5"/>
          <a:stretch>
            <a:fillRect/>
          </a:stretch>
        </p:blipFill>
        <p:spPr>
          <a:xfrm>
            <a:off x="5133340" y="1913255"/>
            <a:ext cx="7058660" cy="1443990"/>
          </a:xfrm>
          <a:prstGeom prst="rect">
            <a:avLst/>
          </a:prstGeom>
        </p:spPr>
      </p:pic>
      <p:pic>
        <p:nvPicPr>
          <p:cNvPr id="4" name="图片 3"/>
          <p:cNvPicPr>
            <a:picLocks noChangeAspect="1"/>
          </p:cNvPicPr>
          <p:nvPr/>
        </p:nvPicPr>
        <p:blipFill>
          <a:blip r:embed="rId6"/>
          <a:stretch>
            <a:fillRect/>
          </a:stretch>
        </p:blipFill>
        <p:spPr>
          <a:xfrm>
            <a:off x="9998710" y="4550410"/>
            <a:ext cx="581025" cy="4191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小测</a:t>
            </a:r>
            <a:r>
              <a:rPr lang="en-US" altLang="zh-CN" dirty="0"/>
              <a:t>4</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pic>
        <p:nvPicPr>
          <p:cNvPr id="54" name="图片 53"/>
          <p:cNvPicPr>
            <a:picLocks noChangeAspect="1"/>
          </p:cNvPicPr>
          <p:nvPr/>
        </p:nvPicPr>
        <p:blipFill>
          <a:blip r:embed="rId1"/>
          <a:stretch>
            <a:fillRect/>
          </a:stretch>
        </p:blipFill>
        <p:spPr>
          <a:xfrm>
            <a:off x="251460" y="989330"/>
            <a:ext cx="7658100" cy="923925"/>
          </a:xfrm>
          <a:prstGeom prst="rect">
            <a:avLst/>
          </a:prstGeom>
        </p:spPr>
      </p:pic>
      <p:graphicFrame>
        <p:nvGraphicFramePr>
          <p:cNvPr id="3" name="对象 -2147482623"/>
          <p:cNvGraphicFramePr>
            <a:graphicFrameLocks noChangeAspect="1"/>
          </p:cNvGraphicFramePr>
          <p:nvPr/>
        </p:nvGraphicFramePr>
        <p:xfrm>
          <a:off x="251460" y="2625090"/>
          <a:ext cx="5610860" cy="2945130"/>
        </p:xfrm>
        <a:graphic>
          <a:graphicData uri="http://schemas.openxmlformats.org/presentationml/2006/ole">
            <mc:AlternateContent xmlns:mc="http://schemas.openxmlformats.org/markup-compatibility/2006">
              <mc:Choice xmlns:v="urn:schemas-microsoft-com:vml" Requires="v">
                <p:oleObj spid="_x0000_s3076" name="" r:id="rId2" imgW="3434080" imgH="1809115" progId="Visio.Drawing.15">
                  <p:embed/>
                </p:oleObj>
              </mc:Choice>
              <mc:Fallback>
                <p:oleObj name="" r:id="rId2" imgW="3434080" imgH="1809115" progId="Visio.Drawing.15">
                  <p:embed/>
                  <p:pic>
                    <p:nvPicPr>
                      <p:cNvPr id="0" name="图片 3075"/>
                      <p:cNvPicPr/>
                      <p:nvPr/>
                    </p:nvPicPr>
                    <p:blipFill>
                      <a:blip r:embed="rId3"/>
                      <a:stretch>
                        <a:fillRect/>
                      </a:stretch>
                    </p:blipFill>
                    <p:spPr>
                      <a:xfrm>
                        <a:off x="251460" y="2625090"/>
                        <a:ext cx="5610860" cy="2945130"/>
                      </a:xfrm>
                      <a:prstGeom prst="rect">
                        <a:avLst/>
                      </a:prstGeom>
                      <a:noFill/>
                      <a:ln w="38100">
                        <a:noFill/>
                        <a:miter/>
                      </a:ln>
                    </p:spPr>
                  </p:pic>
                </p:oleObj>
              </mc:Fallback>
            </mc:AlternateContent>
          </a:graphicData>
        </a:graphic>
      </p:graphicFrame>
      <p:pic>
        <p:nvPicPr>
          <p:cNvPr id="4" name="图片 3"/>
          <p:cNvPicPr>
            <a:picLocks noChangeAspect="1"/>
          </p:cNvPicPr>
          <p:nvPr/>
        </p:nvPicPr>
        <p:blipFill>
          <a:blip r:embed="rId4"/>
          <a:stretch>
            <a:fillRect/>
          </a:stretch>
        </p:blipFill>
        <p:spPr>
          <a:xfrm>
            <a:off x="4263390" y="1835785"/>
            <a:ext cx="7820025" cy="1028700"/>
          </a:xfrm>
          <a:prstGeom prst="rect">
            <a:avLst/>
          </a:prstGeom>
        </p:spPr>
      </p:pic>
      <p:pic>
        <p:nvPicPr>
          <p:cNvPr id="5" name="图片 4"/>
          <p:cNvPicPr>
            <a:picLocks noChangeAspect="1"/>
          </p:cNvPicPr>
          <p:nvPr/>
        </p:nvPicPr>
        <p:blipFill>
          <a:blip r:embed="rId5"/>
          <a:stretch>
            <a:fillRect/>
          </a:stretch>
        </p:blipFill>
        <p:spPr>
          <a:xfrm>
            <a:off x="6448425" y="3058795"/>
            <a:ext cx="4314825" cy="2133600"/>
          </a:xfrm>
          <a:prstGeom prst="rect">
            <a:avLst/>
          </a:prstGeom>
        </p:spPr>
      </p:pic>
      <p:pic>
        <p:nvPicPr>
          <p:cNvPr id="6" name="图片 5"/>
          <p:cNvPicPr>
            <a:picLocks noChangeAspect="1"/>
          </p:cNvPicPr>
          <p:nvPr/>
        </p:nvPicPr>
        <p:blipFill>
          <a:blip r:embed="rId6"/>
          <a:srcRect r="94181"/>
          <a:stretch>
            <a:fillRect/>
          </a:stretch>
        </p:blipFill>
        <p:spPr>
          <a:xfrm>
            <a:off x="6901815" y="5132705"/>
            <a:ext cx="255905" cy="568325"/>
          </a:xfrm>
          <a:prstGeom prst="rect">
            <a:avLst/>
          </a:prstGeom>
        </p:spPr>
      </p:pic>
      <p:pic>
        <p:nvPicPr>
          <p:cNvPr id="9" name="图片 8"/>
          <p:cNvPicPr>
            <a:picLocks noChangeAspect="1"/>
          </p:cNvPicPr>
          <p:nvPr/>
        </p:nvPicPr>
        <p:blipFill>
          <a:blip r:embed="rId7"/>
          <a:stretch>
            <a:fillRect/>
          </a:stretch>
        </p:blipFill>
        <p:spPr>
          <a:xfrm>
            <a:off x="7191375" y="5192395"/>
            <a:ext cx="2828925" cy="473075"/>
          </a:xfrm>
          <a:prstGeom prst="rect">
            <a:avLst/>
          </a:prstGeom>
        </p:spPr>
      </p:pic>
      <p:pic>
        <p:nvPicPr>
          <p:cNvPr id="10" name="图片 9"/>
          <p:cNvPicPr>
            <a:picLocks noChangeAspect="1"/>
          </p:cNvPicPr>
          <p:nvPr/>
        </p:nvPicPr>
        <p:blipFill>
          <a:blip r:embed="rId8"/>
          <a:stretch>
            <a:fillRect/>
          </a:stretch>
        </p:blipFill>
        <p:spPr>
          <a:xfrm>
            <a:off x="6607175" y="5723890"/>
            <a:ext cx="3535045" cy="39433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小测</a:t>
            </a:r>
            <a:r>
              <a:rPr lang="en-US" altLang="zh-CN" dirty="0"/>
              <a:t>4</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3" name="文本框 2"/>
          <p:cNvSpPr txBox="1"/>
          <p:nvPr/>
        </p:nvSpPr>
        <p:spPr>
          <a:xfrm>
            <a:off x="493395" y="1182370"/>
            <a:ext cx="10943590" cy="645160"/>
          </a:xfrm>
          <a:prstGeom prst="rect">
            <a:avLst/>
          </a:prstGeom>
        </p:spPr>
        <p:txBody>
          <a:bodyPr wrap="square">
            <a:spAutoFit/>
          </a:bodyPr>
          <a:p>
            <a:pPr indent="0" algn="just" defTabSz="266700">
              <a:spcBef>
                <a:spcPct val="0"/>
              </a:spcBef>
              <a:spcAft>
                <a:spcPct val="0"/>
              </a:spcAft>
            </a:pPr>
            <a:r>
              <a:rPr lang="en-US" altLang="zh-CN">
                <a:latin typeface="Arial" panose="020B0604020202020204"/>
                <a:ea typeface="宋体" panose="02010600030101010101" pitchFamily="2" charset="-122"/>
              </a:rPr>
              <a:t>4. </a:t>
            </a:r>
            <a:r>
              <a:rPr lang="zh-CN" altLang="en-US">
                <a:latin typeface="宋体" panose="02010600030101010101" pitchFamily="2" charset="-122"/>
                <a:ea typeface="宋体" panose="02010600030101010101" pitchFamily="2" charset="-122"/>
              </a:rPr>
              <a:t>如题</a:t>
            </a:r>
            <a:r>
              <a:rPr lang="en-US" altLang="zh-CN">
                <a:latin typeface="Arial" panose="020B0604020202020204"/>
                <a:ea typeface="宋体" panose="02010600030101010101" pitchFamily="2" charset="-122"/>
              </a:rPr>
              <a:t>4</a:t>
            </a:r>
            <a:r>
              <a:rPr lang="zh-CN" altLang="en-US">
                <a:latin typeface="宋体" panose="02010600030101010101" pitchFamily="2" charset="-122"/>
                <a:ea typeface="宋体" panose="02010600030101010101" pitchFamily="2" charset="-122"/>
              </a:rPr>
              <a:t>图所示，控制器实现的电路框图和只读存储器（</a:t>
            </a:r>
            <a:r>
              <a:rPr lang="en-US" altLang="zh-CN">
                <a:latin typeface="Arial" panose="020B0604020202020204"/>
                <a:ea typeface="宋体" panose="02010600030101010101" pitchFamily="2" charset="-122"/>
              </a:rPr>
              <a:t>ROM</a:t>
            </a:r>
            <a:r>
              <a:rPr lang="zh-CN" altLang="en-US">
                <a:latin typeface="宋体" panose="02010600030101010101" pitchFamily="2" charset="-122"/>
                <a:ea typeface="宋体" panose="02010600030101010101" pitchFamily="2" charset="-122"/>
              </a:rPr>
              <a:t>）中的内容。请画出此控制器实现的有限状态机（</a:t>
            </a:r>
            <a:r>
              <a:rPr lang="en-US" altLang="zh-CN">
                <a:latin typeface="宋体" panose="02010600030101010101" pitchFamily="2" charset="-122"/>
                <a:ea typeface="宋体" panose="02010600030101010101" pitchFamily="2" charset="-122"/>
              </a:rPr>
              <a:t>hint</a:t>
            </a:r>
            <a:r>
              <a:rPr lang="zh-CN" altLang="en-US">
                <a:latin typeface="宋体" panose="02010600030101010101" pitchFamily="2" charset="-122"/>
                <a:ea typeface="宋体" panose="02010600030101010101" pitchFamily="2" charset="-122"/>
              </a:rPr>
              <a:t>：画出状态转换图</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状态转换表</a:t>
            </a:r>
            <a:r>
              <a:rPr lang="en-US" altLang="zh-CN">
                <a:latin typeface="宋体" panose="02010600030101010101" pitchFamily="2" charset="-122"/>
                <a:ea typeface="宋体" panose="02010600030101010101" pitchFamily="2" charset="-122"/>
              </a:rPr>
              <a:t>/ASM</a:t>
            </a:r>
            <a:r>
              <a:rPr lang="zh-CN" altLang="en-US">
                <a:latin typeface="宋体" panose="02010600030101010101" pitchFamily="2" charset="-122"/>
                <a:ea typeface="宋体" panose="02010600030101010101" pitchFamily="2" charset="-122"/>
              </a:rPr>
              <a:t>图）。</a:t>
            </a:r>
            <a:endParaRPr lang="zh-CN" altLang="en-US">
              <a:latin typeface="宋体" panose="02010600030101010101" pitchFamily="2" charset="-122"/>
              <a:ea typeface="宋体" panose="02010600030101010101" pitchFamily="2" charset="-122"/>
            </a:endParaRPr>
          </a:p>
        </p:txBody>
      </p:sp>
      <p:graphicFrame>
        <p:nvGraphicFramePr>
          <p:cNvPr id="4" name="对象 -2147482622"/>
          <p:cNvGraphicFramePr>
            <a:graphicFrameLocks noChangeAspect="1"/>
          </p:cNvGraphicFramePr>
          <p:nvPr/>
        </p:nvGraphicFramePr>
        <p:xfrm>
          <a:off x="1090613" y="1827530"/>
          <a:ext cx="4195445" cy="4683760"/>
        </p:xfrm>
        <a:graphic>
          <a:graphicData uri="http://schemas.openxmlformats.org/presentationml/2006/ole">
            <mc:AlternateContent xmlns:mc="http://schemas.openxmlformats.org/markup-compatibility/2006">
              <mc:Choice xmlns:v="urn:schemas-microsoft-com:vml" Requires="v">
                <p:oleObj spid="_x0000_s3076" name="" r:id="rId1" imgW="4299585" imgH="4795520" progId="Visio.Drawing.11">
                  <p:embed/>
                </p:oleObj>
              </mc:Choice>
              <mc:Fallback>
                <p:oleObj name="" r:id="rId1" imgW="4299585" imgH="4795520" progId="Visio.Drawing.11">
                  <p:embed/>
                  <p:pic>
                    <p:nvPicPr>
                      <p:cNvPr id="0" name="图片 3075"/>
                      <p:cNvPicPr/>
                      <p:nvPr/>
                    </p:nvPicPr>
                    <p:blipFill>
                      <a:blip r:embed="rId2"/>
                      <a:stretch>
                        <a:fillRect/>
                      </a:stretch>
                    </p:blipFill>
                    <p:spPr>
                      <a:xfrm>
                        <a:off x="1090613" y="1827530"/>
                        <a:ext cx="4195445" cy="4683760"/>
                      </a:xfrm>
                      <a:prstGeom prst="rect">
                        <a:avLst/>
                      </a:prstGeom>
                      <a:noFill/>
                      <a:ln w="38100">
                        <a:noFill/>
                        <a:miter/>
                      </a:ln>
                    </p:spPr>
                  </p:pic>
                </p:oleObj>
              </mc:Fallback>
            </mc:AlternateContent>
          </a:graphicData>
        </a:graphic>
      </p:graphicFrame>
      <p:graphicFrame>
        <p:nvGraphicFramePr>
          <p:cNvPr id="6" name="表格 5"/>
          <p:cNvGraphicFramePr/>
          <p:nvPr/>
        </p:nvGraphicFramePr>
        <p:xfrm>
          <a:off x="6196965" y="1574165"/>
          <a:ext cx="4697730" cy="4763770"/>
        </p:xfrm>
        <a:graphic>
          <a:graphicData uri="http://schemas.openxmlformats.org/drawingml/2006/table">
            <a:tbl>
              <a:tblPr firstRow="1" bandRow="1">
                <a:tableStyleId>{5940675A-B579-460E-94D1-54222C63F5DA}</a:tableStyleId>
              </a:tblPr>
              <a:tblGrid>
                <a:gridCol w="782955"/>
                <a:gridCol w="782955"/>
                <a:gridCol w="782955"/>
                <a:gridCol w="782955"/>
                <a:gridCol w="782955"/>
                <a:gridCol w="782955"/>
              </a:tblGrid>
              <a:tr h="444500">
                <a:tc gridSpan="2">
                  <a:txBody>
                    <a:bodyPr/>
                    <a:p>
                      <a:pPr algn="ctr">
                        <a:buNone/>
                      </a:pPr>
                      <a:r>
                        <a:rPr lang="zh-CN" altLang="en-US" sz="1000" b="1">
                          <a:solidFill>
                            <a:schemeClr val="tx1"/>
                          </a:solidFill>
                          <a:uFillTx/>
                        </a:rPr>
                        <a:t>现态</a:t>
                      </a:r>
                      <a:endParaRPr lang="en-US" altLang="zh-CN" sz="1000" b="1">
                        <a:solidFill>
                          <a:schemeClr val="tx1"/>
                        </a:solidFill>
                        <a:uFillTx/>
                      </a:endParaRPr>
                    </a:p>
                  </a:txBody>
                  <a:tcPr anchor="ctr" anchorCtr="0"/>
                </a:tc>
                <a:tc hMerge="1">
                  <a:tcPr/>
                </a:tc>
                <a:tc gridSpan="2">
                  <a:txBody>
                    <a:bodyPr/>
                    <a:p>
                      <a:pPr algn="ctr">
                        <a:buNone/>
                      </a:pPr>
                      <a:r>
                        <a:rPr lang="zh-CN" altLang="en-US" sz="1000" b="1">
                          <a:solidFill>
                            <a:schemeClr val="tx1"/>
                          </a:solidFill>
                          <a:uFillTx/>
                        </a:rPr>
                        <a:t>次态</a:t>
                      </a:r>
                      <a:endParaRPr lang="zh-CN" altLang="en-US" sz="1000" b="1">
                        <a:solidFill>
                          <a:schemeClr val="tx1"/>
                        </a:solidFill>
                        <a:uFillTx/>
                      </a:endParaRPr>
                    </a:p>
                  </a:txBody>
                  <a:tcPr anchor="ctr" anchorCtr="0"/>
                </a:tc>
                <a:tc hMerge="1">
                  <a:tcPr/>
                </a:tc>
                <a:tc>
                  <a:txBody>
                    <a:bodyPr/>
                    <a:p>
                      <a:pPr algn="ctr">
                        <a:buNone/>
                      </a:pPr>
                      <a:r>
                        <a:rPr lang="zh-CN" altLang="en-US" sz="1000" b="1">
                          <a:solidFill>
                            <a:schemeClr val="tx1"/>
                          </a:solidFill>
                          <a:uFillTx/>
                        </a:rPr>
                        <a:t>转移条件</a:t>
                      </a:r>
                      <a:endParaRPr lang="zh-CN" altLang="en-US" sz="1000" b="1">
                        <a:solidFill>
                          <a:schemeClr val="tx1"/>
                        </a:solidFill>
                        <a:uFillTx/>
                      </a:endParaRPr>
                    </a:p>
                  </a:txBody>
                  <a:tcPr anchor="ctr" anchorCtr="0"/>
                </a:tc>
                <a:tc>
                  <a:txBody>
                    <a:bodyPr/>
                    <a:p>
                      <a:pPr algn="ctr">
                        <a:buNone/>
                      </a:pPr>
                      <a:r>
                        <a:rPr lang="zh-CN" altLang="en-US" sz="1000" b="1">
                          <a:solidFill>
                            <a:schemeClr val="tx1"/>
                          </a:solidFill>
                          <a:uFillTx/>
                        </a:rPr>
                        <a:t>输出</a:t>
                      </a:r>
                      <a:endParaRPr lang="zh-CN" altLang="en-US" sz="1000" b="1">
                        <a:solidFill>
                          <a:schemeClr val="tx1"/>
                        </a:solidFill>
                        <a:uFillTx/>
                      </a:endParaRPr>
                    </a:p>
                  </a:txBody>
                  <a:tcPr anchor="ctr" anchorCtr="0"/>
                </a:tc>
              </a:tr>
              <a:tr h="254000">
                <a:tc>
                  <a:txBody>
                    <a:bodyPr/>
                    <a:p>
                      <a:pPr algn="ctr">
                        <a:buNone/>
                      </a:pPr>
                      <a:r>
                        <a:rPr lang="zh-CN" altLang="en-US" sz="900" b="1">
                          <a:solidFill>
                            <a:schemeClr val="tx1"/>
                          </a:solidFill>
                          <a:uFillTx/>
                        </a:rPr>
                        <a:t>编码</a:t>
                      </a:r>
                      <a:endParaRPr lang="zh-CN" altLang="en-US" sz="900" b="1">
                        <a:solidFill>
                          <a:schemeClr val="tx1"/>
                        </a:solidFill>
                        <a:uFillTx/>
                      </a:endParaRPr>
                    </a:p>
                  </a:txBody>
                  <a:tcPr anchor="ctr" anchorCtr="0"/>
                </a:tc>
                <a:tc>
                  <a:txBody>
                    <a:bodyPr/>
                    <a:p>
                      <a:pPr algn="ctr">
                        <a:buNone/>
                      </a:pPr>
                      <a:r>
                        <a:rPr lang="zh-CN" altLang="en-US" sz="900" b="1">
                          <a:solidFill>
                            <a:schemeClr val="tx1"/>
                          </a:solidFill>
                          <a:uFillTx/>
                        </a:rPr>
                        <a:t>状态名</a:t>
                      </a:r>
                      <a:endParaRPr lang="zh-CN" altLang="en-US" sz="900" b="1">
                        <a:solidFill>
                          <a:schemeClr val="tx1"/>
                        </a:solidFill>
                        <a:uFillTx/>
                      </a:endParaRPr>
                    </a:p>
                  </a:txBody>
                  <a:tcPr anchor="ctr" anchorCtr="0"/>
                </a:tc>
                <a:tc>
                  <a:txBody>
                    <a:bodyPr/>
                    <a:p>
                      <a:pPr algn="ctr">
                        <a:buNone/>
                      </a:pPr>
                      <a:r>
                        <a:rPr lang="zh-CN" altLang="en-US" sz="900" b="1">
                          <a:solidFill>
                            <a:schemeClr val="tx1"/>
                          </a:solidFill>
                          <a:uFillTx/>
                        </a:rPr>
                        <a:t>编码</a:t>
                      </a:r>
                      <a:endParaRPr lang="zh-CN" altLang="en-US" sz="900" b="1">
                        <a:solidFill>
                          <a:schemeClr val="tx1"/>
                        </a:solidFill>
                        <a:uFillTx/>
                      </a:endParaRPr>
                    </a:p>
                  </a:txBody>
                  <a:tcPr anchor="ctr" anchorCtr="0"/>
                </a:tc>
                <a:tc>
                  <a:txBody>
                    <a:bodyPr/>
                    <a:p>
                      <a:pPr algn="ctr">
                        <a:buNone/>
                      </a:pPr>
                      <a:r>
                        <a:rPr lang="zh-CN" altLang="en-US" sz="900" b="1">
                          <a:solidFill>
                            <a:schemeClr val="tx1"/>
                          </a:solidFill>
                          <a:uFillTx/>
                        </a:rPr>
                        <a:t>状态名</a:t>
                      </a:r>
                      <a:endParaRPr lang="zh-CN" altLang="en-US" sz="900" b="1">
                        <a:solidFill>
                          <a:schemeClr val="tx1"/>
                        </a:solidFill>
                        <a:uFillTx/>
                      </a:endParaRPr>
                    </a:p>
                  </a:txBody>
                  <a:tcPr anchor="ctr" anchorCtr="0"/>
                </a:tc>
                <a:tc>
                  <a:txBody>
                    <a:bodyPr/>
                    <a:p>
                      <a:pPr algn="ctr">
                        <a:buNone/>
                      </a:pPr>
                      <a:r>
                        <a:rPr lang="en-US" altLang="zh-CN" sz="900" b="1">
                          <a:solidFill>
                            <a:schemeClr val="tx1"/>
                          </a:solidFill>
                          <a:uFillTx/>
                        </a:rPr>
                        <a:t>ABCD</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YZ</a:t>
                      </a:r>
                      <a:endParaRPr lang="en-US" altLang="zh-CN" sz="900" b="1">
                        <a:solidFill>
                          <a:schemeClr val="tx1"/>
                        </a:solidFill>
                        <a:uFillTx/>
                      </a:endParaRPr>
                    </a:p>
                  </a:txBody>
                  <a:tcPr anchor="ctr" anchorCtr="0"/>
                </a:tc>
              </a:tr>
              <a:tr h="254635">
                <a:tc rowSpan="2">
                  <a:txBody>
                    <a:bodyPr/>
                    <a:p>
                      <a:pPr algn="ctr">
                        <a:buNone/>
                      </a:pPr>
                      <a:r>
                        <a:rPr lang="en-US" altLang="zh-CN" sz="900" b="1">
                          <a:solidFill>
                            <a:schemeClr val="tx1"/>
                          </a:solidFill>
                          <a:uFillTx/>
                        </a:rPr>
                        <a:t>000</a:t>
                      </a:r>
                      <a:endParaRPr lang="en-US" altLang="zh-CN" sz="900" b="1">
                        <a:solidFill>
                          <a:schemeClr val="tx1"/>
                        </a:solidFill>
                        <a:uFillTx/>
                      </a:endParaRPr>
                    </a:p>
                  </a:txBody>
                  <a:tcPr anchor="ctr" anchorCtr="0"/>
                </a:tc>
                <a:tc rowSpan="2">
                  <a:txBody>
                    <a:bodyPr/>
                    <a:p>
                      <a:pPr algn="ctr">
                        <a:buNone/>
                      </a:pPr>
                      <a:r>
                        <a:rPr lang="en-US" altLang="zh-CN" sz="900" b="1">
                          <a:solidFill>
                            <a:schemeClr val="tx1"/>
                          </a:solidFill>
                          <a:uFillTx/>
                        </a:rPr>
                        <a:t>S0</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000</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S0</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latin typeface="微软雅黑" panose="020B0503020204020204" charset="-122"/>
                          <a:ea typeface="微软雅黑" panose="020B0503020204020204" charset="-122"/>
                        </a:rPr>
                        <a:t>   A’</a:t>
                      </a:r>
                      <a:endParaRPr lang="en-US" altLang="zh-CN" sz="900" b="1">
                        <a:solidFill>
                          <a:schemeClr val="tx1"/>
                        </a:solidFill>
                        <a:uFillTx/>
                        <a:latin typeface="微软雅黑" panose="020B0503020204020204" charset="-122"/>
                        <a:ea typeface="微软雅黑" panose="020B0503020204020204" charset="-122"/>
                      </a:endParaRPr>
                    </a:p>
                  </a:txBody>
                  <a:tcPr anchor="ctr" anchorCtr="0"/>
                </a:tc>
                <a:tc rowSpan="2">
                  <a:txBody>
                    <a:bodyPr/>
                    <a:p>
                      <a:pPr algn="ctr">
                        <a:buNone/>
                      </a:pPr>
                      <a:r>
                        <a:rPr lang="en-US" altLang="zh-CN" sz="900" b="1">
                          <a:solidFill>
                            <a:schemeClr val="tx1"/>
                          </a:solidFill>
                          <a:uFillTx/>
                        </a:rPr>
                        <a:t>00</a:t>
                      </a:r>
                      <a:endParaRPr lang="en-US" altLang="zh-CN" sz="900" b="1">
                        <a:solidFill>
                          <a:schemeClr val="tx1"/>
                        </a:solidFill>
                        <a:uFillTx/>
                      </a:endParaRPr>
                    </a:p>
                  </a:txBody>
                  <a:tcPr anchor="ctr" anchorCtr="0"/>
                </a:tc>
              </a:tr>
              <a:tr h="254000">
                <a:tc vMerge="1">
                  <a:tcPr anchor="ctr" anchorCtr="0"/>
                </a:tc>
                <a:tc vMerge="1">
                  <a:tcPr anchor="ctr" anchorCtr="0"/>
                </a:tc>
                <a:tc>
                  <a:txBody>
                    <a:bodyPr/>
                    <a:p>
                      <a:pPr algn="ctr">
                        <a:buNone/>
                      </a:pPr>
                      <a:r>
                        <a:rPr lang="en-US" altLang="zh-CN" sz="900" b="1">
                          <a:solidFill>
                            <a:schemeClr val="tx1"/>
                          </a:solidFill>
                          <a:uFillTx/>
                        </a:rPr>
                        <a:t>010</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S2</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latin typeface="微软雅黑" panose="020B0503020204020204" charset="-122"/>
                          <a:ea typeface="微软雅黑" panose="020B0503020204020204" charset="-122"/>
                        </a:rPr>
                        <a:t>A</a:t>
                      </a:r>
                      <a:endParaRPr lang="en-US" altLang="zh-CN" sz="900" b="1">
                        <a:solidFill>
                          <a:schemeClr val="tx1"/>
                        </a:solidFill>
                        <a:uFillTx/>
                        <a:latin typeface="微软雅黑" panose="020B0503020204020204" charset="-122"/>
                        <a:ea typeface="微软雅黑" panose="020B0503020204020204" charset="-122"/>
                      </a:endParaRPr>
                    </a:p>
                  </a:txBody>
                  <a:tcPr anchor="ctr" anchorCtr="0"/>
                </a:tc>
                <a:tc vMerge="1">
                  <a:tcPr anchor="ctr" anchorCtr="0"/>
                </a:tc>
              </a:tr>
              <a:tr h="508000">
                <a:tc>
                  <a:txBody>
                    <a:bodyPr/>
                    <a:p>
                      <a:pPr algn="ctr">
                        <a:buNone/>
                      </a:pPr>
                      <a:r>
                        <a:rPr lang="en-US" altLang="zh-CN" sz="900" b="1">
                          <a:solidFill>
                            <a:schemeClr val="tx1"/>
                          </a:solidFill>
                          <a:uFillTx/>
                        </a:rPr>
                        <a:t>001</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S1</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011</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S3</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rPr>
                        <a:t>x</a:t>
                      </a:r>
                      <a:endParaRPr lang="en-US" altLang="zh-CN" sz="900" b="1">
                        <a:solidFill>
                          <a:schemeClr val="tx1"/>
                        </a:solidFill>
                        <a:uFillTx/>
                        <a:ea typeface="微软雅黑" panose="020B0503020204020204" charset="-122"/>
                      </a:endParaRPr>
                    </a:p>
                  </a:txBody>
                  <a:tcPr anchor="ctr" anchorCtr="0"/>
                </a:tc>
                <a:tc>
                  <a:txBody>
                    <a:bodyPr/>
                    <a:p>
                      <a:pPr algn="ctr">
                        <a:buNone/>
                      </a:pPr>
                      <a:r>
                        <a:rPr lang="en-US" altLang="zh-CN" sz="900" b="1">
                          <a:solidFill>
                            <a:schemeClr val="tx1"/>
                          </a:solidFill>
                          <a:uFillTx/>
                        </a:rPr>
                        <a:t>10</a:t>
                      </a:r>
                      <a:endParaRPr lang="en-US" altLang="zh-CN" sz="900" b="1">
                        <a:solidFill>
                          <a:schemeClr val="tx1"/>
                        </a:solidFill>
                        <a:uFillTx/>
                      </a:endParaRPr>
                    </a:p>
                  </a:txBody>
                  <a:tcPr anchor="ctr" anchorCtr="0"/>
                </a:tc>
              </a:tr>
              <a:tr h="254000">
                <a:tc rowSpan="2">
                  <a:txBody>
                    <a:bodyPr/>
                    <a:p>
                      <a:pPr algn="ctr">
                        <a:buNone/>
                      </a:pPr>
                      <a:r>
                        <a:rPr lang="en-US" altLang="zh-CN" sz="900" b="1">
                          <a:solidFill>
                            <a:schemeClr val="tx1"/>
                          </a:solidFill>
                          <a:uFillTx/>
                        </a:rPr>
                        <a:t>010</a:t>
                      </a:r>
                      <a:endParaRPr lang="en-US" altLang="zh-CN" sz="900" b="1">
                        <a:solidFill>
                          <a:schemeClr val="tx1"/>
                        </a:solidFill>
                        <a:uFillTx/>
                      </a:endParaRPr>
                    </a:p>
                  </a:txBody>
                  <a:tcPr anchor="ctr" anchorCtr="0"/>
                </a:tc>
                <a:tc rowSpan="2">
                  <a:txBody>
                    <a:bodyPr/>
                    <a:p>
                      <a:pPr algn="ctr">
                        <a:buNone/>
                      </a:pPr>
                      <a:r>
                        <a:rPr lang="en-US" altLang="zh-CN" sz="900" b="1">
                          <a:solidFill>
                            <a:schemeClr val="tx1"/>
                          </a:solidFill>
                          <a:uFillTx/>
                        </a:rPr>
                        <a:t>S2</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010</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S2</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rPr>
                        <a:t>   B</a:t>
                      </a:r>
                      <a:r>
                        <a:rPr lang="en-US" altLang="zh-CN" sz="900" b="1">
                          <a:solidFill>
                            <a:schemeClr val="tx1"/>
                          </a:solidFill>
                          <a:uFillTx/>
                          <a:latin typeface="微软雅黑" panose="020B0503020204020204" charset="-122"/>
                          <a:ea typeface="微软雅黑" panose="020B0503020204020204" charset="-122"/>
                          <a:sym typeface="+mn-ea"/>
                        </a:rPr>
                        <a:t>’</a:t>
                      </a:r>
                      <a:endParaRPr lang="en-US" altLang="zh-CN" sz="900" b="1">
                        <a:solidFill>
                          <a:schemeClr val="tx1"/>
                        </a:solidFill>
                        <a:uFillTx/>
                        <a:latin typeface="微软雅黑" panose="020B0503020204020204" charset="-122"/>
                        <a:ea typeface="微软雅黑" panose="020B0503020204020204" charset="-122"/>
                        <a:sym typeface="+mn-ea"/>
                      </a:endParaRPr>
                    </a:p>
                  </a:txBody>
                  <a:tcPr anchor="ctr" anchorCtr="0"/>
                </a:tc>
                <a:tc rowSpan="2">
                  <a:txBody>
                    <a:bodyPr/>
                    <a:p>
                      <a:pPr algn="ctr">
                        <a:buNone/>
                      </a:pPr>
                      <a:r>
                        <a:rPr lang="en-US" altLang="zh-CN" sz="900" b="1">
                          <a:solidFill>
                            <a:schemeClr val="tx1"/>
                          </a:solidFill>
                          <a:uFillTx/>
                        </a:rPr>
                        <a:t>01</a:t>
                      </a:r>
                      <a:endParaRPr lang="en-US" altLang="zh-CN" sz="900" b="1">
                        <a:solidFill>
                          <a:schemeClr val="tx1"/>
                        </a:solidFill>
                        <a:uFillTx/>
                      </a:endParaRPr>
                    </a:p>
                  </a:txBody>
                  <a:tcPr anchor="ctr" anchorCtr="0"/>
                </a:tc>
              </a:tr>
              <a:tr h="254000">
                <a:tc vMerge="1">
                  <a:tcPr anchor="ctr" anchorCtr="0"/>
                </a:tc>
                <a:tc vMerge="1">
                  <a:tcPr anchor="ctr" anchorCtr="0"/>
                </a:tc>
                <a:tc>
                  <a:txBody>
                    <a:bodyPr/>
                    <a:p>
                      <a:pPr algn="ctr">
                        <a:buNone/>
                      </a:pPr>
                      <a:r>
                        <a:rPr lang="en-US" altLang="zh-CN" sz="900" b="1">
                          <a:solidFill>
                            <a:schemeClr val="tx1"/>
                          </a:solidFill>
                          <a:uFillTx/>
                        </a:rPr>
                        <a:t>100</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S4</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rPr>
                        <a:t>B</a:t>
                      </a:r>
                      <a:endParaRPr lang="en-US" altLang="zh-CN" sz="900" b="1">
                        <a:solidFill>
                          <a:schemeClr val="tx1"/>
                        </a:solidFill>
                        <a:uFillTx/>
                        <a:ea typeface="微软雅黑" panose="020B0503020204020204" charset="-122"/>
                      </a:endParaRPr>
                    </a:p>
                  </a:txBody>
                  <a:tcPr anchor="ctr" anchorCtr="0"/>
                </a:tc>
                <a:tc vMerge="1">
                  <a:tcPr anchor="ctr" anchorCtr="0"/>
                </a:tc>
              </a:tr>
              <a:tr h="254635">
                <a:tc rowSpan="2">
                  <a:txBody>
                    <a:bodyPr/>
                    <a:p>
                      <a:pPr algn="ctr">
                        <a:buNone/>
                      </a:pPr>
                      <a:r>
                        <a:rPr lang="en-US" altLang="zh-CN" sz="900" b="1">
                          <a:solidFill>
                            <a:schemeClr val="tx1"/>
                          </a:solidFill>
                          <a:uFillTx/>
                        </a:rPr>
                        <a:t>011</a:t>
                      </a:r>
                      <a:endParaRPr lang="en-US" altLang="zh-CN" sz="900" b="1">
                        <a:solidFill>
                          <a:schemeClr val="tx1"/>
                        </a:solidFill>
                        <a:uFillTx/>
                      </a:endParaRPr>
                    </a:p>
                  </a:txBody>
                  <a:tcPr anchor="ctr" anchorCtr="0"/>
                </a:tc>
                <a:tc rowSpan="2">
                  <a:txBody>
                    <a:bodyPr/>
                    <a:p>
                      <a:pPr algn="ctr">
                        <a:buNone/>
                      </a:pPr>
                      <a:r>
                        <a:rPr lang="en-US" altLang="zh-CN" sz="900" b="1">
                          <a:solidFill>
                            <a:schemeClr val="tx1"/>
                          </a:solidFill>
                          <a:uFillTx/>
                        </a:rPr>
                        <a:t>S3</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011</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S3</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rPr>
                        <a:t>   C</a:t>
                      </a:r>
                      <a:r>
                        <a:rPr lang="en-US" altLang="zh-CN" sz="900" b="1">
                          <a:solidFill>
                            <a:schemeClr val="tx1"/>
                          </a:solidFill>
                          <a:uFillTx/>
                          <a:latin typeface="微软雅黑" panose="020B0503020204020204" charset="-122"/>
                          <a:ea typeface="微软雅黑" panose="020B0503020204020204" charset="-122"/>
                          <a:sym typeface="+mn-ea"/>
                        </a:rPr>
                        <a:t>’</a:t>
                      </a:r>
                      <a:endParaRPr lang="en-US" altLang="zh-CN" sz="900" b="1">
                        <a:solidFill>
                          <a:schemeClr val="tx1"/>
                        </a:solidFill>
                        <a:uFillTx/>
                        <a:latin typeface="微软雅黑" panose="020B0503020204020204" charset="-122"/>
                        <a:ea typeface="微软雅黑" panose="020B0503020204020204" charset="-122"/>
                        <a:sym typeface="+mn-ea"/>
                      </a:endParaRPr>
                    </a:p>
                  </a:txBody>
                  <a:tcPr anchor="ctr" anchorCtr="0"/>
                </a:tc>
                <a:tc rowSpan="2">
                  <a:txBody>
                    <a:bodyPr/>
                    <a:p>
                      <a:pPr algn="ctr">
                        <a:buNone/>
                      </a:pPr>
                      <a:r>
                        <a:rPr lang="en-US" altLang="zh-CN" sz="900" b="1">
                          <a:solidFill>
                            <a:schemeClr val="tx1"/>
                          </a:solidFill>
                          <a:uFillTx/>
                        </a:rPr>
                        <a:t>11</a:t>
                      </a:r>
                      <a:endParaRPr lang="en-US" altLang="zh-CN" sz="900" b="1">
                        <a:solidFill>
                          <a:schemeClr val="tx1"/>
                        </a:solidFill>
                        <a:uFillTx/>
                      </a:endParaRPr>
                    </a:p>
                  </a:txBody>
                  <a:tcPr anchor="ctr" anchorCtr="0"/>
                </a:tc>
              </a:tr>
              <a:tr h="254000">
                <a:tc vMerge="1">
                  <a:tcPr anchor="ctr" anchorCtr="0"/>
                </a:tc>
                <a:tc vMerge="1">
                  <a:tcPr anchor="ctr" anchorCtr="0"/>
                </a:tc>
                <a:tc>
                  <a:txBody>
                    <a:bodyPr/>
                    <a:p>
                      <a:pPr algn="ctr">
                        <a:buNone/>
                      </a:pPr>
                      <a:r>
                        <a:rPr lang="en-US" altLang="zh-CN" sz="900" b="1">
                          <a:solidFill>
                            <a:schemeClr val="tx1"/>
                          </a:solidFill>
                          <a:uFillTx/>
                        </a:rPr>
                        <a:t>101</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S5</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rPr>
                        <a:t>C</a:t>
                      </a:r>
                      <a:endParaRPr lang="en-US" altLang="zh-CN" sz="900" b="1">
                        <a:solidFill>
                          <a:schemeClr val="tx1"/>
                        </a:solidFill>
                        <a:uFillTx/>
                        <a:ea typeface="微软雅黑" panose="020B0503020204020204" charset="-122"/>
                      </a:endParaRPr>
                    </a:p>
                  </a:txBody>
                  <a:tcPr anchor="ctr" anchorCtr="0"/>
                </a:tc>
                <a:tc vMerge="1">
                  <a:tcPr anchor="ctr" anchorCtr="0"/>
                </a:tc>
              </a:tr>
              <a:tr h="254000">
                <a:tc rowSpan="2">
                  <a:txBody>
                    <a:bodyPr/>
                    <a:p>
                      <a:pPr algn="ctr">
                        <a:buNone/>
                      </a:pPr>
                      <a:r>
                        <a:rPr lang="en-US" altLang="zh-CN" sz="900" b="1">
                          <a:solidFill>
                            <a:schemeClr val="tx1"/>
                          </a:solidFill>
                          <a:uFillTx/>
                        </a:rPr>
                        <a:t>100</a:t>
                      </a:r>
                      <a:endParaRPr lang="en-US" altLang="zh-CN" sz="900" b="1">
                        <a:solidFill>
                          <a:schemeClr val="tx1"/>
                        </a:solidFill>
                        <a:uFillTx/>
                      </a:endParaRPr>
                    </a:p>
                  </a:txBody>
                  <a:tcPr anchor="ctr" anchorCtr="0"/>
                </a:tc>
                <a:tc rowSpan="2">
                  <a:txBody>
                    <a:bodyPr/>
                    <a:p>
                      <a:pPr algn="ctr">
                        <a:buNone/>
                      </a:pPr>
                      <a:r>
                        <a:rPr lang="en-US" altLang="zh-CN" sz="900" b="1">
                          <a:solidFill>
                            <a:schemeClr val="tx1"/>
                          </a:solidFill>
                          <a:uFillTx/>
                        </a:rPr>
                        <a:t>S4</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100</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S4</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sym typeface="+mn-ea"/>
                        </a:rPr>
                        <a:t>   C</a:t>
                      </a:r>
                      <a:r>
                        <a:rPr lang="en-US" altLang="zh-CN" sz="900" b="1">
                          <a:solidFill>
                            <a:schemeClr val="tx1"/>
                          </a:solidFill>
                          <a:uFillTx/>
                          <a:latin typeface="微软雅黑" panose="020B0503020204020204" charset="-122"/>
                          <a:ea typeface="微软雅黑" panose="020B0503020204020204" charset="-122"/>
                          <a:sym typeface="+mn-ea"/>
                        </a:rPr>
                        <a:t>’</a:t>
                      </a:r>
                      <a:endParaRPr lang="en-US" altLang="zh-CN" sz="900" b="1">
                        <a:solidFill>
                          <a:schemeClr val="tx1"/>
                        </a:solidFill>
                        <a:uFillTx/>
                        <a:latin typeface="微软雅黑" panose="020B0503020204020204" charset="-122"/>
                        <a:ea typeface="微软雅黑" panose="020B0503020204020204" charset="-122"/>
                        <a:sym typeface="+mn-ea"/>
                      </a:endParaRPr>
                    </a:p>
                  </a:txBody>
                  <a:tcPr anchor="ctr" anchorCtr="0"/>
                </a:tc>
                <a:tc rowSpan="2">
                  <a:txBody>
                    <a:bodyPr/>
                    <a:p>
                      <a:pPr algn="ctr">
                        <a:buNone/>
                      </a:pPr>
                      <a:r>
                        <a:rPr lang="en-US" altLang="zh-CN" sz="900" b="1">
                          <a:solidFill>
                            <a:schemeClr val="tx1"/>
                          </a:solidFill>
                          <a:uFillTx/>
                        </a:rPr>
                        <a:t>00</a:t>
                      </a:r>
                      <a:endParaRPr lang="en-US" altLang="zh-CN" sz="900" b="1">
                        <a:solidFill>
                          <a:schemeClr val="tx1"/>
                        </a:solidFill>
                        <a:uFillTx/>
                      </a:endParaRPr>
                    </a:p>
                  </a:txBody>
                  <a:tcPr anchor="ctr" anchorCtr="0"/>
                </a:tc>
              </a:tr>
              <a:tr h="254000">
                <a:tc vMerge="1">
                  <a:tcPr anchor="ctr" anchorCtr="0"/>
                </a:tc>
                <a:tc vMerge="1">
                  <a:tcPr anchor="ctr" anchorCtr="0"/>
                </a:tc>
                <a:tc>
                  <a:txBody>
                    <a:bodyPr/>
                    <a:p>
                      <a:pPr algn="ctr">
                        <a:buNone/>
                      </a:pPr>
                      <a:r>
                        <a:rPr lang="en-US" altLang="zh-CN" sz="900" b="1">
                          <a:solidFill>
                            <a:schemeClr val="tx1"/>
                          </a:solidFill>
                          <a:uFillTx/>
                        </a:rPr>
                        <a:t>110</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S6</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rPr>
                        <a:t>C</a:t>
                      </a:r>
                      <a:endParaRPr lang="en-US" altLang="zh-CN" sz="900" b="1">
                        <a:solidFill>
                          <a:schemeClr val="tx1"/>
                        </a:solidFill>
                        <a:uFillTx/>
                        <a:ea typeface="微软雅黑" panose="020B0503020204020204" charset="-122"/>
                      </a:endParaRPr>
                    </a:p>
                  </a:txBody>
                  <a:tcPr anchor="ctr" anchorCtr="0"/>
                </a:tc>
                <a:tc vMerge="1">
                  <a:tcPr anchor="ctr" anchorCtr="0"/>
                </a:tc>
              </a:tr>
              <a:tr h="254000">
                <a:tc rowSpan="2">
                  <a:txBody>
                    <a:bodyPr/>
                    <a:p>
                      <a:pPr algn="ctr">
                        <a:buNone/>
                      </a:pPr>
                      <a:r>
                        <a:rPr lang="en-US" altLang="zh-CN" sz="900" b="1">
                          <a:solidFill>
                            <a:schemeClr val="tx1"/>
                          </a:solidFill>
                          <a:uFillTx/>
                        </a:rPr>
                        <a:t>101</a:t>
                      </a:r>
                      <a:endParaRPr lang="en-US" altLang="zh-CN" sz="900" b="1">
                        <a:solidFill>
                          <a:schemeClr val="tx1"/>
                        </a:solidFill>
                        <a:uFillTx/>
                      </a:endParaRPr>
                    </a:p>
                  </a:txBody>
                  <a:tcPr anchor="ctr" anchorCtr="0"/>
                </a:tc>
                <a:tc rowSpan="2">
                  <a:txBody>
                    <a:bodyPr/>
                    <a:p>
                      <a:pPr algn="ctr">
                        <a:buNone/>
                      </a:pPr>
                      <a:r>
                        <a:rPr lang="en-US" altLang="zh-CN" sz="900" b="1">
                          <a:solidFill>
                            <a:schemeClr val="tx1"/>
                          </a:solidFill>
                          <a:uFillTx/>
                        </a:rPr>
                        <a:t>S5</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101</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S5</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rPr>
                        <a:t>   D</a:t>
                      </a:r>
                      <a:r>
                        <a:rPr lang="en-US" altLang="zh-CN" sz="900" b="1">
                          <a:solidFill>
                            <a:schemeClr val="tx1"/>
                          </a:solidFill>
                          <a:uFillTx/>
                          <a:latin typeface="微软雅黑" panose="020B0503020204020204" charset="-122"/>
                          <a:ea typeface="微软雅黑" panose="020B0503020204020204" charset="-122"/>
                          <a:sym typeface="+mn-ea"/>
                        </a:rPr>
                        <a:t>’</a:t>
                      </a:r>
                      <a:endParaRPr lang="en-US" altLang="zh-CN" sz="900" b="1">
                        <a:solidFill>
                          <a:schemeClr val="tx1"/>
                        </a:solidFill>
                        <a:uFillTx/>
                        <a:latin typeface="微软雅黑" panose="020B0503020204020204" charset="-122"/>
                        <a:ea typeface="微软雅黑" panose="020B0503020204020204" charset="-122"/>
                        <a:sym typeface="+mn-ea"/>
                      </a:endParaRPr>
                    </a:p>
                  </a:txBody>
                  <a:tcPr anchor="ctr" anchorCtr="0"/>
                </a:tc>
                <a:tc rowSpan="2">
                  <a:txBody>
                    <a:bodyPr/>
                    <a:p>
                      <a:pPr algn="ctr">
                        <a:buNone/>
                      </a:pPr>
                      <a:r>
                        <a:rPr lang="en-US" altLang="zh-CN" sz="900" b="1">
                          <a:solidFill>
                            <a:schemeClr val="tx1"/>
                          </a:solidFill>
                          <a:uFillTx/>
                        </a:rPr>
                        <a:t>11</a:t>
                      </a:r>
                      <a:endParaRPr lang="en-US" altLang="zh-CN" sz="900" b="1">
                        <a:solidFill>
                          <a:schemeClr val="tx1"/>
                        </a:solidFill>
                        <a:uFillTx/>
                      </a:endParaRPr>
                    </a:p>
                  </a:txBody>
                  <a:tcPr anchor="ctr" anchorCtr="0"/>
                </a:tc>
              </a:tr>
              <a:tr h="254000">
                <a:tc vMerge="1">
                  <a:tcPr anchor="ctr" anchorCtr="0"/>
                </a:tc>
                <a:tc vMerge="1">
                  <a:tcPr anchor="ctr" anchorCtr="0"/>
                </a:tc>
                <a:tc>
                  <a:txBody>
                    <a:bodyPr/>
                    <a:p>
                      <a:pPr algn="ctr">
                        <a:buNone/>
                      </a:pPr>
                      <a:r>
                        <a:rPr lang="en-US" altLang="zh-CN" sz="900" b="1">
                          <a:solidFill>
                            <a:schemeClr val="tx1"/>
                          </a:solidFill>
                          <a:uFillTx/>
                        </a:rPr>
                        <a:t>000</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S0</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rPr>
                        <a:t>D</a:t>
                      </a:r>
                      <a:endParaRPr lang="en-US" altLang="zh-CN" sz="900" b="1">
                        <a:solidFill>
                          <a:schemeClr val="tx1"/>
                        </a:solidFill>
                        <a:uFillTx/>
                        <a:ea typeface="微软雅黑" panose="020B0503020204020204" charset="-122"/>
                      </a:endParaRPr>
                    </a:p>
                  </a:txBody>
                  <a:tcPr anchor="ctr" anchorCtr="0"/>
                </a:tc>
                <a:tc vMerge="1">
                  <a:tcPr anchor="ctr" anchorCtr="0"/>
                </a:tc>
              </a:tr>
              <a:tr h="254000">
                <a:tc rowSpan="2">
                  <a:txBody>
                    <a:bodyPr/>
                    <a:p>
                      <a:pPr algn="ctr">
                        <a:buNone/>
                      </a:pPr>
                      <a:r>
                        <a:rPr lang="en-US" altLang="zh-CN" sz="900" b="1">
                          <a:solidFill>
                            <a:schemeClr val="tx1"/>
                          </a:solidFill>
                          <a:uFillTx/>
                        </a:rPr>
                        <a:t>110</a:t>
                      </a:r>
                      <a:endParaRPr lang="en-US" altLang="zh-CN" sz="900" b="1">
                        <a:solidFill>
                          <a:schemeClr val="tx1"/>
                        </a:solidFill>
                        <a:uFillTx/>
                      </a:endParaRPr>
                    </a:p>
                  </a:txBody>
                  <a:tcPr anchor="ctr" anchorCtr="0"/>
                </a:tc>
                <a:tc rowSpan="2">
                  <a:txBody>
                    <a:bodyPr/>
                    <a:p>
                      <a:pPr algn="ctr">
                        <a:buNone/>
                      </a:pPr>
                      <a:r>
                        <a:rPr lang="en-US" altLang="zh-CN" sz="900" b="1">
                          <a:solidFill>
                            <a:schemeClr val="tx1"/>
                          </a:solidFill>
                          <a:uFillTx/>
                        </a:rPr>
                        <a:t>S6</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111</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S7</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rPr>
                        <a:t>    D</a:t>
                      </a:r>
                      <a:r>
                        <a:rPr lang="en-US" altLang="zh-CN" sz="900" b="1">
                          <a:solidFill>
                            <a:schemeClr val="tx1"/>
                          </a:solidFill>
                          <a:uFillTx/>
                          <a:latin typeface="微软雅黑" panose="020B0503020204020204" charset="-122"/>
                          <a:ea typeface="微软雅黑" panose="020B0503020204020204" charset="-122"/>
                          <a:sym typeface="+mn-ea"/>
                        </a:rPr>
                        <a:t>’</a:t>
                      </a:r>
                      <a:endParaRPr lang="en-US" altLang="zh-CN" sz="900" b="1">
                        <a:solidFill>
                          <a:schemeClr val="tx1"/>
                        </a:solidFill>
                        <a:uFillTx/>
                        <a:latin typeface="微软雅黑" panose="020B0503020204020204" charset="-122"/>
                        <a:ea typeface="微软雅黑" panose="020B0503020204020204" charset="-122"/>
                        <a:sym typeface="+mn-ea"/>
                      </a:endParaRPr>
                    </a:p>
                  </a:txBody>
                  <a:tcPr anchor="ctr" anchorCtr="0"/>
                </a:tc>
                <a:tc rowSpan="2">
                  <a:txBody>
                    <a:bodyPr/>
                    <a:p>
                      <a:pPr algn="ctr">
                        <a:buNone/>
                      </a:pPr>
                      <a:r>
                        <a:rPr lang="en-US" altLang="zh-CN" sz="900" b="1">
                          <a:solidFill>
                            <a:schemeClr val="tx1"/>
                          </a:solidFill>
                          <a:uFillTx/>
                        </a:rPr>
                        <a:t>00</a:t>
                      </a:r>
                      <a:endParaRPr lang="en-US" altLang="zh-CN" sz="900" b="1">
                        <a:solidFill>
                          <a:schemeClr val="tx1"/>
                        </a:solidFill>
                        <a:uFillTx/>
                      </a:endParaRPr>
                    </a:p>
                  </a:txBody>
                  <a:tcPr anchor="ctr" anchorCtr="0"/>
                </a:tc>
              </a:tr>
              <a:tr h="254000">
                <a:tc vMerge="1">
                  <a:tcPr anchor="ctr" anchorCtr="0"/>
                </a:tc>
                <a:tc vMerge="1">
                  <a:tcPr anchor="ctr" anchorCtr="0"/>
                </a:tc>
                <a:tc>
                  <a:txBody>
                    <a:bodyPr/>
                    <a:p>
                      <a:pPr algn="ctr">
                        <a:buNone/>
                      </a:pPr>
                      <a:r>
                        <a:rPr lang="en-US" altLang="zh-CN" sz="900" b="1">
                          <a:solidFill>
                            <a:schemeClr val="tx1"/>
                          </a:solidFill>
                          <a:uFillTx/>
                        </a:rPr>
                        <a:t>001</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S1</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rPr>
                        <a:t>D</a:t>
                      </a:r>
                      <a:endParaRPr lang="en-US" altLang="zh-CN" sz="900" b="1">
                        <a:solidFill>
                          <a:schemeClr val="tx1"/>
                        </a:solidFill>
                        <a:uFillTx/>
                        <a:ea typeface="微软雅黑" panose="020B0503020204020204" charset="-122"/>
                      </a:endParaRPr>
                    </a:p>
                  </a:txBody>
                  <a:tcPr anchor="ctr" anchorCtr="0"/>
                </a:tc>
                <a:tc vMerge="1">
                  <a:tcPr anchor="ctr" anchorCtr="0"/>
                </a:tc>
              </a:tr>
              <a:tr h="254000">
                <a:tc rowSpan="2">
                  <a:txBody>
                    <a:bodyPr/>
                    <a:p>
                      <a:pPr algn="ctr">
                        <a:buNone/>
                      </a:pPr>
                      <a:r>
                        <a:rPr lang="en-US" altLang="zh-CN" sz="900" b="1">
                          <a:solidFill>
                            <a:schemeClr val="tx1"/>
                          </a:solidFill>
                          <a:uFillTx/>
                        </a:rPr>
                        <a:t>111</a:t>
                      </a:r>
                      <a:endParaRPr lang="en-US" altLang="zh-CN" sz="900" b="1">
                        <a:solidFill>
                          <a:schemeClr val="tx1"/>
                        </a:solidFill>
                        <a:uFillTx/>
                      </a:endParaRPr>
                    </a:p>
                  </a:txBody>
                  <a:tcPr anchor="ctr" anchorCtr="0"/>
                </a:tc>
                <a:tc rowSpan="2">
                  <a:txBody>
                    <a:bodyPr/>
                    <a:p>
                      <a:pPr algn="ctr">
                        <a:buNone/>
                      </a:pPr>
                      <a:r>
                        <a:rPr lang="en-US" altLang="zh-CN" sz="900" b="1">
                          <a:solidFill>
                            <a:schemeClr val="tx1"/>
                          </a:solidFill>
                          <a:uFillTx/>
                        </a:rPr>
                        <a:t>S7</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001</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S1</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rPr>
                        <a:t>   A</a:t>
                      </a:r>
                      <a:r>
                        <a:rPr lang="en-US" altLang="zh-CN" sz="900" b="1">
                          <a:solidFill>
                            <a:schemeClr val="tx1"/>
                          </a:solidFill>
                          <a:uFillTx/>
                          <a:latin typeface="微软雅黑" panose="020B0503020204020204" charset="-122"/>
                          <a:ea typeface="微软雅黑" panose="020B0503020204020204" charset="-122"/>
                          <a:sym typeface="+mn-ea"/>
                        </a:rPr>
                        <a:t>’</a:t>
                      </a:r>
                      <a:endParaRPr lang="en-US" altLang="zh-CN" sz="900" b="1">
                        <a:solidFill>
                          <a:schemeClr val="tx1"/>
                        </a:solidFill>
                        <a:uFillTx/>
                        <a:latin typeface="微软雅黑" panose="020B0503020204020204" charset="-122"/>
                        <a:ea typeface="微软雅黑" panose="020B0503020204020204" charset="-122"/>
                        <a:sym typeface="+mn-ea"/>
                      </a:endParaRPr>
                    </a:p>
                  </a:txBody>
                  <a:tcPr anchor="ctr" anchorCtr="0"/>
                </a:tc>
                <a:tc rowSpan="2">
                  <a:txBody>
                    <a:bodyPr/>
                    <a:p>
                      <a:pPr algn="ctr">
                        <a:buNone/>
                      </a:pPr>
                      <a:r>
                        <a:rPr lang="en-US" altLang="zh-CN" sz="900" b="1">
                          <a:solidFill>
                            <a:schemeClr val="tx1"/>
                          </a:solidFill>
                          <a:uFillTx/>
                        </a:rPr>
                        <a:t>11</a:t>
                      </a:r>
                      <a:endParaRPr lang="en-US" altLang="zh-CN" sz="900" b="1">
                        <a:solidFill>
                          <a:schemeClr val="tx1"/>
                        </a:solidFill>
                        <a:uFillTx/>
                      </a:endParaRPr>
                    </a:p>
                  </a:txBody>
                  <a:tcPr anchor="ctr" anchorCtr="0"/>
                </a:tc>
              </a:tr>
              <a:tr h="254000">
                <a:tc vMerge="1">
                  <a:tcPr anchor="ctr" anchorCtr="0"/>
                </a:tc>
                <a:tc vMerge="1">
                  <a:tcPr anchor="ctr" anchorCtr="0"/>
                </a:tc>
                <a:tc>
                  <a:txBody>
                    <a:bodyPr/>
                    <a:p>
                      <a:pPr algn="ctr">
                        <a:buNone/>
                      </a:pPr>
                      <a:r>
                        <a:rPr lang="en-US" altLang="zh-CN" sz="900" b="1">
                          <a:solidFill>
                            <a:schemeClr val="tx1"/>
                          </a:solidFill>
                          <a:uFillTx/>
                        </a:rPr>
                        <a:t>000</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rPr>
                        <a:t>S0</a:t>
                      </a:r>
                      <a:endParaRPr lang="en-US" altLang="zh-CN" sz="900" b="1">
                        <a:solidFill>
                          <a:schemeClr val="tx1"/>
                        </a:solidFill>
                        <a:uFillTx/>
                      </a:endParaRPr>
                    </a:p>
                  </a:txBody>
                  <a:tcPr anchor="ctr" anchorCtr="0"/>
                </a:tc>
                <a:tc>
                  <a:txBody>
                    <a:bodyPr/>
                    <a:p>
                      <a:pPr algn="ctr">
                        <a:buNone/>
                      </a:pPr>
                      <a:r>
                        <a:rPr lang="en-US" altLang="zh-CN" sz="900" b="1">
                          <a:solidFill>
                            <a:schemeClr val="tx1"/>
                          </a:solidFill>
                          <a:uFillTx/>
                          <a:ea typeface="微软雅黑" panose="020B0503020204020204" charset="-122"/>
                        </a:rPr>
                        <a:t>A</a:t>
                      </a:r>
                      <a:endParaRPr lang="en-US" altLang="zh-CN" sz="900" b="1">
                        <a:solidFill>
                          <a:schemeClr val="tx1"/>
                        </a:solidFill>
                        <a:uFillTx/>
                        <a:ea typeface="微软雅黑" panose="020B0503020204020204" charset="-122"/>
                      </a:endParaRPr>
                    </a:p>
                  </a:txBody>
                  <a:tcPr anchor="ctr" anchorCtr="0"/>
                </a:tc>
                <a:tc vMerge="1">
                  <a:tcPr anchor="ctr" anchorCtr="0"/>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小测</a:t>
            </a:r>
            <a:r>
              <a:rPr lang="en-US" altLang="zh-CN" dirty="0"/>
              <a:t>4</a:t>
            </a:r>
            <a:endParaRPr lang="en-US" altLang="zh-CN"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3" name="文本框 2"/>
          <p:cNvSpPr txBox="1"/>
          <p:nvPr/>
        </p:nvSpPr>
        <p:spPr>
          <a:xfrm>
            <a:off x="493395" y="1182370"/>
            <a:ext cx="10943590" cy="645160"/>
          </a:xfrm>
          <a:prstGeom prst="rect">
            <a:avLst/>
          </a:prstGeom>
        </p:spPr>
        <p:txBody>
          <a:bodyPr wrap="square">
            <a:spAutoFit/>
          </a:bodyPr>
          <a:p>
            <a:pPr indent="0" algn="just" defTabSz="266700">
              <a:spcBef>
                <a:spcPct val="0"/>
              </a:spcBef>
              <a:spcAft>
                <a:spcPct val="0"/>
              </a:spcAft>
            </a:pPr>
            <a:r>
              <a:rPr lang="en-US" altLang="zh-CN">
                <a:latin typeface="Arial" panose="020B0604020202020204"/>
                <a:ea typeface="宋体" panose="02010600030101010101" pitchFamily="2" charset="-122"/>
              </a:rPr>
              <a:t>4. </a:t>
            </a:r>
            <a:r>
              <a:rPr lang="zh-CN" altLang="en-US">
                <a:latin typeface="宋体" panose="02010600030101010101" pitchFamily="2" charset="-122"/>
                <a:ea typeface="宋体" panose="02010600030101010101" pitchFamily="2" charset="-122"/>
              </a:rPr>
              <a:t>如题</a:t>
            </a:r>
            <a:r>
              <a:rPr lang="en-US" altLang="zh-CN">
                <a:latin typeface="Arial" panose="020B0604020202020204"/>
                <a:ea typeface="宋体" panose="02010600030101010101" pitchFamily="2" charset="-122"/>
              </a:rPr>
              <a:t>4</a:t>
            </a:r>
            <a:r>
              <a:rPr lang="zh-CN" altLang="en-US">
                <a:latin typeface="宋体" panose="02010600030101010101" pitchFamily="2" charset="-122"/>
                <a:ea typeface="宋体" panose="02010600030101010101" pitchFamily="2" charset="-122"/>
              </a:rPr>
              <a:t>图所示，控制器实现的电路框图和只读存储器（</a:t>
            </a:r>
            <a:r>
              <a:rPr lang="en-US" altLang="zh-CN">
                <a:latin typeface="Arial" panose="020B0604020202020204"/>
                <a:ea typeface="宋体" panose="02010600030101010101" pitchFamily="2" charset="-122"/>
              </a:rPr>
              <a:t>ROM</a:t>
            </a:r>
            <a:r>
              <a:rPr lang="zh-CN" altLang="en-US">
                <a:latin typeface="宋体" panose="02010600030101010101" pitchFamily="2" charset="-122"/>
                <a:ea typeface="宋体" panose="02010600030101010101" pitchFamily="2" charset="-122"/>
              </a:rPr>
              <a:t>）中的内容。请画出此控制器实现的有限状态机（</a:t>
            </a:r>
            <a:r>
              <a:rPr lang="en-US" altLang="zh-CN">
                <a:latin typeface="宋体" panose="02010600030101010101" pitchFamily="2" charset="-122"/>
                <a:ea typeface="宋体" panose="02010600030101010101" pitchFamily="2" charset="-122"/>
              </a:rPr>
              <a:t>hint</a:t>
            </a:r>
            <a:r>
              <a:rPr lang="zh-CN" altLang="en-US">
                <a:latin typeface="宋体" panose="02010600030101010101" pitchFamily="2" charset="-122"/>
                <a:ea typeface="宋体" panose="02010600030101010101" pitchFamily="2" charset="-122"/>
              </a:rPr>
              <a:t>：画出状态转换图</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状态转换表</a:t>
            </a:r>
            <a:r>
              <a:rPr lang="en-US" altLang="zh-CN">
                <a:latin typeface="宋体" panose="02010600030101010101" pitchFamily="2" charset="-122"/>
                <a:ea typeface="宋体" panose="02010600030101010101" pitchFamily="2" charset="-122"/>
              </a:rPr>
              <a:t>/ASM</a:t>
            </a:r>
            <a:r>
              <a:rPr lang="zh-CN" altLang="en-US">
                <a:latin typeface="宋体" panose="02010600030101010101" pitchFamily="2" charset="-122"/>
                <a:ea typeface="宋体" panose="02010600030101010101" pitchFamily="2" charset="-122"/>
              </a:rPr>
              <a:t>图）。</a:t>
            </a:r>
            <a:endParaRPr lang="zh-CN" altLang="en-US">
              <a:latin typeface="宋体" panose="02010600030101010101" pitchFamily="2" charset="-122"/>
              <a:ea typeface="宋体" panose="02010600030101010101" pitchFamily="2" charset="-122"/>
            </a:endParaRPr>
          </a:p>
        </p:txBody>
      </p:sp>
      <p:graphicFrame>
        <p:nvGraphicFramePr>
          <p:cNvPr id="4" name="对象 -2147482622"/>
          <p:cNvGraphicFramePr>
            <a:graphicFrameLocks noChangeAspect="1"/>
          </p:cNvGraphicFramePr>
          <p:nvPr/>
        </p:nvGraphicFramePr>
        <p:xfrm>
          <a:off x="1090613" y="1827530"/>
          <a:ext cx="4195445" cy="4683760"/>
        </p:xfrm>
        <a:graphic>
          <a:graphicData uri="http://schemas.openxmlformats.org/presentationml/2006/ole">
            <mc:AlternateContent xmlns:mc="http://schemas.openxmlformats.org/markup-compatibility/2006">
              <mc:Choice xmlns:v="urn:schemas-microsoft-com:vml" Requires="v">
                <p:oleObj spid="_x0000_s3076" name="" r:id="rId1" imgW="4299585" imgH="4795520" progId="Visio.Drawing.11">
                  <p:embed/>
                </p:oleObj>
              </mc:Choice>
              <mc:Fallback>
                <p:oleObj name="" r:id="rId1" imgW="4299585" imgH="4795520" progId="Visio.Drawing.11">
                  <p:embed/>
                  <p:pic>
                    <p:nvPicPr>
                      <p:cNvPr id="0" name="图片 3075"/>
                      <p:cNvPicPr/>
                      <p:nvPr/>
                    </p:nvPicPr>
                    <p:blipFill>
                      <a:blip r:embed="rId2"/>
                      <a:stretch>
                        <a:fillRect/>
                      </a:stretch>
                    </p:blipFill>
                    <p:spPr>
                      <a:xfrm>
                        <a:off x="1090613" y="1827530"/>
                        <a:ext cx="4195445" cy="4683760"/>
                      </a:xfrm>
                      <a:prstGeom prst="rect">
                        <a:avLst/>
                      </a:prstGeom>
                      <a:noFill/>
                      <a:ln w="38100">
                        <a:noFill/>
                        <a:miter/>
                      </a:ln>
                    </p:spPr>
                  </p:pic>
                </p:oleObj>
              </mc:Fallback>
            </mc:AlternateContent>
          </a:graphicData>
        </a:graphic>
      </p:graphicFrame>
      <p:pic>
        <p:nvPicPr>
          <p:cNvPr id="5" name="图片 4"/>
          <p:cNvPicPr>
            <a:picLocks noChangeAspect="1"/>
          </p:cNvPicPr>
          <p:nvPr/>
        </p:nvPicPr>
        <p:blipFill>
          <a:blip r:embed="rId3"/>
          <a:stretch>
            <a:fillRect/>
          </a:stretch>
        </p:blipFill>
        <p:spPr>
          <a:xfrm>
            <a:off x="7273925" y="1827530"/>
            <a:ext cx="3402965" cy="462534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补充</a:t>
            </a:r>
            <a:r>
              <a:rPr lang="zh-CN" altLang="en-US" dirty="0"/>
              <a:t>习题</a:t>
            </a:r>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3" name="文本框 2"/>
          <p:cNvSpPr txBox="1"/>
          <p:nvPr/>
        </p:nvSpPr>
        <p:spPr>
          <a:xfrm>
            <a:off x="426085" y="1122045"/>
            <a:ext cx="10531475" cy="922020"/>
          </a:xfrm>
          <a:prstGeom prst="rect">
            <a:avLst/>
          </a:prstGeom>
          <a:noFill/>
        </p:spPr>
        <p:txBody>
          <a:bodyPr wrap="square" rtlCol="0">
            <a:spAutoFit/>
          </a:bodyPr>
          <a:lstStyle/>
          <a:p>
            <a:pPr>
              <a:lnSpc>
                <a:spcPct val="150000"/>
              </a:lnSpc>
            </a:pPr>
            <a:r>
              <a:rPr lang="zh-CN" altLang="en-US" dirty="0"/>
              <a:t>用如图所示的</a:t>
            </a:r>
            <a:r>
              <a:rPr lang="en-US" altLang="zh-CN" dirty="0"/>
              <a:t>74LS194</a:t>
            </a:r>
            <a:r>
              <a:rPr lang="zh-CN" altLang="en-US" dirty="0"/>
              <a:t>双向移位寄存器，及其他必要的器件产生如下序列信号：</a:t>
            </a:r>
            <a:r>
              <a:rPr lang="en-US" altLang="zh-CN" dirty="0"/>
              <a:t>0110100101</a:t>
            </a:r>
            <a:r>
              <a:rPr lang="zh-CN" altLang="en-US" dirty="0"/>
              <a:t>。写出设计过程，并画出电路图。</a:t>
            </a:r>
            <a:r>
              <a:rPr lang="en-US" altLang="zh-CN" dirty="0"/>
              <a:t>74LS194</a:t>
            </a:r>
            <a:r>
              <a:rPr lang="zh-CN" altLang="en-US" dirty="0"/>
              <a:t>的功能如表所示。</a:t>
            </a:r>
            <a:endParaRPr lang="en-US" altLang="zh-CN" dirty="0"/>
          </a:p>
        </p:txBody>
      </p:sp>
      <p:sp>
        <p:nvSpPr>
          <p:cNvPr id="9" name="矩形 8"/>
          <p:cNvSpPr/>
          <p:nvPr/>
        </p:nvSpPr>
        <p:spPr>
          <a:xfrm>
            <a:off x="529111" y="5050968"/>
            <a:ext cx="5211683" cy="788806"/>
          </a:xfrm>
          <a:prstGeom prst="rect">
            <a:avLst/>
          </a:prstGeom>
        </p:spPr>
        <p:txBody>
          <a:bodyPr wrap="none">
            <a:spAutoFit/>
          </a:bodyPr>
          <a:lstStyle/>
          <a:p>
            <a:pPr>
              <a:lnSpc>
                <a:spcPct val="150000"/>
              </a:lnSpc>
            </a:pPr>
            <a:r>
              <a:rPr lang="zh-CN" altLang="en-US" sz="1600" dirty="0"/>
              <a:t>解：设计序列发生器的两种方法（课本</a:t>
            </a:r>
            <a:r>
              <a:rPr lang="en-US" altLang="zh-CN" sz="1600" dirty="0"/>
              <a:t>P309</a:t>
            </a:r>
            <a:r>
              <a:rPr lang="zh-CN" altLang="en-US" sz="1600" dirty="0"/>
              <a:t>）：</a:t>
            </a:r>
            <a:endParaRPr lang="en-US" altLang="zh-CN" sz="1600" dirty="0"/>
          </a:p>
          <a:p>
            <a:pPr>
              <a:lnSpc>
                <a:spcPct val="150000"/>
              </a:lnSpc>
            </a:pPr>
            <a:r>
              <a:rPr lang="zh-CN" altLang="en-US" sz="1600" dirty="0"/>
              <a:t>①计数器</a:t>
            </a:r>
            <a:r>
              <a:rPr lang="en-US" altLang="zh-CN" sz="1600" dirty="0"/>
              <a:t>+</a:t>
            </a:r>
            <a:r>
              <a:rPr lang="zh-CN" altLang="en-US" sz="1600" dirty="0"/>
              <a:t>数据选择器；②</a:t>
            </a:r>
            <a:r>
              <a:rPr lang="zh-CN" altLang="en-US" sz="1600" b="1" dirty="0"/>
              <a:t>带负反馈电路的移位寄存器</a:t>
            </a:r>
            <a:r>
              <a:rPr lang="zh-CN" altLang="en-US" sz="1600" dirty="0"/>
              <a:t>。</a:t>
            </a:r>
            <a:endParaRPr lang="en-US" altLang="zh-CN" sz="1600" dirty="0"/>
          </a:p>
        </p:txBody>
      </p:sp>
      <p:pic>
        <p:nvPicPr>
          <p:cNvPr id="25" name="图片 24"/>
          <p:cNvPicPr/>
          <p:nvPr/>
        </p:nvPicPr>
        <p:blipFill>
          <a:blip r:embed="rId1"/>
          <a:stretch>
            <a:fillRect/>
          </a:stretch>
        </p:blipFill>
        <p:spPr>
          <a:xfrm>
            <a:off x="6746240" y="2406650"/>
            <a:ext cx="3086100" cy="2338070"/>
          </a:xfrm>
          <a:prstGeom prst="rect">
            <a:avLst/>
          </a:prstGeom>
        </p:spPr>
      </p:pic>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nvGraphicFramePr>
            <p:xfrm>
              <a:off x="1509395" y="2298065"/>
              <a:ext cx="4469130" cy="2448560"/>
            </p:xfrm>
            <a:graphic>
              <a:graphicData uri="http://schemas.openxmlformats.org/drawingml/2006/table">
                <a:tbl>
                  <a:tblPr firstRow="1" firstCol="1" bandRow="1">
                    <a:tableStyleId>{5940675A-B579-460E-94D1-54222C63F5DA}</a:tableStyleId>
                  </a:tblPr>
                  <a:tblGrid>
                    <a:gridCol w="496570"/>
                    <a:gridCol w="496570"/>
                    <a:gridCol w="496570"/>
                    <a:gridCol w="496570"/>
                    <a:gridCol w="496570"/>
                    <a:gridCol w="496570"/>
                    <a:gridCol w="496570"/>
                    <a:gridCol w="496570"/>
                    <a:gridCol w="496570"/>
                  </a:tblGrid>
                  <a:tr h="306070">
                    <a:tc gridSpan="4">
                      <a:txBody>
                        <a:bodyPr/>
                        <a:lstStyle/>
                        <a:p>
                          <a:pPr algn="ctr"/>
                          <a:r>
                            <a:rPr lang="zh-CN" sz="1050" kern="100" dirty="0">
                              <a:effectLst/>
                            </a:rPr>
                            <a:t>输入</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hMerge="1">
                      <a:tcPr/>
                    </a:tc>
                    <a:tc hMerge="1">
                      <a:tcPr/>
                    </a:tc>
                    <a:tc hMerge="1">
                      <a:tcPr/>
                    </a:tc>
                    <a:tc rowSpan="3">
                      <a:txBody>
                        <a:bodyPr/>
                        <a:lstStyle/>
                        <a:p>
                          <a:pPr algn="ctr"/>
                          <a:r>
                            <a:rPr lang="zh-CN" sz="1050" kern="100" dirty="0">
                              <a:effectLst/>
                            </a:rPr>
                            <a:t>功能</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gridSpan="4">
                      <a:txBody>
                        <a:bodyPr/>
                        <a:lstStyle/>
                        <a:p>
                          <a:pPr algn="ctr"/>
                          <a:r>
                            <a:rPr lang="zh-CN" sz="1050" kern="100">
                              <a:effectLst/>
                            </a:rPr>
                            <a:t>输出</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hMerge="1">
                      <a:tcPr/>
                    </a:tc>
                    <a:tc hMerge="1">
                      <a:tcPr/>
                    </a:tc>
                    <a:tc hMerge="1">
                      <a:tcPr/>
                    </a:tc>
                  </a:tr>
                  <a:tr h="306070">
                    <a:tc rowSpan="2">
                      <a:txBody>
                        <a:bodyPr/>
                        <a:lstStyle/>
                        <a:p>
                          <a:pPr algn="ctr"/>
                          <a14:m>
                            <m:oMathPara xmlns:m="http://schemas.openxmlformats.org/officeDocument/2006/math">
                              <m:oMathParaPr>
                                <m:jc m:val="centerGroup"/>
                              </m:oMathParaPr>
                              <m:oMath xmlns:m="http://schemas.openxmlformats.org/officeDocument/2006/math">
                                <m:acc>
                                  <m:accPr>
                                    <m:chr m:val="̅"/>
                                    <m:ctrlPr>
                                      <a:rPr lang="zh-CN" sz="1050" i="1" kern="100">
                                        <a:effectLst/>
                                        <a:latin typeface="Cambria Math" panose="02040503050406030204" pitchFamily="18" charset="0"/>
                                      </a:rPr>
                                    </m:ctrlPr>
                                  </m:accPr>
                                  <m:e>
                                    <m:r>
                                      <m:rPr>
                                        <m:sty m:val="p"/>
                                      </m:rPr>
                                      <a:rPr lang="en-US" sz="1050" kern="100">
                                        <a:effectLst/>
                                        <a:latin typeface="Cambria Math" panose="02040503050406030204" pitchFamily="18" charset="0"/>
                                      </a:rPr>
                                      <m:t>CR</m:t>
                                    </m:r>
                                  </m:e>
                                </m:acc>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gridSpan="2">
                      <a:txBody>
                        <a:bodyPr/>
                        <a:lstStyle/>
                        <a:p>
                          <a:pPr algn="ctr"/>
                          <a:r>
                            <a:rPr lang="zh-CN" sz="1050" kern="100">
                              <a:effectLst/>
                            </a:rPr>
                            <a:t>方式控制</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hMerge="1">
                      <a:tcPr/>
                    </a:tc>
                    <a:tc rowSpan="2">
                      <a:txBody>
                        <a:bodyPr/>
                        <a:lstStyle/>
                        <a:p>
                          <a:pPr algn="ctr"/>
                          <a14:m>
                            <m:oMathPara xmlns:m="http://schemas.openxmlformats.org/officeDocument/2006/math">
                              <m:oMathParaPr>
                                <m:jc m:val="centerGroup"/>
                              </m:oMathParaPr>
                              <m:oMath xmlns:m="http://schemas.openxmlformats.org/officeDocument/2006/math">
                                <m:r>
                                  <m:rPr>
                                    <m:sty m:val="p"/>
                                  </m:rPr>
                                  <a:rPr lang="en-US" sz="1050" kern="100">
                                    <a:effectLst/>
                                    <a:latin typeface="Cambria Math" panose="02040503050406030204" pitchFamily="18" charset="0"/>
                                  </a:rPr>
                                  <m:t>CP</m:t>
                                </m:r>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vMerge="1">
                      <a:tcPr/>
                    </a:tc>
                    <a:tc rowSpan="2">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0</m:t>
                                    </m:r>
                                  </m:sub>
                                </m:sSub>
                              </m:oMath>
                            </m:oMathPara>
                          </a14:m>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rowSpan="2">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1</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rowSpan="2">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2</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rowSpan="2">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3</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r>
                  <a:tr h="306070">
                    <a:tc vMerge="1">
                      <a:tcP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𝑀</m:t>
                                    </m:r>
                                  </m:e>
                                  <m:sub>
                                    <m:r>
                                      <a:rPr lang="en-US" sz="1050" kern="100">
                                        <a:effectLst/>
                                        <a:latin typeface="Cambria Math" panose="02040503050406030204" pitchFamily="18" charset="0"/>
                                      </a:rPr>
                                      <m:t>1</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𝑀</m:t>
                                    </m:r>
                                  </m:e>
                                  <m:sub>
                                    <m:r>
                                      <a:rPr lang="en-US" sz="1050" kern="100">
                                        <a:effectLst/>
                                        <a:latin typeface="Cambria Math" panose="02040503050406030204" pitchFamily="18" charset="0"/>
                                      </a:rPr>
                                      <m:t>0</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vMerge="1">
                      <a:tcPr/>
                    </a:tc>
                    <a:tc vMerge="1">
                      <a:tcPr/>
                    </a:tc>
                    <a:tc vMerge="1">
                      <a:tcPr/>
                    </a:tc>
                    <a:tc vMerge="1">
                      <a:tcPr/>
                    </a:tc>
                    <a:tc vMerge="1">
                      <a:tcPr/>
                    </a:tc>
                    <a:tc vMerge="1">
                      <a:tcPr/>
                    </a:tc>
                  </a:tr>
                  <a:tr h="306070">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右移</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𝐷</m:t>
                                    </m:r>
                                  </m:e>
                                  <m:sub>
                                    <m:r>
                                      <a:rPr lang="en-US" sz="1050" kern="100">
                                        <a:effectLst/>
                                        <a:latin typeface="Cambria Math" panose="02040503050406030204" pitchFamily="18" charset="0"/>
                                      </a:rPr>
                                      <m:t>𝑅</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0</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1</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2</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r>
                  <a:tr h="306070">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dirty="0">
                              <a:effectLst/>
                            </a:rPr>
                            <a:t>0</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dirty="0">
                              <a:effectLst/>
                            </a:rPr>
                            <a:t>↑</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左移</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1</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2</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3</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𝐷</m:t>
                                    </m:r>
                                  </m:e>
                                  <m:sub>
                                    <m:r>
                                      <a:rPr lang="en-US" sz="1050" kern="100">
                                        <a:effectLst/>
                                        <a:latin typeface="Cambria Math" panose="02040503050406030204" pitchFamily="18" charset="0"/>
                                      </a:rPr>
                                      <m:t>𝐿</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r>
                  <a:tr h="306070">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dirty="0">
                              <a:effectLst/>
                            </a:rPr>
                            <a:t>1</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置数</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𝐷</m:t>
                                    </m:r>
                                  </m:e>
                                  <m:sub>
                                    <m:r>
                                      <a:rPr lang="en-US" sz="1050" kern="100">
                                        <a:effectLst/>
                                        <a:latin typeface="Cambria Math" panose="02040503050406030204" pitchFamily="18" charset="0"/>
                                      </a:rPr>
                                      <m:t>0</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𝐷</m:t>
                                    </m:r>
                                  </m:e>
                                  <m:sub>
                                    <m:r>
                                      <a:rPr lang="en-US" sz="1050" kern="100">
                                        <a:effectLst/>
                                        <a:latin typeface="Cambria Math" panose="02040503050406030204" pitchFamily="18" charset="0"/>
                                      </a:rPr>
                                      <m:t>1</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𝐷</m:t>
                                    </m:r>
                                  </m:e>
                                  <m:sub>
                                    <m:r>
                                      <a:rPr lang="en-US" sz="1050" kern="100">
                                        <a:effectLst/>
                                        <a:latin typeface="Cambria Math" panose="02040503050406030204" pitchFamily="18" charset="0"/>
                                      </a:rPr>
                                      <m:t>2</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𝐷</m:t>
                                    </m:r>
                                  </m:e>
                                  <m:sub>
                                    <m:r>
                                      <a:rPr lang="en-US" sz="1050" kern="100">
                                        <a:effectLst/>
                                        <a:latin typeface="Cambria Math" panose="02040503050406030204" pitchFamily="18" charset="0"/>
                                      </a:rPr>
                                      <m:t>3</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r>
                  <a:tr h="306070">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dirty="0">
                              <a:effectLst/>
                            </a:rPr>
                            <a:t>0</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保持</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0</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1</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2</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𝑄</m:t>
                                    </m:r>
                                  </m:e>
                                  <m:sub>
                                    <m:r>
                                      <a:rPr lang="en-US" sz="1050" kern="100">
                                        <a:effectLst/>
                                        <a:latin typeface="Cambria Math" panose="02040503050406030204" pitchFamily="18" charset="0"/>
                                      </a:rPr>
                                      <m:t>3</m:t>
                                    </m:r>
                                  </m:sub>
                                </m:sSub>
                              </m:oMath>
                            </m:oMathPara>
                          </a14:m>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r>
                  <a:tr h="306070">
                    <a:tc>
                      <a:txBody>
                        <a:bodyPr/>
                        <a:lstStyle/>
                        <a:p>
                          <a:pPr algn="ct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r>
                            <a:rPr lang="zh-CN" sz="1050" kern="100">
                              <a:effectLst/>
                            </a:rPr>
                            <a:t>×</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消</a:t>
                          </a: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dirty="0">
                              <a:effectLst/>
                            </a:rPr>
                            <a:t>0</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r>
                </a:tbl>
              </a:graphicData>
            </a:graphic>
          </p:graphicFrame>
        </mc:Choice>
        <mc:Fallback xmlns="">
          <p:graphicFrame>
            <p:nvGraphicFramePr>
              <p:cNvPr id="4" name="表格 3"/>
              <p:cNvGraphicFramePr>
                <a:graphicFrameLocks noGrp="1"/>
              </p:cNvGraphicFramePr>
              <p:nvPr/>
            </p:nvGraphicFramePr>
            <p:xfrm>
              <a:off x="1509395" y="2298065"/>
              <a:ext cx="4469130" cy="2448560"/>
            </p:xfrm>
            <a:graphic>
              <a:graphicData uri="http://schemas.openxmlformats.org/drawingml/2006/table">
                <a:tbl>
                  <a:tblPr firstRow="1" firstCol="1" bandRow="1">
                    <a:tableStyleId>{5940675A-B579-460E-94D1-54222C63F5DA}</a:tableStyleId>
                  </a:tblPr>
                  <a:tblGrid>
                    <a:gridCol w="496570"/>
                    <a:gridCol w="496570"/>
                    <a:gridCol w="496570"/>
                    <a:gridCol w="496570"/>
                    <a:gridCol w="496570"/>
                    <a:gridCol w="496570"/>
                    <a:gridCol w="496570"/>
                    <a:gridCol w="496570"/>
                    <a:gridCol w="496570"/>
                  </a:tblGrid>
                  <a:tr h="306070">
                    <a:tc gridSpan="4">
                      <a:txBody>
                        <a:bodyPr/>
                        <a:lstStyle/>
                        <a:p>
                          <a:pPr algn="ctr"/>
                          <a:r>
                            <a:rPr lang="zh-CN" sz="1050" kern="100" dirty="0">
                              <a:effectLst/>
                            </a:rPr>
                            <a:t>输入</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hMerge="1">
                      <a:tcPr/>
                    </a:tc>
                    <a:tc hMerge="1">
                      <a:tcPr/>
                    </a:tc>
                    <a:tc hMerge="1">
                      <a:tcPr/>
                    </a:tc>
                    <a:tc rowSpan="3">
                      <a:txBody>
                        <a:bodyPr/>
                        <a:lstStyle/>
                        <a:p>
                          <a:pPr algn="ctr"/>
                          <a:r>
                            <a:rPr lang="zh-CN" sz="1050" kern="100" dirty="0">
                              <a:effectLst/>
                            </a:rPr>
                            <a:t>功能</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gridSpan="4">
                      <a:txBody>
                        <a:bodyPr/>
                        <a:lstStyle/>
                        <a:p>
                          <a:pPr algn="ctr"/>
                          <a:r>
                            <a:rPr lang="zh-CN" sz="1050" kern="100">
                              <a:effectLst/>
                            </a:rPr>
                            <a:t>输出</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hMerge="1">
                      <a:tcPr/>
                    </a:tc>
                    <a:tc hMerge="1">
                      <a:tcPr/>
                    </a:tc>
                    <a:tc hMerge="1">
                      <a:tcPr/>
                    </a:tc>
                  </a:tr>
                  <a:tr h="306070">
                    <a:tc rowSpan="2">
                      <a:txBody>
                        <a:bodyPr/>
                        <a:lstStyle/>
                        <a:p>
                          <a:endParaRPr lang="zh-CN"/>
                        </a:p>
                      </a:txBody>
                      <a:tcPr marL="68580" marR="68580" marT="0" marB="0" anchor="ctr">
                        <a:blipFill>
                          <a:blip r:embed="rId2"/>
                        </a:blipFill>
                      </a:tcPr>
                    </a:tc>
                    <a:tc gridSpan="2">
                      <a:txBody>
                        <a:bodyPr/>
                        <a:lstStyle/>
                        <a:p>
                          <a:pPr algn="ctr"/>
                          <a:r>
                            <a:rPr lang="zh-CN" sz="1050" kern="100">
                              <a:effectLst/>
                            </a:rPr>
                            <a:t>方式控制</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hMerge="1">
                      <a:tcPr/>
                    </a:tc>
                    <a:tc rowSpan="2">
                      <a:txBody>
                        <a:bodyPr/>
                        <a:lstStyle/>
                        <a:p>
                          <a:endParaRPr lang="zh-CN"/>
                        </a:p>
                      </a:txBody>
                      <a:tcPr marL="68580" marR="68580" marT="0" marB="0" anchor="ctr">
                        <a:blipFill>
                          <a:blip r:embed="rId2"/>
                        </a:blipFill>
                      </a:tcPr>
                    </a:tc>
                    <a:tc vMerge="1">
                      <a:tcPr/>
                    </a:tc>
                    <a:tc rowSpan="2">
                      <a:txBody>
                        <a:bodyPr/>
                        <a:lstStyle/>
                        <a:p>
                          <a:endParaRPr lang="zh-CN"/>
                        </a:p>
                      </a:txBody>
                      <a:tcPr marL="68580" marR="68580" marT="0" marB="0" anchor="ctr">
                        <a:blipFill>
                          <a:blip r:embed="rId2"/>
                        </a:blipFill>
                      </a:tcPr>
                    </a:tc>
                    <a:tc rowSpan="2">
                      <a:txBody>
                        <a:bodyPr/>
                        <a:lstStyle/>
                        <a:p>
                          <a:endParaRPr lang="zh-CN"/>
                        </a:p>
                      </a:txBody>
                      <a:tcPr marL="68580" marR="68580" marT="0" marB="0" anchor="ctr">
                        <a:blipFill>
                          <a:blip r:embed="rId2"/>
                        </a:blipFill>
                      </a:tcPr>
                    </a:tc>
                    <a:tc rowSpan="2">
                      <a:txBody>
                        <a:bodyPr/>
                        <a:lstStyle/>
                        <a:p>
                          <a:endParaRPr lang="zh-CN"/>
                        </a:p>
                      </a:txBody>
                      <a:tcPr marL="68580" marR="68580" marT="0" marB="0" anchor="ctr">
                        <a:blipFill>
                          <a:blip r:embed="rId2"/>
                        </a:blipFill>
                      </a:tcPr>
                    </a:tc>
                    <a:tc rowSpan="2">
                      <a:txBody>
                        <a:bodyPr/>
                        <a:lstStyle/>
                        <a:p>
                          <a:endParaRPr lang="zh-CN"/>
                        </a:p>
                      </a:txBody>
                      <a:tcPr marL="68580" marR="68580" marT="0" marB="0" anchor="ctr">
                        <a:blipFill>
                          <a:blip r:embed="rId2"/>
                        </a:blipFill>
                      </a:tcPr>
                    </a:tc>
                  </a:tr>
                  <a:tr h="306070">
                    <a:tc vMerge="1">
                      <a:tcP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c vMerge="1">
                      <a:tcPr/>
                    </a:tc>
                    <a:tc vMerge="1">
                      <a:tcPr/>
                    </a:tc>
                    <a:tc vMerge="1">
                      <a:tcPr/>
                    </a:tc>
                    <a:tc vMerge="1">
                      <a:tcPr/>
                    </a:tc>
                    <a:tc vMerge="1">
                      <a:tcPr/>
                    </a:tc>
                    <a:tc vMerge="1">
                      <a:tcPr/>
                    </a:tc>
                  </a:tr>
                  <a:tr h="306070">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右移</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r>
                  <a:tr h="306070">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dirty="0">
                              <a:effectLst/>
                            </a:rPr>
                            <a:t>0</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dirty="0">
                              <a:effectLst/>
                            </a:rPr>
                            <a:t>↑</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左移</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r>
                  <a:tr h="306070">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dirty="0">
                              <a:effectLst/>
                            </a:rPr>
                            <a:t>1</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置数</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r>
                  <a:tr h="306070">
                    <a:tc>
                      <a:txBody>
                        <a:bodyPr/>
                        <a:lstStyle/>
                        <a:p>
                          <a:pPr algn="ctr"/>
                          <a:r>
                            <a:rPr lang="en-US" sz="1050" kern="100">
                              <a:effectLst/>
                            </a:rPr>
                            <a: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dirty="0">
                              <a:effectLst/>
                            </a:rPr>
                            <a:t>0</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保持</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c>
                      <a:txBody>
                        <a:bodyPr/>
                        <a:lstStyle/>
                        <a:p>
                          <a:endParaRPr lang="zh-CN"/>
                        </a:p>
                      </a:txBody>
                      <a:tcPr marL="68580" marR="68580" marT="0" marB="0" anchor="ctr">
                        <a:blipFill>
                          <a:blip r:embed="rId2"/>
                        </a:blipFill>
                      </a:tcPr>
                    </a:tc>
                  </a:tr>
                  <a:tr h="306070">
                    <a:tc>
                      <a:txBody>
                        <a:bodyPr/>
                        <a:lstStyle/>
                        <a:p>
                          <a:pPr algn="ct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r>
                            <a:rPr lang="zh-CN" sz="1050" kern="100">
                              <a:effectLst/>
                            </a:rPr>
                            <a:t>×</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zh-CN" sz="1050" kern="100">
                              <a:effectLst/>
                            </a:rPr>
                            <a:t>消</a:t>
                          </a: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a:effectLst/>
                            </a:rPr>
                            <a:t>0</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ctr"/>
                          <a:r>
                            <a:rPr lang="en-US" sz="1050" kern="100" dirty="0">
                              <a:effectLst/>
                            </a:rPr>
                            <a:t>0</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r>
                </a:tbl>
              </a:graphicData>
            </a:graphic>
          </p:graphicFrame>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补充</a:t>
            </a:r>
            <a:r>
              <a:rPr lang="zh-CN" altLang="en-US" dirty="0"/>
              <a:t>习题</a:t>
            </a:r>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graphicFrame>
        <p:nvGraphicFramePr>
          <p:cNvPr id="5" name="表格 5"/>
          <p:cNvGraphicFramePr>
            <a:graphicFrameLocks noGrp="1"/>
          </p:cNvGraphicFramePr>
          <p:nvPr/>
        </p:nvGraphicFramePr>
        <p:xfrm>
          <a:off x="384810" y="1554480"/>
          <a:ext cx="4202430" cy="4714875"/>
        </p:xfrm>
        <a:graphic>
          <a:graphicData uri="http://schemas.openxmlformats.org/drawingml/2006/table">
            <a:tbl>
              <a:tblPr firstRow="1" bandRow="1">
                <a:tableStyleId>{5940675A-B579-460E-94D1-54222C63F5DA}</a:tableStyleId>
              </a:tblPr>
              <a:tblGrid>
                <a:gridCol w="700405"/>
                <a:gridCol w="700405"/>
                <a:gridCol w="700405"/>
                <a:gridCol w="700405"/>
                <a:gridCol w="700405"/>
                <a:gridCol w="700405"/>
              </a:tblGrid>
              <a:tr h="428625">
                <a:tc>
                  <a:txBody>
                    <a:bodyPr/>
                    <a:lstStyle/>
                    <a:p>
                      <a:pPr algn="ctr"/>
                      <a:endParaRPr lang="zh-CN" altLang="en-US" dirty="0"/>
                    </a:p>
                  </a:txBody>
                  <a:tcPr anchor="ctr" anchorCtr="0"/>
                </a:tc>
                <a:tc>
                  <a:txBody>
                    <a:bodyPr/>
                    <a:lstStyle/>
                    <a:p>
                      <a:pPr algn="ctr"/>
                      <a:r>
                        <a:rPr lang="en-US" altLang="zh-CN" dirty="0"/>
                        <a:t>Q0</a:t>
                      </a:r>
                      <a:endParaRPr lang="zh-CN" altLang="en-US" dirty="0"/>
                    </a:p>
                  </a:txBody>
                  <a:tcPr anchor="ctr" anchorCtr="0"/>
                </a:tc>
                <a:tc>
                  <a:txBody>
                    <a:bodyPr/>
                    <a:lstStyle/>
                    <a:p>
                      <a:pPr algn="ctr"/>
                      <a:r>
                        <a:rPr lang="en-US" altLang="zh-CN" dirty="0"/>
                        <a:t>Q1</a:t>
                      </a:r>
                      <a:endParaRPr lang="zh-CN" altLang="en-US" dirty="0"/>
                    </a:p>
                  </a:txBody>
                  <a:tcPr anchor="ctr" anchorCtr="0"/>
                </a:tc>
                <a:tc>
                  <a:txBody>
                    <a:bodyPr/>
                    <a:lstStyle/>
                    <a:p>
                      <a:pPr algn="ctr"/>
                      <a:r>
                        <a:rPr lang="en-US" altLang="zh-CN" dirty="0"/>
                        <a:t>Q2</a:t>
                      </a:r>
                      <a:endParaRPr lang="zh-CN" altLang="en-US" dirty="0"/>
                    </a:p>
                  </a:txBody>
                  <a:tcPr anchor="ctr" anchorCtr="0"/>
                </a:tc>
                <a:tc>
                  <a:txBody>
                    <a:bodyPr/>
                    <a:lstStyle/>
                    <a:p>
                      <a:pPr algn="ctr"/>
                      <a:r>
                        <a:rPr lang="en-US" altLang="zh-CN" dirty="0"/>
                        <a:t>Q3</a:t>
                      </a:r>
                      <a:endParaRPr lang="zh-CN" altLang="en-US" dirty="0"/>
                    </a:p>
                  </a:txBody>
                  <a:tcPr anchor="ctr" anchorCtr="0"/>
                </a:tc>
                <a:tc>
                  <a:txBody>
                    <a:bodyPr/>
                    <a:lstStyle/>
                    <a:p>
                      <a:pPr algn="ctr"/>
                      <a:r>
                        <a:rPr lang="en-US" altLang="zh-CN" dirty="0"/>
                        <a:t>DL</a:t>
                      </a:r>
                      <a:endParaRPr lang="zh-CN" altLang="en-US" dirty="0"/>
                    </a:p>
                  </a:txBody>
                  <a:tcPr anchor="ctr" anchorCtr="0"/>
                </a:tc>
              </a:tr>
              <a:tr h="428625">
                <a:tc>
                  <a:txBody>
                    <a:bodyPr/>
                    <a:lstStyle/>
                    <a:p>
                      <a:pPr algn="ctr"/>
                      <a:r>
                        <a:rPr lang="en-US" altLang="zh-CN" dirty="0"/>
                        <a:t>S1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r>
              <a:tr h="428625">
                <a:tc>
                  <a:txBody>
                    <a:bodyPr/>
                    <a:lstStyle/>
                    <a:p>
                      <a:pPr algn="ctr"/>
                      <a:r>
                        <a:rPr lang="en-US" altLang="zh-CN" dirty="0"/>
                        <a:t>S2</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r>
              <a:tr h="428625">
                <a:tc>
                  <a:txBody>
                    <a:bodyPr/>
                    <a:lstStyle/>
                    <a:p>
                      <a:pPr algn="ctr"/>
                      <a:r>
                        <a:rPr lang="en-US" altLang="zh-CN" dirty="0"/>
                        <a:t>S3</a:t>
                      </a:r>
                      <a:endParaRPr lang="zh-CN" altLang="en-US" dirty="0"/>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solidFill>
                            <a:srgbClr val="FF0000"/>
                          </a:solidFill>
                        </a:rPr>
                        <a:t>0</a:t>
                      </a:r>
                      <a:endParaRPr lang="zh-CN" altLang="en-US" dirty="0">
                        <a:solidFill>
                          <a:srgbClr val="FF0000"/>
                        </a:solidFill>
                      </a:endParaRPr>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solidFill>
                            <a:srgbClr val="FF0000"/>
                          </a:solidFill>
                        </a:rPr>
                        <a:t>0</a:t>
                      </a:r>
                      <a:endParaRPr lang="zh-CN" altLang="en-US" dirty="0">
                        <a:solidFill>
                          <a:srgbClr val="FF0000"/>
                        </a:solidFill>
                      </a:endParaRPr>
                    </a:p>
                  </a:txBody>
                  <a:tcPr anchor="ctr" anchorCtr="0"/>
                </a:tc>
                <a:tc>
                  <a:txBody>
                    <a:bodyPr/>
                    <a:lstStyle/>
                    <a:p>
                      <a:pPr algn="ctr"/>
                      <a:r>
                        <a:rPr lang="en-US" altLang="zh-CN" dirty="0">
                          <a:solidFill>
                            <a:srgbClr val="FF0000"/>
                          </a:solidFill>
                        </a:rPr>
                        <a:t>0</a:t>
                      </a:r>
                      <a:endParaRPr lang="zh-CN" altLang="en-US" dirty="0">
                        <a:solidFill>
                          <a:srgbClr val="FF0000"/>
                        </a:solidFill>
                      </a:endParaRPr>
                    </a:p>
                  </a:txBody>
                  <a:tcPr anchor="ctr" anchorCtr="0"/>
                </a:tc>
              </a:tr>
              <a:tr h="428625">
                <a:tc>
                  <a:txBody>
                    <a:bodyPr/>
                    <a:lstStyle/>
                    <a:p>
                      <a:pPr algn="ctr"/>
                      <a:r>
                        <a:rPr lang="en-US" altLang="zh-CN" dirty="0"/>
                        <a:t>S4</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r>
              <a:tr h="428625">
                <a:tc>
                  <a:txBody>
                    <a:bodyPr/>
                    <a:lstStyle/>
                    <a:p>
                      <a:pPr algn="ctr"/>
                      <a:r>
                        <a:rPr lang="en-US" altLang="zh-CN" dirty="0"/>
                        <a:t>S5</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r>
              <a:tr h="428625">
                <a:tc>
                  <a:txBody>
                    <a:bodyPr/>
                    <a:lstStyle/>
                    <a:p>
                      <a:pPr algn="ctr"/>
                      <a:r>
                        <a:rPr lang="en-US" altLang="zh-CN" dirty="0"/>
                        <a:t>S6</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r>
              <a:tr h="428625">
                <a:tc>
                  <a:txBody>
                    <a:bodyPr/>
                    <a:lstStyle/>
                    <a:p>
                      <a:pPr algn="ctr"/>
                      <a:r>
                        <a:rPr lang="en-US" altLang="zh-CN" dirty="0"/>
                        <a:t>S7</a:t>
                      </a:r>
                      <a:endParaRPr lang="zh-CN" altLang="en-US" dirty="0"/>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c>
                  <a:txBody>
                    <a:bodyPr/>
                    <a:lstStyle/>
                    <a:p>
                      <a:pPr algn="ctr"/>
                      <a:r>
                        <a:rPr lang="en-US" altLang="zh-CN" dirty="0">
                          <a:solidFill>
                            <a:schemeClr val="tx1"/>
                          </a:solidFill>
                        </a:rPr>
                        <a:t>1</a:t>
                      </a:r>
                      <a:endParaRPr lang="zh-CN" altLang="en-US" dirty="0">
                        <a:solidFill>
                          <a:schemeClr val="tx1"/>
                        </a:solidFill>
                      </a:endParaRPr>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c>
                  <a:txBody>
                    <a:bodyPr/>
                    <a:lstStyle/>
                    <a:p>
                      <a:pPr algn="ctr"/>
                      <a:r>
                        <a:rPr lang="en-US" altLang="zh-CN" dirty="0">
                          <a:solidFill>
                            <a:schemeClr val="tx1"/>
                          </a:solidFill>
                        </a:rPr>
                        <a:t>1</a:t>
                      </a:r>
                      <a:endParaRPr lang="zh-CN" altLang="en-US" dirty="0">
                        <a:solidFill>
                          <a:schemeClr val="tx1"/>
                        </a:solidFill>
                      </a:endParaRPr>
                    </a:p>
                  </a:txBody>
                  <a:tcPr anchor="ctr" anchorCtr="0"/>
                </a:tc>
                <a:tc>
                  <a:txBody>
                    <a:bodyPr/>
                    <a:lstStyle/>
                    <a:p>
                      <a:pPr algn="ctr"/>
                      <a:r>
                        <a:rPr lang="en-US" altLang="zh-CN" dirty="0"/>
                        <a:t>0</a:t>
                      </a:r>
                      <a:endParaRPr lang="zh-CN" altLang="en-US" dirty="0"/>
                    </a:p>
                  </a:txBody>
                  <a:tcPr anchor="ctr" anchorCtr="0"/>
                </a:tc>
              </a:tr>
              <a:tr h="428625">
                <a:tc>
                  <a:txBody>
                    <a:bodyPr/>
                    <a:lstStyle/>
                    <a:p>
                      <a:pPr algn="ctr"/>
                      <a:r>
                        <a:rPr lang="en-US" altLang="zh-CN" dirty="0"/>
                        <a:t>S8</a:t>
                      </a:r>
                      <a:endParaRPr lang="zh-CN" altLang="en-US" dirty="0"/>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solidFill>
                            <a:srgbClr val="FF0000"/>
                          </a:solidFill>
                        </a:rPr>
                        <a:t>0</a:t>
                      </a:r>
                      <a:endParaRPr lang="zh-CN" altLang="en-US" dirty="0">
                        <a:solidFill>
                          <a:srgbClr val="FF0000"/>
                        </a:solidFill>
                      </a:endParaRPr>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solidFill>
                            <a:srgbClr val="FF0000"/>
                          </a:solidFill>
                        </a:rPr>
                        <a:t>0</a:t>
                      </a:r>
                      <a:endParaRPr lang="zh-CN" altLang="en-US" dirty="0">
                        <a:solidFill>
                          <a:srgbClr val="FF0000"/>
                        </a:solidFill>
                      </a:endParaRPr>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r>
              <a:tr h="428625">
                <a:tc>
                  <a:txBody>
                    <a:bodyPr/>
                    <a:lstStyle/>
                    <a:p>
                      <a:pPr algn="ctr"/>
                      <a:r>
                        <a:rPr lang="en-US" altLang="zh-CN" dirty="0"/>
                        <a:t>S9</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r>
              <a:tr h="428625">
                <a:tc>
                  <a:txBody>
                    <a:bodyPr/>
                    <a:lstStyle/>
                    <a:p>
                      <a:pPr algn="ctr"/>
                      <a:r>
                        <a:rPr lang="en-US" altLang="zh-CN" dirty="0"/>
                        <a:t>S10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r>
            </a:tbl>
          </a:graphicData>
        </a:graphic>
      </p:graphicFrame>
      <p:sp>
        <p:nvSpPr>
          <p:cNvPr id="6" name="文本框 5"/>
          <p:cNvSpPr txBox="1"/>
          <p:nvPr/>
        </p:nvSpPr>
        <p:spPr>
          <a:xfrm>
            <a:off x="5616575" y="1754505"/>
            <a:ext cx="5394960" cy="1209040"/>
          </a:xfrm>
          <a:prstGeom prst="rect">
            <a:avLst/>
          </a:prstGeom>
        </p:spPr>
        <p:txBody>
          <a:bodyPr wrap="square">
            <a:noAutofit/>
          </a:bodyPr>
          <a:lstStyle>
            <a:defPPr>
              <a:defRPr lang="zh-CN"/>
            </a:defPPr>
            <a:lvl1pPr>
              <a:lnSpc>
                <a:spcPct val="150000"/>
              </a:lnSpc>
              <a:defRPr sz="1600"/>
            </a:lvl1pPr>
          </a:lstStyle>
          <a:p>
            <a:r>
              <a:rPr lang="zh-CN" altLang="en-US" dirty="0"/>
              <a:t>如果一直采用左移方式循环，会出现两个</a:t>
            </a:r>
            <a:r>
              <a:rPr lang="en-US" altLang="zh-CN" dirty="0"/>
              <a:t>1010</a:t>
            </a:r>
            <a:r>
              <a:rPr lang="zh-CN" altLang="en-US" dirty="0"/>
              <a:t>状态对应不同</a:t>
            </a:r>
            <a:r>
              <a:rPr lang="en-US" altLang="zh-CN" dirty="0"/>
              <a:t>DL</a:t>
            </a:r>
            <a:r>
              <a:rPr lang="zh-CN" altLang="en-US" dirty="0"/>
              <a:t>反馈输入，产生矛盾。</a:t>
            </a:r>
            <a:endParaRPr lang="en-US" altLang="zh-CN" dirty="0"/>
          </a:p>
          <a:p>
            <a:r>
              <a:rPr lang="zh-CN" altLang="en-US" dirty="0"/>
              <a:t>需要设置新的状态，序列信号产生完毕后置数。</a:t>
            </a:r>
            <a:endParaRPr lang="zh-CN" altLang="en-US" dirty="0"/>
          </a:p>
        </p:txBody>
      </p:sp>
      <p:graphicFrame>
        <p:nvGraphicFramePr>
          <p:cNvPr id="10" name="表格 5"/>
          <p:cNvGraphicFramePr>
            <a:graphicFrameLocks noGrp="1"/>
          </p:cNvGraphicFramePr>
          <p:nvPr>
            <p:custDataLst>
              <p:tags r:id="rId1"/>
            </p:custDataLst>
          </p:nvPr>
        </p:nvGraphicFramePr>
        <p:xfrm>
          <a:off x="6861175" y="3608070"/>
          <a:ext cx="3859530" cy="2225040"/>
        </p:xfrm>
        <a:graphic>
          <a:graphicData uri="http://schemas.openxmlformats.org/drawingml/2006/table">
            <a:tbl>
              <a:tblPr firstRow="1" bandRow="1">
                <a:tableStyleId>{5940675A-B579-460E-94D1-54222C63F5DA}</a:tableStyleId>
              </a:tblPr>
              <a:tblGrid>
                <a:gridCol w="643255"/>
                <a:gridCol w="643255"/>
                <a:gridCol w="643255"/>
                <a:gridCol w="643255"/>
                <a:gridCol w="643255"/>
                <a:gridCol w="643255"/>
              </a:tblGrid>
              <a:tr h="556260">
                <a:tc>
                  <a:txBody>
                    <a:bodyPr/>
                    <a:lstStyle/>
                    <a:p>
                      <a:pPr algn="ctr"/>
                      <a:r>
                        <a:rPr lang="en-US" altLang="zh-CN" dirty="0"/>
                        <a:t>S7</a:t>
                      </a:r>
                      <a:endParaRPr lang="zh-CN" altLang="en-US" dirty="0"/>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c>
                  <a:txBody>
                    <a:bodyPr/>
                    <a:lstStyle/>
                    <a:p>
                      <a:pPr algn="ctr"/>
                      <a:r>
                        <a:rPr lang="en-US" altLang="zh-CN" dirty="0">
                          <a:solidFill>
                            <a:schemeClr val="tx1"/>
                          </a:solidFill>
                        </a:rPr>
                        <a:t>1</a:t>
                      </a:r>
                      <a:endParaRPr lang="zh-CN" altLang="en-US" dirty="0">
                        <a:solidFill>
                          <a:schemeClr val="tx1"/>
                        </a:solidFill>
                      </a:endParaRPr>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c>
                  <a:txBody>
                    <a:bodyPr/>
                    <a:lstStyle/>
                    <a:p>
                      <a:pPr algn="ctr"/>
                      <a:r>
                        <a:rPr lang="en-US" altLang="zh-CN" dirty="0">
                          <a:solidFill>
                            <a:schemeClr val="tx1"/>
                          </a:solidFill>
                        </a:rPr>
                        <a:t>1</a:t>
                      </a:r>
                      <a:endParaRPr lang="zh-CN" altLang="en-US" dirty="0">
                        <a:solidFill>
                          <a:schemeClr val="tx1"/>
                        </a:solidFill>
                      </a:endParaRPr>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r>
              <a:tr h="556260">
                <a:tc>
                  <a:txBody>
                    <a:bodyPr/>
                    <a:lstStyle/>
                    <a:p>
                      <a:pPr algn="ctr"/>
                      <a:r>
                        <a:rPr lang="en-US" altLang="zh-CN" dirty="0"/>
                        <a:t>S8</a:t>
                      </a:r>
                      <a:endParaRPr lang="zh-CN" altLang="en-US" dirty="0"/>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solidFill>
                            <a:srgbClr val="FF0000"/>
                          </a:solidFill>
                        </a:rPr>
                        <a:t>0</a:t>
                      </a:r>
                      <a:endParaRPr lang="zh-CN" altLang="en-US" dirty="0">
                        <a:solidFill>
                          <a:srgbClr val="FF0000"/>
                        </a:solidFill>
                      </a:endParaRPr>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t>1</a:t>
                      </a:r>
                      <a:endParaRPr lang="zh-CN" altLang="en-US" dirty="0"/>
                    </a:p>
                  </a:txBody>
                  <a:tcPr anchor="ctr" anchorCtr="0"/>
                </a:tc>
              </a:tr>
              <a:tr h="556260">
                <a:tc>
                  <a:txBody>
                    <a:bodyPr/>
                    <a:lstStyle/>
                    <a:p>
                      <a:pPr algn="ctr"/>
                      <a:r>
                        <a:rPr lang="en-US" altLang="zh-CN" dirty="0"/>
                        <a:t>S9</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r>
              <a:tr h="556260">
                <a:tc>
                  <a:txBody>
                    <a:bodyPr/>
                    <a:lstStyle/>
                    <a:p>
                      <a:pPr algn="ctr"/>
                      <a:r>
                        <a:rPr lang="en-US" altLang="zh-CN" dirty="0"/>
                        <a:t>S10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X</a:t>
                      </a:r>
                      <a:endParaRPr lang="zh-CN" altLang="en-US" dirty="0"/>
                    </a:p>
                  </a:txBody>
                  <a:tcPr anchor="ctr" anchorCtr="0"/>
                </a:tc>
              </a:tr>
            </a:tbl>
          </a:graphicData>
        </a:graphic>
      </p:graphicFrame>
      <p:cxnSp>
        <p:nvCxnSpPr>
          <p:cNvPr id="11" name="直接箭头连接符 10"/>
          <p:cNvCxnSpPr/>
          <p:nvPr/>
        </p:nvCxnSpPr>
        <p:spPr>
          <a:xfrm flipV="1">
            <a:off x="4979546" y="4424103"/>
            <a:ext cx="1611630" cy="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文本框 19"/>
          <p:cNvSpPr txBox="1"/>
          <p:nvPr/>
        </p:nvSpPr>
        <p:spPr>
          <a:xfrm>
            <a:off x="7889240" y="5989320"/>
            <a:ext cx="850265" cy="235585"/>
          </a:xfrm>
          <a:prstGeom prst="rect">
            <a:avLst/>
          </a:prstGeom>
          <a:noFill/>
        </p:spPr>
        <p:txBody>
          <a:bodyPr wrap="square">
            <a:noAutofit/>
          </a:bodyPr>
          <a:lstStyle/>
          <a:p>
            <a:r>
              <a:rPr kumimoji="0" lang="zh-CN" altLang="en-US" sz="18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置数</a:t>
            </a:r>
            <a:endParaRPr lang="zh-CN" altLang="en-US" dirty="0">
              <a:solidFill>
                <a:srgbClr val="FF0000"/>
              </a:solidFill>
            </a:endParaRPr>
          </a:p>
        </p:txBody>
      </p:sp>
      <p:cxnSp>
        <p:nvCxnSpPr>
          <p:cNvPr id="21" name="连接符: 肘形 20"/>
          <p:cNvCxnSpPr/>
          <p:nvPr/>
        </p:nvCxnSpPr>
        <p:spPr>
          <a:xfrm>
            <a:off x="7000875" y="5900420"/>
            <a:ext cx="716915" cy="88900"/>
          </a:xfrm>
          <a:prstGeom prst="bentConnector3">
            <a:avLst>
              <a:gd name="adj1" fmla="val 50044"/>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补充</a:t>
            </a:r>
            <a:r>
              <a:rPr lang="zh-CN" altLang="en-US" dirty="0"/>
              <a:t>习题</a:t>
            </a:r>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5" name="矩形 4"/>
          <p:cNvSpPr/>
          <p:nvPr/>
        </p:nvSpPr>
        <p:spPr>
          <a:xfrm>
            <a:off x="1047413" y="1162476"/>
            <a:ext cx="4111625" cy="460375"/>
          </a:xfrm>
          <a:prstGeom prst="rect">
            <a:avLst/>
          </a:prstGeom>
        </p:spPr>
        <p:txBody>
          <a:bodyPr wrap="none">
            <a:spAutoFit/>
          </a:bodyPr>
          <a:lstStyle/>
          <a:p>
            <a:pPr>
              <a:lnSpc>
                <a:spcPct val="150000"/>
              </a:lnSpc>
            </a:pPr>
            <a:r>
              <a:rPr lang="zh-CN" altLang="en-US" sz="1600" dirty="0"/>
              <a:t>先列出状态转换表。</a:t>
            </a:r>
            <a:r>
              <a:rPr lang="zh-CN" altLang="en-US" sz="1600" dirty="0">
                <a:solidFill>
                  <a:srgbClr val="FF0000"/>
                </a:solidFill>
              </a:rPr>
              <a:t>以</a:t>
            </a:r>
            <a:r>
              <a:rPr lang="en-US" altLang="zh-CN" sz="1600" dirty="0">
                <a:solidFill>
                  <a:srgbClr val="FF0000"/>
                </a:solidFill>
              </a:rPr>
              <a:t>Q0</a:t>
            </a:r>
            <a:r>
              <a:rPr lang="zh-CN" altLang="en-US" sz="1600" dirty="0">
                <a:solidFill>
                  <a:srgbClr val="FF0000"/>
                </a:solidFill>
              </a:rPr>
              <a:t>作为序列信号输出</a:t>
            </a:r>
            <a:endParaRPr lang="en-US" altLang="zh-CN" sz="1600" dirty="0">
              <a:solidFill>
                <a:srgbClr val="FF0000"/>
              </a:solidFill>
            </a:endParaRPr>
          </a:p>
        </p:txBody>
      </p:sp>
      <p:graphicFrame>
        <p:nvGraphicFramePr>
          <p:cNvPr id="6" name="表格 5"/>
          <p:cNvGraphicFramePr>
            <a:graphicFrameLocks noGrp="1"/>
          </p:cNvGraphicFramePr>
          <p:nvPr/>
        </p:nvGraphicFramePr>
        <p:xfrm>
          <a:off x="1171575" y="1617345"/>
          <a:ext cx="5097780" cy="4721860"/>
        </p:xfrm>
        <a:graphic>
          <a:graphicData uri="http://schemas.openxmlformats.org/drawingml/2006/table">
            <a:tbl>
              <a:tblPr firstRow="1" bandRow="1">
                <a:tableStyleId>{5940675A-B579-460E-94D1-54222C63F5DA}</a:tableStyleId>
              </a:tblPr>
              <a:tblGrid>
                <a:gridCol w="849630"/>
                <a:gridCol w="849630"/>
                <a:gridCol w="849630"/>
                <a:gridCol w="849630"/>
                <a:gridCol w="849630"/>
                <a:gridCol w="849630"/>
              </a:tblGrid>
              <a:tr h="429260">
                <a:tc>
                  <a:txBody>
                    <a:bodyPr/>
                    <a:lstStyle/>
                    <a:p>
                      <a:pPr algn="ctr"/>
                      <a:endParaRPr lang="zh-CN" altLang="en-US" dirty="0"/>
                    </a:p>
                  </a:txBody>
                  <a:tcPr anchor="ctr" anchorCtr="0"/>
                </a:tc>
                <a:tc>
                  <a:txBody>
                    <a:bodyPr/>
                    <a:lstStyle/>
                    <a:p>
                      <a:pPr algn="ctr"/>
                      <a:r>
                        <a:rPr lang="en-US" altLang="zh-CN" dirty="0"/>
                        <a:t>Q0</a:t>
                      </a:r>
                      <a:endParaRPr lang="zh-CN" altLang="en-US" dirty="0"/>
                    </a:p>
                  </a:txBody>
                  <a:tcPr anchor="ctr" anchorCtr="0"/>
                </a:tc>
                <a:tc>
                  <a:txBody>
                    <a:bodyPr/>
                    <a:lstStyle/>
                    <a:p>
                      <a:pPr algn="ctr"/>
                      <a:r>
                        <a:rPr lang="en-US" altLang="zh-CN" dirty="0"/>
                        <a:t>Q1</a:t>
                      </a:r>
                      <a:endParaRPr lang="zh-CN" altLang="en-US" dirty="0"/>
                    </a:p>
                  </a:txBody>
                  <a:tcPr anchor="ctr" anchorCtr="0"/>
                </a:tc>
                <a:tc>
                  <a:txBody>
                    <a:bodyPr/>
                    <a:lstStyle/>
                    <a:p>
                      <a:pPr algn="ctr"/>
                      <a:r>
                        <a:rPr lang="en-US" altLang="zh-CN" dirty="0"/>
                        <a:t>Q2</a:t>
                      </a:r>
                      <a:endParaRPr lang="zh-CN" altLang="en-US" dirty="0"/>
                    </a:p>
                  </a:txBody>
                  <a:tcPr anchor="ctr" anchorCtr="0"/>
                </a:tc>
                <a:tc>
                  <a:txBody>
                    <a:bodyPr/>
                    <a:lstStyle/>
                    <a:p>
                      <a:pPr algn="ctr"/>
                      <a:r>
                        <a:rPr lang="en-US" altLang="zh-CN" dirty="0"/>
                        <a:t>Q3</a:t>
                      </a:r>
                      <a:endParaRPr lang="zh-CN" altLang="en-US" dirty="0"/>
                    </a:p>
                  </a:txBody>
                  <a:tcPr anchor="ctr" anchorCtr="0"/>
                </a:tc>
                <a:tc>
                  <a:txBody>
                    <a:bodyPr/>
                    <a:lstStyle/>
                    <a:p>
                      <a:pPr algn="ctr"/>
                      <a:r>
                        <a:rPr lang="en-US" altLang="zh-CN" dirty="0"/>
                        <a:t>DL</a:t>
                      </a:r>
                      <a:endParaRPr lang="zh-CN" altLang="en-US" dirty="0"/>
                    </a:p>
                  </a:txBody>
                  <a:tcPr anchor="ctr" anchorCtr="0"/>
                </a:tc>
              </a:tr>
              <a:tr h="429260">
                <a:tc>
                  <a:txBody>
                    <a:bodyPr/>
                    <a:lstStyle/>
                    <a:p>
                      <a:pPr algn="ctr"/>
                      <a:r>
                        <a:rPr lang="en-US" altLang="zh-CN" dirty="0"/>
                        <a:t>S1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r>
              <a:tr h="429260">
                <a:tc>
                  <a:txBody>
                    <a:bodyPr/>
                    <a:lstStyle/>
                    <a:p>
                      <a:pPr algn="ctr"/>
                      <a:r>
                        <a:rPr lang="en-US" altLang="zh-CN" dirty="0"/>
                        <a:t>S2</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r>
              <a:tr h="429260">
                <a:tc>
                  <a:txBody>
                    <a:bodyPr/>
                    <a:lstStyle/>
                    <a:p>
                      <a:pPr algn="ctr"/>
                      <a:r>
                        <a:rPr lang="en-US" altLang="zh-CN" dirty="0"/>
                        <a:t>S3</a:t>
                      </a:r>
                      <a:endParaRPr lang="zh-CN" altLang="en-US" dirty="0"/>
                    </a:p>
                  </a:txBody>
                  <a:tcPr anchor="ctr" anchorCtr="0"/>
                </a:tc>
                <a:tc>
                  <a:txBody>
                    <a:bodyPr/>
                    <a:lstStyle/>
                    <a:p>
                      <a:pPr algn="ctr"/>
                      <a:r>
                        <a:rPr lang="en-US" altLang="zh-CN" dirty="0">
                          <a:solidFill>
                            <a:schemeClr val="tx1"/>
                          </a:solidFill>
                        </a:rPr>
                        <a:t>1</a:t>
                      </a:r>
                      <a:endParaRPr lang="zh-CN" altLang="en-US" dirty="0">
                        <a:solidFill>
                          <a:schemeClr val="tx1"/>
                        </a:solidFill>
                      </a:endParaRPr>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c>
                  <a:txBody>
                    <a:bodyPr/>
                    <a:lstStyle/>
                    <a:p>
                      <a:pPr algn="ctr"/>
                      <a:r>
                        <a:rPr lang="en-US" altLang="zh-CN" dirty="0">
                          <a:solidFill>
                            <a:schemeClr val="tx1"/>
                          </a:solidFill>
                        </a:rPr>
                        <a:t>1</a:t>
                      </a:r>
                      <a:endParaRPr lang="zh-CN" altLang="en-US" dirty="0">
                        <a:solidFill>
                          <a:schemeClr val="tx1"/>
                        </a:solidFill>
                      </a:endParaRPr>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r>
              <a:tr h="429260">
                <a:tc>
                  <a:txBody>
                    <a:bodyPr/>
                    <a:lstStyle/>
                    <a:p>
                      <a:pPr algn="ctr"/>
                      <a:r>
                        <a:rPr lang="en-US" altLang="zh-CN" dirty="0"/>
                        <a:t>S4</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r>
              <a:tr h="429260">
                <a:tc>
                  <a:txBody>
                    <a:bodyPr/>
                    <a:lstStyle/>
                    <a:p>
                      <a:pPr algn="ctr"/>
                      <a:r>
                        <a:rPr lang="en-US" altLang="zh-CN" dirty="0"/>
                        <a:t>S5</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r>
              <a:tr h="429260">
                <a:tc>
                  <a:txBody>
                    <a:bodyPr/>
                    <a:lstStyle/>
                    <a:p>
                      <a:pPr algn="ctr"/>
                      <a:r>
                        <a:rPr lang="en-US" altLang="zh-CN" dirty="0"/>
                        <a:t>S6</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r>
              <a:tr h="429260">
                <a:tc>
                  <a:txBody>
                    <a:bodyPr/>
                    <a:lstStyle/>
                    <a:p>
                      <a:pPr algn="ctr"/>
                      <a:r>
                        <a:rPr lang="en-US" altLang="zh-CN" dirty="0"/>
                        <a:t>S7</a:t>
                      </a:r>
                      <a:endParaRPr lang="zh-CN" altLang="en-US" dirty="0"/>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c>
                  <a:txBody>
                    <a:bodyPr/>
                    <a:lstStyle/>
                    <a:p>
                      <a:pPr algn="ctr"/>
                      <a:r>
                        <a:rPr lang="en-US" altLang="zh-CN" dirty="0">
                          <a:solidFill>
                            <a:schemeClr val="tx1"/>
                          </a:solidFill>
                        </a:rPr>
                        <a:t>1</a:t>
                      </a:r>
                      <a:endParaRPr lang="zh-CN" altLang="en-US" dirty="0">
                        <a:solidFill>
                          <a:schemeClr val="tx1"/>
                        </a:solidFill>
                      </a:endParaRPr>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c>
                  <a:txBody>
                    <a:bodyPr/>
                    <a:lstStyle/>
                    <a:p>
                      <a:pPr algn="ctr"/>
                      <a:r>
                        <a:rPr lang="en-US" altLang="zh-CN" dirty="0">
                          <a:solidFill>
                            <a:schemeClr val="tx1"/>
                          </a:solidFill>
                        </a:rPr>
                        <a:t>1</a:t>
                      </a:r>
                      <a:endParaRPr lang="zh-CN" altLang="en-US" dirty="0">
                        <a:solidFill>
                          <a:schemeClr val="tx1"/>
                        </a:solidFill>
                      </a:endParaRPr>
                    </a:p>
                  </a:txBody>
                  <a:tcPr anchor="ctr" anchorCtr="0"/>
                </a:tc>
                <a:tc>
                  <a:txBody>
                    <a:bodyPr/>
                    <a:lstStyle/>
                    <a:p>
                      <a:pPr algn="ctr"/>
                      <a:r>
                        <a:rPr lang="en-US" altLang="zh-CN" dirty="0"/>
                        <a:t>1</a:t>
                      </a:r>
                      <a:endParaRPr lang="zh-CN" altLang="en-US" dirty="0"/>
                    </a:p>
                  </a:txBody>
                  <a:tcPr anchor="ctr" anchorCtr="0"/>
                </a:tc>
              </a:tr>
              <a:tr h="429260">
                <a:tc>
                  <a:txBody>
                    <a:bodyPr/>
                    <a:lstStyle/>
                    <a:p>
                      <a:pPr algn="ctr"/>
                      <a:r>
                        <a:rPr lang="en-US" altLang="zh-CN" dirty="0"/>
                        <a:t>S8</a:t>
                      </a:r>
                      <a:endParaRPr lang="zh-CN" altLang="en-US" dirty="0"/>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solidFill>
                            <a:srgbClr val="FF0000"/>
                          </a:solidFill>
                        </a:rPr>
                        <a:t>0</a:t>
                      </a:r>
                      <a:endParaRPr lang="zh-CN" altLang="en-US" dirty="0">
                        <a:solidFill>
                          <a:srgbClr val="FF0000"/>
                        </a:solidFill>
                      </a:endParaRPr>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r>
              <a:tr h="429260">
                <a:tc>
                  <a:txBody>
                    <a:bodyPr/>
                    <a:lstStyle/>
                    <a:p>
                      <a:pPr algn="ctr"/>
                      <a:r>
                        <a:rPr lang="en-US" altLang="zh-CN" dirty="0"/>
                        <a:t>S9</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r>
              <a:tr h="429260">
                <a:tc>
                  <a:txBody>
                    <a:bodyPr/>
                    <a:lstStyle/>
                    <a:p>
                      <a:pPr algn="ctr"/>
                      <a:r>
                        <a:rPr lang="en-US" altLang="zh-CN" dirty="0"/>
                        <a:t>S10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X</a:t>
                      </a:r>
                      <a:endParaRPr lang="zh-CN" altLang="en-US" dirty="0"/>
                    </a:p>
                  </a:txBody>
                  <a:tcPr anchor="ctr" anchorCtr="0"/>
                </a:tc>
              </a:tr>
            </a:tbl>
          </a:graphicData>
        </a:graphic>
      </p:graphicFrame>
      <mc:AlternateContent xmlns:mc="http://schemas.openxmlformats.org/markup-compatibility/2006">
        <mc:Choice xmlns:a14="http://schemas.microsoft.com/office/drawing/2010/main" Requires="a14">
          <p:sp>
            <p:nvSpPr>
              <p:cNvPr id="7" name="文本框 6"/>
              <p:cNvSpPr txBox="1"/>
              <p:nvPr/>
            </p:nvSpPr>
            <p:spPr>
              <a:xfrm>
                <a:off x="6882765" y="1774825"/>
                <a:ext cx="5061585" cy="1569720"/>
              </a:xfrm>
              <a:prstGeom prst="rect">
                <a:avLst/>
              </a:prstGeom>
            </p:spPr>
            <p:txBody>
              <a:bodyPr wrap="square">
                <a:spAutoFit/>
              </a:bodyPr>
              <a:lstStyle>
                <a:defPPr>
                  <a:defRPr lang="zh-CN"/>
                </a:defPPr>
                <a:lvl1pPr>
                  <a:lnSpc>
                    <a:spcPct val="150000"/>
                  </a:lnSpc>
                  <a:defRPr sz="1600"/>
                </a:lvl1pPr>
              </a:lstStyle>
              <a:p>
                <a:r>
                  <a:rPr lang="zh-CN" altLang="en-US" dirty="0">
                    <a:latin typeface="Cambria Math" panose="02040503050406030204" pitchFamily="18" charset="0"/>
                  </a:rPr>
                  <a:t>其余</a:t>
                </a:r>
                <a:r>
                  <a:rPr lang="en-US" altLang="zh-CN" dirty="0">
                    <a:latin typeface="Cambria Math" panose="02040503050406030204" pitchFamily="18" charset="0"/>
                  </a:rPr>
                  <a:t>6</a:t>
                </a:r>
                <a:r>
                  <a:rPr lang="zh-CN" altLang="en-US" dirty="0">
                    <a:latin typeface="Cambria Math" panose="02040503050406030204" pitchFamily="18" charset="0"/>
                  </a:rPr>
                  <a:t>种状态为无关项</a:t>
                </a:r>
                <a:endParaRPr lang="en-US" altLang="zh-CN" dirty="0">
                  <a:latin typeface="Cambria Math" panose="02040503050406030204" pitchFamily="18" charset="0"/>
                </a:endParaRPr>
              </a:p>
              <a:p>
                <a14:m>
                  <m:oMathPara xmlns:m="http://schemas.openxmlformats.org/officeDocument/2006/math">
                    <m:oMathParaPr>
                      <m:jc m:val="left"/>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𝐿</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m:t>
                          </m:r>
                        </m:sup>
                      </m:sSub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2</m:t>
                          </m:r>
                        </m:sub>
                      </m:sSub>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3</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m:t>
                          </m:r>
                        </m:sup>
                      </m:sSub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1</m:t>
                          </m:r>
                        </m:sub>
                      </m:sSub>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m:t>
                          </m:r>
                        </m:sup>
                      </m:sSubSup>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3</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m:t>
                          </m:r>
                        </m:sup>
                      </m:sSubSup>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sSub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2</m:t>
                          </m:r>
                        </m:sub>
                      </m:sSub>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3</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m:t>
                          </m:r>
                        </m:sup>
                      </m:sSub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1</m:t>
                          </m:r>
                        </m:sub>
                      </m:sSub>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m:t>
                          </m:r>
                        </m:sup>
                      </m:sSubSup>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3</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0</m:t>
                          </m:r>
                        </m:sub>
                      </m:sSub>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sSub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2</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m:t>
                          </m:r>
                        </m:sup>
                      </m:sSub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2</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m:rPr>
                              <m:sty m:val="p"/>
                            </m:rPr>
                            <a:rPr lang="en-US" altLang="zh-CN" b="0" i="0" smtClean="0">
                              <a:latin typeface="Cambria Math" panose="02040503050406030204" pitchFamily="18" charset="0"/>
                            </a:rPr>
                            <m:t>Q</m:t>
                          </m:r>
                        </m:e>
                        <m:sub>
                          <m:r>
                            <a:rPr lang="en-US" altLang="zh-CN" b="0" i="0" smtClean="0">
                              <a:latin typeface="Cambria Math" panose="02040503050406030204" pitchFamily="18" charset="0"/>
                            </a:rPr>
                            <m:t>0</m:t>
                          </m:r>
                        </m:sub>
                        <m:sup>
                          <m:r>
                            <a:rPr lang="en-US" altLang="zh-CN" b="0" i="0" smtClean="0">
                              <a:latin typeface="Cambria Math" panose="02040503050406030204" pitchFamily="18" charset="0"/>
                            </a:rPr>
                            <m:t>′</m:t>
                          </m:r>
                        </m:sup>
                      </m:sSubSup>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Q</m:t>
                          </m:r>
                        </m:e>
                        <m:sub>
                          <m:r>
                            <a:rPr lang="en-US" altLang="zh-CN" b="0" i="0" smtClean="0">
                              <a:latin typeface="Cambria Math" panose="02040503050406030204" pitchFamily="18" charset="0"/>
                            </a:rPr>
                            <m:t>2</m:t>
                          </m:r>
                        </m:sub>
                      </m:sSub>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Q</m:t>
                          </m:r>
                        </m:e>
                        <m:sub>
                          <m:r>
                            <a:rPr lang="en-US" altLang="zh-CN" b="0" i="0" smtClean="0">
                              <a:latin typeface="Cambria Math" panose="02040503050406030204" pitchFamily="18" charset="0"/>
                            </a:rPr>
                            <m:t>3</m:t>
                          </m:r>
                        </m:sub>
                      </m:sSub>
                    </m:oMath>
                  </m:oMathPara>
                </a14:m>
                <a:endParaRPr lang="zh-CN" altLang="en-US" dirty="0"/>
              </a:p>
            </p:txBody>
          </p:sp>
        </mc:Choice>
        <mc:Fallback>
          <p:sp>
            <p:nvSpPr>
              <p:cNvPr id="7" name="文本框 6"/>
              <p:cNvSpPr txBox="1">
                <a:spLocks noRot="1" noChangeAspect="1" noMove="1" noResize="1" noEditPoints="1" noAdjustHandles="1" noChangeArrowheads="1" noChangeShapeType="1" noTextEdit="1"/>
              </p:cNvSpPr>
              <p:nvPr/>
            </p:nvSpPr>
            <p:spPr>
              <a:xfrm>
                <a:off x="6882765" y="1774825"/>
                <a:ext cx="5061585" cy="156972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2" name="表格 11"/>
              <p:cNvGraphicFramePr>
                <a:graphicFrameLocks noGrp="1"/>
              </p:cNvGraphicFramePr>
              <p:nvPr/>
            </p:nvGraphicFramePr>
            <p:xfrm>
              <a:off x="7125335" y="3760470"/>
              <a:ext cx="2517775" cy="2094865"/>
            </p:xfrm>
            <a:graphic>
              <a:graphicData uri="http://schemas.openxmlformats.org/drawingml/2006/table">
                <a:tbl>
                  <a:tblPr firstRow="1" bandRow="1">
                    <a:tableStyleId>{5940675A-B579-460E-94D1-54222C63F5DA}</a:tableStyleId>
                  </a:tblPr>
                  <a:tblGrid>
                    <a:gridCol w="503555"/>
                    <a:gridCol w="503555"/>
                    <a:gridCol w="503555"/>
                    <a:gridCol w="503555"/>
                    <a:gridCol w="503555"/>
                  </a:tblGrid>
                  <a:tr h="473710">
                    <a:tc>
                      <a:txBody>
                        <a:bodyPr/>
                        <a:lstStyle/>
                        <a:p>
                          <a:pPr algn="r"/>
                          <a14:m>
                            <m:oMathPara xmlns:m="http://schemas.openxmlformats.org/officeDocument/2006/math">
                              <m:oMathParaPr>
                                <m:jc m:val="centerGroup"/>
                              </m:oMathParaPr>
                              <m:oMath xmlns:m="http://schemas.openxmlformats.org/officeDocument/2006/math">
                                <m:sSub>
                                  <m:sSubPr>
                                    <m:ctrlPr>
                                      <a:rPr lang="en-US" altLang="zh-CN" sz="1000" b="0" i="1" smtClean="0">
                                        <a:solidFill>
                                          <a:schemeClr val="tx1"/>
                                        </a:solidFill>
                                        <a:latin typeface="Cambria Math" panose="02040503050406030204" pitchFamily="18" charset="0"/>
                                        <a:cs typeface="Times New Roman" panose="02020603050405020304" pitchFamily="18" charset="0"/>
                                      </a:rPr>
                                    </m:ctrlPr>
                                  </m:sSubPr>
                                  <m:e>
                                    <m:r>
                                      <a:rPr lang="en-US" altLang="zh-CN" sz="1000" b="0" i="1" smtClean="0">
                                        <a:solidFill>
                                          <a:schemeClr val="tx1"/>
                                        </a:solidFill>
                                        <a:latin typeface="Cambria Math" panose="02040503050406030204" pitchFamily="18" charset="0"/>
                                        <a:cs typeface="Times New Roman" panose="02020603050405020304" pitchFamily="18" charset="0"/>
                                      </a:rPr>
                                      <m:t>𝑄</m:t>
                                    </m:r>
                                  </m:e>
                                  <m:sub>
                                    <m:r>
                                      <a:rPr lang="en-US" altLang="zh-CN" sz="1000" b="0" i="1" smtClean="0">
                                        <a:solidFill>
                                          <a:schemeClr val="tx1"/>
                                        </a:solidFill>
                                        <a:latin typeface="Cambria Math" panose="02040503050406030204" pitchFamily="18" charset="0"/>
                                        <a:cs typeface="Times New Roman" panose="02020603050405020304" pitchFamily="18" charset="0"/>
                                      </a:rPr>
                                      <m:t>2</m:t>
                                    </m:r>
                                  </m:sub>
                                </m:sSub>
                                <m:sSub>
                                  <m:sSubPr>
                                    <m:ctrlPr>
                                      <a:rPr lang="en-US" altLang="zh-CN" sz="1000" b="0" i="1" smtClean="0">
                                        <a:solidFill>
                                          <a:schemeClr val="tx1"/>
                                        </a:solidFill>
                                        <a:latin typeface="Cambria Math" panose="02040503050406030204" pitchFamily="18" charset="0"/>
                                        <a:cs typeface="Times New Roman" panose="02020603050405020304" pitchFamily="18" charset="0"/>
                                      </a:rPr>
                                    </m:ctrlPr>
                                  </m:sSubPr>
                                  <m:e>
                                    <m:r>
                                      <a:rPr lang="en-US" altLang="zh-CN" sz="1000" b="0" i="1" smtClean="0">
                                        <a:solidFill>
                                          <a:schemeClr val="tx1"/>
                                        </a:solidFill>
                                        <a:latin typeface="Cambria Math" panose="02040503050406030204" pitchFamily="18" charset="0"/>
                                        <a:cs typeface="Times New Roman" panose="02020603050405020304" pitchFamily="18" charset="0"/>
                                      </a:rPr>
                                      <m:t>𝑄</m:t>
                                    </m:r>
                                  </m:e>
                                  <m:sub>
                                    <m:r>
                                      <a:rPr lang="en-US" altLang="zh-CN" sz="1000" b="0" i="1" smtClean="0">
                                        <a:solidFill>
                                          <a:schemeClr val="tx1"/>
                                        </a:solidFill>
                                        <a:latin typeface="Cambria Math" panose="02040503050406030204" pitchFamily="18" charset="0"/>
                                        <a:cs typeface="Times New Roman" panose="02020603050405020304" pitchFamily="18" charset="0"/>
                                      </a:rPr>
                                      <m:t>3</m:t>
                                    </m:r>
                                  </m:sub>
                                </m:sSub>
                              </m:oMath>
                            </m:oMathPara>
                          </a14:m>
                          <a:endParaRPr lang="en-US" altLang="zh-CN" sz="1000" dirty="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centerGroup"/>
                              </m:oMathParaPr>
                              <m:oMath xmlns:m="http://schemas.openxmlformats.org/officeDocument/2006/math">
                                <m:sSub>
                                  <m:sSubPr>
                                    <m:ctrlPr>
                                      <a:rPr lang="en-US" altLang="zh-CN" sz="1000" b="0" i="1" smtClean="0">
                                        <a:solidFill>
                                          <a:schemeClr val="tx1"/>
                                        </a:solidFill>
                                        <a:latin typeface="Cambria Math" panose="02040503050406030204" pitchFamily="18" charset="0"/>
                                        <a:cs typeface="Times New Roman" panose="02020603050405020304" pitchFamily="18" charset="0"/>
                                      </a:rPr>
                                    </m:ctrlPr>
                                  </m:sSubPr>
                                  <m:e>
                                    <m:r>
                                      <a:rPr lang="en-US" altLang="zh-CN" sz="1000" b="0" i="1" smtClean="0">
                                        <a:solidFill>
                                          <a:schemeClr val="tx1"/>
                                        </a:solidFill>
                                        <a:latin typeface="Cambria Math" panose="02040503050406030204" pitchFamily="18" charset="0"/>
                                        <a:cs typeface="Times New Roman" panose="02020603050405020304" pitchFamily="18" charset="0"/>
                                      </a:rPr>
                                      <m:t>𝑄</m:t>
                                    </m:r>
                                  </m:e>
                                  <m:sub>
                                    <m:r>
                                      <a:rPr lang="en-US" altLang="zh-CN" sz="1000" b="0" i="1" smtClean="0">
                                        <a:solidFill>
                                          <a:schemeClr val="tx1"/>
                                        </a:solidFill>
                                        <a:latin typeface="Cambria Math" panose="02040503050406030204" pitchFamily="18" charset="0"/>
                                        <a:cs typeface="Times New Roman" panose="02020603050405020304" pitchFamily="18" charset="0"/>
                                      </a:rPr>
                                      <m:t>0</m:t>
                                    </m:r>
                                  </m:sub>
                                </m:sSub>
                                <m:sSub>
                                  <m:sSubPr>
                                    <m:ctrlPr>
                                      <a:rPr lang="en-US" altLang="zh-CN" sz="1000" b="0" i="1" smtClean="0">
                                        <a:solidFill>
                                          <a:schemeClr val="tx1"/>
                                        </a:solidFill>
                                        <a:latin typeface="Cambria Math" panose="02040503050406030204" pitchFamily="18" charset="0"/>
                                        <a:cs typeface="Times New Roman" panose="02020603050405020304" pitchFamily="18" charset="0"/>
                                      </a:rPr>
                                    </m:ctrlPr>
                                  </m:sSubPr>
                                  <m:e>
                                    <m:r>
                                      <a:rPr lang="en-US" altLang="zh-CN" sz="1000" b="0" i="1" smtClean="0">
                                        <a:solidFill>
                                          <a:schemeClr val="tx1"/>
                                        </a:solidFill>
                                        <a:latin typeface="Cambria Math" panose="02040503050406030204" pitchFamily="18" charset="0"/>
                                        <a:cs typeface="Times New Roman" panose="02020603050405020304" pitchFamily="18" charset="0"/>
                                      </a:rPr>
                                      <m:t>𝑄</m:t>
                                    </m:r>
                                  </m:e>
                                  <m:sub>
                                    <m:r>
                                      <a:rPr lang="en-US" altLang="zh-CN" sz="1000" b="0" i="1" smtClean="0">
                                        <a:solidFill>
                                          <a:schemeClr val="tx1"/>
                                        </a:solidFill>
                                        <a:latin typeface="Cambria Math" panose="02040503050406030204" pitchFamily="18" charset="0"/>
                                        <a:cs typeface="Times New Roman" panose="02020603050405020304" pitchFamily="18" charset="0"/>
                                      </a:rPr>
                                      <m:t>1</m:t>
                                    </m:r>
                                  </m:sub>
                                </m:sSub>
                              </m:oMath>
                            </m:oMathPara>
                          </a14:m>
                          <a:endParaRPr lang="zh-CN" altLang="en-US" sz="10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00</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01</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11</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10</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05130">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00</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T w="12700" cap="flat" cmpd="sng" algn="ctr">
                          <a:solidFill>
                            <a:schemeClr val="tx1"/>
                          </a:solidFill>
                          <a:prstDash val="solid"/>
                          <a:round/>
                          <a:headEnd type="none" w="med" len="med"/>
                          <a:tailEnd type="none" w="med" len="med"/>
                        </a:lnT>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T w="12700" cap="flat" cmpd="sng" algn="ctr">
                          <a:solidFill>
                            <a:schemeClr val="tx1"/>
                          </a:solidFill>
                          <a:prstDash val="solid"/>
                          <a:round/>
                          <a:headEnd type="none" w="med" len="med"/>
                          <a:tailEnd type="none" w="med" len="med"/>
                        </a:lnT>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T w="12700" cap="flat" cmpd="sng" algn="ctr">
                          <a:solidFill>
                            <a:schemeClr val="tx1"/>
                          </a:solidFill>
                          <a:prstDash val="solid"/>
                          <a:round/>
                          <a:headEnd type="none" w="med" len="med"/>
                          <a:tailEnd type="none" w="med" len="med"/>
                        </a:lnT>
                      </a:tcPr>
                    </a:tc>
                  </a:tr>
                  <a:tr h="405130">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01</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solidFill>
                            <a:schemeClr val="tx1"/>
                          </a:solidFill>
                          <a:prstDash val="solid"/>
                          <a:round/>
                          <a:headEnd type="none" w="med" len="med"/>
                          <a:tailEnd type="none" w="med" len="med"/>
                        </a:lnL>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r>
                  <a:tr h="405765">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11</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solidFill>
                            <a:schemeClr val="tx1"/>
                          </a:solidFill>
                          <a:prstDash val="solid"/>
                          <a:round/>
                          <a:headEnd type="none" w="med" len="med"/>
                          <a:tailEnd type="none" w="med" len="med"/>
                        </a:lnL>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0</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r>
                  <a:tr h="405130">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10</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solidFill>
                            <a:schemeClr val="tx1"/>
                          </a:solidFill>
                          <a:prstDash val="solid"/>
                          <a:round/>
                          <a:headEnd type="none" w="med" len="med"/>
                          <a:tailEnd type="none" w="med" len="med"/>
                        </a:lnL>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0</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0</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r>
                </a:tbl>
              </a:graphicData>
            </a:graphic>
          </p:graphicFrame>
        </mc:Choice>
        <mc:Fallback xmlns="">
          <p:graphicFrame>
            <p:nvGraphicFramePr>
              <p:cNvPr id="12" name="表格 11"/>
              <p:cNvGraphicFramePr>
                <a:graphicFrameLocks noGrp="1"/>
              </p:cNvGraphicFramePr>
              <p:nvPr/>
            </p:nvGraphicFramePr>
            <p:xfrm>
              <a:off x="7125335" y="3760470"/>
              <a:ext cx="2517775" cy="2094865"/>
            </p:xfrm>
            <a:graphic>
              <a:graphicData uri="http://schemas.openxmlformats.org/drawingml/2006/table">
                <a:tbl>
                  <a:tblPr firstRow="1" bandRow="1">
                    <a:tableStyleId>{5940675A-B579-460E-94D1-54222C63F5DA}</a:tableStyleId>
                  </a:tblPr>
                  <a:tblGrid>
                    <a:gridCol w="503555"/>
                    <a:gridCol w="503555"/>
                    <a:gridCol w="503555"/>
                    <a:gridCol w="503555"/>
                    <a:gridCol w="503555"/>
                  </a:tblGrid>
                  <a:tr h="473710">
                    <a:tc>
                      <a:txBody>
                        <a:bodyPr/>
                        <a:lstStyle/>
                        <a:p>
                          <a:endParaRPr lang="zh-CN"/>
                        </a:p>
                      </a:txBody>
                      <a:tcPr marL="64666" marR="64666" marT="32333" marB="32333"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blipFill>
                          <a:blip r:embed="rId2"/>
                        </a:blipFill>
                      </a:tcPr>
                    </a:tc>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00</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01</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11</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10</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05130">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00</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T w="12700" cap="flat" cmpd="sng" algn="ctr">
                          <a:solidFill>
                            <a:schemeClr val="tx1"/>
                          </a:solidFill>
                          <a:prstDash val="solid"/>
                          <a:round/>
                          <a:headEnd type="none" w="med" len="med"/>
                          <a:tailEnd type="none" w="med" len="med"/>
                        </a:lnT>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T w="12700" cap="flat" cmpd="sng" algn="ctr">
                          <a:solidFill>
                            <a:schemeClr val="tx1"/>
                          </a:solidFill>
                          <a:prstDash val="solid"/>
                          <a:round/>
                          <a:headEnd type="none" w="med" len="med"/>
                          <a:tailEnd type="none" w="med" len="med"/>
                        </a:lnT>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T w="12700" cap="flat" cmpd="sng" algn="ctr">
                          <a:solidFill>
                            <a:schemeClr val="tx1"/>
                          </a:solidFill>
                          <a:prstDash val="solid"/>
                          <a:round/>
                          <a:headEnd type="none" w="med" len="med"/>
                          <a:tailEnd type="none" w="med" len="med"/>
                        </a:lnT>
                      </a:tcPr>
                    </a:tc>
                  </a:tr>
                  <a:tr h="405130">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01</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solidFill>
                            <a:schemeClr val="tx1"/>
                          </a:solidFill>
                          <a:prstDash val="solid"/>
                          <a:round/>
                          <a:headEnd type="none" w="med" len="med"/>
                          <a:tailEnd type="none" w="med" len="med"/>
                        </a:lnL>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r>
                  <a:tr h="405765">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11</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solidFill>
                            <a:schemeClr val="tx1"/>
                          </a:solidFill>
                          <a:prstDash val="solid"/>
                          <a:round/>
                          <a:headEnd type="none" w="med" len="med"/>
                          <a:tailEnd type="none" w="med" len="med"/>
                        </a:lnL>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0</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r>
                  <a:tr h="405130">
                    <a:tc>
                      <a:txBody>
                        <a:bodyPr/>
                        <a:lstStyle/>
                        <a:p>
                          <a:r>
                            <a:rPr lang="en-US" altLang="zh-CN" sz="1200" dirty="0">
                              <a:solidFill>
                                <a:schemeClr val="tx1"/>
                              </a:solidFill>
                              <a:latin typeface="Times New Roman" panose="02020603050405020304" pitchFamily="18" charset="0"/>
                              <a:cs typeface="Times New Roman" panose="02020603050405020304" pitchFamily="18" charset="0"/>
                            </a:rPr>
                            <a:t>10</a:t>
                          </a:r>
                          <a:endParaRPr lang="zh-CN" altLang="en-US" sz="12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X</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lnL w="12700" cap="flat" cmpd="sng" algn="ctr">
                          <a:solidFill>
                            <a:schemeClr val="tx1"/>
                          </a:solidFill>
                          <a:prstDash val="solid"/>
                          <a:round/>
                          <a:headEnd type="none" w="med" len="med"/>
                          <a:tailEnd type="none" w="med" len="med"/>
                        </a:lnL>
                      </a:tcPr>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0</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c>
                      <a:txBody>
                        <a:bodyPr/>
                        <a:lstStyle/>
                        <a:p>
                          <a:r>
                            <a:rPr lang="en-US" altLang="zh-CN" sz="1400" dirty="0">
                              <a:solidFill>
                                <a:schemeClr val="tx1"/>
                              </a:solidFill>
                              <a:latin typeface="Times New Roman" panose="02020603050405020304" pitchFamily="18" charset="0"/>
                              <a:cs typeface="Times New Roman" panose="02020603050405020304" pitchFamily="18" charset="0"/>
                            </a:rPr>
                            <a:t>0</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marL="64666" marR="64666" marT="32333" marB="32333" anchor="ctr" anchorCtr="1"/>
                    </a:tc>
                  </a:tr>
                </a:tbl>
              </a:graphicData>
            </a:graphic>
          </p:graphicFrame>
        </mc:Fallback>
      </mc:AlternateContent>
      <p:sp>
        <p:nvSpPr>
          <p:cNvPr id="17" name="矩形: 圆角 16"/>
          <p:cNvSpPr/>
          <p:nvPr/>
        </p:nvSpPr>
        <p:spPr>
          <a:xfrm rot="5400000">
            <a:off x="8289925" y="3686175"/>
            <a:ext cx="668655" cy="1909445"/>
          </a:xfrm>
          <a:prstGeom prst="roundRect">
            <a:avLst>
              <a:gd name="adj" fmla="val 26157"/>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角 31"/>
          <p:cNvSpPr/>
          <p:nvPr/>
        </p:nvSpPr>
        <p:spPr>
          <a:xfrm rot="5400000">
            <a:off x="8093710" y="4900295"/>
            <a:ext cx="1554480" cy="367030"/>
          </a:xfrm>
          <a:prstGeom prst="roundRect">
            <a:avLst>
              <a:gd name="adj" fmla="val 26157"/>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2"/>
          </p:nvPr>
        </p:nvSpPr>
        <p:spPr>
          <a:xfrm>
            <a:off x="660400" y="288925"/>
            <a:ext cx="8637588" cy="523875"/>
          </a:xfrm>
        </p:spPr>
        <p:txBody>
          <a:bodyPr/>
          <a:lstStyle/>
          <a:p>
            <a:r>
              <a:rPr lang="zh-CN" altLang="en-US" dirty="0"/>
              <a:t>补充</a:t>
            </a:r>
            <a:r>
              <a:rPr lang="zh-CN" altLang="en-US" dirty="0"/>
              <a:t>习题</a:t>
            </a:r>
            <a:endParaRPr lang="zh-CN" altLang="en-US" dirty="0"/>
          </a:p>
        </p:txBody>
      </p:sp>
      <p:sp>
        <p:nvSpPr>
          <p:cNvPr id="2" name="灯片编号占位符 1"/>
          <p:cNvSpPr>
            <a:spLocks noGrp="1"/>
          </p:cNvSpPr>
          <p:nvPr>
            <p:ph type="sldNum" sz="quarter" idx="13"/>
          </p:nvPr>
        </p:nvSpPr>
        <p:spPr/>
        <p:txBody>
          <a:bodyPr/>
          <a:lstStyle/>
          <a:p>
            <a:fld id="{406D97C8-3D29-46CB-B3AA-3C2C5D4C915D}" type="slidenum">
              <a:rPr lang="zh-CN" altLang="en-US" smtClean="0"/>
            </a:fld>
            <a:endParaRPr lang="zh-CN" altLang="en-US" dirty="0"/>
          </a:p>
        </p:txBody>
      </p:sp>
      <p:sp>
        <p:nvSpPr>
          <p:cNvPr id="5" name="矩形 4"/>
          <p:cNvSpPr/>
          <p:nvPr/>
        </p:nvSpPr>
        <p:spPr>
          <a:xfrm>
            <a:off x="851833" y="1162476"/>
            <a:ext cx="4111625" cy="460375"/>
          </a:xfrm>
          <a:prstGeom prst="rect">
            <a:avLst/>
          </a:prstGeom>
        </p:spPr>
        <p:txBody>
          <a:bodyPr wrap="none">
            <a:spAutoFit/>
          </a:bodyPr>
          <a:lstStyle/>
          <a:p>
            <a:pPr>
              <a:lnSpc>
                <a:spcPct val="150000"/>
              </a:lnSpc>
            </a:pPr>
            <a:r>
              <a:rPr lang="zh-CN" altLang="en-US" sz="1600" dirty="0"/>
              <a:t>先列出状态转换表。</a:t>
            </a:r>
            <a:r>
              <a:rPr lang="zh-CN" altLang="en-US" sz="1600" dirty="0">
                <a:solidFill>
                  <a:srgbClr val="FF0000"/>
                </a:solidFill>
              </a:rPr>
              <a:t>以</a:t>
            </a:r>
            <a:r>
              <a:rPr lang="en-US" altLang="zh-CN" sz="1600" dirty="0">
                <a:solidFill>
                  <a:srgbClr val="FF0000"/>
                </a:solidFill>
              </a:rPr>
              <a:t>Q0</a:t>
            </a:r>
            <a:r>
              <a:rPr lang="zh-CN" altLang="en-US" sz="1600" dirty="0">
                <a:solidFill>
                  <a:srgbClr val="FF0000"/>
                </a:solidFill>
              </a:rPr>
              <a:t>作为序列信号输出</a:t>
            </a:r>
            <a:endParaRPr lang="en-US" altLang="zh-CN" sz="1600" dirty="0">
              <a:solidFill>
                <a:srgbClr val="FF0000"/>
              </a:solidFill>
            </a:endParaRPr>
          </a:p>
        </p:txBody>
      </p:sp>
      <p:graphicFrame>
        <p:nvGraphicFramePr>
          <p:cNvPr id="6" name="表格 5"/>
          <p:cNvGraphicFramePr>
            <a:graphicFrameLocks noGrp="1"/>
          </p:cNvGraphicFramePr>
          <p:nvPr/>
        </p:nvGraphicFramePr>
        <p:xfrm>
          <a:off x="975995" y="1617345"/>
          <a:ext cx="5097780" cy="4721860"/>
        </p:xfrm>
        <a:graphic>
          <a:graphicData uri="http://schemas.openxmlformats.org/drawingml/2006/table">
            <a:tbl>
              <a:tblPr firstRow="1" bandRow="1">
                <a:tableStyleId>{5940675A-B579-460E-94D1-54222C63F5DA}</a:tableStyleId>
              </a:tblPr>
              <a:tblGrid>
                <a:gridCol w="849630"/>
                <a:gridCol w="849630"/>
                <a:gridCol w="849630"/>
                <a:gridCol w="849630"/>
                <a:gridCol w="849630"/>
                <a:gridCol w="849630"/>
              </a:tblGrid>
              <a:tr h="429260">
                <a:tc>
                  <a:txBody>
                    <a:bodyPr/>
                    <a:lstStyle/>
                    <a:p>
                      <a:pPr algn="ctr"/>
                      <a:endParaRPr lang="zh-CN" altLang="en-US" dirty="0"/>
                    </a:p>
                  </a:txBody>
                  <a:tcPr anchor="ctr" anchorCtr="0"/>
                </a:tc>
                <a:tc>
                  <a:txBody>
                    <a:bodyPr/>
                    <a:lstStyle/>
                    <a:p>
                      <a:pPr algn="ctr"/>
                      <a:r>
                        <a:rPr lang="en-US" altLang="zh-CN" dirty="0"/>
                        <a:t>Q0</a:t>
                      </a:r>
                      <a:endParaRPr lang="zh-CN" altLang="en-US" dirty="0"/>
                    </a:p>
                  </a:txBody>
                  <a:tcPr anchor="ctr" anchorCtr="0"/>
                </a:tc>
                <a:tc>
                  <a:txBody>
                    <a:bodyPr/>
                    <a:lstStyle/>
                    <a:p>
                      <a:pPr algn="ctr"/>
                      <a:r>
                        <a:rPr lang="en-US" altLang="zh-CN" dirty="0"/>
                        <a:t>Q1</a:t>
                      </a:r>
                      <a:endParaRPr lang="zh-CN" altLang="en-US" dirty="0"/>
                    </a:p>
                  </a:txBody>
                  <a:tcPr anchor="ctr" anchorCtr="0"/>
                </a:tc>
                <a:tc>
                  <a:txBody>
                    <a:bodyPr/>
                    <a:lstStyle/>
                    <a:p>
                      <a:pPr algn="ctr"/>
                      <a:r>
                        <a:rPr lang="en-US" altLang="zh-CN" dirty="0"/>
                        <a:t>Q2</a:t>
                      </a:r>
                      <a:endParaRPr lang="zh-CN" altLang="en-US" dirty="0"/>
                    </a:p>
                  </a:txBody>
                  <a:tcPr anchor="ctr" anchorCtr="0"/>
                </a:tc>
                <a:tc>
                  <a:txBody>
                    <a:bodyPr/>
                    <a:lstStyle/>
                    <a:p>
                      <a:pPr algn="ctr"/>
                      <a:r>
                        <a:rPr lang="en-US" altLang="zh-CN" dirty="0"/>
                        <a:t>Q3</a:t>
                      </a:r>
                      <a:endParaRPr lang="zh-CN" altLang="en-US" dirty="0"/>
                    </a:p>
                  </a:txBody>
                  <a:tcPr anchor="ctr" anchorCtr="0"/>
                </a:tc>
                <a:tc>
                  <a:txBody>
                    <a:bodyPr/>
                    <a:lstStyle/>
                    <a:p>
                      <a:pPr algn="ctr"/>
                      <a:r>
                        <a:rPr lang="en-US" altLang="zh-CN" dirty="0"/>
                        <a:t>DL</a:t>
                      </a:r>
                      <a:endParaRPr lang="zh-CN" altLang="en-US" dirty="0"/>
                    </a:p>
                  </a:txBody>
                  <a:tcPr anchor="ctr" anchorCtr="0"/>
                </a:tc>
              </a:tr>
              <a:tr h="429260">
                <a:tc>
                  <a:txBody>
                    <a:bodyPr/>
                    <a:lstStyle/>
                    <a:p>
                      <a:pPr algn="ctr"/>
                      <a:r>
                        <a:rPr lang="en-US" altLang="zh-CN" dirty="0"/>
                        <a:t>S1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r>
              <a:tr h="429260">
                <a:tc>
                  <a:txBody>
                    <a:bodyPr/>
                    <a:lstStyle/>
                    <a:p>
                      <a:pPr algn="ctr"/>
                      <a:r>
                        <a:rPr lang="en-US" altLang="zh-CN" dirty="0"/>
                        <a:t>S2</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r>
              <a:tr h="429260">
                <a:tc>
                  <a:txBody>
                    <a:bodyPr/>
                    <a:lstStyle/>
                    <a:p>
                      <a:pPr algn="ctr"/>
                      <a:r>
                        <a:rPr lang="en-US" altLang="zh-CN" dirty="0"/>
                        <a:t>S3</a:t>
                      </a:r>
                      <a:endParaRPr lang="zh-CN" altLang="en-US" dirty="0"/>
                    </a:p>
                  </a:txBody>
                  <a:tcPr anchor="ctr" anchorCtr="0"/>
                </a:tc>
                <a:tc>
                  <a:txBody>
                    <a:bodyPr/>
                    <a:lstStyle/>
                    <a:p>
                      <a:pPr algn="ctr"/>
                      <a:r>
                        <a:rPr lang="en-US" altLang="zh-CN" dirty="0">
                          <a:solidFill>
                            <a:schemeClr val="tx1"/>
                          </a:solidFill>
                        </a:rPr>
                        <a:t>1</a:t>
                      </a:r>
                      <a:endParaRPr lang="zh-CN" altLang="en-US" dirty="0">
                        <a:solidFill>
                          <a:schemeClr val="tx1"/>
                        </a:solidFill>
                      </a:endParaRPr>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c>
                  <a:txBody>
                    <a:bodyPr/>
                    <a:lstStyle/>
                    <a:p>
                      <a:pPr algn="ctr"/>
                      <a:r>
                        <a:rPr lang="en-US" altLang="zh-CN" dirty="0">
                          <a:solidFill>
                            <a:schemeClr val="tx1"/>
                          </a:solidFill>
                        </a:rPr>
                        <a:t>1</a:t>
                      </a:r>
                      <a:endParaRPr lang="zh-CN" altLang="en-US" dirty="0">
                        <a:solidFill>
                          <a:schemeClr val="tx1"/>
                        </a:solidFill>
                      </a:endParaRPr>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r>
              <a:tr h="429260">
                <a:tc>
                  <a:txBody>
                    <a:bodyPr/>
                    <a:lstStyle/>
                    <a:p>
                      <a:pPr algn="ctr"/>
                      <a:r>
                        <a:rPr lang="en-US" altLang="zh-CN" dirty="0"/>
                        <a:t>S4</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r>
              <a:tr h="429260">
                <a:tc>
                  <a:txBody>
                    <a:bodyPr/>
                    <a:lstStyle/>
                    <a:p>
                      <a:pPr algn="ctr"/>
                      <a:r>
                        <a:rPr lang="en-US" altLang="zh-CN" dirty="0"/>
                        <a:t>S5</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r>
              <a:tr h="429260">
                <a:tc>
                  <a:txBody>
                    <a:bodyPr/>
                    <a:lstStyle/>
                    <a:p>
                      <a:pPr algn="ctr"/>
                      <a:r>
                        <a:rPr lang="en-US" altLang="zh-CN" dirty="0"/>
                        <a:t>S6</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r>
              <a:tr h="429260">
                <a:tc>
                  <a:txBody>
                    <a:bodyPr/>
                    <a:lstStyle/>
                    <a:p>
                      <a:pPr algn="ctr"/>
                      <a:r>
                        <a:rPr lang="en-US" altLang="zh-CN" dirty="0"/>
                        <a:t>S7</a:t>
                      </a:r>
                      <a:endParaRPr lang="zh-CN" altLang="en-US" dirty="0"/>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c>
                  <a:txBody>
                    <a:bodyPr/>
                    <a:lstStyle/>
                    <a:p>
                      <a:pPr algn="ctr"/>
                      <a:r>
                        <a:rPr lang="en-US" altLang="zh-CN" dirty="0">
                          <a:solidFill>
                            <a:schemeClr val="tx1"/>
                          </a:solidFill>
                        </a:rPr>
                        <a:t>1</a:t>
                      </a:r>
                      <a:endParaRPr lang="zh-CN" altLang="en-US" dirty="0">
                        <a:solidFill>
                          <a:schemeClr val="tx1"/>
                        </a:solidFill>
                      </a:endParaRPr>
                    </a:p>
                  </a:txBody>
                  <a:tcPr anchor="ctr" anchorCtr="0"/>
                </a:tc>
                <a:tc>
                  <a:txBody>
                    <a:bodyPr/>
                    <a:lstStyle/>
                    <a:p>
                      <a:pPr algn="ctr"/>
                      <a:r>
                        <a:rPr lang="en-US" altLang="zh-CN" dirty="0">
                          <a:solidFill>
                            <a:schemeClr val="tx1"/>
                          </a:solidFill>
                        </a:rPr>
                        <a:t>0</a:t>
                      </a:r>
                      <a:endParaRPr lang="zh-CN" altLang="en-US" dirty="0">
                        <a:solidFill>
                          <a:schemeClr val="tx1"/>
                        </a:solidFill>
                      </a:endParaRPr>
                    </a:p>
                  </a:txBody>
                  <a:tcPr anchor="ctr" anchorCtr="0"/>
                </a:tc>
                <a:tc>
                  <a:txBody>
                    <a:bodyPr/>
                    <a:lstStyle/>
                    <a:p>
                      <a:pPr algn="ctr"/>
                      <a:r>
                        <a:rPr lang="en-US" altLang="zh-CN" dirty="0">
                          <a:solidFill>
                            <a:schemeClr val="tx1"/>
                          </a:solidFill>
                        </a:rPr>
                        <a:t>1</a:t>
                      </a:r>
                      <a:endParaRPr lang="zh-CN" altLang="en-US" dirty="0">
                        <a:solidFill>
                          <a:schemeClr val="tx1"/>
                        </a:solidFill>
                      </a:endParaRPr>
                    </a:p>
                  </a:txBody>
                  <a:tcPr anchor="ctr" anchorCtr="0"/>
                </a:tc>
                <a:tc>
                  <a:txBody>
                    <a:bodyPr/>
                    <a:lstStyle/>
                    <a:p>
                      <a:pPr algn="ctr"/>
                      <a:r>
                        <a:rPr lang="en-US" altLang="zh-CN" dirty="0"/>
                        <a:t>1</a:t>
                      </a:r>
                      <a:endParaRPr lang="zh-CN" altLang="en-US" dirty="0"/>
                    </a:p>
                  </a:txBody>
                  <a:tcPr anchor="ctr" anchorCtr="0"/>
                </a:tc>
              </a:tr>
              <a:tr h="429260">
                <a:tc>
                  <a:txBody>
                    <a:bodyPr/>
                    <a:lstStyle/>
                    <a:p>
                      <a:pPr algn="ctr"/>
                      <a:r>
                        <a:rPr lang="en-US" altLang="zh-CN" dirty="0"/>
                        <a:t>S8</a:t>
                      </a:r>
                      <a:endParaRPr lang="zh-CN" altLang="en-US" dirty="0"/>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solidFill>
                            <a:srgbClr val="FF0000"/>
                          </a:solidFill>
                        </a:rPr>
                        <a:t>0</a:t>
                      </a:r>
                      <a:endParaRPr lang="zh-CN" altLang="en-US" dirty="0">
                        <a:solidFill>
                          <a:srgbClr val="FF0000"/>
                        </a:solidFill>
                      </a:endParaRPr>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c>
                  <a:txBody>
                    <a:bodyPr/>
                    <a:lstStyle/>
                    <a:p>
                      <a:pPr algn="ctr"/>
                      <a:r>
                        <a:rPr lang="en-US" altLang="zh-CN" dirty="0">
                          <a:solidFill>
                            <a:srgbClr val="FF0000"/>
                          </a:solidFill>
                        </a:rPr>
                        <a:t>1</a:t>
                      </a:r>
                      <a:endParaRPr lang="zh-CN" altLang="en-US" dirty="0">
                        <a:solidFill>
                          <a:srgbClr val="FF0000"/>
                        </a:solidFill>
                      </a:endParaRPr>
                    </a:p>
                  </a:txBody>
                  <a:tcPr anchor="ctr" anchorCtr="0"/>
                </a:tc>
              </a:tr>
              <a:tr h="429260">
                <a:tc>
                  <a:txBody>
                    <a:bodyPr/>
                    <a:lstStyle/>
                    <a:p>
                      <a:pPr algn="ctr"/>
                      <a:r>
                        <a:rPr lang="en-US" altLang="zh-CN" dirty="0"/>
                        <a:t>S9</a:t>
                      </a:r>
                      <a:endParaRPr lang="zh-CN" altLang="en-US" dirty="0"/>
                    </a:p>
                  </a:txBody>
                  <a:tcPr anchor="ctr" anchorCtr="0"/>
                </a:tc>
                <a:tc>
                  <a:txBody>
                    <a:bodyPr/>
                    <a:lstStyle/>
                    <a:p>
                      <a:pPr algn="ctr"/>
                      <a:r>
                        <a:rPr lang="en-US" altLang="zh-CN" dirty="0"/>
                        <a:t>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r>
              <a:tr h="429260">
                <a:tc>
                  <a:txBody>
                    <a:bodyPr/>
                    <a:lstStyle/>
                    <a:p>
                      <a:pPr algn="ctr"/>
                      <a:r>
                        <a:rPr lang="en-US" altLang="zh-CN" dirty="0"/>
                        <a:t>S10</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1</a:t>
                      </a:r>
                      <a:endParaRPr lang="zh-CN" altLang="en-US" dirty="0"/>
                    </a:p>
                  </a:txBody>
                  <a:tcPr anchor="ctr" anchorCtr="0"/>
                </a:tc>
                <a:tc>
                  <a:txBody>
                    <a:bodyPr/>
                    <a:lstStyle/>
                    <a:p>
                      <a:pPr algn="ctr"/>
                      <a:r>
                        <a:rPr lang="en-US" altLang="zh-CN" dirty="0"/>
                        <a:t>X</a:t>
                      </a:r>
                      <a:endParaRPr lang="zh-CN" altLang="en-US" dirty="0"/>
                    </a:p>
                  </a:txBody>
                  <a:tcPr anchor="ctr" anchorCtr="0"/>
                </a:tc>
              </a:tr>
            </a:tbl>
          </a:graphicData>
        </a:graphic>
      </p:graphicFrame>
      <mc:AlternateContent xmlns:mc="http://schemas.openxmlformats.org/markup-compatibility/2006">
        <mc:Choice xmlns:a14="http://schemas.microsoft.com/office/drawing/2010/main" Requires="a14">
          <p:sp>
            <p:nvSpPr>
              <p:cNvPr id="3" name="文本框 2"/>
              <p:cNvSpPr txBox="1"/>
              <p:nvPr/>
            </p:nvSpPr>
            <p:spPr>
              <a:xfrm>
                <a:off x="6780535" y="1451874"/>
                <a:ext cx="3585816" cy="792781"/>
              </a:xfrm>
              <a:prstGeom prst="rect">
                <a:avLst/>
              </a:prstGeom>
            </p:spPr>
            <p:txBody>
              <a:bodyPr wrap="square">
                <a:spAutoFit/>
              </a:bodyPr>
              <a:lstStyle>
                <a:defPPr>
                  <a:defRPr lang="zh-CN"/>
                </a:defPPr>
                <a:lvl1pPr>
                  <a:lnSpc>
                    <a:spcPct val="150000"/>
                  </a:lnSpc>
                  <a:defRPr sz="1600"/>
                </a:lvl1pPr>
              </a:lstStyle>
              <a:p>
                <a14:m>
                  <m:oMathPara xmlns:m="http://schemas.openxmlformats.org/officeDocument/2006/math">
                    <m:oMathParaPr>
                      <m:jc m:val="left"/>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𝐿</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m:rPr>
                              <m:sty m:val="p"/>
                            </m:rPr>
                            <a:rPr lang="en-US" altLang="zh-CN" b="0" i="0" smtClean="0">
                              <a:latin typeface="Cambria Math" panose="02040503050406030204" pitchFamily="18" charset="0"/>
                            </a:rPr>
                            <m:t>Q</m:t>
                          </m:r>
                        </m:e>
                        <m:sub>
                          <m:r>
                            <a:rPr lang="en-US" altLang="zh-CN" b="0" i="0" smtClean="0">
                              <a:latin typeface="Cambria Math" panose="02040503050406030204" pitchFamily="18" charset="0"/>
                            </a:rPr>
                            <m:t>0</m:t>
                          </m:r>
                        </m:sub>
                        <m:sup>
                          <m:r>
                            <a:rPr lang="en-US" altLang="zh-CN" b="0" i="0" smtClean="0">
                              <a:latin typeface="Cambria Math" panose="02040503050406030204" pitchFamily="18" charset="0"/>
                            </a:rPr>
                            <m:t>′</m:t>
                          </m:r>
                        </m:sup>
                      </m:sSubSup>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Q</m:t>
                          </m:r>
                        </m:e>
                        <m:sub>
                          <m:r>
                            <a:rPr lang="en-US" altLang="zh-CN" b="0" i="0" smtClean="0">
                              <a:latin typeface="Cambria Math" panose="02040503050406030204" pitchFamily="18" charset="0"/>
                            </a:rPr>
                            <m:t>2</m:t>
                          </m:r>
                        </m:sub>
                      </m:sSub>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Q</m:t>
                          </m:r>
                        </m:e>
                        <m:sub>
                          <m:r>
                            <a:rPr lang="en-US" altLang="zh-CN" b="0" i="0" smtClean="0">
                              <a:latin typeface="Cambria Math" panose="02040503050406030204" pitchFamily="18" charset="0"/>
                            </a:rPr>
                            <m:t>3</m:t>
                          </m:r>
                        </m:sub>
                      </m:sSub>
                    </m:oMath>
                  </m:oMathPara>
                </a14:m>
                <a:endParaRPr lang="en-US" altLang="zh-CN" dirty="0"/>
              </a:p>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0</m:t>
                        </m:r>
                      </m:sub>
                    </m:sSub>
                  </m:oMath>
                </a14:m>
                <a:r>
                  <a:rPr lang="zh-CN" altLang="en-US" dirty="0"/>
                  <a:t>：</a:t>
                </a:r>
                <a:r>
                  <a:rPr lang="en-US" altLang="zh-CN" dirty="0"/>
                  <a:t>10</a:t>
                </a:r>
                <a:r>
                  <a:rPr lang="zh-CN" altLang="en-US" dirty="0"/>
                  <a:t>左移 </a:t>
                </a:r>
                <a:r>
                  <a:rPr lang="en-US" altLang="zh-CN" dirty="0"/>
                  <a:t>11</a:t>
                </a:r>
                <a:r>
                  <a:rPr lang="zh-CN" altLang="en-US" dirty="0"/>
                  <a:t>置数</a:t>
                </a:r>
                <a:endParaRPr lang="zh-CN" altLang="en-US" dirty="0"/>
              </a:p>
            </p:txBody>
          </p:sp>
        </mc:Choice>
        <mc:Fallback>
          <p:sp>
            <p:nvSpPr>
              <p:cNvPr id="3" name="文本框 2"/>
              <p:cNvSpPr txBox="1">
                <a:spLocks noRot="1" noChangeAspect="1" noMove="1" noResize="1" noEditPoints="1" noAdjustHandles="1" noChangeArrowheads="1" noChangeShapeType="1" noTextEdit="1"/>
              </p:cNvSpPr>
              <p:nvPr/>
            </p:nvSpPr>
            <p:spPr>
              <a:xfrm>
                <a:off x="6780535" y="1451874"/>
                <a:ext cx="3585816" cy="792781"/>
              </a:xfrm>
              <a:prstGeom prst="rect">
                <a:avLst/>
              </a:prstGeom>
              <a:blipFill rotWithShape="1">
                <a:blip r:embed="rId1"/>
                <a:stretch>
                  <a:fillRect t="-33" r="17" b="71"/>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6780530" y="2735580"/>
            <a:ext cx="4311015" cy="3231515"/>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TABLE_ENDDRAG_ORIGIN_RECT" val="348*245"/>
  <p:tag name="TABLE_ENDDRAG_RECT" val="40*236*348*245"/>
</p:tagLst>
</file>

<file path=ppt/tags/tag8.xml><?xml version="1.0" encoding="utf-8"?>
<p:tagLst xmlns:p="http://schemas.openxmlformats.org/presentationml/2006/main">
  <p:tag name="TABLE_ENDDRAG_ORIGIN_RECT" val="348*245"/>
  <p:tag name="TABLE_ENDDRAG_RECT" val="40*236*348*245"/>
</p:tagLst>
</file>

<file path=ppt/tags/tag9.xml><?xml version="1.0" encoding="utf-8"?>
<p:tagLst xmlns:p="http://schemas.openxmlformats.org/presentationml/2006/main">
  <p:tag name="TABLE_ENDDRAG_ORIGIN_RECT" val="539*46"/>
  <p:tag name="TABLE_ENDDRAG_RECT" val="60*404*539*46"/>
</p:tagLst>
</file>

<file path=ppt/tags/tag10.xml><?xml version="1.0" encoding="utf-8"?>
<p:tagLst xmlns:p="http://schemas.openxmlformats.org/presentationml/2006/main">
  <p:tag name="TABLE_ENDDRAG_ORIGIN_RECT" val="504*237"/>
  <p:tag name="TABLE_ENDDRAG_RECT" val="14*146*504*237"/>
</p:tagLst>
</file>

<file path=ppt/tags/tag11.xml><?xml version="1.0" encoding="utf-8"?>
<p:tagLst xmlns:p="http://schemas.openxmlformats.org/presentationml/2006/main">
  <p:tag name="TABLE_ENDDRAG_ORIGIN_RECT" val="303*175"/>
  <p:tag name="TABLE_ENDDRAG_RECT" val="540*276*303*175"/>
</p:tagLst>
</file>

<file path=ppt/tags/tag12.xml><?xml version="1.0" encoding="utf-8"?>
<p:tagLst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 name="KSO_WPP_MARK_KEY" val="9a068a75-c3c3-401a-ba80-aa6b9baf3333"/>
  <p:tag name="COMMONDATA" val="eyJoZGlkIjoiYzUyZGJjZjY2Zjc2YjRlOGQwYTEwNmYwNWI3ODU3YjcifQ=="/>
</p:tagLst>
</file>

<file path=ppt/theme/theme1.xml><?xml version="1.0" encoding="utf-8"?>
<a:theme xmlns:a="http://schemas.openxmlformats.org/drawingml/2006/main" name="山师大模板设计方案">
  <a:themeElements>
    <a:clrScheme name="自定义 1">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2">
      <a:majorFont>
        <a:latin typeface="Arial"/>
        <a:ea typeface="微软雅黑"/>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13544</Words>
  <Application>WPS 演示</Application>
  <PresentationFormat>宽屏</PresentationFormat>
  <Paragraphs>3307</Paragraphs>
  <Slides>55</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18</vt:i4>
      </vt:variant>
      <vt:variant>
        <vt:lpstr>幻灯片标题</vt:lpstr>
      </vt:variant>
      <vt:variant>
        <vt:i4>55</vt:i4>
      </vt:variant>
    </vt:vector>
  </HeadingPairs>
  <TitlesOfParts>
    <vt:vector size="86" baseType="lpstr">
      <vt:lpstr>Arial</vt:lpstr>
      <vt:lpstr>宋体</vt:lpstr>
      <vt:lpstr>Wingdings</vt:lpstr>
      <vt:lpstr>Times New Roman</vt:lpstr>
      <vt:lpstr>Times New Roman</vt:lpstr>
      <vt:lpstr>微软雅黑</vt:lpstr>
      <vt:lpstr>Arial Unicode MS</vt:lpstr>
      <vt:lpstr>等线</vt:lpstr>
      <vt:lpstr>Cambria Math</vt:lpstr>
      <vt:lpstr>Calibri</vt:lpstr>
      <vt:lpstr>Arial</vt:lpstr>
      <vt:lpstr>微软雅黑 Light</vt:lpstr>
      <vt:lpstr>山师大模板设计方案</vt:lpstr>
      <vt:lpstr>Visio.Drawing.11</vt:lpstr>
      <vt:lpstr>Visio.Drawing.11</vt:lpstr>
      <vt:lpstr>Visio.Drawing.11</vt:lpstr>
      <vt:lpstr>Visio.Drawing.11</vt:lpstr>
      <vt:lpstr>Visio.Drawing.11</vt:lpstr>
      <vt:lpstr>Visio.Drawing.11</vt:lpstr>
      <vt:lpstr>Visio.Drawing.15</vt:lpstr>
      <vt:lpstr>Visio.Drawing.15</vt:lpstr>
      <vt:lpstr>Visio.Drawing.11</vt:lpstr>
      <vt:lpstr>Visio.Drawing.11</vt:lpstr>
      <vt:lpstr>Visio.Drawing.15</vt:lpstr>
      <vt:lpstr>Visio.Drawing.15</vt:lpstr>
      <vt:lpstr>Visio.Drawing.15</vt:lpstr>
      <vt:lpstr>Equation.3</vt:lpstr>
      <vt:lpstr>Equation.3</vt:lpstr>
      <vt:lpstr>Visio.Drawing.15</vt:lpstr>
      <vt:lpstr>Visio.Drawing.15</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mxy</dc:creator>
  <cp:lastModifiedBy>Mr.Jiang</cp:lastModifiedBy>
  <cp:revision>975</cp:revision>
  <dcterms:created xsi:type="dcterms:W3CDTF">2019-03-21T14:55:00Z</dcterms:created>
  <dcterms:modified xsi:type="dcterms:W3CDTF">2026-06-11T10:09:53Z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2019-03-22T06:47:56.0644319Z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f92b241c-97c8-498a-8cd3-16042464c891</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6832F397CEFE4826843070108CF490D9</vt:lpwstr>
  </property>
  <property fmtid="{D5CDD505-2E9C-101B-9397-08002B2CF9AE}" pid="12" name="KSOProductBuildVer">
    <vt:lpwstr>2052-12.1.0.26895</vt:lpwstr>
  </property>
</Properties>
</file>